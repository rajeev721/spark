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83" r:id="rId1"/>
  </p:sldMasterIdLst>
  <p:sldIdLst>
    <p:sldId id="256" r:id="rId2"/>
    <p:sldId id="270" r:id="rId3"/>
    <p:sldId id="257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55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24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2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2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15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0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65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04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3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0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58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4991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99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35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01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48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4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6DE173A-FB7E-4DCB-8253-96C295E56EC5}" type="datetimeFigureOut">
              <a:rPr lang="en-US" smtClean="0"/>
              <a:t>12/10/2019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BEA03-863C-4EDB-98FE-081AB2058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62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84" r:id="rId1"/>
    <p:sldLayoutId id="2147484385" r:id="rId2"/>
    <p:sldLayoutId id="2147484386" r:id="rId3"/>
    <p:sldLayoutId id="2147484387" r:id="rId4"/>
    <p:sldLayoutId id="2147484388" r:id="rId5"/>
    <p:sldLayoutId id="2147484389" r:id="rId6"/>
    <p:sldLayoutId id="2147484390" r:id="rId7"/>
    <p:sldLayoutId id="2147484391" r:id="rId8"/>
    <p:sldLayoutId id="2147484392" r:id="rId9"/>
    <p:sldLayoutId id="2147484393" r:id="rId10"/>
    <p:sldLayoutId id="2147484394" r:id="rId11"/>
    <p:sldLayoutId id="2147484395" r:id="rId12"/>
    <p:sldLayoutId id="2147484396" r:id="rId13"/>
    <p:sldLayoutId id="2147484397" r:id="rId14"/>
    <p:sldLayoutId id="2147484398" r:id="rId15"/>
    <p:sldLayoutId id="2147484399" r:id="rId16"/>
    <p:sldLayoutId id="214748440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Overview of </a:t>
            </a:r>
            <a:r>
              <a:rPr lang="en-US" b="1" dirty="0" err="1" smtClean="0"/>
              <a:t>BigData</a:t>
            </a:r>
            <a:r>
              <a:rPr lang="en-US" b="1" dirty="0" smtClean="0"/>
              <a:t> and </a:t>
            </a:r>
            <a:br>
              <a:rPr lang="en-US" b="1" dirty="0" smtClean="0"/>
            </a:br>
            <a:r>
              <a:rPr lang="en-US" b="1" dirty="0" smtClean="0"/>
              <a:t>Apache Spark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8003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 smtClean="0"/>
              <a:t>Outline: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89499"/>
            <a:ext cx="10058400" cy="4779596"/>
          </a:xfrm>
        </p:spPr>
        <p:txBody>
          <a:bodyPr/>
          <a:lstStyle/>
          <a:p>
            <a:r>
              <a:rPr lang="en-US" dirty="0" smtClean="0"/>
              <a:t>Big Data and its challenges</a:t>
            </a:r>
          </a:p>
          <a:p>
            <a:r>
              <a:rPr lang="en-US" dirty="0" smtClean="0"/>
              <a:t>Introduction to Apache Spark and History</a:t>
            </a:r>
          </a:p>
          <a:p>
            <a:r>
              <a:rPr lang="en-US" dirty="0" smtClean="0"/>
              <a:t>Apache Spark (vs) Hadoop </a:t>
            </a:r>
            <a:r>
              <a:rPr lang="en-US" dirty="0" err="1" smtClean="0"/>
              <a:t>MapReduce</a:t>
            </a:r>
            <a:endParaRPr lang="en-US" dirty="0" smtClean="0"/>
          </a:p>
          <a:p>
            <a:r>
              <a:rPr lang="en-US" dirty="0" smtClean="0"/>
              <a:t>Apache Spark Architecture</a:t>
            </a:r>
          </a:p>
          <a:p>
            <a:r>
              <a:rPr lang="en-US" dirty="0" smtClean="0"/>
              <a:t>Apache Spark Internals</a:t>
            </a:r>
          </a:p>
          <a:p>
            <a:r>
              <a:rPr lang="en-US" dirty="0" smtClean="0"/>
              <a:t>Spark job execution modes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0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 smtClean="0"/>
              <a:t>Objectives: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89499"/>
            <a:ext cx="10058400" cy="4779596"/>
          </a:xfrm>
        </p:spPr>
        <p:txBody>
          <a:bodyPr/>
          <a:lstStyle/>
          <a:p>
            <a:r>
              <a:rPr lang="en-US" dirty="0" smtClean="0"/>
              <a:t>At the end of this lesson, you will be able to understand:</a:t>
            </a:r>
          </a:p>
          <a:p>
            <a:pPr lvl="1"/>
            <a:r>
              <a:rPr lang="en-US" dirty="0" smtClean="0"/>
              <a:t>Big Data and challenges with Big Data</a:t>
            </a:r>
          </a:p>
          <a:p>
            <a:pPr lvl="1"/>
            <a:r>
              <a:rPr lang="en-US" dirty="0" smtClean="0"/>
              <a:t>Apache Spark and its architecture</a:t>
            </a:r>
          </a:p>
          <a:p>
            <a:pPr lvl="1"/>
            <a:r>
              <a:rPr lang="en-US" dirty="0" smtClean="0"/>
              <a:t>Differences between Apache Spark and Hadoop </a:t>
            </a:r>
            <a:r>
              <a:rPr lang="en-US" dirty="0" err="1" smtClean="0"/>
              <a:t>MapReduce</a:t>
            </a:r>
            <a:endParaRPr lang="en-US" dirty="0" smtClean="0"/>
          </a:p>
          <a:p>
            <a:pPr lvl="1"/>
            <a:r>
              <a:rPr lang="en-US" dirty="0" smtClean="0"/>
              <a:t>Apache Spark job execution modes</a:t>
            </a:r>
          </a:p>
          <a:p>
            <a:pPr lvl="1"/>
            <a:r>
              <a:rPr lang="en-US" dirty="0" smtClean="0"/>
              <a:t>How Spark works with cluster manager to execute the job</a:t>
            </a:r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27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What is </a:t>
            </a:r>
            <a:r>
              <a:rPr lang="en-US" b="1" dirty="0" err="1"/>
              <a:t>BigData</a:t>
            </a:r>
            <a:r>
              <a:rPr lang="en-US" b="1" dirty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89499"/>
            <a:ext cx="10058400" cy="4779596"/>
          </a:xfrm>
        </p:spPr>
        <p:txBody>
          <a:bodyPr/>
          <a:lstStyle/>
          <a:p>
            <a:r>
              <a:rPr lang="en-US" dirty="0"/>
              <a:t>Now a days, getting data from many data sources:</a:t>
            </a:r>
          </a:p>
          <a:p>
            <a:pPr lvl="1"/>
            <a:r>
              <a:rPr lang="en-US" dirty="0"/>
              <a:t>User Generated Content</a:t>
            </a:r>
          </a:p>
          <a:p>
            <a:pPr lvl="2"/>
            <a:r>
              <a:rPr lang="en-US" dirty="0"/>
              <a:t>Twitter, Facebook</a:t>
            </a:r>
          </a:p>
          <a:p>
            <a:pPr lvl="2"/>
            <a:r>
              <a:rPr lang="en-US" dirty="0" err="1"/>
              <a:t>ClickStream</a:t>
            </a:r>
            <a:endParaRPr lang="en-US" dirty="0"/>
          </a:p>
          <a:p>
            <a:pPr lvl="2"/>
            <a:r>
              <a:rPr lang="en-US" dirty="0"/>
              <a:t>Payment Apps</a:t>
            </a:r>
          </a:p>
          <a:p>
            <a:pPr lvl="1"/>
            <a:r>
              <a:rPr lang="en-US" dirty="0"/>
              <a:t>Internet of Things (IOT):</a:t>
            </a:r>
          </a:p>
          <a:p>
            <a:pPr lvl="2"/>
            <a:r>
              <a:rPr lang="en-US" dirty="0"/>
              <a:t>Industrial Sensors, Wind Turbines</a:t>
            </a:r>
          </a:p>
          <a:p>
            <a:pPr lvl="2"/>
            <a:r>
              <a:rPr lang="en-US" dirty="0"/>
              <a:t>Fitness Wearables</a:t>
            </a: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437" y="3590983"/>
            <a:ext cx="5029200" cy="2964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0429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“Big Data” problem: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89499"/>
            <a:ext cx="10058400" cy="4779596"/>
          </a:xfrm>
        </p:spPr>
        <p:txBody>
          <a:bodyPr/>
          <a:lstStyle/>
          <a:p>
            <a:r>
              <a:rPr lang="en-US" b="1" dirty="0"/>
              <a:t>Problem:</a:t>
            </a:r>
            <a:endParaRPr lang="en-US" dirty="0"/>
          </a:p>
          <a:p>
            <a:pPr lvl="1"/>
            <a:r>
              <a:rPr lang="en-US" dirty="0"/>
              <a:t>A single machine cannot store or process all the data.</a:t>
            </a:r>
          </a:p>
          <a:p>
            <a:r>
              <a:rPr lang="en-US" b="1" dirty="0"/>
              <a:t>Solution:</a:t>
            </a:r>
            <a:endParaRPr lang="en-US" dirty="0"/>
          </a:p>
          <a:p>
            <a:pPr lvl="1"/>
            <a:r>
              <a:rPr lang="en-US" dirty="0"/>
              <a:t>Distribute data over large clusters.</a:t>
            </a:r>
          </a:p>
          <a:p>
            <a:r>
              <a:rPr lang="en-US" b="1" dirty="0"/>
              <a:t>Difficulty:</a:t>
            </a:r>
            <a:endParaRPr lang="en-US" dirty="0"/>
          </a:p>
          <a:p>
            <a:pPr lvl="1"/>
            <a:r>
              <a:rPr lang="en-US" dirty="0"/>
              <a:t>How to </a:t>
            </a:r>
            <a:r>
              <a:rPr lang="en-US" dirty="0" smtClean="0"/>
              <a:t>store </a:t>
            </a:r>
            <a:r>
              <a:rPr lang="en-US" dirty="0"/>
              <a:t>the huge data across machines?</a:t>
            </a:r>
          </a:p>
          <a:p>
            <a:pPr lvl="1"/>
            <a:r>
              <a:rPr lang="en-US" dirty="0"/>
              <a:t>How to split the work across machines?</a:t>
            </a:r>
          </a:p>
          <a:p>
            <a:pPr lvl="1"/>
            <a:r>
              <a:rPr lang="en-US" dirty="0"/>
              <a:t>How to deal with failures?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1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What is Apache Spark?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89499"/>
            <a:ext cx="10058400" cy="4779596"/>
          </a:xfrm>
        </p:spPr>
        <p:txBody>
          <a:bodyPr>
            <a:normAutofit/>
          </a:bodyPr>
          <a:lstStyle/>
          <a:p>
            <a:r>
              <a:rPr lang="en-US" dirty="0"/>
              <a:t>Apache Spark is a unified computing engine and a set of libraries for parallel data processing on computer clusters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Unified</a:t>
            </a:r>
            <a:r>
              <a:rPr lang="en-US" b="1" dirty="0"/>
              <a:t>:</a:t>
            </a:r>
            <a:r>
              <a:rPr lang="en-US" dirty="0"/>
              <a:t> Can do variety of tasks such as simple data loading, SQL queries for analyzing data, machine learning, stream data processing etc.</a:t>
            </a:r>
          </a:p>
          <a:p>
            <a:pPr lvl="1"/>
            <a:r>
              <a:rPr lang="en-US" b="1" dirty="0"/>
              <a:t>Computing engine:</a:t>
            </a:r>
            <a:r>
              <a:rPr lang="en-US" dirty="0"/>
              <a:t> Spark handles loading data from storage systems and performs computation on it</a:t>
            </a:r>
          </a:p>
          <a:p>
            <a:pPr lvl="1"/>
            <a:r>
              <a:rPr lang="en-US" b="1" dirty="0"/>
              <a:t>Libraries:</a:t>
            </a:r>
            <a:r>
              <a:rPr lang="en-US" dirty="0"/>
              <a:t> Spark includes libraries for SQL and structured data (Spark SQL), machine learning (</a:t>
            </a:r>
            <a:r>
              <a:rPr lang="en-US" dirty="0" err="1"/>
              <a:t>MLlib</a:t>
            </a:r>
            <a:r>
              <a:rPr lang="en-US" dirty="0"/>
              <a:t>), stream processing (Spark Streaming and the newer Structured Streaming), and graph analytics (</a:t>
            </a:r>
            <a:r>
              <a:rPr lang="en-US" dirty="0" err="1"/>
              <a:t>GraphX</a:t>
            </a:r>
            <a:r>
              <a:rPr lang="en-US" dirty="0" smtClean="0"/>
              <a:t>).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Spark </a:t>
            </a:r>
            <a:r>
              <a:rPr lang="en-US" dirty="0"/>
              <a:t>supports multiple widely used programming languages (Python, Java, Scala, and R).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855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History of Spark: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89499"/>
            <a:ext cx="10058400" cy="4779596"/>
          </a:xfrm>
        </p:spPr>
        <p:txBody>
          <a:bodyPr>
            <a:normAutofit/>
          </a:bodyPr>
          <a:lstStyle/>
          <a:p>
            <a:r>
              <a:rPr lang="en-US" dirty="0"/>
              <a:t>Apache Spark began at UC Berkeley in 2009 as the Spark research project by </a:t>
            </a:r>
            <a:r>
              <a:rPr lang="en-US" b="1" i="1" dirty="0" err="1"/>
              <a:t>Matei</a:t>
            </a:r>
            <a:r>
              <a:rPr lang="en-US" b="1" i="1" dirty="0"/>
              <a:t> </a:t>
            </a:r>
            <a:r>
              <a:rPr lang="en-US" b="1" i="1" dirty="0" err="1"/>
              <a:t>Zaharia</a:t>
            </a:r>
            <a:r>
              <a:rPr lang="en-US" dirty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At </a:t>
            </a:r>
            <a:r>
              <a:rPr lang="en-US" dirty="0"/>
              <a:t>the time, Hadoop </a:t>
            </a:r>
            <a:r>
              <a:rPr lang="en-US" dirty="0" err="1"/>
              <a:t>MapReduce</a:t>
            </a:r>
            <a:r>
              <a:rPr lang="en-US" dirty="0"/>
              <a:t> was the dominant parallel programming engine. But </a:t>
            </a:r>
            <a:r>
              <a:rPr lang="en-US" dirty="0" err="1"/>
              <a:t>MapReduce</a:t>
            </a:r>
            <a:r>
              <a:rPr lang="en-US" dirty="0"/>
              <a:t> framework has drawbacks as it has to store intermediate data on disk and this will impact the performance of ML applications.</a:t>
            </a:r>
          </a:p>
          <a:p>
            <a:endParaRPr lang="en-US" dirty="0" smtClean="0"/>
          </a:p>
          <a:p>
            <a:r>
              <a:rPr lang="en-US" dirty="0" smtClean="0"/>
              <a:t>Apache </a:t>
            </a:r>
            <a:r>
              <a:rPr lang="en-US" dirty="0"/>
              <a:t>Spark community released Spark 1.0 in 2014 and Spark 2.0 in 2016.</a:t>
            </a:r>
          </a:p>
        </p:txBody>
      </p:sp>
    </p:spTree>
    <p:extLst>
      <p:ext uri="{BB962C8B-B14F-4D97-AF65-F5344CB8AC3E}">
        <p14:creationId xmlns:p14="http://schemas.microsoft.com/office/powerpoint/2010/main" val="177488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Spark (vs) </a:t>
            </a:r>
            <a:r>
              <a:rPr lang="en-US" b="1" dirty="0" err="1"/>
              <a:t>MapReduce</a:t>
            </a:r>
            <a:r>
              <a:rPr lang="en-US" b="1" dirty="0"/>
              <a:t>:</a:t>
            </a: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926919"/>
              </p:ext>
            </p:extLst>
          </p:nvPr>
        </p:nvGraphicFramePr>
        <p:xfrm>
          <a:off x="1856509" y="1431637"/>
          <a:ext cx="8456959" cy="44276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3530">
                  <a:extLst>
                    <a:ext uri="{9D8B030D-6E8A-4147-A177-3AD203B41FA5}">
                      <a16:colId xmlns:a16="http://schemas.microsoft.com/office/drawing/2014/main" val="3117570384"/>
                    </a:ext>
                  </a:extLst>
                </a:gridCol>
                <a:gridCol w="3403193">
                  <a:extLst>
                    <a:ext uri="{9D8B030D-6E8A-4147-A177-3AD203B41FA5}">
                      <a16:colId xmlns:a16="http://schemas.microsoft.com/office/drawing/2014/main" val="2444381880"/>
                    </a:ext>
                  </a:extLst>
                </a:gridCol>
                <a:gridCol w="3480236">
                  <a:extLst>
                    <a:ext uri="{9D8B030D-6E8A-4147-A177-3AD203B41FA5}">
                      <a16:colId xmlns:a16="http://schemas.microsoft.com/office/drawing/2014/main" val="1051072596"/>
                    </a:ext>
                  </a:extLst>
                </a:gridCol>
              </a:tblGrid>
              <a:tr h="2378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</a:rPr>
                        <a:t>Map Reduce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</a:rPr>
                        <a:t>Spark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3963218"/>
                  </a:ext>
                </a:extLst>
              </a:tr>
              <a:tr h="4866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Data Processing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Only for Batch Processing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Batch Processing as well as Real-Time Data Processing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4674915"/>
                  </a:ext>
                </a:extLst>
              </a:tr>
              <a:tr h="4866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Processing Speed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Slower than Spark because of I/O disk latency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100x faster in memory and 10x faster while running on Disk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2756686"/>
                  </a:ext>
                </a:extLst>
              </a:tr>
              <a:tr h="2378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Complexity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Difficult to write and debug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Easy to write and debug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662399"/>
                  </a:ext>
                </a:extLst>
              </a:tr>
              <a:tr h="2378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Coding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More lines of code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Lesser lines of code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5820095"/>
                  </a:ext>
                </a:extLst>
              </a:tr>
              <a:tr h="7354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Languages Support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Primary language is JAVA, but also supports C, C++, Ruby, Python, Perl, Groovy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Supports JAVA, Scala, Python and R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2918090"/>
                  </a:ext>
                </a:extLst>
              </a:tr>
              <a:tr h="2378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Interactive Mode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Not interactive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Interactive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1932374"/>
                  </a:ext>
                </a:extLst>
              </a:tr>
              <a:tr h="4866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Ease of Use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Bit complex comparing Apache Spark because of Java APIs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Easier to use because of rich APIs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4981575"/>
                  </a:ext>
                </a:extLst>
              </a:tr>
              <a:tr h="5755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</a:rPr>
                        <a:t>Fault Tolerance</a:t>
                      </a:r>
                      <a:endParaRPr lang="en-US" sz="14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Uses data replication for fault tolerance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Uses RDD and other data storage models for fault tolerance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6444563"/>
                  </a:ext>
                </a:extLst>
              </a:tr>
              <a:tr h="4866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</a:rPr>
                        <a:t>Costs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Less costlier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More costlier because of large amount of RAM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3872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0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Spark Architecture: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89499"/>
            <a:ext cx="10058400" cy="477959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Spark manages and coordinates the execution of tasks on data across a cluster of computers</a:t>
            </a:r>
            <a:r>
              <a:rPr lang="en-US" dirty="0" smtClean="0"/>
              <a:t>.</a:t>
            </a:r>
          </a:p>
          <a:p>
            <a:pPr lvl="1"/>
            <a:r>
              <a:rPr lang="en-US" b="1" dirty="0" smtClean="0"/>
              <a:t>Driver Program</a:t>
            </a:r>
            <a:r>
              <a:rPr lang="en-US" dirty="0" smtClean="0"/>
              <a:t> – Manages the Spark application and assigns the tasks to executors.</a:t>
            </a:r>
          </a:p>
          <a:p>
            <a:pPr lvl="1"/>
            <a:r>
              <a:rPr lang="en-US" b="1" dirty="0" smtClean="0"/>
              <a:t>Cluster Manager </a:t>
            </a:r>
            <a:r>
              <a:rPr lang="en-US" dirty="0" smtClean="0"/>
              <a:t>– Manages the cluster resources and grants resources to submitted Spark application</a:t>
            </a:r>
          </a:p>
          <a:p>
            <a:pPr lvl="1"/>
            <a:r>
              <a:rPr lang="en-US" b="1" dirty="0" smtClean="0"/>
              <a:t>Executors</a:t>
            </a:r>
            <a:r>
              <a:rPr lang="en-US" dirty="0" smtClean="0"/>
              <a:t> – Will do the actual work 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477164" y="3823855"/>
            <a:ext cx="4964776" cy="248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8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Spark Architecture: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89499"/>
            <a:ext cx="10058400" cy="47795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Spark application consists Driver process and Executor processes,</a:t>
            </a:r>
          </a:p>
          <a:p>
            <a:pPr lvl="0"/>
            <a:r>
              <a:rPr lang="en-US" dirty="0"/>
              <a:t>Driver process:</a:t>
            </a:r>
          </a:p>
          <a:p>
            <a:pPr lvl="1"/>
            <a:r>
              <a:rPr lang="en-US" dirty="0"/>
              <a:t>Driver process runs your main() function and it sits on a node in the cluster</a:t>
            </a:r>
          </a:p>
          <a:p>
            <a:pPr lvl="1"/>
            <a:r>
              <a:rPr lang="en-US" dirty="0"/>
              <a:t>It’s the heart of a Spark application and maintains all the information about your application</a:t>
            </a:r>
          </a:p>
          <a:p>
            <a:pPr lvl="1"/>
            <a:r>
              <a:rPr lang="en-US" dirty="0"/>
              <a:t>This process is responsible for,</a:t>
            </a:r>
          </a:p>
          <a:p>
            <a:pPr lvl="2"/>
            <a:r>
              <a:rPr lang="en-US" dirty="0"/>
              <a:t>Managing information about your Spark application</a:t>
            </a:r>
          </a:p>
          <a:p>
            <a:pPr lvl="2"/>
            <a:r>
              <a:rPr lang="en-US" dirty="0"/>
              <a:t>Responding to user’s program or input</a:t>
            </a:r>
          </a:p>
          <a:p>
            <a:pPr lvl="2"/>
            <a:r>
              <a:rPr lang="en-US" dirty="0"/>
              <a:t>Distributing and scheduling the work across the executors</a:t>
            </a:r>
          </a:p>
          <a:p>
            <a:pPr lvl="0"/>
            <a:r>
              <a:rPr lang="en-US" dirty="0"/>
              <a:t>Executor process:</a:t>
            </a:r>
          </a:p>
          <a:p>
            <a:pPr lvl="1"/>
            <a:r>
              <a:rPr lang="en-US" dirty="0"/>
              <a:t>Executor processes will do the actual work and sits on worker nodes in a cluster.</a:t>
            </a:r>
          </a:p>
          <a:p>
            <a:pPr lvl="1"/>
            <a:r>
              <a:rPr lang="en-US" dirty="0"/>
              <a:t>They are responsible for,</a:t>
            </a:r>
          </a:p>
          <a:p>
            <a:pPr lvl="2"/>
            <a:r>
              <a:rPr lang="en-US" dirty="0"/>
              <a:t>Executing the code assigned by the Driver</a:t>
            </a:r>
          </a:p>
          <a:p>
            <a:pPr lvl="2"/>
            <a:r>
              <a:rPr lang="en-US" dirty="0"/>
              <a:t>Reporting the state of computation back to the Driver</a:t>
            </a:r>
          </a:p>
        </p:txBody>
      </p:sp>
    </p:spTree>
    <p:extLst>
      <p:ext uri="{BB962C8B-B14F-4D97-AF65-F5344CB8AC3E}">
        <p14:creationId xmlns:p14="http://schemas.microsoft.com/office/powerpoint/2010/main" val="17112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Execution Modes: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89499"/>
            <a:ext cx="10058400" cy="4779596"/>
          </a:xfrm>
        </p:spPr>
        <p:txBody>
          <a:bodyPr>
            <a:normAutofit/>
          </a:bodyPr>
          <a:lstStyle/>
          <a:p>
            <a:r>
              <a:rPr lang="en-US" dirty="0"/>
              <a:t>An execution mode gives you the power to determine where the aforementioned resources are physically located when you go to run your application.</a:t>
            </a:r>
          </a:p>
          <a:p>
            <a:pPr lvl="1"/>
            <a:r>
              <a:rPr lang="en-US" dirty="0"/>
              <a:t>Cluster mode</a:t>
            </a:r>
          </a:p>
          <a:p>
            <a:pPr lvl="1"/>
            <a:r>
              <a:rPr lang="en-US" dirty="0"/>
              <a:t>Client mode</a:t>
            </a:r>
          </a:p>
          <a:p>
            <a:pPr lvl="1"/>
            <a:r>
              <a:rPr lang="en-US" dirty="0"/>
              <a:t>Local mode</a:t>
            </a:r>
          </a:p>
        </p:txBody>
      </p:sp>
    </p:spTree>
    <p:extLst>
      <p:ext uri="{BB962C8B-B14F-4D97-AF65-F5344CB8AC3E}">
        <p14:creationId xmlns:p14="http://schemas.microsoft.com/office/powerpoint/2010/main" val="182781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Execution Modes: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89499"/>
            <a:ext cx="6602268" cy="4779596"/>
          </a:xfrm>
        </p:spPr>
        <p:txBody>
          <a:bodyPr>
            <a:normAutofit/>
          </a:bodyPr>
          <a:lstStyle/>
          <a:p>
            <a:r>
              <a:rPr lang="en-US" b="1" dirty="0" smtClean="0"/>
              <a:t>Cluster Mode:</a:t>
            </a:r>
          </a:p>
          <a:p>
            <a:pPr lvl="1"/>
            <a:r>
              <a:rPr lang="en-US" dirty="0"/>
              <a:t>In cluster mode, a user submits a pre-compiled JAR, Python script, or R script to a cluster manager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cluster manager then launches the driver process on a worker node inside the cluster, in addition to the executor processes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Cluster manager is responsible for maintaining all Spark Application related processes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Cluster manager places driver on one worker node and the executors on other worker nodes.</a:t>
            </a:r>
          </a:p>
          <a:p>
            <a:pPr lvl="1"/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548" y="2350309"/>
            <a:ext cx="4015740" cy="3242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776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Execution Modes: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089499"/>
            <a:ext cx="6602268" cy="4779596"/>
          </a:xfrm>
        </p:spPr>
        <p:txBody>
          <a:bodyPr>
            <a:normAutofit/>
          </a:bodyPr>
          <a:lstStyle/>
          <a:p>
            <a:r>
              <a:rPr lang="en-US" b="1" dirty="0"/>
              <a:t>Client </a:t>
            </a:r>
            <a:r>
              <a:rPr lang="en-US" b="1" dirty="0" smtClean="0"/>
              <a:t>Mode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Similar to cluster mode, but Spark driver process remains on client machine that submitted the application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Client machine is responsible for maintaining the Spark driver process, and the cluster manager maintains the executor processes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286" y="2620039"/>
            <a:ext cx="4465320" cy="3668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499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Execution Modes: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089499"/>
            <a:ext cx="9792393" cy="4779596"/>
          </a:xfrm>
        </p:spPr>
        <p:txBody>
          <a:bodyPr>
            <a:normAutofit/>
          </a:bodyPr>
          <a:lstStyle/>
          <a:p>
            <a:r>
              <a:rPr lang="en-US" b="1" dirty="0" smtClean="0"/>
              <a:t>Local Mode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Local mode runs the entire Spark Application on a single machine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achieves parallelism through threads on that single machine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is a common way to learn Spark, to test your applications, or experiment iteratively with local development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mode is not recommended for Production Spark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82936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2895"/>
          </a:xfrm>
        </p:spPr>
        <p:txBody>
          <a:bodyPr>
            <a:normAutofit/>
          </a:bodyPr>
          <a:lstStyle/>
          <a:p>
            <a:r>
              <a:rPr lang="en-US" b="1" dirty="0"/>
              <a:t>How Spark runs on a cluster?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582" y="1699491"/>
            <a:ext cx="6304511" cy="3819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846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98817287B7F945B8F20CD7A2084783" ma:contentTypeVersion="0" ma:contentTypeDescription="Create a new document." ma:contentTypeScope="" ma:versionID="ee2f4f5adcc5f531db2c1ab151ce79e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24D4F9C-D087-4A73-B673-454B8174AA0A}"/>
</file>

<file path=customXml/itemProps2.xml><?xml version="1.0" encoding="utf-8"?>
<ds:datastoreItem xmlns:ds="http://schemas.openxmlformats.org/officeDocument/2006/customXml" ds:itemID="{F043C675-8059-42E5-BD16-02BEC6D0B89F}"/>
</file>

<file path=customXml/itemProps3.xml><?xml version="1.0" encoding="utf-8"?>
<ds:datastoreItem xmlns:ds="http://schemas.openxmlformats.org/officeDocument/2006/customXml" ds:itemID="{89ADDC83-A0D2-4675-8DCF-03413989F6F8}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1543</TotalTime>
  <Words>899</Words>
  <Application>Microsoft Office PowerPoint</Application>
  <PresentationFormat>Widescreen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Wingdings 3</vt:lpstr>
      <vt:lpstr>Ion</vt:lpstr>
      <vt:lpstr>Overview of BigData and  Apache Spark</vt:lpstr>
      <vt:lpstr>Outline:</vt:lpstr>
      <vt:lpstr>Objectives:</vt:lpstr>
      <vt:lpstr>What is BigData?</vt:lpstr>
      <vt:lpstr>“Big Data” problem:</vt:lpstr>
      <vt:lpstr>What is Apache Spark?</vt:lpstr>
      <vt:lpstr>History of Spark:</vt:lpstr>
      <vt:lpstr>Spark (vs) MapReduce:</vt:lpstr>
      <vt:lpstr>Spark Architecture:</vt:lpstr>
      <vt:lpstr>Spark Architecture:</vt:lpstr>
      <vt:lpstr>Execution Modes:</vt:lpstr>
      <vt:lpstr>Execution Modes:</vt:lpstr>
      <vt:lpstr>Execution Modes:</vt:lpstr>
      <vt:lpstr>Execution Modes:</vt:lpstr>
      <vt:lpstr>How Spark runs on a cluster?</vt:lpstr>
    </vt:vector>
  </TitlesOfParts>
  <Company>Anthem,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Spark</dc:title>
  <dc:creator>Kethana, Nagendra Babu</dc:creator>
  <cp:lastModifiedBy>Kethana, Nagendra Babu</cp:lastModifiedBy>
  <cp:revision>21</cp:revision>
  <dcterms:created xsi:type="dcterms:W3CDTF">2019-12-04T07:21:26Z</dcterms:created>
  <dcterms:modified xsi:type="dcterms:W3CDTF">2019-12-11T13:41:53Z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0x0101001798817287B7F945B8F20CD7A2084783</vt:lpwstr>
  </property>
</Properties>
</file>