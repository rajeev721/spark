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7"/>
  </p:notesMasterIdLst>
  <p:sldIdLst>
    <p:sldId id="256" r:id="rId2"/>
    <p:sldId id="28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0" r:id="rId35"/>
    <p:sldId id="28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EE4E0-7AD8-41D8-9CB1-B280F27B34B8}" type="datetimeFigureOut">
              <a:rPr lang="en-IN" smtClean="0"/>
              <a:t>11-02-2016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ED3A3-8EF4-4494-A03D-F64EDD583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7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1ED3A3-8EF4-4494-A03D-F64EDD583AB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133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D658-5A19-4BA0-8C43-141774FB0B4C}" type="datetime1">
              <a:rPr lang="en-IN" smtClean="0"/>
              <a:t>11-02-2016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75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51798-0BED-40FA-84B9-DA04A815B8F6}" type="datetime1">
              <a:rPr lang="en-IN" smtClean="0"/>
              <a:t>11-02-2016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742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1DF14-440E-411F-9C82-5B77D45AB1E6}" type="datetime1">
              <a:rPr lang="en-IN" smtClean="0"/>
              <a:t>11-02-2016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6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0AF2-BEA5-4EE3-8B17-500631F48223}" type="datetime1">
              <a:rPr lang="en-IN" smtClean="0"/>
              <a:t>11-02-2016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300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5A4-548E-4F35-9C59-C98E1F836CE1}" type="datetime1">
              <a:rPr lang="en-IN" smtClean="0"/>
              <a:t>11-02-2016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369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97B9F-843E-4B1F-85E1-F9E745BFF1EF}" type="datetime1">
              <a:rPr lang="en-IN" smtClean="0"/>
              <a:t>11-02-2016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766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D5FB6-6513-485F-B43F-A5AC98A9340D}" type="datetime1">
              <a:rPr lang="en-IN" smtClean="0"/>
              <a:t>11-02-2016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650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7700E-56A3-4864-8391-245C1FF404C1}" type="datetime1">
              <a:rPr lang="en-IN" smtClean="0"/>
              <a:t>11-02-2016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00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F643-76A4-45F9-8272-09AC917D519D}" type="datetime1">
              <a:rPr lang="en-IN" smtClean="0"/>
              <a:t>11-02-2016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48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5506-2185-4E9A-A84E-0D24B898DD67}" type="datetime1">
              <a:rPr lang="en-IN" smtClean="0"/>
              <a:t>11-02-2016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584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CA083-4BEE-4C29-8808-DF0B0F87D927}" type="datetime1">
              <a:rPr lang="en-IN" smtClean="0"/>
              <a:t>11-02-2016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8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5BF93-F3D2-498B-A823-792B91BF796F}" type="datetime1">
              <a:rPr lang="en-IN" smtClean="0"/>
              <a:t>11-02-2016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0DFBC-526C-49DD-B895-856AF936B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734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119" y="0"/>
            <a:ext cx="9144000" cy="885516"/>
          </a:xfrm>
        </p:spPr>
        <p:txBody>
          <a:bodyPr>
            <a:normAutofit fontScale="90000"/>
          </a:bodyPr>
          <a:lstStyle/>
          <a:p>
            <a:r>
              <a:rPr lang="en-US" sz="4900" dirty="0" smtClean="0">
                <a:latin typeface="Century Gothic" panose="020B0502020202020204" pitchFamily="34" charset="0"/>
              </a:rPr>
              <a:t>PIG</a:t>
            </a:r>
            <a:r>
              <a:rPr lang="en-US" dirty="0" smtClean="0">
                <a:latin typeface="Century Gothic" panose="020B0502020202020204" pitchFamily="34" charset="0"/>
              </a:rPr>
              <a:t>,</a:t>
            </a:r>
            <a:r>
              <a:rPr lang="en-US" sz="3600" dirty="0" smtClean="0">
                <a:latin typeface="Century Gothic" panose="020B0502020202020204" pitchFamily="34" charset="0"/>
              </a:rPr>
              <a:t>a </a:t>
            </a:r>
            <a:r>
              <a:rPr lang="en-US" sz="3600" dirty="0">
                <a:latin typeface="Century Gothic" panose="020B0502020202020204" pitchFamily="34" charset="0"/>
              </a:rPr>
              <a:t>Data Flow Engine</a:t>
            </a:r>
            <a:endParaRPr lang="en-IN" sz="3600" dirty="0">
              <a:latin typeface="Century Gothic" panose="020B0502020202020204" pitchFamily="34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9595262" y="5795160"/>
            <a:ext cx="2402773" cy="783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</a:t>
            </a:r>
          </a:p>
          <a:p>
            <a:r>
              <a:rPr lang="en-IN" sz="140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Karunakar Naidu</a:t>
            </a:r>
          </a:p>
          <a:p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94" y="1828798"/>
            <a:ext cx="4572001" cy="15556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190" y="973777"/>
            <a:ext cx="4300845" cy="387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2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/>
              <a:t>Objectives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IN" sz="1800" dirty="0" smtClean="0"/>
              <a:t>By end of this PPT you will be able to understand what is Pig.</a:t>
            </a:r>
          </a:p>
          <a:p>
            <a:pPr>
              <a:lnSpc>
                <a:spcPct val="300000"/>
              </a:lnSpc>
            </a:pPr>
            <a:r>
              <a:rPr lang="en-IN" sz="1800" dirty="0" smtClean="0"/>
              <a:t>How  Pig integrates with Hadoop Ecosystem to provide Enterprise level data processing.</a:t>
            </a:r>
          </a:p>
          <a:p>
            <a:pPr>
              <a:lnSpc>
                <a:spcPct val="300000"/>
              </a:lnSpc>
            </a:pPr>
            <a:r>
              <a:rPr lang="en-IN" sz="1800" dirty="0"/>
              <a:t>How to perform MapReduce tasks by simple Pig scripts.</a:t>
            </a:r>
          </a:p>
          <a:p>
            <a:pPr>
              <a:lnSpc>
                <a:spcPct val="300000"/>
              </a:lnSpc>
            </a:pPr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60073" y="6356350"/>
            <a:ext cx="6662057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520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054431" y="6356350"/>
            <a:ext cx="7493330" cy="365125"/>
          </a:xfrm>
        </p:spPr>
        <p:txBody>
          <a:bodyPr/>
          <a:lstStyle/>
          <a:p>
            <a:r>
              <a:rPr lang="en-IN" smtClean="0"/>
              <a:t>Copyright © 2016 Accenture All Rights Reserved. Confidential -For Company Internal Use Only.</a:t>
            </a:r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84901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                                 </a:t>
            </a:r>
            <a:r>
              <a:rPr lang="en-IN" b="1" dirty="0" smtClean="0"/>
              <a:t>Agenda</a:t>
            </a:r>
            <a:endParaRPr lang="en-IN" b="1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5003" y="584900"/>
            <a:ext cx="11982202" cy="5771449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Apache Pig Introduction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Pig Latin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Pig v/s SQL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Data types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Load &amp; Store operators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/>
              <a:t>Grouping &amp; </a:t>
            </a:r>
            <a:r>
              <a:rPr lang="en-IN" sz="2600" dirty="0" smtClean="0"/>
              <a:t>Joining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Filtering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Sorting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Set Operations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/>
              <a:t>Splitting Data</a:t>
            </a:r>
            <a:endParaRPr lang="en-IN" sz="2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Pig UDF’s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Tuning </a:t>
            </a:r>
            <a:r>
              <a:rPr lang="en-IN" sz="2600" dirty="0" smtClean="0"/>
              <a:t>Pig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 smtClean="0"/>
              <a:t>Summary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20125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03" y="574406"/>
            <a:ext cx="11910950" cy="57819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800" b="1" dirty="0" smtClean="0"/>
              <a:t>Apache Pig is a platform for data analysis and processing on Hadoop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– It offers an alternative to writing MapReduce code directly</a:t>
            </a: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 smtClean="0"/>
              <a:t>Originally developed as a research project at Yahoo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– Goals: flexibility, productivity, and maintainability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 – Now an open source Apache project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 smtClean="0"/>
              <a:t>Main components of Pig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– The data flow language</a:t>
            </a:r>
            <a:r>
              <a:rPr lang="en-IN" sz="1800" dirty="0"/>
              <a:t> </a:t>
            </a:r>
            <a:r>
              <a:rPr lang="en-IN" sz="1800" dirty="0" smtClean="0"/>
              <a:t>(Pig Latin)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– The interactive shell where you can type Pig Latin statements</a:t>
            </a:r>
            <a:r>
              <a:rPr lang="en-IN" sz="1800" dirty="0"/>
              <a:t> </a:t>
            </a:r>
            <a:r>
              <a:rPr lang="en-IN" sz="1800" dirty="0" smtClean="0"/>
              <a:t>(Grunt)</a:t>
            </a:r>
          </a:p>
          <a:p>
            <a:pPr marL="0" indent="0">
              <a:buNone/>
            </a:pPr>
            <a:r>
              <a:rPr lang="en-IN" sz="1800" dirty="0"/>
              <a:t> </a:t>
            </a:r>
            <a:r>
              <a:rPr lang="en-IN" sz="1800" dirty="0" smtClean="0"/>
              <a:t>  – The Pig interpreter and execution engine</a:t>
            </a:r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85059" y="6356350"/>
            <a:ext cx="7754587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" y="4702628"/>
            <a:ext cx="11910949" cy="2155371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80703" y="0"/>
            <a:ext cx="10515600" cy="574407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                     Apache Pig Overview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33085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53" y="645659"/>
            <a:ext cx="11958452" cy="55313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sz="1800" b="1" dirty="0" smtClean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IN" sz="1800" b="1" dirty="0" smtClean="0"/>
              <a:t>Pig is an alternative to writing low level MapReduce code</a:t>
            </a:r>
            <a:endParaRPr lang="en-IN" sz="1800" b="1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IN" sz="1800" b="1" dirty="0" smtClean="0"/>
              <a:t>Many features enable sophisticated analysis and processing</a:t>
            </a:r>
            <a:endParaRPr lang="en-IN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 smtClean="0"/>
              <a:t>   – HDFS manipulation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 smtClean="0"/>
              <a:t>   – UNIX shell commands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– Relational operations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 smtClean="0"/>
              <a:t>   – Positional references for fields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 smtClean="0"/>
              <a:t>   – Common mathematical functions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– Support for custom functions and data formats</a:t>
            </a:r>
            <a:endParaRPr lang="en-IN" sz="18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</a:t>
            </a:r>
            <a:r>
              <a:rPr lang="en-IN" sz="1800" b="1" dirty="0" smtClean="0"/>
              <a:t>  </a:t>
            </a:r>
            <a:r>
              <a:rPr lang="en-IN" sz="1800" dirty="0" smtClean="0"/>
              <a:t>– Complex data structures</a:t>
            </a:r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042555" y="6356350"/>
            <a:ext cx="6840188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42555" y="143442"/>
            <a:ext cx="7303325" cy="645659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Pig Features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189475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9" y="605642"/>
            <a:ext cx="11934701" cy="57507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/>
              <a:t>Pig has two run modes or </a:t>
            </a:r>
            <a:r>
              <a:rPr lang="en-IN" sz="1800" dirty="0" smtClean="0"/>
              <a:t>execution types</a:t>
            </a:r>
            <a:r>
              <a:rPr lang="en-IN" sz="1800" dirty="0"/>
              <a:t>:</a:t>
            </a:r>
          </a:p>
          <a:p>
            <a:pPr marL="0" indent="0">
              <a:buNone/>
            </a:pPr>
            <a:r>
              <a:rPr lang="en-IN" sz="1800" dirty="0" smtClean="0"/>
              <a:t>   </a:t>
            </a:r>
            <a:r>
              <a:rPr lang="en-IN" sz="1800" b="1" dirty="0" smtClean="0"/>
              <a:t>Local </a:t>
            </a:r>
            <a:r>
              <a:rPr lang="en-IN" sz="1800" b="1" dirty="0"/>
              <a:t>Mode </a:t>
            </a:r>
            <a:r>
              <a:rPr lang="en-IN" sz="1800" dirty="0"/>
              <a:t>- To run Pig in local mode, you need access to a single machine</a:t>
            </a:r>
            <a:r>
              <a:rPr lang="en-IN" sz="1800" dirty="0" smtClean="0"/>
              <a:t>.</a:t>
            </a:r>
          </a:p>
          <a:p>
            <a:pPr marL="0" indent="0"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                 </a:t>
            </a:r>
            <a:r>
              <a:rPr lang="en-IN" sz="1800" b="1" dirty="0" smtClean="0"/>
              <a:t>$</a:t>
            </a:r>
            <a:r>
              <a:rPr lang="en-IN" sz="1800" b="1" dirty="0"/>
              <a:t>pig –x local</a:t>
            </a:r>
          </a:p>
          <a:p>
            <a:pPr marL="0" indent="0">
              <a:buNone/>
            </a:pPr>
            <a:r>
              <a:rPr lang="en-IN" sz="1800" dirty="0" smtClean="0"/>
              <a:t>   </a:t>
            </a:r>
            <a:r>
              <a:rPr lang="en-IN" sz="1800" b="1" dirty="0" smtClean="0"/>
              <a:t>MapReduce </a:t>
            </a:r>
            <a:r>
              <a:rPr lang="en-IN" sz="1800" b="1" dirty="0"/>
              <a:t>Mode </a:t>
            </a:r>
            <a:r>
              <a:rPr lang="en-IN" sz="1800" dirty="0"/>
              <a:t>- To run Pig in </a:t>
            </a:r>
            <a:r>
              <a:rPr lang="en-IN" sz="1800" dirty="0" smtClean="0"/>
              <a:t>map reduce </a:t>
            </a:r>
            <a:r>
              <a:rPr lang="en-IN" sz="1800" dirty="0"/>
              <a:t>mode, you need access to </a:t>
            </a:r>
            <a:r>
              <a:rPr lang="en-IN" sz="1800" dirty="0" smtClean="0"/>
              <a:t>a Hadoop </a:t>
            </a:r>
            <a:r>
              <a:rPr lang="en-IN" sz="1800" dirty="0"/>
              <a:t>cluster and HDFS </a:t>
            </a:r>
            <a:r>
              <a:rPr lang="en-IN" sz="1800" dirty="0" smtClean="0"/>
              <a:t>             </a:t>
            </a:r>
          </a:p>
          <a:p>
            <a:pPr marL="0" indent="0"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                           installation</a:t>
            </a:r>
            <a:r>
              <a:rPr lang="en-IN" sz="1800" dirty="0"/>
              <a:t>. Pig will automatically allocate and </a:t>
            </a:r>
            <a:r>
              <a:rPr lang="en-IN" sz="1800" dirty="0" smtClean="0"/>
              <a:t>deallocate </a:t>
            </a:r>
            <a:r>
              <a:rPr lang="en-IN" sz="1800" dirty="0"/>
              <a:t>a 15-node cluster</a:t>
            </a:r>
            <a:r>
              <a:rPr lang="en-IN" sz="1800" dirty="0" smtClean="0"/>
              <a:t>.</a:t>
            </a:r>
          </a:p>
          <a:p>
            <a:pPr marL="0" indent="0">
              <a:buNone/>
            </a:pPr>
            <a:r>
              <a:rPr lang="en-IN" sz="1800" dirty="0" smtClean="0"/>
              <a:t>                                         </a:t>
            </a:r>
            <a:r>
              <a:rPr lang="en-IN" sz="1800" b="1" dirty="0" smtClean="0"/>
              <a:t> $pig </a:t>
            </a:r>
          </a:p>
          <a:p>
            <a:pPr marL="0" indent="0">
              <a:buNone/>
            </a:pPr>
            <a:r>
              <a:rPr lang="en-IN" sz="1800" b="1" dirty="0"/>
              <a:t> </a:t>
            </a:r>
            <a:r>
              <a:rPr lang="en-IN" sz="1800" b="1" dirty="0" smtClean="0"/>
              <a:t>                                   $pig –x mapreduce</a:t>
            </a:r>
            <a:endParaRPr lang="en-IN" sz="1800" b="1" dirty="0"/>
          </a:p>
          <a:p>
            <a:pPr marL="0" indent="0">
              <a:buNone/>
            </a:pPr>
            <a:endParaRPr lang="en-IN" sz="1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 smtClean="0"/>
              <a:t>You </a:t>
            </a:r>
            <a:r>
              <a:rPr lang="en-IN" sz="1800" dirty="0"/>
              <a:t>can run the Grunt shell, Pig scripts, or embedded programs using either mode.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51314" y="6356350"/>
            <a:ext cx="6882741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8145"/>
          </a:xfrm>
        </p:spPr>
        <p:txBody>
          <a:bodyPr>
            <a:normAutofit/>
          </a:bodyPr>
          <a:lstStyle/>
          <a:p>
            <a:r>
              <a:rPr lang="en-US" altLang="zh-CN" sz="4000" b="1" dirty="0" smtClean="0"/>
              <a:t>                       Pig </a:t>
            </a:r>
            <a:r>
              <a:rPr lang="en-US" altLang="zh-CN" sz="4000" b="1" dirty="0"/>
              <a:t>Execution Modes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61164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55" y="676894"/>
            <a:ext cx="11934701" cy="49995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800" dirty="0" smtClean="0"/>
              <a:t>Pig Latin is a </a:t>
            </a:r>
            <a:r>
              <a:rPr lang="en-IN" sz="1800" i="1" dirty="0" smtClean="0"/>
              <a:t>data flow</a:t>
            </a:r>
            <a:r>
              <a:rPr lang="en-IN" sz="1800" dirty="0"/>
              <a:t> </a:t>
            </a:r>
            <a:r>
              <a:rPr lang="en-IN" sz="1800" dirty="0" smtClean="0"/>
              <a:t>language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 – The flow of data is expressed as a sequence of statements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/>
              <a:t>Pig Latin statements can span multiple lines and must end with a semi-colon ( ; ). Pig Latin statements are generally organized in the following manner: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 smtClean="0"/>
              <a:t> A </a:t>
            </a:r>
            <a:r>
              <a:rPr lang="en-IN" sz="1800" dirty="0"/>
              <a:t>LOAD statement reads data from the file </a:t>
            </a:r>
            <a:r>
              <a:rPr lang="en-IN" sz="1800" dirty="0" smtClean="0"/>
              <a:t>system.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 </a:t>
            </a:r>
            <a:r>
              <a:rPr lang="en-IN" sz="1800" dirty="0" smtClean="0"/>
              <a:t>A </a:t>
            </a:r>
            <a:r>
              <a:rPr lang="en-IN" sz="1800" dirty="0"/>
              <a:t>series of "transformation" statements process the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 smtClean="0"/>
              <a:t> A </a:t>
            </a:r>
            <a:r>
              <a:rPr lang="en-IN" sz="1800" dirty="0"/>
              <a:t>STORE statement writes output to the file system; or, a DUMP statement displays output to </a:t>
            </a:r>
            <a:r>
              <a:rPr lang="en-IN" sz="1800" dirty="0" smtClean="0"/>
              <a:t>the screen.</a:t>
            </a: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Running Pig Latin</a:t>
            </a:r>
          </a:p>
          <a:p>
            <a:pPr marL="0" indent="0">
              <a:buNone/>
            </a:pPr>
            <a:r>
              <a:rPr lang="en-IN" sz="1800" dirty="0" smtClean="0"/>
              <a:t>   We can </a:t>
            </a:r>
            <a:r>
              <a:rPr lang="en-IN" sz="1800" dirty="0"/>
              <a:t>execute Pig Latin statements: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Using grunt shell or command </a:t>
            </a:r>
            <a:r>
              <a:rPr lang="en-IN" sz="1800" dirty="0" smtClean="0"/>
              <a:t>line.</a:t>
            </a:r>
            <a:endParaRPr lang="en-IN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In mapreduce mode or local </a:t>
            </a:r>
            <a:r>
              <a:rPr lang="en-IN" sz="1800" dirty="0" smtClean="0"/>
              <a:t>mode.</a:t>
            </a:r>
            <a:endParaRPr lang="en-IN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Either interactively or in </a:t>
            </a:r>
            <a:r>
              <a:rPr lang="en-IN" sz="1800" dirty="0" smtClean="0"/>
              <a:t>batch.</a:t>
            </a:r>
            <a:endParaRPr lang="en-IN" sz="1800" dirty="0"/>
          </a:p>
          <a:p>
            <a:pPr marL="0" indent="0">
              <a:buNone/>
            </a:pPr>
            <a:endParaRPr lang="en-IN" sz="1800" dirty="0" smtClean="0"/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80062" y="6356350"/>
            <a:ext cx="8015844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19446" y="0"/>
            <a:ext cx="10515600" cy="676894"/>
          </a:xfrm>
        </p:spPr>
        <p:txBody>
          <a:bodyPr>
            <a:normAutofit fontScale="90000"/>
          </a:bodyPr>
          <a:lstStyle/>
          <a:p>
            <a:r>
              <a:rPr lang="en-IN" sz="4000" b="1" dirty="0" smtClean="0"/>
              <a:t/>
            </a:r>
            <a:br>
              <a:rPr lang="en-IN" sz="4000" b="1" dirty="0" smtClean="0"/>
            </a:br>
            <a:r>
              <a:rPr lang="en-IN" sz="4000" b="1" dirty="0" smtClean="0"/>
              <a:t/>
            </a:r>
            <a:br>
              <a:rPr lang="en-IN" sz="4000" b="1" dirty="0" smtClean="0"/>
            </a:br>
            <a:r>
              <a:rPr lang="en-IN" sz="4000" b="1" dirty="0" smtClean="0"/>
              <a:t>                                        Pig Latin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91492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755" y="463138"/>
            <a:ext cx="11839699" cy="58070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800" b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 smtClean="0"/>
              <a:t>Debugging </a:t>
            </a:r>
            <a:r>
              <a:rPr lang="en-IN" sz="1800" b="1" dirty="0"/>
              <a:t>Pig Latin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Pig Latin includes operators that can help you debug your Pig Latin statements: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Use the DESCRIBE operator to review the schema of a relation.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Use the EXPLAIN operator to view the logical, physical, or map reduce execution plans to compute a relation.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Use the ILLUSTRATE operator to view the step-by-step execution of a series of </a:t>
            </a:r>
            <a:r>
              <a:rPr lang="en-IN" sz="1800" dirty="0" smtClean="0"/>
              <a:t>statements.</a:t>
            </a: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Working with Data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Pig Latin allows you to work with data in many ways. In general, and as a starting point: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Use the FILTER operator to work with tuples or rows of data. Use the FOREACH operator to work with columns of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Use the GROUP operator to group data in a single relation. Use the COGROUP and JOIN operators to group or join data in two or more relations.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Use the UNION operator to merge the contents of two or more relations. Use the SPLIT operator to partition the contents of a relation into multiple relations.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054431" y="6356350"/>
            <a:ext cx="8360229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46265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                                 Pig </a:t>
            </a:r>
            <a:r>
              <a:rPr lang="en-IN" b="1" dirty="0"/>
              <a:t>Latin</a:t>
            </a:r>
          </a:p>
        </p:txBody>
      </p:sp>
    </p:spTree>
    <p:extLst>
      <p:ext uri="{BB962C8B-B14F-4D97-AF65-F5344CB8AC3E}">
        <p14:creationId xmlns:p14="http://schemas.microsoft.com/office/powerpoint/2010/main" val="359559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6288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/>
              <a:t>Pig v/s SQL</a:t>
            </a:r>
            <a:endParaRPr lang="en-IN" sz="4000" b="1" dirty="0"/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2136570" y="955675"/>
            <a:ext cx="3055717" cy="639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200" b="1" dirty="0" smtClean="0"/>
              <a:t>Pig</a:t>
            </a:r>
            <a:endParaRPr lang="en-GB" sz="2200" b="1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6745185" y="955675"/>
            <a:ext cx="3055717" cy="639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200" b="1" dirty="0" smtClean="0"/>
              <a:t>SQL</a:t>
            </a:r>
            <a:endParaRPr lang="en-GB" sz="2200" b="1" dirty="0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2136570" y="2133600"/>
            <a:ext cx="3419856" cy="367689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800" dirty="0" smtClean="0"/>
              <a:t>Pig is procedural</a:t>
            </a:r>
          </a:p>
          <a:p>
            <a:pPr marL="6858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sz="1800" dirty="0" smtClean="0"/>
          </a:p>
          <a:p>
            <a:pPr>
              <a:lnSpc>
                <a:spcPct val="100000"/>
              </a:lnSpc>
            </a:pPr>
            <a:r>
              <a:rPr lang="en-GB" sz="1800" dirty="0" smtClean="0"/>
              <a:t>Nested relational data model (No constraints on Data Types)</a:t>
            </a:r>
          </a:p>
          <a:p>
            <a:pPr marL="6858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sz="1800" dirty="0" smtClean="0"/>
          </a:p>
          <a:p>
            <a:pPr>
              <a:lnSpc>
                <a:spcPct val="100000"/>
              </a:lnSpc>
            </a:pPr>
            <a:r>
              <a:rPr lang="en-GB" sz="1800" dirty="0" smtClean="0"/>
              <a:t>Schema is optional</a:t>
            </a:r>
          </a:p>
          <a:p>
            <a:pPr marL="6858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sz="1800" dirty="0" smtClean="0"/>
          </a:p>
          <a:p>
            <a:pPr>
              <a:lnSpc>
                <a:spcPct val="100000"/>
              </a:lnSpc>
            </a:pPr>
            <a:r>
              <a:rPr lang="en-GB" sz="1800" dirty="0" smtClean="0"/>
              <a:t>Scan-centric analytic workloads (No Random reads or writes)</a:t>
            </a:r>
          </a:p>
          <a:p>
            <a:pPr>
              <a:lnSpc>
                <a:spcPct val="100000"/>
              </a:lnSpc>
            </a:pPr>
            <a:r>
              <a:rPr lang="en-GB" sz="1800" dirty="0" smtClean="0"/>
              <a:t>Limited query optimization</a:t>
            </a:r>
            <a:endParaRPr lang="en-GB" sz="1800" dirty="0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7113556" y="2133599"/>
            <a:ext cx="3419856" cy="367689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800" dirty="0" smtClean="0"/>
              <a:t>SQL is declarative</a:t>
            </a:r>
          </a:p>
          <a:p>
            <a:pPr>
              <a:lnSpc>
                <a:spcPct val="100000"/>
              </a:lnSpc>
            </a:pPr>
            <a:endParaRPr lang="en-GB" sz="1800" dirty="0" smtClean="0"/>
          </a:p>
          <a:p>
            <a:pPr>
              <a:lnSpc>
                <a:spcPct val="100000"/>
              </a:lnSpc>
            </a:pPr>
            <a:r>
              <a:rPr lang="en-GB" sz="1800" dirty="0" smtClean="0"/>
              <a:t>Flat relational data model (Data is tied to a specific Data Type)</a:t>
            </a:r>
          </a:p>
          <a:p>
            <a:pPr>
              <a:lnSpc>
                <a:spcPct val="100000"/>
              </a:lnSpc>
            </a:pPr>
            <a:endParaRPr lang="en-GB" sz="1800" dirty="0" smtClean="0"/>
          </a:p>
          <a:p>
            <a:pPr>
              <a:lnSpc>
                <a:spcPct val="100000"/>
              </a:lnSpc>
            </a:pPr>
            <a:r>
              <a:rPr lang="en-GB" sz="1800" dirty="0" smtClean="0"/>
              <a:t>Schema is required</a:t>
            </a:r>
          </a:p>
          <a:p>
            <a:pPr>
              <a:lnSpc>
                <a:spcPct val="100000"/>
              </a:lnSpc>
            </a:pPr>
            <a:r>
              <a:rPr lang="en-GB" sz="1800" dirty="0" smtClean="0"/>
              <a:t>OLTP + OLAP workloads</a:t>
            </a:r>
          </a:p>
          <a:p>
            <a:pPr>
              <a:lnSpc>
                <a:spcPct val="100000"/>
              </a:lnSpc>
            </a:pPr>
            <a:r>
              <a:rPr lang="en-GB" sz="1800" dirty="0" smtClean="0"/>
              <a:t>Significant opportunity for query optimization</a:t>
            </a:r>
            <a:endParaRPr lang="en-GB" sz="180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650669" y="6356350"/>
            <a:ext cx="8882743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353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78130"/>
            <a:ext cx="10515600" cy="77628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Data </a:t>
            </a:r>
            <a:r>
              <a:rPr lang="en-IN" b="1" dirty="0"/>
              <a:t>types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20634" y="831273"/>
            <a:ext cx="11033166" cy="53456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800" b="1" dirty="0" smtClean="0"/>
              <a:t>Pig supports several basic data types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 smtClean="0"/>
              <a:t>   </a:t>
            </a:r>
            <a:r>
              <a:rPr lang="en-IN" sz="1800" dirty="0" smtClean="0"/>
              <a:t>Scalar types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 </a:t>
            </a:r>
            <a:r>
              <a:rPr lang="en-IN" sz="1800" dirty="0" smtClean="0"/>
              <a:t>  Complex types</a:t>
            </a:r>
          </a:p>
          <a:p>
            <a:pPr marL="0" indent="0">
              <a:buNone/>
            </a:pPr>
            <a:r>
              <a:rPr lang="en-IN" sz="1800" dirty="0" smtClean="0"/>
              <a:t>Scalar Types :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33797" y="6356350"/>
            <a:ext cx="7813964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077294"/>
              </p:ext>
            </p:extLst>
          </p:nvPr>
        </p:nvGraphicFramePr>
        <p:xfrm>
          <a:off x="457200" y="2402526"/>
          <a:ext cx="9779331" cy="3337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259777"/>
                <a:gridCol w="3259777"/>
                <a:gridCol w="32597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Example Value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Whole numbers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2013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Long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Large whole numbers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5,365,214,142L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Float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Decimals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3.14159F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Double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Very precise decimals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3.14159265358979323846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Boolean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True or false values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datetime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Date and 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2013-05-30T14:52:39.000-04:00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Chararray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Text strings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Alice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bytearray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Raw bytes (e.g. any data)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N/A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270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249381"/>
            <a:ext cx="10515600" cy="72878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Data types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15636" y="866899"/>
            <a:ext cx="10938164" cy="5310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Complex </a:t>
            </a:r>
            <a:r>
              <a:rPr lang="en-IN" sz="1800" dirty="0" smtClean="0"/>
              <a:t>types :</a:t>
            </a:r>
            <a:endParaRPr lang="en-IN" sz="1800" dirty="0"/>
          </a:p>
          <a:p>
            <a:r>
              <a:rPr lang="en-IN" sz="1800" dirty="0" smtClean="0"/>
              <a:t>Tuple  - ordered set of fields</a:t>
            </a:r>
          </a:p>
          <a:p>
            <a:r>
              <a:rPr lang="en-IN" sz="1800" dirty="0" smtClean="0"/>
              <a:t>Bag     - Collection of tuples</a:t>
            </a:r>
          </a:p>
          <a:p>
            <a:r>
              <a:rPr lang="en-IN" sz="1800" dirty="0" smtClean="0"/>
              <a:t>Map   - set of key value pairs</a:t>
            </a:r>
          </a:p>
          <a:p>
            <a:pPr marL="0" indent="0">
              <a:buNone/>
            </a:pPr>
            <a:r>
              <a:rPr lang="en-IN" sz="1800" b="1" dirty="0" smtClean="0"/>
              <a:t>Tuple: </a:t>
            </a:r>
            <a:r>
              <a:rPr lang="en-IN" sz="1800" dirty="0" smtClean="0"/>
              <a:t>A </a:t>
            </a:r>
            <a:r>
              <a:rPr lang="en-IN" sz="1800" i="1" dirty="0" smtClean="0"/>
              <a:t>collection</a:t>
            </a:r>
            <a:r>
              <a:rPr lang="en-IN" sz="1800" dirty="0" smtClean="0"/>
              <a:t> of values is called a </a:t>
            </a:r>
            <a:r>
              <a:rPr lang="en-IN" sz="1800" i="1" dirty="0" smtClean="0"/>
              <a:t>tuple</a:t>
            </a:r>
            <a:endParaRPr lang="en-IN" sz="1800" i="1" dirty="0"/>
          </a:p>
          <a:p>
            <a:pPr marL="0" indent="0">
              <a:buNone/>
            </a:pPr>
            <a:r>
              <a:rPr lang="en-IN" sz="1800" dirty="0" smtClean="0"/>
              <a:t>                - Fields within a tuple are ordered, but need not all be of the same type.</a:t>
            </a:r>
          </a:p>
          <a:p>
            <a:pPr marL="0" indent="0">
              <a:buNone/>
            </a:pPr>
            <a:endParaRPr lang="en-IN" sz="1800" dirty="0" smtClean="0"/>
          </a:p>
          <a:p>
            <a:pPr marL="0" indent="0">
              <a:buNone/>
            </a:pPr>
            <a:r>
              <a:rPr lang="en-IN" sz="1800" dirty="0" smtClean="0"/>
              <a:t>Ex: </a:t>
            </a:r>
            <a:endParaRPr lang="en-IN" sz="1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40675" y="6356350"/>
            <a:ext cx="8205850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10033"/>
              </p:ext>
            </p:extLst>
          </p:nvPr>
        </p:nvGraphicFramePr>
        <p:xfrm>
          <a:off x="838200" y="3854752"/>
          <a:ext cx="659575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98584"/>
                <a:gridCol w="2198584"/>
                <a:gridCol w="2198584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country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Alice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2999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us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793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19447" y="261257"/>
            <a:ext cx="10515600" cy="66941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Data types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831273"/>
            <a:ext cx="10515600" cy="5345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smtClean="0"/>
              <a:t>Bag : </a:t>
            </a:r>
            <a:r>
              <a:rPr lang="en-IN" sz="1800" dirty="0" smtClean="0"/>
              <a:t>A collection</a:t>
            </a:r>
            <a:r>
              <a:rPr lang="en-IN" sz="1800" dirty="0"/>
              <a:t> </a:t>
            </a:r>
            <a:r>
              <a:rPr lang="en-IN" sz="1800" dirty="0" smtClean="0"/>
              <a:t>of tuples is called a </a:t>
            </a:r>
            <a:r>
              <a:rPr lang="en-IN" sz="1800" i="1" dirty="0" smtClean="0"/>
              <a:t>bag</a:t>
            </a:r>
            <a:endParaRPr lang="en-IN" sz="1800" i="1" dirty="0"/>
          </a:p>
          <a:p>
            <a:pPr marL="0" indent="0">
              <a:buNone/>
            </a:pPr>
            <a:r>
              <a:rPr lang="en-IN" sz="1800" i="1" dirty="0"/>
              <a:t> </a:t>
            </a:r>
            <a:r>
              <a:rPr lang="en-IN" sz="1800" i="1" dirty="0" smtClean="0"/>
              <a:t>                -</a:t>
            </a:r>
            <a:r>
              <a:rPr lang="en-IN" sz="1800" dirty="0" smtClean="0"/>
              <a:t>Tuples within a bag are unordered by default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              -The field count and types may vary between tuples in a bag</a:t>
            </a:r>
            <a:r>
              <a:rPr lang="en-IN" sz="1800" dirty="0"/>
              <a:t> </a:t>
            </a:r>
            <a:endParaRPr lang="en-IN" sz="1800" dirty="0" smtClean="0"/>
          </a:p>
          <a:p>
            <a:pPr marL="0" indent="0">
              <a:buNone/>
            </a:pPr>
            <a:r>
              <a:rPr lang="en-IN" sz="1800" dirty="0" smtClean="0"/>
              <a:t>             Ex :</a:t>
            </a:r>
            <a:endParaRPr lang="en-IN" sz="1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71304" y="6356350"/>
            <a:ext cx="8680862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561784"/>
              </p:ext>
            </p:extLst>
          </p:nvPr>
        </p:nvGraphicFramePr>
        <p:xfrm>
          <a:off x="1913248" y="2372837"/>
          <a:ext cx="6613236" cy="2595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04412"/>
                <a:gridCol w="2204412"/>
                <a:gridCol w="2204412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country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Alice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2999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Bob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3625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ca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Carlos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2764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mx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Dieter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1749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Etienne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2368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fr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Fredo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5637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877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54379"/>
            <a:ext cx="10515600" cy="81191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 smtClean="0"/>
              <a:t>Data types</a:t>
            </a:r>
            <a:endParaRPr lang="en-IN" sz="4000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966293"/>
            <a:ext cx="10515600" cy="52106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800" b="1" dirty="0" smtClean="0"/>
              <a:t>Map : </a:t>
            </a:r>
            <a:r>
              <a:rPr lang="en-IN" sz="1800" dirty="0" smtClean="0"/>
              <a:t>A </a:t>
            </a:r>
            <a:r>
              <a:rPr lang="en-IN" sz="1800" dirty="0"/>
              <a:t>map in Pig is a </a:t>
            </a:r>
            <a:r>
              <a:rPr lang="en-IN" sz="1800" dirty="0" smtClean="0"/>
              <a:t>char array </a:t>
            </a:r>
            <a:r>
              <a:rPr lang="en-IN" sz="1800" dirty="0"/>
              <a:t>to data element mapping, where that element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 smtClean="0"/>
              <a:t>            can </a:t>
            </a:r>
            <a:r>
              <a:rPr lang="en-IN" sz="1800" dirty="0"/>
              <a:t>be </a:t>
            </a:r>
            <a:r>
              <a:rPr lang="en-IN" sz="1800" dirty="0" smtClean="0"/>
              <a:t>any Pig </a:t>
            </a:r>
            <a:r>
              <a:rPr lang="en-IN" sz="1800" dirty="0"/>
              <a:t>type, including a complex type. </a:t>
            </a:r>
            <a:endParaRPr lang="en-IN" sz="18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- The char array </a:t>
            </a:r>
            <a:r>
              <a:rPr lang="en-IN" sz="1800" dirty="0"/>
              <a:t>is called a key and is used as an </a:t>
            </a:r>
            <a:r>
              <a:rPr lang="en-IN" sz="1800" dirty="0" smtClean="0"/>
              <a:t>index to </a:t>
            </a:r>
            <a:r>
              <a:rPr lang="en-IN" sz="1800" dirty="0"/>
              <a:t>find the element, </a:t>
            </a:r>
            <a:r>
              <a:rPr lang="en-IN" sz="1800" dirty="0" smtClean="0"/>
              <a:t>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   referred </a:t>
            </a:r>
            <a:r>
              <a:rPr lang="en-IN" sz="1800" dirty="0"/>
              <a:t>to as the </a:t>
            </a:r>
            <a:r>
              <a:rPr lang="en-IN" sz="1800" dirty="0" smtClean="0"/>
              <a:t>value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- Key must be unique and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- Value can be any type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- Key value is separated by #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- Map is enclosed by []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Ex: [</a:t>
            </a:r>
            <a:r>
              <a:rPr lang="en-IN" sz="1800" dirty="0" err="1" smtClean="0"/>
              <a:t>name#sudar</a:t>
            </a:r>
            <a:r>
              <a:rPr lang="en-IN" sz="1800" dirty="0" smtClean="0"/>
              <a:t>, height#176, weight#80.5F]</a:t>
            </a:r>
            <a:endParaRPr lang="en-IN" sz="1800" dirty="0"/>
          </a:p>
          <a:p>
            <a:pPr>
              <a:lnSpc>
                <a:spcPct val="100000"/>
              </a:lnSpc>
            </a:pPr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615043" y="6356350"/>
            <a:ext cx="8811491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272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201881"/>
            <a:ext cx="10515600" cy="82378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Load </a:t>
            </a:r>
            <a:r>
              <a:rPr lang="en-IN" b="1" dirty="0"/>
              <a:t>&amp; Store operators 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025670"/>
            <a:ext cx="10515600" cy="5151293"/>
          </a:xfrm>
        </p:spPr>
        <p:txBody>
          <a:bodyPr>
            <a:normAutofit/>
          </a:bodyPr>
          <a:lstStyle/>
          <a:p>
            <a:endParaRPr lang="en-IN" sz="1800" b="1" dirty="0" smtClean="0"/>
          </a:p>
          <a:p>
            <a:r>
              <a:rPr lang="en-IN" sz="1800" b="1" dirty="0" smtClean="0"/>
              <a:t>Here are a few of Pig’s built in functions for loading data in other formats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– It is also possible to implement a custom loader by writing Java code</a:t>
            </a:r>
          </a:p>
          <a:p>
            <a:pPr marL="0" indent="0">
              <a:buNone/>
            </a:pPr>
            <a:r>
              <a:rPr lang="en-IN" sz="1800" dirty="0" smtClean="0"/>
              <a:t>Ex: Loading data into PIG</a:t>
            </a:r>
          </a:p>
          <a:p>
            <a:pPr marL="0" indent="0">
              <a:buNone/>
            </a:pPr>
            <a:r>
              <a:rPr lang="en-IN" sz="1800" dirty="0" smtClean="0"/>
              <a:t>       </a:t>
            </a:r>
            <a:r>
              <a:rPr lang="en-IN" sz="1800" b="1" dirty="0" err="1" smtClean="0"/>
              <a:t>divs</a:t>
            </a:r>
            <a:r>
              <a:rPr lang="en-IN" sz="1800" b="1" dirty="0" smtClean="0"/>
              <a:t> </a:t>
            </a:r>
            <a:r>
              <a:rPr lang="en-IN" sz="1800" b="1" dirty="0"/>
              <a:t>= load '</a:t>
            </a:r>
            <a:r>
              <a:rPr lang="en-IN" sz="1800" b="1" dirty="0" err="1"/>
              <a:t>NYSE_dividends</a:t>
            </a:r>
            <a:r>
              <a:rPr lang="en-IN" sz="1800" b="1" dirty="0"/>
              <a:t>' using PigStorage(',');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3199" y="6356350"/>
            <a:ext cx="6495803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032757"/>
              </p:ext>
            </p:extLst>
          </p:nvPr>
        </p:nvGraphicFramePr>
        <p:xfrm>
          <a:off x="1212601" y="3081497"/>
          <a:ext cx="7575139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09100"/>
                <a:gridCol w="5466039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Loads Data From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TextLoader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Text files (entire line as one field)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JsonLoader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Text files containing JSON-formatted data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BinStorage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Files containing</a:t>
                      </a:r>
                      <a:r>
                        <a:rPr lang="en-IN" baseline="0" dirty="0" smtClean="0"/>
                        <a:t> binary data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HBaseLoader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HBase, a scalable NoSQL</a:t>
                      </a:r>
                      <a:r>
                        <a:rPr lang="en-IN" baseline="0" dirty="0" smtClean="0"/>
                        <a:t> database built on Hadoop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757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273133"/>
            <a:ext cx="10515600" cy="68128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Load &amp; Store operators 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954418"/>
            <a:ext cx="10515600" cy="5222545"/>
          </a:xfrm>
        </p:spPr>
        <p:txBody>
          <a:bodyPr>
            <a:normAutofit/>
          </a:bodyPr>
          <a:lstStyle/>
          <a:p>
            <a:endParaRPr lang="en-IN" sz="1800" b="1" dirty="0" smtClean="0"/>
          </a:p>
          <a:p>
            <a:r>
              <a:rPr lang="en-IN" sz="1800" b="1" dirty="0" smtClean="0"/>
              <a:t>Some functions load data, some store data, and some do both</a:t>
            </a:r>
          </a:p>
          <a:p>
            <a:pPr marL="0" indent="0">
              <a:buNone/>
            </a:pPr>
            <a:r>
              <a:rPr lang="en-IN" sz="1800" b="1" dirty="0" smtClean="0"/>
              <a:t>     Ex: </a:t>
            </a:r>
            <a:r>
              <a:rPr lang="en-IN" sz="1800" dirty="0"/>
              <a:t>store processed into </a:t>
            </a:r>
            <a:r>
              <a:rPr lang="en-IN" sz="1800" dirty="0" smtClean="0"/>
              <a:t>'xyz' </a:t>
            </a:r>
            <a:r>
              <a:rPr lang="en-IN" sz="1800" dirty="0"/>
              <a:t>using HBaseStorage</a:t>
            </a:r>
            <a:r>
              <a:rPr lang="en-IN" sz="1800" dirty="0" smtClean="0"/>
              <a:t>();</a:t>
            </a:r>
          </a:p>
          <a:p>
            <a:pPr marL="0" indent="0">
              <a:buNone/>
            </a:pPr>
            <a:r>
              <a:rPr lang="en-IN" sz="1800" dirty="0" smtClean="0"/>
              <a:t>            store </a:t>
            </a:r>
            <a:r>
              <a:rPr lang="en-IN" sz="1800" dirty="0"/>
              <a:t>processed into </a:t>
            </a:r>
            <a:r>
              <a:rPr lang="en-IN" sz="1800" dirty="0" smtClean="0"/>
              <a:t>‘</a:t>
            </a:r>
            <a:r>
              <a:rPr lang="en-IN" sz="1800" dirty="0" err="1" smtClean="0"/>
              <a:t>abc</a:t>
            </a:r>
            <a:r>
              <a:rPr lang="en-IN" sz="1800" dirty="0" smtClean="0"/>
              <a:t>' </a:t>
            </a:r>
            <a:r>
              <a:rPr lang="en-IN" sz="1800" dirty="0"/>
              <a:t>using PigStorage(',');</a:t>
            </a:r>
          </a:p>
          <a:p>
            <a:pPr marL="0" indent="0">
              <a:buNone/>
            </a:pPr>
            <a:endParaRPr lang="en-IN" sz="1800" b="1" dirty="0" smtClean="0"/>
          </a:p>
          <a:p>
            <a:endParaRPr lang="en-IN" sz="1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9423" y="6356350"/>
            <a:ext cx="7291450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310652"/>
              </p:ext>
            </p:extLst>
          </p:nvPr>
        </p:nvGraphicFramePr>
        <p:xfrm>
          <a:off x="1248228" y="2572217"/>
          <a:ext cx="6862618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31309"/>
                <a:gridCol w="3431309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Load Function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Equivalent Store Function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PigStorage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PigStorage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TextLoader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None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JsonLoader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JsonStorage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BinStorage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BinStorage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HBaseLoader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HBaseStorage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451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641268"/>
            <a:ext cx="10515600" cy="104942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Grouping </a:t>
            </a:r>
            <a:r>
              <a:rPr lang="en-IN" b="1" dirty="0"/>
              <a:t>&amp; Joining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1800" b="1" dirty="0" smtClean="0"/>
              <a:t>Some times we need to group records by a given field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–For example, we want calculate commissions for each employee</a:t>
            </a:r>
          </a:p>
          <a:p>
            <a:pPr marL="0" indent="0">
              <a:buNone/>
            </a:pPr>
            <a:r>
              <a:rPr lang="en-IN" sz="1800" b="1" dirty="0"/>
              <a:t> </a:t>
            </a:r>
            <a:r>
              <a:rPr lang="en-IN" sz="1800" b="1" dirty="0" smtClean="0"/>
              <a:t>                                                Use GROUP BY to do this in Pig Latin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                                              -The new relation has one record per unique value in</a:t>
            </a:r>
          </a:p>
          <a:p>
            <a:pPr marL="0" indent="0"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                                    the </a:t>
            </a:r>
            <a:r>
              <a:rPr lang="en-IN" sz="1800" dirty="0"/>
              <a:t>specified </a:t>
            </a:r>
            <a:r>
              <a:rPr lang="en-IN" sz="1800" dirty="0" smtClean="0"/>
              <a:t>field</a:t>
            </a:r>
          </a:p>
          <a:p>
            <a:pPr marL="0" indent="0">
              <a:buNone/>
            </a:pPr>
            <a:r>
              <a:rPr lang="en-IN" sz="1800" dirty="0" smtClean="0"/>
              <a:t>                                                   </a:t>
            </a:r>
            <a:r>
              <a:rPr lang="en-IN" sz="1800" b="1" dirty="0" smtClean="0"/>
              <a:t>grunt</a:t>
            </a:r>
            <a:r>
              <a:rPr lang="en-IN" sz="1800" b="1" dirty="0"/>
              <a:t>&gt; byname = GROUP sales BY name;</a:t>
            </a: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80061" y="6356350"/>
            <a:ext cx="7980219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235034" y="2798185"/>
            <a:ext cx="1615044" cy="24269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smtClean="0">
                <a:solidFill>
                  <a:schemeClr val="tx1"/>
                </a:solidFill>
              </a:rPr>
              <a:t>Alice     729                  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Bob </a:t>
            </a:r>
            <a:r>
              <a:rPr lang="en-IN" b="1" dirty="0" smtClean="0">
                <a:solidFill>
                  <a:schemeClr val="tx1"/>
                </a:solidFill>
              </a:rPr>
              <a:t>      3999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Alice </a:t>
            </a:r>
            <a:r>
              <a:rPr lang="en-IN" b="1" dirty="0" smtClean="0">
                <a:solidFill>
                  <a:schemeClr val="tx1"/>
                </a:solidFill>
              </a:rPr>
              <a:t>    27999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Carol </a:t>
            </a:r>
            <a:r>
              <a:rPr lang="en-IN" b="1" dirty="0" smtClean="0">
                <a:solidFill>
                  <a:schemeClr val="tx1"/>
                </a:solidFill>
              </a:rPr>
              <a:t>   32999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Carol </a:t>
            </a:r>
            <a:r>
              <a:rPr lang="en-IN" b="1" dirty="0" smtClean="0">
                <a:solidFill>
                  <a:schemeClr val="tx1"/>
                </a:solidFill>
              </a:rPr>
              <a:t>   4999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449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Grouping </a:t>
            </a:r>
            <a:r>
              <a:rPr lang="en-IN" b="1" dirty="0"/>
              <a:t>&amp; Joining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520042"/>
            <a:ext cx="10515600" cy="4656921"/>
          </a:xfrm>
        </p:spPr>
        <p:txBody>
          <a:bodyPr>
            <a:normAutofit/>
          </a:bodyPr>
          <a:lstStyle/>
          <a:p>
            <a:r>
              <a:rPr lang="en-IN" sz="1800" b="1" dirty="0" smtClean="0"/>
              <a:t>Using GROUP BY to Aggregate Data </a:t>
            </a:r>
          </a:p>
          <a:p>
            <a:pPr marL="0" indent="0">
              <a:buNone/>
            </a:pPr>
            <a:r>
              <a:rPr lang="en-IN" sz="1800" b="1" dirty="0" smtClean="0"/>
              <a:t>        - Aggregate functions create one output value from multiple input values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                – For example, to calculate total sales by employee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                – Usually applied to grouped data</a:t>
            </a:r>
            <a:endParaRPr lang="en-IN" sz="1800" b="1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80061" y="6356350"/>
            <a:ext cx="7980219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1852550" y="2980706"/>
            <a:ext cx="7920842" cy="305195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 smtClean="0">
                <a:solidFill>
                  <a:schemeClr val="tx1"/>
                </a:solidFill>
              </a:rPr>
              <a:t>grunt&gt;byname = GROUP sales by name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grunt&gt;DUMP byname;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(Bob, { (Bob, 3999) } )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(Alice, { (Alice,729) ,  (Alice,27999) } )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(Carol, { (Carol , 32999) , (Carol , 4999) } )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grunt&gt;totals = FOREACH byname GENERATE group, SUM(</a:t>
            </a:r>
            <a:r>
              <a:rPr lang="en-IN" dirty="0" err="1" smtClean="0">
                <a:solidFill>
                  <a:schemeClr val="tx1"/>
                </a:solidFill>
              </a:rPr>
              <a:t>sales.price</a:t>
            </a:r>
            <a:r>
              <a:rPr lang="en-IN" dirty="0" smtClean="0">
                <a:solidFill>
                  <a:schemeClr val="tx1"/>
                </a:solidFill>
              </a:rPr>
              <a:t>);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grunt&gt;dump totals;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(Bob,3999)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(Alice,28728)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(Carol,37998)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5249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71304" y="6356350"/>
            <a:ext cx="8229600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32509"/>
            <a:ext cx="10515600" cy="76441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Grouping &amp; Joining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096922"/>
            <a:ext cx="10515600" cy="5080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smtClean="0"/>
              <a:t>Using GROUP ALL to Aggregate Data</a:t>
            </a:r>
            <a:r>
              <a:rPr lang="en-IN" sz="1800" b="1" dirty="0"/>
              <a:t> </a:t>
            </a:r>
            <a:endParaRPr lang="en-IN" sz="1800" b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 smtClean="0"/>
              <a:t> Use GROUP ALL when you need to aggregate one or more columns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  – For example, to calculate total sales for all employees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7" name="Rectangle 6"/>
          <p:cNvSpPr/>
          <p:nvPr/>
        </p:nvSpPr>
        <p:spPr>
          <a:xfrm>
            <a:off x="1318161" y="2505693"/>
            <a:ext cx="9595262" cy="26125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>
                <a:solidFill>
                  <a:schemeClr val="tx1"/>
                </a:solidFill>
              </a:rPr>
              <a:t>grunt&gt;grouped = GROUP sales ALL;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grunt&gt;DUMP grouped;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(all, { (Alice,729) , (Bob, 3999) , (Alice,27999) ,(Carol, 32999),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(Carol,4999) } )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g</a:t>
            </a:r>
            <a:r>
              <a:rPr lang="en-IN" dirty="0" smtClean="0">
                <a:solidFill>
                  <a:schemeClr val="tx1"/>
                </a:solidFill>
              </a:rPr>
              <a:t>runt&gt;totals= FOREACH grouped GENERATE SUM(</a:t>
            </a:r>
            <a:r>
              <a:rPr lang="en-IN" dirty="0" err="1" smtClean="0">
                <a:solidFill>
                  <a:schemeClr val="tx1"/>
                </a:solidFill>
              </a:rPr>
              <a:t>sales.price</a:t>
            </a:r>
            <a:r>
              <a:rPr lang="en-IN" dirty="0" smtClean="0">
                <a:solidFill>
                  <a:schemeClr val="tx1"/>
                </a:solidFill>
              </a:rPr>
              <a:t>);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 grunt&gt;dump totals;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(70725)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381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08758"/>
            <a:ext cx="10515600" cy="69316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Grouping &amp; Joining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151906"/>
            <a:ext cx="10515600" cy="5025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smtClean="0"/>
              <a:t>Removing Nesting in Data</a:t>
            </a:r>
          </a:p>
          <a:p>
            <a:pPr marL="0" indent="0">
              <a:buNone/>
            </a:pPr>
            <a:r>
              <a:rPr lang="en-IN" sz="1800" dirty="0" smtClean="0"/>
              <a:t>Some operations in Pig, like grouping, produce nested data structures</a:t>
            </a:r>
          </a:p>
          <a:p>
            <a:r>
              <a:rPr lang="en-IN" sz="1800" b="1" dirty="0" smtClean="0"/>
              <a:t>Grouping can be useful to supply data to aggregate functions</a:t>
            </a:r>
            <a:r>
              <a:rPr lang="en-IN" sz="1800" dirty="0" smtClean="0"/>
              <a:t> </a:t>
            </a:r>
            <a:r>
              <a:rPr lang="en-IN" sz="1800" b="1" dirty="0" smtClean="0"/>
              <a:t>However,  sometimes you want to work with a “flat” data structure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      – The FLATTEN operator removes a level of nesting data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73183" y="6356350"/>
            <a:ext cx="7837715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294410" y="2790701"/>
            <a:ext cx="7552707" cy="32538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50" dirty="0" smtClean="0">
              <a:solidFill>
                <a:schemeClr val="tx1"/>
              </a:solidFill>
            </a:endParaRPr>
          </a:p>
          <a:p>
            <a:r>
              <a:rPr lang="en-IN" sz="1650" dirty="0" smtClean="0">
                <a:solidFill>
                  <a:schemeClr val="tx1"/>
                </a:solidFill>
              </a:rPr>
              <a:t>grunt&gt;byname = GROUP sales BY name;</a:t>
            </a:r>
          </a:p>
          <a:p>
            <a:r>
              <a:rPr lang="en-IN" sz="1650" dirty="0" smtClean="0">
                <a:solidFill>
                  <a:schemeClr val="tx1"/>
                </a:solidFill>
              </a:rPr>
              <a:t>grunt&gt;DUMP byname;</a:t>
            </a:r>
          </a:p>
          <a:p>
            <a:r>
              <a:rPr lang="en-IN" sz="1650" dirty="0" smtClean="0">
                <a:solidFill>
                  <a:schemeClr val="tx1"/>
                </a:solidFill>
              </a:rPr>
              <a:t>(Bob, { (Bob,3999) } )</a:t>
            </a:r>
          </a:p>
          <a:p>
            <a:r>
              <a:rPr lang="en-IN" sz="1650" dirty="0" smtClean="0">
                <a:solidFill>
                  <a:schemeClr val="tx1"/>
                </a:solidFill>
              </a:rPr>
              <a:t>(Alice,729) , (Alice,27999) } )</a:t>
            </a:r>
          </a:p>
          <a:p>
            <a:r>
              <a:rPr lang="en-IN" sz="1650" dirty="0" smtClean="0">
                <a:solidFill>
                  <a:schemeClr val="tx1"/>
                </a:solidFill>
              </a:rPr>
              <a:t>(Carol, { (Carol,32999) , (Carol,4999) } )</a:t>
            </a:r>
          </a:p>
          <a:p>
            <a:endParaRPr lang="en-IN" sz="1650" dirty="0">
              <a:solidFill>
                <a:schemeClr val="tx1"/>
              </a:solidFill>
            </a:endParaRPr>
          </a:p>
          <a:p>
            <a:r>
              <a:rPr lang="en-IN" sz="1650" dirty="0" smtClean="0">
                <a:solidFill>
                  <a:schemeClr val="tx1"/>
                </a:solidFill>
              </a:rPr>
              <a:t>grunt&gt;flat=FOREACH byname GENARATE group, FLATTEN(</a:t>
            </a:r>
            <a:r>
              <a:rPr lang="en-IN" sz="1650" dirty="0" err="1" smtClean="0">
                <a:solidFill>
                  <a:schemeClr val="tx1"/>
                </a:solidFill>
              </a:rPr>
              <a:t>sales.price</a:t>
            </a:r>
            <a:r>
              <a:rPr lang="en-IN" sz="1650" dirty="0" smtClean="0">
                <a:solidFill>
                  <a:schemeClr val="tx1"/>
                </a:solidFill>
              </a:rPr>
              <a:t>);</a:t>
            </a:r>
          </a:p>
          <a:p>
            <a:r>
              <a:rPr lang="en-IN" sz="1650" dirty="0" smtClean="0">
                <a:solidFill>
                  <a:schemeClr val="tx1"/>
                </a:solidFill>
              </a:rPr>
              <a:t>grunt&gt;DUMP flat;</a:t>
            </a:r>
          </a:p>
          <a:p>
            <a:r>
              <a:rPr lang="en-IN" sz="1650" dirty="0" smtClean="0">
                <a:solidFill>
                  <a:schemeClr val="tx1"/>
                </a:solidFill>
              </a:rPr>
              <a:t>(Bob,3999)</a:t>
            </a:r>
          </a:p>
          <a:p>
            <a:r>
              <a:rPr lang="en-IN" sz="1650" dirty="0" smtClean="0">
                <a:solidFill>
                  <a:schemeClr val="tx1"/>
                </a:solidFill>
              </a:rPr>
              <a:t>(Alice,729)</a:t>
            </a:r>
          </a:p>
          <a:p>
            <a:r>
              <a:rPr lang="en-IN" sz="1650" dirty="0" smtClean="0">
                <a:solidFill>
                  <a:schemeClr val="tx1"/>
                </a:solidFill>
              </a:rPr>
              <a:t>(Alice,27999)</a:t>
            </a:r>
          </a:p>
          <a:p>
            <a:r>
              <a:rPr lang="en-IN" sz="1650" dirty="0" smtClean="0">
                <a:solidFill>
                  <a:schemeClr val="tx1"/>
                </a:solidFill>
              </a:rPr>
              <a:t>(Carol,32999)</a:t>
            </a:r>
          </a:p>
          <a:p>
            <a:r>
              <a:rPr lang="en-IN" sz="1650" dirty="0" smtClean="0">
                <a:solidFill>
                  <a:schemeClr val="tx1"/>
                </a:solidFill>
              </a:rPr>
              <a:t>(Carol,4999)</a:t>
            </a:r>
          </a:p>
          <a:p>
            <a:endParaRPr lang="en-IN" sz="16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579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225631"/>
            <a:ext cx="10515600" cy="64565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Grouping &amp; Joining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58784" y="6356350"/>
            <a:ext cx="8870868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38200" y="871290"/>
            <a:ext cx="10515600" cy="54850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800" b="1" dirty="0" smtClean="0"/>
          </a:p>
          <a:p>
            <a:pPr marL="0" indent="0">
              <a:buNone/>
            </a:pPr>
            <a:r>
              <a:rPr lang="en-IN" sz="1800" b="1" dirty="0" smtClean="0"/>
              <a:t>Grouping Multiple Relations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 smtClean="0"/>
              <a:t>The GROUP operator can also group </a:t>
            </a:r>
            <a:r>
              <a:rPr lang="en-IN" sz="1800" b="1" i="1" dirty="0" smtClean="0"/>
              <a:t>multiple</a:t>
            </a:r>
            <a:r>
              <a:rPr lang="en-IN" sz="1800" b="1" dirty="0"/>
              <a:t> </a:t>
            </a:r>
            <a:r>
              <a:rPr lang="en-IN" sz="1800" b="1" dirty="0" smtClean="0"/>
              <a:t>relations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– In this case, using the synonymous COGROUP operator is preferred</a:t>
            </a:r>
          </a:p>
          <a:p>
            <a:pPr marL="0" indent="0">
              <a:buNone/>
            </a:pPr>
            <a:r>
              <a:rPr lang="en-IN" sz="1800" b="1" dirty="0"/>
              <a:t>Ex:                                       </a:t>
            </a:r>
          </a:p>
          <a:p>
            <a:pPr marL="0" indent="0">
              <a:buNone/>
            </a:pPr>
            <a:endParaRPr lang="en-IN" sz="1800" b="1" dirty="0" smtClean="0"/>
          </a:p>
        </p:txBody>
      </p:sp>
      <p:sp>
        <p:nvSpPr>
          <p:cNvPr id="8" name="Rectangle 7"/>
          <p:cNvSpPr/>
          <p:nvPr/>
        </p:nvSpPr>
        <p:spPr>
          <a:xfrm>
            <a:off x="1425039" y="2838203"/>
            <a:ext cx="1662545" cy="15882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>
                <a:solidFill>
                  <a:schemeClr val="tx1"/>
                </a:solidFill>
              </a:rPr>
              <a:t>         </a:t>
            </a:r>
            <a:r>
              <a:rPr lang="en-IN" b="1" dirty="0" smtClean="0">
                <a:solidFill>
                  <a:schemeClr val="tx1"/>
                </a:solidFill>
              </a:rPr>
              <a:t>PETS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nemo,fish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fido,dog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rex,dog</a:t>
            </a:r>
          </a:p>
          <a:p>
            <a:r>
              <a:rPr lang="en-IN" dirty="0">
                <a:solidFill>
                  <a:schemeClr val="tx1"/>
                </a:solidFill>
              </a:rPr>
              <a:t>paws,cat</a:t>
            </a:r>
          </a:p>
          <a:p>
            <a:r>
              <a:rPr lang="en-IN" dirty="0">
                <a:solidFill>
                  <a:schemeClr val="tx1"/>
                </a:solidFill>
              </a:rPr>
              <a:t>wiskers,cat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5039" y="4524499"/>
            <a:ext cx="1662545" cy="17337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Owners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adam,cat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adam,dog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alex,fish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alice,cat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steve,dog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4645" y="3635377"/>
            <a:ext cx="6263739" cy="1733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grouped = COGROUP owners BY animal, pets by animal;</a:t>
            </a:r>
          </a:p>
          <a:p>
            <a:r>
              <a:rPr lang="en-IN" dirty="0">
                <a:solidFill>
                  <a:schemeClr val="tx1"/>
                </a:solidFill>
              </a:rPr>
              <a:t>DUMP grouped</a:t>
            </a:r>
            <a:r>
              <a:rPr lang="en-IN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IN" dirty="0">
                <a:solidFill>
                  <a:schemeClr val="tx1"/>
                </a:solidFill>
              </a:rPr>
              <a:t>(cat, { (adam,cat),(alice,cat) } , { (paws,cat),(wiskers,cat) }</a:t>
            </a:r>
          </a:p>
          <a:p>
            <a:r>
              <a:rPr lang="en-IN" dirty="0">
                <a:solidFill>
                  <a:schemeClr val="tx1"/>
                </a:solidFill>
              </a:rPr>
              <a:t>(dog, { (adam,dog),(steve,dog) } , { (fido,dog),(rex,dog) }</a:t>
            </a:r>
          </a:p>
          <a:p>
            <a:r>
              <a:rPr lang="en-IN" dirty="0">
                <a:solidFill>
                  <a:schemeClr val="tx1"/>
                </a:solidFill>
              </a:rPr>
              <a:t>(fish, { (alex,fish) } , { (nemo,fish) }</a:t>
            </a:r>
          </a:p>
        </p:txBody>
      </p:sp>
    </p:spTree>
    <p:extLst>
      <p:ext uri="{BB962C8B-B14F-4D97-AF65-F5344CB8AC3E}">
        <p14:creationId xmlns:p14="http://schemas.microsoft.com/office/powerpoint/2010/main" val="2067752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78130"/>
            <a:ext cx="10515600" cy="55065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Grouping &amp; Joining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9387" y="728787"/>
            <a:ext cx="10914413" cy="544817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 smtClean="0"/>
              <a:t>JOINS OVERVIEW</a:t>
            </a:r>
            <a:endParaRPr lang="en-IN" sz="18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 smtClean="0"/>
              <a:t>The COGROUP operator creates a nested data structure</a:t>
            </a:r>
            <a:endParaRPr lang="en-IN" sz="18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 smtClean="0"/>
              <a:t>Pig Latin’s JOIN operator creates a flat data structure</a:t>
            </a:r>
            <a:endParaRPr lang="en-IN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 smtClean="0"/>
              <a:t>   – Similar to joins in a relational database</a:t>
            </a:r>
            <a:r>
              <a:rPr lang="en-IN" sz="1800" dirty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 smtClean="0"/>
              <a:t>A JOIN is similar to doing a COGROUP followed by a FLATTEN</a:t>
            </a:r>
            <a:endParaRPr lang="en-IN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 smtClean="0"/>
              <a:t>   – Though they handle null values differently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 smtClean="0"/>
              <a:t>Joins can also use multiple fields as the key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 </a:t>
            </a:r>
            <a:r>
              <a:rPr lang="en-IN" sz="1800" b="1" dirty="0" smtClean="0"/>
              <a:t>  </a:t>
            </a:r>
            <a:r>
              <a:rPr lang="en-IN" sz="1800" dirty="0" smtClean="0"/>
              <a:t>Ex: </a:t>
            </a:r>
            <a:r>
              <a:rPr lang="en-IN" sz="1800" dirty="0"/>
              <a:t>joined = JOIN customers BY (name, </a:t>
            </a:r>
            <a:r>
              <a:rPr lang="en-IN" sz="1800" dirty="0" err="1"/>
              <a:t>phone_number</a:t>
            </a:r>
            <a:r>
              <a:rPr lang="en-IN" sz="1800" dirty="0"/>
              <a:t>),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 smtClean="0"/>
              <a:t>                                   accounts </a:t>
            </a:r>
            <a:r>
              <a:rPr lang="en-IN" sz="1800" dirty="0"/>
              <a:t>BY (name, </a:t>
            </a:r>
            <a:r>
              <a:rPr lang="en-IN" sz="1800" dirty="0" err="1"/>
              <a:t>phone_number</a:t>
            </a:r>
            <a:r>
              <a:rPr lang="en-IN" sz="1800" dirty="0"/>
              <a:t>);</a:t>
            </a:r>
            <a:r>
              <a:rPr lang="en-IN" sz="1800" dirty="0" smtClean="0"/>
              <a:t> </a:t>
            </a:r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306285" y="6356350"/>
            <a:ext cx="8668987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539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62190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Grouping &amp; Joining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56606" y="621909"/>
            <a:ext cx="10878787" cy="58118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IN" sz="1800" dirty="0" smtClean="0"/>
          </a:p>
          <a:p>
            <a:pPr>
              <a:lnSpc>
                <a:spcPct val="100000"/>
              </a:lnSpc>
            </a:pPr>
            <a:r>
              <a:rPr lang="en-IN" sz="1800" dirty="0" smtClean="0"/>
              <a:t>PIG supports Inner, Full outer, Left, Right and also </a:t>
            </a:r>
            <a:r>
              <a:rPr lang="en-IN" sz="1800" dirty="0"/>
              <a:t>Self </a:t>
            </a:r>
            <a:r>
              <a:rPr lang="en-IN" sz="1800" dirty="0" smtClean="0"/>
              <a:t>joins.</a:t>
            </a:r>
          </a:p>
          <a:p>
            <a:pPr>
              <a:lnSpc>
                <a:spcPct val="100000"/>
              </a:lnSpc>
            </a:pPr>
            <a:r>
              <a:rPr lang="en-IN" sz="1800" dirty="0" smtClean="0"/>
              <a:t>Self Joins - </a:t>
            </a:r>
            <a:r>
              <a:rPr lang="en-IN" sz="1800" dirty="0"/>
              <a:t>Self joins are supported, though the data must be </a:t>
            </a:r>
            <a:r>
              <a:rPr lang="en-IN" sz="1800" dirty="0" smtClean="0"/>
              <a:t>loaded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           twice.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 smtClean="0"/>
              <a:t>Ex: </a:t>
            </a:r>
            <a:r>
              <a:rPr lang="en-IN" sz="1800" dirty="0"/>
              <a:t>divs1 = </a:t>
            </a:r>
            <a:r>
              <a:rPr lang="en-IN" sz="1800" dirty="0" smtClean="0"/>
              <a:t>  load </a:t>
            </a:r>
            <a:r>
              <a:rPr lang="en-IN" sz="1800" dirty="0"/>
              <a:t>'</a:t>
            </a:r>
            <a:r>
              <a:rPr lang="en-IN" sz="1800" dirty="0" err="1"/>
              <a:t>NYSE_dividends</a:t>
            </a:r>
            <a:r>
              <a:rPr lang="en-IN" sz="1800" dirty="0"/>
              <a:t>' as (</a:t>
            </a:r>
            <a:r>
              <a:rPr lang="en-IN" sz="1800" dirty="0" err="1"/>
              <a:t>exchange:chararray</a:t>
            </a:r>
            <a:r>
              <a:rPr lang="en-IN" sz="1800" dirty="0"/>
              <a:t>, </a:t>
            </a:r>
            <a:r>
              <a:rPr lang="en-IN" sz="1800" dirty="0" err="1"/>
              <a:t>symbol:chararray</a:t>
            </a:r>
            <a:r>
              <a:rPr lang="en-IN" sz="180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 smtClean="0"/>
              <a:t>                      </a:t>
            </a:r>
            <a:r>
              <a:rPr lang="en-IN" sz="1800" dirty="0" err="1" smtClean="0"/>
              <a:t>date:chararray</a:t>
            </a:r>
            <a:r>
              <a:rPr lang="en-IN" sz="1800" dirty="0"/>
              <a:t>, dividends);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 smtClean="0"/>
              <a:t>      divs2 </a:t>
            </a:r>
            <a:r>
              <a:rPr lang="en-IN" sz="1800" dirty="0"/>
              <a:t>= </a:t>
            </a:r>
            <a:r>
              <a:rPr lang="en-IN" sz="1800" dirty="0" smtClean="0"/>
              <a:t>   load </a:t>
            </a:r>
            <a:r>
              <a:rPr lang="en-IN" sz="1800" dirty="0"/>
              <a:t>'</a:t>
            </a:r>
            <a:r>
              <a:rPr lang="en-IN" sz="1800" dirty="0" err="1"/>
              <a:t>NYSE_dividends</a:t>
            </a:r>
            <a:r>
              <a:rPr lang="en-IN" sz="1800" dirty="0"/>
              <a:t>' as (</a:t>
            </a:r>
            <a:r>
              <a:rPr lang="en-IN" sz="1800" dirty="0" err="1"/>
              <a:t>exchange:chararray</a:t>
            </a:r>
            <a:r>
              <a:rPr lang="en-IN" sz="1800" dirty="0"/>
              <a:t>, </a:t>
            </a:r>
            <a:r>
              <a:rPr lang="en-IN" sz="1800" dirty="0" err="1"/>
              <a:t>symbol:chararray</a:t>
            </a:r>
            <a:r>
              <a:rPr lang="en-IN" sz="180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 smtClean="0"/>
              <a:t>                       </a:t>
            </a:r>
            <a:r>
              <a:rPr lang="en-IN" sz="1800" dirty="0" err="1" smtClean="0"/>
              <a:t>date:chararray</a:t>
            </a:r>
            <a:r>
              <a:rPr lang="en-IN" sz="1800" dirty="0"/>
              <a:t>, dividends);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 smtClean="0"/>
              <a:t>      </a:t>
            </a:r>
            <a:r>
              <a:rPr lang="en-IN" sz="1800" dirty="0" err="1" smtClean="0"/>
              <a:t>jnd</a:t>
            </a:r>
            <a:r>
              <a:rPr lang="en-IN" sz="1800" dirty="0" smtClean="0"/>
              <a:t>    =     join </a:t>
            </a:r>
            <a:r>
              <a:rPr lang="en-IN" sz="1800" dirty="0"/>
              <a:t>divs1 by symbol, divs2 by symbol;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increased </a:t>
            </a:r>
            <a:r>
              <a:rPr lang="en-IN" sz="1800" dirty="0" smtClean="0"/>
              <a:t>=  filter </a:t>
            </a:r>
            <a:r>
              <a:rPr lang="en-IN" sz="1800" dirty="0" err="1"/>
              <a:t>jnd</a:t>
            </a:r>
            <a:r>
              <a:rPr lang="en-IN" sz="1800" dirty="0"/>
              <a:t> by divs1::date &lt; divs2::date and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 smtClean="0"/>
              <a:t>                       divs1</a:t>
            </a:r>
            <a:r>
              <a:rPr lang="en-IN" sz="1800" dirty="0"/>
              <a:t>::dividends &lt; divs2::dividends</a:t>
            </a:r>
            <a:r>
              <a:rPr lang="en-IN" sz="1800" dirty="0" smtClean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 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800" dirty="0"/>
          </a:p>
          <a:p>
            <a:pPr marL="0" indent="0">
              <a:lnSpc>
                <a:spcPct val="100000"/>
              </a:lnSpc>
              <a:buNone/>
            </a:pPr>
            <a:endParaRPr lang="en-IN" sz="18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 smtClean="0"/>
              <a:t> </a:t>
            </a:r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306285" y="6356350"/>
            <a:ext cx="8668987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259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483435"/>
            <a:ext cx="10515600" cy="66941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Filtering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38200" y="997527"/>
            <a:ext cx="10515600" cy="5179436"/>
          </a:xfrm>
        </p:spPr>
        <p:txBody>
          <a:bodyPr>
            <a:normAutofit/>
          </a:bodyPr>
          <a:lstStyle/>
          <a:p>
            <a:endParaRPr lang="en-IN" sz="1800" dirty="0" smtClean="0"/>
          </a:p>
          <a:p>
            <a:r>
              <a:rPr lang="en-IN" sz="1800" dirty="0"/>
              <a:t>Pig allows you to remove unwanted records based on a condition. The Filter functionality is similar to the WHERE clause in SQL. </a:t>
            </a:r>
            <a:endParaRPr lang="en-IN" sz="1800" dirty="0" smtClean="0"/>
          </a:p>
          <a:p>
            <a:r>
              <a:rPr lang="en-IN" sz="1800" dirty="0" smtClean="0"/>
              <a:t>The </a:t>
            </a:r>
            <a:r>
              <a:rPr lang="en-IN" sz="1800" dirty="0"/>
              <a:t>FILTER operator in pig is used to remove unwanted records from the data file. The syntax of FILTER operator is shown below: </a:t>
            </a:r>
            <a:endParaRPr lang="en-IN" sz="1800" dirty="0" smtClean="0"/>
          </a:p>
          <a:p>
            <a:pPr marL="0" indent="0">
              <a:buNone/>
            </a:pPr>
            <a:r>
              <a:rPr lang="en-IN" sz="1800" dirty="0" smtClean="0"/>
              <a:t>    </a:t>
            </a:r>
            <a:r>
              <a:rPr lang="en-IN" sz="1800" b="1" dirty="0" smtClean="0"/>
              <a:t>Syntax:  </a:t>
            </a:r>
            <a:r>
              <a:rPr lang="en-IN" sz="1800" b="1" dirty="0"/>
              <a:t>&lt;new relation&gt; = FILTER &lt;relation&gt; BY &lt;condition</a:t>
            </a:r>
            <a:r>
              <a:rPr lang="en-IN" sz="1800" b="1" dirty="0" smtClean="0"/>
              <a:t>&gt;</a:t>
            </a:r>
          </a:p>
          <a:p>
            <a:pPr marL="0" indent="0">
              <a:buNone/>
            </a:pPr>
            <a:r>
              <a:rPr lang="en-IN" sz="1800" b="1" dirty="0"/>
              <a:t> </a:t>
            </a:r>
            <a:r>
              <a:rPr lang="en-IN" sz="1800" b="1" dirty="0" smtClean="0"/>
              <a:t>   Ex </a:t>
            </a:r>
            <a:r>
              <a:rPr lang="en-IN" sz="1800" b="1" dirty="0"/>
              <a:t>: </a:t>
            </a:r>
            <a:endParaRPr lang="en-IN" sz="1800" b="1" dirty="0" smtClean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377538" y="6356350"/>
            <a:ext cx="8823366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686296" y="3135086"/>
            <a:ext cx="2648198" cy="29569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year,product,quantity</a:t>
            </a:r>
          </a:p>
          <a:p>
            <a:r>
              <a:rPr lang="en-IN" dirty="0">
                <a:solidFill>
                  <a:schemeClr val="tx1"/>
                </a:solidFill>
              </a:rPr>
              <a:t>---------------------</a:t>
            </a:r>
          </a:p>
          <a:p>
            <a:r>
              <a:rPr lang="en-IN" dirty="0">
                <a:solidFill>
                  <a:schemeClr val="tx1"/>
                </a:solidFill>
              </a:rPr>
              <a:t>2000, iphone, 1000</a:t>
            </a:r>
          </a:p>
          <a:p>
            <a:r>
              <a:rPr lang="en-IN" dirty="0">
                <a:solidFill>
                  <a:schemeClr val="tx1"/>
                </a:solidFill>
              </a:rPr>
              <a:t>2001, iphone, 1500 </a:t>
            </a:r>
          </a:p>
          <a:p>
            <a:r>
              <a:rPr lang="en-IN" dirty="0">
                <a:solidFill>
                  <a:schemeClr val="tx1"/>
                </a:solidFill>
              </a:rPr>
              <a:t>2002, iphone, 2000</a:t>
            </a:r>
          </a:p>
          <a:p>
            <a:r>
              <a:rPr lang="en-IN" dirty="0">
                <a:solidFill>
                  <a:schemeClr val="tx1"/>
                </a:solidFill>
              </a:rPr>
              <a:t>2000, nokia,  1200</a:t>
            </a:r>
          </a:p>
          <a:p>
            <a:r>
              <a:rPr lang="en-IN" dirty="0">
                <a:solidFill>
                  <a:schemeClr val="tx1"/>
                </a:solidFill>
              </a:rPr>
              <a:t>2001, nokia,  1500</a:t>
            </a:r>
          </a:p>
          <a:p>
            <a:r>
              <a:rPr lang="en-IN" dirty="0">
                <a:solidFill>
                  <a:schemeClr val="tx1"/>
                </a:solidFill>
              </a:rPr>
              <a:t>2002, nokia,  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3252" y="3135086"/>
            <a:ext cx="6911439" cy="29569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grunt&gt; A = LOAD '/user/</a:t>
            </a:r>
            <a:r>
              <a:rPr lang="en-IN" dirty="0" err="1">
                <a:solidFill>
                  <a:schemeClr val="tx1"/>
                </a:solidFill>
              </a:rPr>
              <a:t>hadoop</a:t>
            </a:r>
            <a:r>
              <a:rPr lang="en-IN" dirty="0">
                <a:solidFill>
                  <a:schemeClr val="tx1"/>
                </a:solidFill>
              </a:rPr>
              <a:t>/sales' USING PigStorage(',') AS (year:int,product:chararray,quantity:int);</a:t>
            </a:r>
          </a:p>
          <a:p>
            <a:r>
              <a:rPr lang="en-IN" dirty="0">
                <a:solidFill>
                  <a:schemeClr val="tx1"/>
                </a:solidFill>
              </a:rPr>
              <a:t>grunt&gt; B = FILTER A BY quantity &gt;= 1000;</a:t>
            </a:r>
          </a:p>
          <a:p>
            <a:r>
              <a:rPr lang="en-IN" dirty="0">
                <a:solidFill>
                  <a:schemeClr val="tx1"/>
                </a:solidFill>
              </a:rPr>
              <a:t>grunt&gt; DUMP B;</a:t>
            </a:r>
          </a:p>
          <a:p>
            <a:r>
              <a:rPr lang="en-IN" dirty="0">
                <a:solidFill>
                  <a:schemeClr val="tx1"/>
                </a:solidFill>
              </a:rPr>
              <a:t>(2000,iphone,1000)</a:t>
            </a:r>
          </a:p>
          <a:p>
            <a:r>
              <a:rPr lang="en-IN" dirty="0">
                <a:solidFill>
                  <a:schemeClr val="tx1"/>
                </a:solidFill>
              </a:rPr>
              <a:t>(2001,iphone,1500)</a:t>
            </a:r>
          </a:p>
          <a:p>
            <a:r>
              <a:rPr lang="en-IN" dirty="0">
                <a:solidFill>
                  <a:schemeClr val="tx1"/>
                </a:solidFill>
              </a:rPr>
              <a:t>(2002,iphone,2000)</a:t>
            </a:r>
          </a:p>
          <a:p>
            <a:r>
              <a:rPr lang="en-IN" dirty="0">
                <a:solidFill>
                  <a:schemeClr val="tx1"/>
                </a:solidFill>
              </a:rPr>
              <a:t>(2000,nokia,1200)</a:t>
            </a:r>
          </a:p>
          <a:p>
            <a:r>
              <a:rPr lang="en-IN" dirty="0">
                <a:solidFill>
                  <a:schemeClr val="tx1"/>
                </a:solidFill>
              </a:rPr>
              <a:t>(2001,nokia,1500)</a:t>
            </a:r>
          </a:p>
        </p:txBody>
      </p:sp>
    </p:spTree>
    <p:extLst>
      <p:ext uri="{BB962C8B-B14F-4D97-AF65-F5344CB8AC3E}">
        <p14:creationId xmlns:p14="http://schemas.microsoft.com/office/powerpoint/2010/main" val="203569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54379"/>
            <a:ext cx="10515600" cy="431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Sorting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44384" y="586283"/>
            <a:ext cx="11009416" cy="559068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800" dirty="0" smtClean="0"/>
              <a:t>We use </a:t>
            </a:r>
            <a:r>
              <a:rPr lang="en-IN" sz="1800" dirty="0"/>
              <a:t>the </a:t>
            </a:r>
            <a:r>
              <a:rPr lang="en-IN" sz="1800" b="1" dirty="0"/>
              <a:t>ORDER BY </a:t>
            </a:r>
            <a:r>
              <a:rPr lang="en-IN" sz="1800" dirty="0"/>
              <a:t>command to sort a relation by one or more of its </a:t>
            </a:r>
            <a:r>
              <a:rPr lang="en-IN" sz="1800" dirty="0" smtClean="0"/>
              <a:t>fields in PIG.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b="1" dirty="0" smtClean="0"/>
              <a:t>Ex: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b="1" dirty="0" smtClean="0"/>
              <a:t>--</a:t>
            </a:r>
            <a:r>
              <a:rPr lang="en-IN" sz="1800" b="1" dirty="0" err="1" smtClean="0"/>
              <a:t>order.pig</a:t>
            </a:r>
            <a:endParaRPr lang="en-IN" sz="18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 smtClean="0"/>
              <a:t>   daily </a:t>
            </a:r>
            <a:r>
              <a:rPr lang="en-IN" sz="1800" dirty="0"/>
              <a:t>= load '</a:t>
            </a:r>
            <a:r>
              <a:rPr lang="en-IN" sz="1800" dirty="0" err="1"/>
              <a:t>NYSE_daily</a:t>
            </a:r>
            <a:r>
              <a:rPr lang="en-IN" sz="1800" dirty="0"/>
              <a:t>' as (</a:t>
            </a:r>
            <a:r>
              <a:rPr lang="en-IN" sz="1800" dirty="0" err="1"/>
              <a:t>exchange:chararray</a:t>
            </a:r>
            <a:r>
              <a:rPr lang="en-IN" sz="1800" dirty="0"/>
              <a:t>, </a:t>
            </a:r>
            <a:r>
              <a:rPr lang="en-IN" sz="1800" dirty="0" err="1" smtClean="0"/>
              <a:t>symbol:chararray</a:t>
            </a:r>
            <a:r>
              <a:rPr lang="en-IN" sz="1800" dirty="0" smtClean="0"/>
              <a:t>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</a:t>
            </a:r>
            <a:r>
              <a:rPr lang="en-IN" sz="1800" dirty="0" err="1" smtClean="0"/>
              <a:t>date:chararray</a:t>
            </a:r>
            <a:r>
              <a:rPr lang="en-IN" sz="1800" dirty="0"/>
              <a:t>, </a:t>
            </a:r>
            <a:r>
              <a:rPr lang="en-IN" sz="1800" dirty="0" err="1"/>
              <a:t>open:float</a:t>
            </a:r>
            <a:r>
              <a:rPr lang="en-IN" sz="1800" dirty="0"/>
              <a:t>, </a:t>
            </a:r>
            <a:r>
              <a:rPr lang="en-IN" sz="1800" dirty="0" err="1"/>
              <a:t>high:float</a:t>
            </a:r>
            <a:r>
              <a:rPr lang="en-IN" sz="1800" dirty="0"/>
              <a:t>, </a:t>
            </a:r>
            <a:r>
              <a:rPr lang="en-IN" sz="1800" dirty="0" err="1"/>
              <a:t>low:float</a:t>
            </a:r>
            <a:r>
              <a:rPr lang="en-IN" sz="1800" dirty="0"/>
              <a:t>, </a:t>
            </a:r>
            <a:r>
              <a:rPr lang="en-IN" sz="1800" dirty="0" err="1" smtClean="0"/>
              <a:t>close:float</a:t>
            </a:r>
            <a:r>
              <a:rPr lang="en-IN" sz="1800" dirty="0" smtClean="0"/>
              <a:t>, </a:t>
            </a:r>
            <a:r>
              <a:rPr lang="en-IN" sz="1800" dirty="0" err="1" smtClean="0"/>
              <a:t>volume:int</a:t>
            </a:r>
            <a:r>
              <a:rPr lang="en-IN" sz="1800" dirty="0"/>
              <a:t>, </a:t>
            </a:r>
            <a:r>
              <a:rPr lang="en-IN" sz="1800" dirty="0" err="1"/>
              <a:t>adj_close:float</a:t>
            </a:r>
            <a:r>
              <a:rPr lang="en-IN" sz="1800" dirty="0"/>
              <a:t>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 smtClean="0"/>
              <a:t>   </a:t>
            </a:r>
            <a:r>
              <a:rPr lang="en-IN" sz="1800" dirty="0" err="1" smtClean="0"/>
              <a:t>bydate</a:t>
            </a:r>
            <a:r>
              <a:rPr lang="en-IN" sz="1800" dirty="0" smtClean="0"/>
              <a:t> </a:t>
            </a:r>
            <a:r>
              <a:rPr lang="en-IN" sz="1800" dirty="0"/>
              <a:t>= order daily by date;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 smtClean="0"/>
              <a:t> </a:t>
            </a:r>
            <a:r>
              <a:rPr lang="en-IN" sz="1800" b="1" dirty="0" smtClean="0"/>
              <a:t>--</a:t>
            </a:r>
            <a:r>
              <a:rPr lang="en-IN" sz="1800" b="1" dirty="0"/>
              <a:t>order2key.pig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 smtClean="0"/>
              <a:t>    daily </a:t>
            </a:r>
            <a:r>
              <a:rPr lang="en-IN" sz="1800" dirty="0"/>
              <a:t>= load '</a:t>
            </a:r>
            <a:r>
              <a:rPr lang="en-IN" sz="1800" dirty="0" err="1"/>
              <a:t>NYSE_daily</a:t>
            </a:r>
            <a:r>
              <a:rPr lang="en-IN" sz="1800" dirty="0"/>
              <a:t>' as (</a:t>
            </a:r>
            <a:r>
              <a:rPr lang="en-IN" sz="1800" dirty="0" err="1"/>
              <a:t>exchange:chararray</a:t>
            </a:r>
            <a:r>
              <a:rPr lang="en-IN" sz="1800" dirty="0"/>
              <a:t>, </a:t>
            </a:r>
            <a:r>
              <a:rPr lang="en-IN" sz="1800" dirty="0" err="1"/>
              <a:t>symbol:chararray</a:t>
            </a:r>
            <a:r>
              <a:rPr lang="en-IN" sz="1800" dirty="0"/>
              <a:t>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 smtClean="0"/>
              <a:t>                </a:t>
            </a:r>
            <a:r>
              <a:rPr lang="en-IN" sz="1800" dirty="0" err="1" smtClean="0"/>
              <a:t>date:chararray</a:t>
            </a:r>
            <a:r>
              <a:rPr lang="en-IN" sz="1800" dirty="0"/>
              <a:t>, </a:t>
            </a:r>
            <a:r>
              <a:rPr lang="en-IN" sz="1800" dirty="0" err="1"/>
              <a:t>open:float</a:t>
            </a:r>
            <a:r>
              <a:rPr lang="en-IN" sz="1800" dirty="0"/>
              <a:t>, </a:t>
            </a:r>
            <a:r>
              <a:rPr lang="en-IN" sz="1800" dirty="0" err="1"/>
              <a:t>high:float</a:t>
            </a:r>
            <a:r>
              <a:rPr lang="en-IN" sz="1800" dirty="0"/>
              <a:t>, </a:t>
            </a:r>
            <a:r>
              <a:rPr lang="en-IN" sz="1800" dirty="0" err="1" smtClean="0"/>
              <a:t>low:float</a:t>
            </a:r>
            <a:r>
              <a:rPr lang="en-IN" sz="1800" dirty="0" smtClean="0"/>
              <a:t>, </a:t>
            </a:r>
            <a:r>
              <a:rPr lang="en-IN" sz="1800" dirty="0" err="1" smtClean="0"/>
              <a:t>close:float</a:t>
            </a:r>
            <a:r>
              <a:rPr lang="en-IN" sz="1800" dirty="0"/>
              <a:t>, </a:t>
            </a:r>
            <a:r>
              <a:rPr lang="en-IN" sz="1800" dirty="0" err="1"/>
              <a:t>volume:int</a:t>
            </a:r>
            <a:r>
              <a:rPr lang="en-IN" sz="1800" dirty="0"/>
              <a:t>, </a:t>
            </a:r>
            <a:r>
              <a:rPr lang="en-IN" sz="1800" dirty="0" err="1"/>
              <a:t>adj_close:float</a:t>
            </a:r>
            <a:r>
              <a:rPr lang="en-IN" sz="1800" dirty="0"/>
              <a:t>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 smtClean="0"/>
              <a:t>                </a:t>
            </a:r>
            <a:r>
              <a:rPr lang="en-IN" sz="1800" dirty="0" err="1" smtClean="0"/>
              <a:t>bydatensymbol</a:t>
            </a:r>
            <a:r>
              <a:rPr lang="en-IN" sz="1800" dirty="0" smtClean="0"/>
              <a:t> </a:t>
            </a:r>
            <a:r>
              <a:rPr lang="en-IN" sz="1800" dirty="0"/>
              <a:t>= order daily by date, symbol;</a:t>
            </a:r>
          </a:p>
          <a:p>
            <a:pPr>
              <a:lnSpc>
                <a:spcPct val="120000"/>
              </a:lnSpc>
            </a:pPr>
            <a:endParaRPr lang="en-IN" sz="1800" dirty="0"/>
          </a:p>
          <a:p>
            <a:pPr>
              <a:lnSpc>
                <a:spcPct val="120000"/>
              </a:lnSpc>
            </a:pPr>
            <a:r>
              <a:rPr lang="en-IN" sz="1800" dirty="0"/>
              <a:t>It is also possible to reverse the order of the sort by appending </a:t>
            </a:r>
            <a:r>
              <a:rPr lang="en-IN" sz="1800" dirty="0" err="1"/>
              <a:t>desc</a:t>
            </a:r>
            <a:r>
              <a:rPr lang="en-IN" sz="1800" dirty="0"/>
              <a:t> to a key in the </a:t>
            </a:r>
            <a:r>
              <a:rPr lang="en-IN" sz="1800" dirty="0" smtClean="0"/>
              <a:t>sort. In </a:t>
            </a:r>
            <a:r>
              <a:rPr lang="en-IN" sz="1800" dirty="0"/>
              <a:t>order statements with multiple keys, </a:t>
            </a:r>
            <a:r>
              <a:rPr lang="en-IN" sz="1800" dirty="0" err="1"/>
              <a:t>desc</a:t>
            </a:r>
            <a:r>
              <a:rPr lang="en-IN" sz="1800" dirty="0"/>
              <a:t> applies only to the key it </a:t>
            </a:r>
            <a:r>
              <a:rPr lang="en-IN" sz="1800" dirty="0" smtClean="0"/>
              <a:t>immediately follows, other </a:t>
            </a:r>
            <a:r>
              <a:rPr lang="en-IN" sz="1800" dirty="0"/>
              <a:t>keys will still be sorted in ascending </a:t>
            </a:r>
            <a:r>
              <a:rPr lang="en-IN" sz="1800" dirty="0" smtClean="0"/>
              <a:t>order.</a:t>
            </a:r>
            <a:endParaRPr lang="en-IN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 smtClean="0"/>
              <a:t>						</a:t>
            </a:r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377538" y="6356350"/>
            <a:ext cx="8823366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097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31322" y="154380"/>
            <a:ext cx="10515600" cy="68128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>Set Operations</a:t>
            </a:r>
            <a:endParaRPr lang="en-IN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748144"/>
            <a:ext cx="10515600" cy="5608205"/>
          </a:xfrm>
        </p:spPr>
        <p:txBody>
          <a:bodyPr>
            <a:normAutofit/>
          </a:bodyPr>
          <a:lstStyle/>
          <a:p>
            <a:r>
              <a:rPr lang="en-IN" sz="1800" b="1" dirty="0" smtClean="0"/>
              <a:t>Crossing Data</a:t>
            </a:r>
          </a:p>
          <a:p>
            <a:pPr marL="0" indent="0">
              <a:buNone/>
            </a:pPr>
            <a:r>
              <a:rPr lang="en-IN" sz="1800" b="1" dirty="0" smtClean="0"/>
              <a:t>   </a:t>
            </a:r>
            <a:r>
              <a:rPr lang="en-IN" sz="1800" dirty="0" smtClean="0"/>
              <a:t>Sets Pig’s CROSS operator creates the cross product of both relations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– Combines all records in both tables regardless of matching.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– In other words, all possible combinations of records.</a:t>
            </a:r>
          </a:p>
          <a:p>
            <a:pPr marL="0" indent="0">
              <a:buNone/>
            </a:pPr>
            <a:r>
              <a:rPr lang="en-IN" sz="1800" b="1" dirty="0" smtClean="0"/>
              <a:t>Ex: 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 smtClean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 smtClean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 smtClean="0"/>
          </a:p>
          <a:p>
            <a:pPr marL="0" indent="0">
              <a:buNone/>
            </a:pPr>
            <a:endParaRPr lang="en-IN" sz="1800" b="1" dirty="0" smtClean="0"/>
          </a:p>
          <a:p>
            <a:pPr marL="0" indent="0">
              <a:buNone/>
            </a:pPr>
            <a:endParaRPr lang="en-IN" sz="1800" b="1" dirty="0" smtClean="0"/>
          </a:p>
        </p:txBody>
      </p:sp>
      <p:sp>
        <p:nvSpPr>
          <p:cNvPr id="7" name="Rectangle 6"/>
          <p:cNvSpPr/>
          <p:nvPr/>
        </p:nvSpPr>
        <p:spPr>
          <a:xfrm>
            <a:off x="1496291" y="2458192"/>
            <a:ext cx="1959428" cy="11756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IN" dirty="0" smtClean="0">
                <a:solidFill>
                  <a:schemeClr val="tx1"/>
                </a:solidFill>
              </a:rPr>
              <a:t>(1,2,3</a:t>
            </a:r>
            <a:r>
              <a:rPr lang="en-IN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(4,2,1)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6291" y="3954482"/>
            <a:ext cx="1959428" cy="130189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IN" dirty="0" smtClean="0">
                <a:solidFill>
                  <a:schemeClr val="tx1"/>
                </a:solidFill>
              </a:rPr>
              <a:t>(2,4</a:t>
            </a:r>
            <a:r>
              <a:rPr lang="en-IN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(8,9)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(1,3)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76354" y="2458193"/>
            <a:ext cx="5023262" cy="27981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X = CROSS A, B;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DUMP X;</a:t>
            </a:r>
          </a:p>
          <a:p>
            <a:r>
              <a:rPr lang="en-IN" dirty="0">
                <a:solidFill>
                  <a:schemeClr val="tx1"/>
                </a:solidFill>
              </a:rPr>
              <a:t>(1,2,3,2,4)</a:t>
            </a:r>
          </a:p>
          <a:p>
            <a:r>
              <a:rPr lang="en-IN" dirty="0">
                <a:solidFill>
                  <a:schemeClr val="tx1"/>
                </a:solidFill>
              </a:rPr>
              <a:t>(1,2,3,8,9)</a:t>
            </a:r>
          </a:p>
          <a:p>
            <a:r>
              <a:rPr lang="en-IN" dirty="0">
                <a:solidFill>
                  <a:schemeClr val="tx1"/>
                </a:solidFill>
              </a:rPr>
              <a:t>(1,2,3,1,3)</a:t>
            </a:r>
          </a:p>
          <a:p>
            <a:r>
              <a:rPr lang="en-IN" dirty="0">
                <a:solidFill>
                  <a:schemeClr val="tx1"/>
                </a:solidFill>
              </a:rPr>
              <a:t>(4,2,1,2,4)</a:t>
            </a:r>
          </a:p>
          <a:p>
            <a:r>
              <a:rPr lang="en-IN" dirty="0">
                <a:solidFill>
                  <a:schemeClr val="tx1"/>
                </a:solidFill>
              </a:rPr>
              <a:t>(4,2,1,8,9)</a:t>
            </a:r>
          </a:p>
          <a:p>
            <a:r>
              <a:rPr lang="en-IN" dirty="0">
                <a:solidFill>
                  <a:schemeClr val="tx1"/>
                </a:solidFill>
              </a:rPr>
              <a:t>(4,2,1,1,3)</a:t>
            </a:r>
          </a:p>
        </p:txBody>
      </p:sp>
    </p:spTree>
    <p:extLst>
      <p:ext uri="{BB962C8B-B14F-4D97-AF65-F5344CB8AC3E}">
        <p14:creationId xmlns:p14="http://schemas.microsoft.com/office/powerpoint/2010/main" val="1154926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245012"/>
            <a:ext cx="10515600" cy="57440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Set Operations</a:t>
            </a: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669410"/>
            <a:ext cx="10515600" cy="5507553"/>
          </a:xfrm>
        </p:spPr>
        <p:txBody>
          <a:bodyPr>
            <a:normAutofit/>
          </a:bodyPr>
          <a:lstStyle/>
          <a:p>
            <a:endParaRPr lang="en-IN" sz="1800" b="1" dirty="0" smtClean="0"/>
          </a:p>
          <a:p>
            <a:r>
              <a:rPr lang="en-IN" sz="1800" b="1" dirty="0" smtClean="0"/>
              <a:t>Concatenating Data Sets</a:t>
            </a:r>
          </a:p>
          <a:p>
            <a:pPr marL="0" indent="0">
              <a:buNone/>
            </a:pPr>
            <a:r>
              <a:rPr lang="en-IN" sz="1800" b="1" dirty="0" smtClean="0"/>
              <a:t>We have explored several techniques for combining data sets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– They have had one thing in common: they combine horizontally</a:t>
            </a:r>
            <a:endParaRPr lang="en-IN" sz="1800" dirty="0"/>
          </a:p>
          <a:p>
            <a:pPr marL="0" indent="0">
              <a:buNone/>
            </a:pPr>
            <a:r>
              <a:rPr lang="en-IN" sz="1800" b="1" dirty="0" smtClean="0"/>
              <a:t>The UNION operator combines records vertically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– It adds data from input relations into a new single relation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– Pig does not require these inputs to have the same schema</a:t>
            </a:r>
            <a:r>
              <a:rPr lang="en-IN" sz="1800" dirty="0"/>
              <a:t> </a:t>
            </a:r>
          </a:p>
          <a:p>
            <a:pPr marL="0" indent="0">
              <a:buNone/>
            </a:pPr>
            <a:r>
              <a:rPr lang="en-IN" sz="1800" dirty="0" smtClean="0"/>
              <a:t>   – It does not eliminate duplicate records nor preserve order</a:t>
            </a:r>
            <a:endParaRPr lang="en-IN" sz="1800" dirty="0"/>
          </a:p>
          <a:p>
            <a:pPr marL="0" indent="0">
              <a:buNone/>
            </a:pPr>
            <a:r>
              <a:rPr lang="en-IN" sz="1800" b="1" dirty="0" smtClean="0"/>
              <a:t>This is helpful for incorporating new data into our processing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 smtClean="0"/>
          </a:p>
          <a:p>
            <a:pPr marL="0" indent="0">
              <a:buNone/>
            </a:pPr>
            <a:endParaRPr lang="en-IN" sz="1800" b="1" dirty="0" smtClean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 smtClean="0"/>
          </a:p>
        </p:txBody>
      </p:sp>
      <p:sp>
        <p:nvSpPr>
          <p:cNvPr id="7" name="Rectangle 6"/>
          <p:cNvSpPr/>
          <p:nvPr/>
        </p:nvSpPr>
        <p:spPr>
          <a:xfrm>
            <a:off x="938151" y="4123161"/>
            <a:ext cx="6899564" cy="7718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both = UNION </a:t>
            </a:r>
            <a:r>
              <a:rPr lang="en-IN" b="1" dirty="0" err="1">
                <a:solidFill>
                  <a:schemeClr val="tx1"/>
                </a:solidFill>
              </a:rPr>
              <a:t>june_items</a:t>
            </a:r>
            <a:r>
              <a:rPr lang="en-IN" b="1" dirty="0">
                <a:solidFill>
                  <a:schemeClr val="tx1"/>
                </a:solidFill>
              </a:rPr>
              <a:t>, </a:t>
            </a:r>
            <a:r>
              <a:rPr lang="en-IN" b="1" dirty="0" err="1">
                <a:solidFill>
                  <a:schemeClr val="tx1"/>
                </a:solidFill>
              </a:rPr>
              <a:t>july_items</a:t>
            </a:r>
            <a:r>
              <a:rPr lang="en-IN" b="1" dirty="0">
                <a:solidFill>
                  <a:schemeClr val="tx1"/>
                </a:solidFill>
              </a:rPr>
              <a:t>;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83179" y="6356350"/>
            <a:ext cx="8241476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34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237506"/>
            <a:ext cx="10515600" cy="7287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 smtClean="0"/>
              <a:t>Splitting Data</a:t>
            </a:r>
            <a:endParaRPr lang="en-IN" sz="400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855023"/>
            <a:ext cx="10515600" cy="5321940"/>
          </a:xfrm>
        </p:spPr>
        <p:txBody>
          <a:bodyPr>
            <a:normAutofit/>
          </a:bodyPr>
          <a:lstStyle/>
          <a:p>
            <a:r>
              <a:rPr lang="en-IN" sz="1800" b="1" dirty="0" smtClean="0"/>
              <a:t>Sometimes we need to split a data set into multiple relations</a:t>
            </a:r>
            <a:endParaRPr lang="en-IN" sz="1800" b="1" dirty="0"/>
          </a:p>
          <a:p>
            <a:pPr marL="0" indent="0">
              <a:buNone/>
            </a:pPr>
            <a:r>
              <a:rPr lang="en-IN" sz="1800" dirty="0" smtClean="0"/>
              <a:t>   – Server logs by date range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– Customer lists by region</a:t>
            </a: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– Product lists by vendor</a:t>
            </a:r>
            <a:endParaRPr lang="en-IN" sz="1800" dirty="0"/>
          </a:p>
          <a:p>
            <a:r>
              <a:rPr lang="en-IN" sz="1800" b="1" dirty="0" smtClean="0"/>
              <a:t>Pig Latin supports this with the SPLIT operator</a:t>
            </a:r>
          </a:p>
          <a:p>
            <a:endParaRPr lang="en-IN" sz="1800" b="1" dirty="0"/>
          </a:p>
          <a:p>
            <a:endParaRPr lang="en-IN" sz="1800" b="1" dirty="0" smtClean="0"/>
          </a:p>
          <a:p>
            <a:endParaRPr lang="en-IN" sz="1800" b="1" dirty="0"/>
          </a:p>
          <a:p>
            <a:pPr marL="0" indent="0">
              <a:buNone/>
            </a:pPr>
            <a:endParaRPr lang="en-IN" sz="1800" dirty="0" smtClean="0"/>
          </a:p>
          <a:p>
            <a:pPr marL="0" indent="0">
              <a:buNone/>
            </a:pPr>
            <a:r>
              <a:rPr lang="en-IN" sz="1800" dirty="0" smtClean="0"/>
              <a:t>– Expressions need not be mutually exclusive</a:t>
            </a:r>
            <a:endParaRPr lang="en-IN" sz="1800" b="1" dirty="0" smtClean="0"/>
          </a:p>
          <a:p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08810" y="6356350"/>
            <a:ext cx="8134598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1151906" y="2731326"/>
            <a:ext cx="6377050" cy="12944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>
                <a:solidFill>
                  <a:schemeClr val="tx1"/>
                </a:solidFill>
              </a:rPr>
              <a:t>SPLIT relation INTO relationA IF expression1,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relationB IF  expression2,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relationC IF expression3,……; 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275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06878"/>
            <a:ext cx="10515600" cy="63378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Pig </a:t>
            </a:r>
            <a:r>
              <a:rPr lang="en-IN" b="1" dirty="0"/>
              <a:t>UDF’s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38200" y="740662"/>
            <a:ext cx="10515600" cy="543630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IN" sz="1800" dirty="0" smtClean="0"/>
          </a:p>
          <a:p>
            <a:pPr>
              <a:lnSpc>
                <a:spcPct val="100000"/>
              </a:lnSpc>
            </a:pPr>
            <a:r>
              <a:rPr lang="en-GB" sz="1800" dirty="0"/>
              <a:t>Pig provides extensive support for user-defined functions (UDFs) as a way to specify custom processing. Functions can be a part of almost every operator in </a:t>
            </a:r>
            <a:r>
              <a:rPr lang="en-GB" sz="1800" dirty="0" smtClean="0"/>
              <a:t>Pig.</a:t>
            </a:r>
            <a:endParaRPr lang="en-GB" sz="1800" dirty="0"/>
          </a:p>
          <a:p>
            <a:pPr>
              <a:lnSpc>
                <a:spcPct val="100000"/>
              </a:lnSpc>
            </a:pPr>
            <a:r>
              <a:rPr lang="en-GB" sz="1800" dirty="0"/>
              <a:t>All UDF’s are case </a:t>
            </a:r>
            <a:r>
              <a:rPr lang="en-GB" sz="1800" dirty="0" smtClean="0"/>
              <a:t>sensitive.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UDF: </a:t>
            </a:r>
            <a:r>
              <a:rPr lang="en-US" sz="1800" dirty="0" smtClean="0"/>
              <a:t>Types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</a:t>
            </a:r>
            <a:r>
              <a:rPr lang="en-US" sz="1800" dirty="0" smtClean="0"/>
              <a:t>    - </a:t>
            </a:r>
            <a:r>
              <a:rPr lang="en-US" sz="1800" dirty="0" err="1" smtClean="0"/>
              <a:t>Eval</a:t>
            </a:r>
            <a:r>
              <a:rPr lang="en-US" sz="1800" dirty="0" smtClean="0"/>
              <a:t> Functions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smtClean="0"/>
              <a:t>     - Filter Functions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smtClean="0"/>
              <a:t>     -  Load Functions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smtClean="0"/>
              <a:t>     - Store Functions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1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10087099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276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66255"/>
            <a:ext cx="10515600" cy="66940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Pig UDF’s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835664"/>
            <a:ext cx="10515600" cy="53412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b="1" dirty="0" err="1" smtClean="0"/>
              <a:t>Eval</a:t>
            </a:r>
            <a:r>
              <a:rPr lang="en-IN" sz="1800" b="1" dirty="0" smtClean="0"/>
              <a:t> </a:t>
            </a:r>
            <a:r>
              <a:rPr lang="en-IN" sz="1800" b="1" dirty="0" err="1" smtClean="0"/>
              <a:t>Func</a:t>
            </a:r>
            <a:r>
              <a:rPr lang="en-IN" sz="1800" b="1" dirty="0" smtClean="0"/>
              <a:t>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 smtClean="0"/>
              <a:t>All </a:t>
            </a:r>
            <a:r>
              <a:rPr lang="en-IN" sz="1800" dirty="0"/>
              <a:t>evaluation functions extend the Java class </a:t>
            </a:r>
            <a:r>
              <a:rPr lang="en-IN" sz="1800" dirty="0" err="1"/>
              <a:t>org.apache.pig.EvalFunc</a:t>
            </a:r>
            <a:r>
              <a:rPr lang="en-IN" sz="1800" dirty="0"/>
              <a:t> . This class uses Java generics. It is parameterized by the return type of your UDF. The core method in this class is exec . It takes one record and returns one result, which will be invoked for every record that passes through your execution pipeline. As input it takes a tuple, which contains all of the fields the script passes to your UDF. It returns the type by which you parameterized </a:t>
            </a:r>
            <a:r>
              <a:rPr lang="en-IN" sz="1800" dirty="0" err="1"/>
              <a:t>EvalFunc</a:t>
            </a:r>
            <a:r>
              <a:rPr lang="en-IN" sz="1800" dirty="0"/>
              <a:t> </a:t>
            </a:r>
            <a:r>
              <a:rPr lang="en-IN" sz="1800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 smtClean="0"/>
              <a:t>                 </a:t>
            </a:r>
            <a:r>
              <a:rPr lang="en-GB" sz="1800" b="1" dirty="0" smtClean="0"/>
              <a:t>Ex</a:t>
            </a:r>
            <a:r>
              <a:rPr lang="en-GB" sz="1800" b="1" dirty="0"/>
              <a:t>: </a:t>
            </a:r>
            <a:r>
              <a:rPr lang="en-GB" sz="1800" b="1" dirty="0" err="1"/>
              <a:t>StringConcat</a:t>
            </a:r>
            <a:r>
              <a:rPr lang="en-GB" sz="1800" b="1" dirty="0"/>
              <a:t> (built-in) </a:t>
            </a:r>
            <a:endParaRPr lang="en-GB" sz="18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 smtClean="0"/>
              <a:t>Generates </a:t>
            </a:r>
            <a:r>
              <a:rPr lang="en-GB" sz="1800" dirty="0"/>
              <a:t>the concatenation of the first </a:t>
            </a:r>
            <a:r>
              <a:rPr lang="en-GB" sz="1800" dirty="0" smtClean="0"/>
              <a:t>two fields </a:t>
            </a:r>
            <a:r>
              <a:rPr lang="en-GB" sz="1800" dirty="0"/>
              <a:t>of a tuple</a:t>
            </a:r>
            <a:endParaRPr lang="en-IN" sz="1800" dirty="0" smtClean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64425" y="6356350"/>
            <a:ext cx="8182099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937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06878"/>
            <a:ext cx="10515600" cy="53878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Pig UDF’s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807522"/>
            <a:ext cx="10515600" cy="53694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1800" b="1" dirty="0" smtClean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b="1" dirty="0" smtClean="0"/>
              <a:t>Filter </a:t>
            </a:r>
            <a:r>
              <a:rPr lang="en-US" sz="1800" b="1" dirty="0" err="1" smtClean="0"/>
              <a:t>Func</a:t>
            </a:r>
            <a:r>
              <a:rPr lang="en-US" sz="1800" b="1" dirty="0" smtClean="0"/>
              <a:t>:</a:t>
            </a:r>
            <a:endParaRPr lang="en-US" sz="18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Filter UDFs </a:t>
            </a:r>
            <a:r>
              <a:rPr lang="en-IN" sz="1800" dirty="0" smtClean="0"/>
              <a:t>are </a:t>
            </a:r>
            <a:r>
              <a:rPr lang="en-IN" sz="1800" dirty="0"/>
              <a:t>all subclasses of </a:t>
            </a:r>
            <a:r>
              <a:rPr lang="en-IN" sz="1800" dirty="0" err="1"/>
              <a:t>FilterFunc</a:t>
            </a:r>
            <a:r>
              <a:rPr lang="en-IN" sz="1800" dirty="0"/>
              <a:t> , which itself is a subclass of </a:t>
            </a:r>
            <a:r>
              <a:rPr lang="en-IN" sz="1800" dirty="0" err="1" smtClean="0"/>
              <a:t>EvalFunc</a:t>
            </a:r>
            <a:r>
              <a:rPr lang="en-IN" sz="1800" dirty="0" smtClean="0"/>
              <a:t>.</a:t>
            </a:r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      </a:t>
            </a:r>
            <a:r>
              <a:rPr lang="en-GB" sz="1800" b="1" dirty="0"/>
              <a:t>Ex: </a:t>
            </a:r>
            <a:r>
              <a:rPr lang="en-GB" sz="1800" b="1" dirty="0" err="1"/>
              <a:t>IsEmpty</a:t>
            </a:r>
            <a:r>
              <a:rPr lang="en-GB" sz="1800" b="1" dirty="0"/>
              <a:t> (built-in</a:t>
            </a:r>
            <a:r>
              <a:rPr lang="en-GB" sz="1800" b="1" dirty="0" smtClean="0"/>
              <a:t>)</a:t>
            </a:r>
          </a:p>
          <a:p>
            <a:pPr marL="342900" lvl="1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1800" b="1" dirty="0"/>
              <a:t>Load </a:t>
            </a:r>
            <a:r>
              <a:rPr lang="en-US" sz="1800" b="1" dirty="0" smtClean="0"/>
              <a:t>and Store </a:t>
            </a:r>
            <a:r>
              <a:rPr lang="en-US" sz="1800" b="1" dirty="0" err="1" smtClean="0"/>
              <a:t>Func</a:t>
            </a:r>
            <a:r>
              <a:rPr lang="en-US" sz="1800" b="1" dirty="0"/>
              <a:t>:</a:t>
            </a:r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IN" sz="1800" dirty="0" smtClean="0"/>
              <a:t>In </a:t>
            </a:r>
            <a:r>
              <a:rPr lang="en-IN" sz="1800" dirty="0"/>
              <a:t>Pig, like in Hadoop, data loading takes place before the mapper runs, so it is important that the input can be split into portions that are handled independently by each </a:t>
            </a:r>
            <a:r>
              <a:rPr lang="en-IN" sz="1800" dirty="0" smtClean="0"/>
              <a:t>mapper. From </a:t>
            </a:r>
            <a:r>
              <a:rPr lang="en-IN" sz="1800" dirty="0"/>
              <a:t>Pig 0.7.0, the load and store function interfaces have been overhauled to be more closely aligned with Hadoop’s </a:t>
            </a:r>
            <a:r>
              <a:rPr lang="en-IN" sz="1800" dirty="0" smtClean="0"/>
              <a:t>Input Format  </a:t>
            </a:r>
            <a:r>
              <a:rPr lang="en-IN" sz="1800" dirty="0"/>
              <a:t>and </a:t>
            </a:r>
            <a:r>
              <a:rPr lang="en-IN" sz="1800" dirty="0" smtClean="0"/>
              <a:t>Output Format  </a:t>
            </a:r>
            <a:r>
              <a:rPr lang="en-IN" sz="1800" dirty="0"/>
              <a:t>classes</a:t>
            </a:r>
            <a:r>
              <a:rPr lang="en-IN" sz="1800" dirty="0" smtClean="0"/>
              <a:t>.</a:t>
            </a:r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    </a:t>
            </a:r>
            <a:r>
              <a:rPr lang="en-GB" sz="1800" b="1" dirty="0"/>
              <a:t>Ex: </a:t>
            </a:r>
            <a:r>
              <a:rPr lang="en-GB" sz="1800" b="1" dirty="0" err="1"/>
              <a:t>PigStorage</a:t>
            </a:r>
            <a:r>
              <a:rPr lang="en-GB" sz="1800" b="1" dirty="0"/>
              <a:t> (built-in)</a:t>
            </a:r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endParaRPr lang="en-GB" sz="1800" dirty="0" smtClean="0"/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endParaRPr lang="en-GB" sz="1800" b="1" dirty="0"/>
          </a:p>
          <a:p>
            <a:pPr marL="0" indent="0">
              <a:lnSpc>
                <a:spcPct val="100000"/>
              </a:lnSpc>
              <a:buNone/>
            </a:pPr>
            <a:endParaRPr lang="en-IN" sz="1800" dirty="0" smtClean="0"/>
          </a:p>
          <a:p>
            <a:pPr marL="0" indent="0">
              <a:lnSpc>
                <a:spcPct val="100000"/>
              </a:lnSpc>
              <a:buNone/>
            </a:pPr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33797" y="6356350"/>
            <a:ext cx="8918369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912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02574" y="130629"/>
            <a:ext cx="10515600" cy="57440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Pig UDF’s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574407"/>
            <a:ext cx="10515600" cy="560255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Ex:</a:t>
            </a:r>
            <a:r>
              <a:rPr lang="en-IN" dirty="0" smtClean="0"/>
              <a:t> </a:t>
            </a:r>
            <a:r>
              <a:rPr lang="en-IN" dirty="0"/>
              <a:t>implementation of the UPPER </a:t>
            </a:r>
            <a:r>
              <a:rPr lang="en-IN" dirty="0" smtClean="0"/>
              <a:t>UDF</a:t>
            </a:r>
          </a:p>
          <a:p>
            <a:pPr marL="0" indent="0">
              <a:buNone/>
            </a:pPr>
            <a:r>
              <a:rPr lang="en-IN" dirty="0" smtClean="0"/>
              <a:t>package </a:t>
            </a:r>
            <a:r>
              <a:rPr lang="en-IN" dirty="0" err="1"/>
              <a:t>myudfs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smtClean="0"/>
              <a:t>  </a:t>
            </a:r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smtClean="0"/>
              <a:t>  </a:t>
            </a:r>
            <a:r>
              <a:rPr lang="en-IN" dirty="0"/>
              <a:t>import </a:t>
            </a:r>
            <a:r>
              <a:rPr lang="en-IN" dirty="0" err="1"/>
              <a:t>org.apache.pig.EvalFunc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smtClean="0"/>
              <a:t>  </a:t>
            </a:r>
            <a:r>
              <a:rPr lang="en-IN" dirty="0"/>
              <a:t>import </a:t>
            </a:r>
            <a:r>
              <a:rPr lang="en-IN" dirty="0" err="1"/>
              <a:t>org.apache.pig.data.Tuple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smtClean="0"/>
              <a:t>  </a:t>
            </a:r>
            <a:r>
              <a:rPr lang="en-IN" dirty="0"/>
              <a:t>public class UPPER extends </a:t>
            </a:r>
            <a:r>
              <a:rPr lang="en-IN" dirty="0" err="1"/>
              <a:t>EvalFunc</a:t>
            </a:r>
            <a:r>
              <a:rPr lang="en-IN" dirty="0"/>
              <a:t>&lt;String&gt;</a:t>
            </a:r>
          </a:p>
          <a:p>
            <a:pPr marL="0" indent="0">
              <a:buNone/>
            </a:pPr>
            <a:r>
              <a:rPr lang="en-IN" dirty="0" smtClean="0"/>
              <a:t>  </a:t>
            </a: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/>
              <a:t>public String exec(Tuple input) throws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/>
              <a:t>if (input == null || </a:t>
            </a:r>
            <a:r>
              <a:rPr lang="en-IN" dirty="0" err="1"/>
              <a:t>input.size</a:t>
            </a:r>
            <a:r>
              <a:rPr lang="en-IN" dirty="0"/>
              <a:t>() == 0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/>
              <a:t>return null;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/>
              <a:t>try{</a:t>
            </a:r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/>
              <a:t>String </a:t>
            </a:r>
            <a:r>
              <a:rPr lang="en-IN" dirty="0" err="1"/>
              <a:t>str</a:t>
            </a:r>
            <a:r>
              <a:rPr lang="en-IN" dirty="0"/>
              <a:t> = (String)</a:t>
            </a:r>
            <a:r>
              <a:rPr lang="en-IN" dirty="0" err="1"/>
              <a:t>input.get</a:t>
            </a:r>
            <a:r>
              <a:rPr lang="en-IN" dirty="0"/>
              <a:t>(0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r>
              <a:rPr lang="en-IN" dirty="0" smtClean="0"/>
              <a:t>           </a:t>
            </a:r>
            <a:r>
              <a:rPr lang="en-IN" dirty="0"/>
              <a:t>return </a:t>
            </a:r>
            <a:r>
              <a:rPr lang="en-IN" dirty="0" err="1"/>
              <a:t>str.toUpperCase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/>
              <a:t>}catch(Exception e</a:t>
            </a:r>
            <a:r>
              <a:rPr lang="en-IN" dirty="0" smtClean="0"/>
              <a:t>){</a:t>
            </a:r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/>
              <a:t>throw new </a:t>
            </a:r>
            <a:r>
              <a:rPr lang="en-IN" dirty="0" err="1"/>
              <a:t>IOException</a:t>
            </a:r>
            <a:r>
              <a:rPr lang="en-IN" dirty="0"/>
              <a:t>("Caught exception processing input row ", e);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234545" y="1508166"/>
            <a:ext cx="5119256" cy="2185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GRUNT&gt;REGISTER </a:t>
            </a:r>
            <a:r>
              <a:rPr lang="en-IN" dirty="0">
                <a:solidFill>
                  <a:schemeClr val="tx1"/>
                </a:solidFill>
              </a:rPr>
              <a:t>myudfs.jar;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A = LOAD '</a:t>
            </a:r>
            <a:r>
              <a:rPr lang="en-IN" dirty="0" err="1">
                <a:solidFill>
                  <a:schemeClr val="tx1"/>
                </a:solidFill>
              </a:rPr>
              <a:t>student_data</a:t>
            </a:r>
            <a:r>
              <a:rPr lang="en-IN" dirty="0">
                <a:solidFill>
                  <a:schemeClr val="tx1"/>
                </a:solidFill>
              </a:rPr>
              <a:t>' AS (name: </a:t>
            </a:r>
            <a:r>
              <a:rPr lang="en-IN" dirty="0" err="1">
                <a:solidFill>
                  <a:schemeClr val="tx1"/>
                </a:solidFill>
              </a:rPr>
              <a:t>chararray</a:t>
            </a:r>
            <a:r>
              <a:rPr lang="en-IN" dirty="0">
                <a:solidFill>
                  <a:schemeClr val="tx1"/>
                </a:solidFill>
              </a:rPr>
              <a:t>, </a:t>
            </a:r>
            <a:endParaRPr lang="en-IN" dirty="0" smtClean="0">
              <a:solidFill>
                <a:schemeClr val="tx1"/>
              </a:solidFill>
            </a:endParaRPr>
          </a:p>
          <a:p>
            <a:pPr algn="ctr"/>
            <a:r>
              <a:rPr lang="en-IN" dirty="0" smtClean="0">
                <a:solidFill>
                  <a:schemeClr val="tx1"/>
                </a:solidFill>
              </a:rPr>
              <a:t>age</a:t>
            </a:r>
            <a:r>
              <a:rPr lang="en-IN" dirty="0">
                <a:solidFill>
                  <a:schemeClr val="tx1"/>
                </a:solidFill>
              </a:rPr>
              <a:t>: </a:t>
            </a:r>
            <a:r>
              <a:rPr lang="en-IN" dirty="0" err="1">
                <a:solidFill>
                  <a:schemeClr val="tx1"/>
                </a:solidFill>
              </a:rPr>
              <a:t>int</a:t>
            </a:r>
            <a:r>
              <a:rPr lang="en-IN" dirty="0">
                <a:solidFill>
                  <a:schemeClr val="tx1"/>
                </a:solidFill>
              </a:rPr>
              <a:t>, </a:t>
            </a:r>
            <a:r>
              <a:rPr lang="en-IN" dirty="0" err="1" smtClean="0">
                <a:solidFill>
                  <a:schemeClr val="tx1"/>
                </a:solidFill>
              </a:rPr>
              <a:t>gpa</a:t>
            </a:r>
            <a:r>
              <a:rPr lang="en-IN" dirty="0">
                <a:solidFill>
                  <a:schemeClr val="tx1"/>
                </a:solidFill>
              </a:rPr>
              <a:t>: float);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B = FOREACH A GENERATE </a:t>
            </a:r>
            <a:r>
              <a:rPr lang="en-IN" b="1" dirty="0" err="1">
                <a:solidFill>
                  <a:schemeClr val="tx1"/>
                </a:solidFill>
              </a:rPr>
              <a:t>myudfs.UPPER</a:t>
            </a:r>
            <a:r>
              <a:rPr lang="en-IN" b="1" dirty="0">
                <a:solidFill>
                  <a:schemeClr val="tx1"/>
                </a:solidFill>
              </a:rPr>
              <a:t>(name</a:t>
            </a:r>
            <a:r>
              <a:rPr lang="en-IN" b="1" dirty="0" smtClean="0">
                <a:solidFill>
                  <a:schemeClr val="tx1"/>
                </a:solidFill>
              </a:rPr>
              <a:t>)</a:t>
            </a:r>
            <a:r>
              <a:rPr lang="en-IN" dirty="0" smtClean="0">
                <a:solidFill>
                  <a:schemeClr val="tx1"/>
                </a:solidFill>
              </a:rPr>
              <a:t>;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 smtClean="0">
                <a:solidFill>
                  <a:schemeClr val="tx1"/>
                </a:solidFill>
              </a:rPr>
              <a:t>DUMP </a:t>
            </a:r>
            <a:r>
              <a:rPr lang="en-IN" dirty="0">
                <a:solidFill>
                  <a:schemeClr val="tx1"/>
                </a:solidFill>
              </a:rPr>
              <a:t>B;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81299" y="6356350"/>
            <a:ext cx="8205849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799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66254"/>
            <a:ext cx="10515600" cy="63378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Tuning </a:t>
            </a:r>
            <a:r>
              <a:rPr lang="en-IN" b="1" dirty="0"/>
              <a:t>Pig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800038"/>
            <a:ext cx="10515600" cy="53769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/>
              <a:t>Project Early and Often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Filter Early and Often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Reduce Your Operator Pipeline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Make Your UDFs Algebraic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Use the Accumulator Interface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Drop Nulls Before a Join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330035" y="6356350"/>
            <a:ext cx="9203377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602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66254"/>
            <a:ext cx="10515600" cy="63378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Tuning </a:t>
            </a:r>
            <a:r>
              <a:rPr lang="en-IN" b="1" dirty="0"/>
              <a:t>Pig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800038"/>
            <a:ext cx="10515600" cy="53769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/>
              <a:t>Take Advantage of Join Optimizations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Use the Parallel Features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Use the LIMIT Operator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Prefer DISTINCT over GROUP BY/GENERATE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Compress the Results of Intermediate Jobs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Combine Small Input Files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330035" y="6356350"/>
            <a:ext cx="9203377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547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 smtClean="0"/>
              <a:t>SUMMARY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sz="1800" dirty="0" smtClean="0"/>
              <a:t>Pig is a </a:t>
            </a:r>
            <a:r>
              <a:rPr lang="en-IN" sz="1800" dirty="0"/>
              <a:t>data flow language and execution environment for exploring very large datasets. </a:t>
            </a:r>
            <a:endParaRPr lang="en-IN" sz="1800" dirty="0" smtClean="0"/>
          </a:p>
          <a:p>
            <a:pPr>
              <a:lnSpc>
                <a:spcPct val="150000"/>
              </a:lnSpc>
            </a:pPr>
            <a:r>
              <a:rPr lang="en-IN" sz="1800" dirty="0" smtClean="0"/>
              <a:t>Pig </a:t>
            </a:r>
            <a:r>
              <a:rPr lang="en-IN" sz="1800" dirty="0"/>
              <a:t>runs on HDFS and MapReduce clusters</a:t>
            </a:r>
            <a:r>
              <a:rPr lang="en-IN" sz="1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Using </a:t>
            </a:r>
            <a:r>
              <a:rPr lang="en-IN" sz="1800" b="1" dirty="0"/>
              <a:t>Pig Latin</a:t>
            </a:r>
            <a:r>
              <a:rPr lang="en-IN" sz="1800" dirty="0"/>
              <a:t>, programmers can perform MapReduce tasks easily without having to type complex codes in </a:t>
            </a:r>
            <a:r>
              <a:rPr lang="en-IN" sz="1800" dirty="0" smtClean="0"/>
              <a:t>Java.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Apache Pig provides many built-in operators to support data operations like joins, filters, ordering, etc. In addition, it also provides </a:t>
            </a:r>
            <a:r>
              <a:rPr lang="en-IN" sz="1800" dirty="0" smtClean="0"/>
              <a:t>nested </a:t>
            </a:r>
            <a:r>
              <a:rPr lang="en-IN" sz="1800" dirty="0"/>
              <a:t>data types like tuples, bags, and maps that are missing from MapReduce</a:t>
            </a:r>
            <a:r>
              <a:rPr lang="en-IN" sz="1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Apache Pig analyzes all kinds of data, both structured as well as unstructured. It stores the results in HDFS</a:t>
            </a:r>
            <a:r>
              <a:rPr lang="en-IN" sz="1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The tasks in Apache Pig optimize their execution automatically, so the programmers need to focus only on semantics of the language.</a:t>
            </a:r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83179" y="6356350"/>
            <a:ext cx="8312727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8438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078182" y="6356350"/>
            <a:ext cx="7528956" cy="365125"/>
          </a:xfrm>
        </p:spPr>
        <p:txBody>
          <a:bodyPr/>
          <a:lstStyle/>
          <a:p>
            <a:r>
              <a:rPr lang="en-IN" dirty="0" smtClean="0"/>
              <a:t>Copyright © 2016 Accenture All Rights Reserved. Confidential -For Company Internal Use Only.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27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08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267</TotalTime>
  <Words>3164</Words>
  <Application>Microsoft Office PowerPoint</Application>
  <PresentationFormat>Widescreen</PresentationFormat>
  <Paragraphs>515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宋体</vt:lpstr>
      <vt:lpstr>Arial</vt:lpstr>
      <vt:lpstr>Calibri</vt:lpstr>
      <vt:lpstr>Calibri Light</vt:lpstr>
      <vt:lpstr>Century Gothic</vt:lpstr>
      <vt:lpstr>Wingdings</vt:lpstr>
      <vt:lpstr>Office Theme</vt:lpstr>
      <vt:lpstr>PIG,a Data Flow Engine</vt:lpstr>
      <vt:lpstr>Objectives</vt:lpstr>
      <vt:lpstr>                                  Agenda</vt:lpstr>
      <vt:lpstr>                     Apache Pig Overview</vt:lpstr>
      <vt:lpstr>                 Pig Features</vt:lpstr>
      <vt:lpstr>                       Pig Execution Modes</vt:lpstr>
      <vt:lpstr>                                          Pig Latin  </vt:lpstr>
      <vt:lpstr>                                 Pig Latin</vt:lpstr>
      <vt:lpstr>Pig v/s SQL</vt:lpstr>
      <vt:lpstr> Data types </vt:lpstr>
      <vt:lpstr> Data types </vt:lpstr>
      <vt:lpstr> Data types </vt:lpstr>
      <vt:lpstr>Data types</vt:lpstr>
      <vt:lpstr> Load &amp; Store operators  </vt:lpstr>
      <vt:lpstr> Load &amp; Store operators  </vt:lpstr>
      <vt:lpstr> Grouping &amp; Joining </vt:lpstr>
      <vt:lpstr> Grouping &amp; Joining </vt:lpstr>
      <vt:lpstr> Grouping &amp; Joining </vt:lpstr>
      <vt:lpstr> Grouping &amp; Joining </vt:lpstr>
      <vt:lpstr> Grouping &amp; Joining </vt:lpstr>
      <vt:lpstr> Grouping &amp; Joining </vt:lpstr>
      <vt:lpstr> Grouping &amp; Joining </vt:lpstr>
      <vt:lpstr>Filtering</vt:lpstr>
      <vt:lpstr>Sorting</vt:lpstr>
      <vt:lpstr>Set Operations</vt:lpstr>
      <vt:lpstr>Set Operations</vt:lpstr>
      <vt:lpstr>Splitting Data</vt:lpstr>
      <vt:lpstr> Pig UDF’s </vt:lpstr>
      <vt:lpstr> Pig UDF’s </vt:lpstr>
      <vt:lpstr> Pig UDF’s </vt:lpstr>
      <vt:lpstr> Pig UDF’s </vt:lpstr>
      <vt:lpstr> Tuning Pig </vt:lpstr>
      <vt:lpstr> Tuning Pig </vt:lpstr>
      <vt:lpstr>SUMMARY</vt:lpstr>
      <vt:lpstr>PowerPoint Presentation</vt:lpstr>
    </vt:vector>
  </TitlesOfParts>
  <Company>Accenture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PIG,a Data Flow Engine</dc:title>
  <dc:creator>Karunakar Gandham</dc:creator>
  <cp:lastModifiedBy>Karunakar Gandham</cp:lastModifiedBy>
  <cp:revision>287</cp:revision>
  <dcterms:created xsi:type="dcterms:W3CDTF">2016-01-21T10:43:39Z</dcterms:created>
  <dcterms:modified xsi:type="dcterms:W3CDTF">2016-02-11T12:17:50Z</dcterms:modified>
</cp:coreProperties>
</file>