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98" r:id="rId1"/>
  </p:sldMasterIdLst>
  <p:notesMasterIdLst>
    <p:notesMasterId r:id="rId23"/>
  </p:notesMasterIdLst>
  <p:handoutMasterIdLst>
    <p:handoutMasterId r:id="rId24"/>
  </p:handoutMasterIdLst>
  <p:sldIdLst>
    <p:sldId id="256" r:id="rId2"/>
    <p:sldId id="257" r:id="rId3"/>
    <p:sldId id="258" r:id="rId4"/>
    <p:sldId id="259" r:id="rId5"/>
    <p:sldId id="262"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96" y="5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8A3C69-7C30-4ACC-B845-FF311115F66A}" type="datetimeFigureOut">
              <a:rPr lang="en-IN" smtClean="0"/>
              <a:t>11-02-2016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E96E21-417B-41E2-9FC2-80976FB69F15}" type="slidenum">
              <a:rPr lang="en-IN" smtClean="0"/>
              <a:t>‹#›</a:t>
            </a:fld>
            <a:endParaRPr lang="en-IN"/>
          </a:p>
        </p:txBody>
      </p:sp>
    </p:spTree>
    <p:extLst>
      <p:ext uri="{BB962C8B-B14F-4D97-AF65-F5344CB8AC3E}">
        <p14:creationId xmlns:p14="http://schemas.microsoft.com/office/powerpoint/2010/main" val="1693486907"/>
      </p:ext>
    </p:extLst>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117ADE-C011-4F5E-A97D-4FDA9437582D}" type="datetimeFigureOut">
              <a:rPr lang="en-IN" smtClean="0"/>
              <a:t>11-02-2016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8C3A1B-0FED-450E-AE30-6626DBED5A09}" type="slidenum">
              <a:rPr lang="en-IN" smtClean="0"/>
              <a:t>‹#›</a:t>
            </a:fld>
            <a:endParaRPr lang="en-IN"/>
          </a:p>
        </p:txBody>
      </p:sp>
    </p:spTree>
    <p:extLst>
      <p:ext uri="{BB962C8B-B14F-4D97-AF65-F5344CB8AC3E}">
        <p14:creationId xmlns:p14="http://schemas.microsoft.com/office/powerpoint/2010/main" val="1129911530"/>
      </p:ext>
    </p:extLst>
  </p:cSld>
  <p:clrMap bg1="lt1" tx1="dk1" bg2="lt2" tx2="dk2" accent1="accent1" accent2="accent2" accent3="accent3" accent4="accent4" accent5="accent5" accent6="accent6" hlink="hlink" folHlink="folHlink"/>
  <p:hf sldNum="0"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5" name="Footer Placeholder 4"/>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31011411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10"/>
          </p:nvPr>
        </p:nvSpPr>
        <p:spPr/>
        <p:txBody>
          <a:bodyPr/>
          <a:lstStyle/>
          <a:p>
            <a:endParaRPr lang="en-IN"/>
          </a:p>
        </p:txBody>
      </p:sp>
    </p:spTree>
    <p:extLst>
      <p:ext uri="{BB962C8B-B14F-4D97-AF65-F5344CB8AC3E}">
        <p14:creationId xmlns:p14="http://schemas.microsoft.com/office/powerpoint/2010/main" val="2116699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4F411FE-D10F-42BC-BEC2-6DEA48FBFC98}" type="datetime1">
              <a:rPr lang="en-IN" smtClean="0"/>
              <a:t>11-02-2016</a:t>
            </a:fld>
            <a:endParaRPr lang="en-IN"/>
          </a:p>
        </p:txBody>
      </p:sp>
      <p:sp>
        <p:nvSpPr>
          <p:cNvPr id="5" name="Footer Placeholder 4"/>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6" name="Slide Number Placeholder 5"/>
          <p:cNvSpPr>
            <a:spLocks noGrp="1"/>
          </p:cNvSpPr>
          <p:nvPr>
            <p:ph type="sldNum" sz="quarter" idx="12"/>
          </p:nvPr>
        </p:nvSpPr>
        <p:spPr/>
        <p:txBody>
          <a:bodyPr/>
          <a:lstStyle/>
          <a:p>
            <a:fld id="{CAE22CAB-DB69-4E13-A9B4-4B0C1BB9167C}" type="slidenum">
              <a:rPr lang="en-IN" smtClean="0"/>
              <a:t>‹#›</a:t>
            </a:fld>
            <a:endParaRPr lang="en-IN"/>
          </a:p>
        </p:txBody>
      </p:sp>
    </p:spTree>
    <p:extLst>
      <p:ext uri="{BB962C8B-B14F-4D97-AF65-F5344CB8AC3E}">
        <p14:creationId xmlns:p14="http://schemas.microsoft.com/office/powerpoint/2010/main" val="354132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CFADAFA-0447-4294-BFC9-453433455ED2}" type="datetime1">
              <a:rPr lang="en-IN" smtClean="0"/>
              <a:t>11-02-2016</a:t>
            </a:fld>
            <a:endParaRPr lang="en-IN"/>
          </a:p>
        </p:txBody>
      </p:sp>
      <p:sp>
        <p:nvSpPr>
          <p:cNvPr id="5" name="Footer Placeholder 4"/>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6" name="Slide Number Placeholder 5"/>
          <p:cNvSpPr>
            <a:spLocks noGrp="1"/>
          </p:cNvSpPr>
          <p:nvPr>
            <p:ph type="sldNum" sz="quarter" idx="12"/>
          </p:nvPr>
        </p:nvSpPr>
        <p:spPr/>
        <p:txBody>
          <a:bodyPr/>
          <a:lstStyle/>
          <a:p>
            <a:fld id="{CAE22CAB-DB69-4E13-A9B4-4B0C1BB9167C}" type="slidenum">
              <a:rPr lang="en-IN" smtClean="0"/>
              <a:t>‹#›</a:t>
            </a:fld>
            <a:endParaRPr lang="en-IN"/>
          </a:p>
        </p:txBody>
      </p:sp>
    </p:spTree>
    <p:extLst>
      <p:ext uri="{BB962C8B-B14F-4D97-AF65-F5344CB8AC3E}">
        <p14:creationId xmlns:p14="http://schemas.microsoft.com/office/powerpoint/2010/main" val="1555917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F69A9BB-A321-4943-B23F-DD4C36E3A8BF}" type="datetime1">
              <a:rPr lang="en-IN" smtClean="0"/>
              <a:t>11-02-2016</a:t>
            </a:fld>
            <a:endParaRPr lang="en-IN"/>
          </a:p>
        </p:txBody>
      </p:sp>
      <p:sp>
        <p:nvSpPr>
          <p:cNvPr id="5" name="Footer Placeholder 4"/>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6" name="Slide Number Placeholder 5"/>
          <p:cNvSpPr>
            <a:spLocks noGrp="1"/>
          </p:cNvSpPr>
          <p:nvPr>
            <p:ph type="sldNum" sz="quarter" idx="12"/>
          </p:nvPr>
        </p:nvSpPr>
        <p:spPr/>
        <p:txBody>
          <a:bodyPr/>
          <a:lstStyle/>
          <a:p>
            <a:fld id="{CAE22CAB-DB69-4E13-A9B4-4B0C1BB9167C}" type="slidenum">
              <a:rPr lang="en-IN" smtClean="0"/>
              <a:t>‹#›</a:t>
            </a:fld>
            <a:endParaRPr lang="en-IN"/>
          </a:p>
        </p:txBody>
      </p:sp>
    </p:spTree>
    <p:extLst>
      <p:ext uri="{BB962C8B-B14F-4D97-AF65-F5344CB8AC3E}">
        <p14:creationId xmlns:p14="http://schemas.microsoft.com/office/powerpoint/2010/main" val="7719151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9EFEFED-A510-41AC-AD65-FEAB568DA5B8}" type="datetime1">
              <a:rPr lang="en-IN" smtClean="0"/>
              <a:t>11-02-2016</a:t>
            </a:fld>
            <a:endParaRPr lang="en-IN"/>
          </a:p>
        </p:txBody>
      </p:sp>
      <p:sp>
        <p:nvSpPr>
          <p:cNvPr id="6" name="Footer Placeholder 5"/>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7" name="Slide Number Placeholder 6"/>
          <p:cNvSpPr>
            <a:spLocks noGrp="1"/>
          </p:cNvSpPr>
          <p:nvPr>
            <p:ph type="sldNum" sz="quarter" idx="12"/>
          </p:nvPr>
        </p:nvSpPr>
        <p:spPr/>
        <p:txBody>
          <a:bodyPr/>
          <a:lstStyle/>
          <a:p>
            <a:fld id="{CAE22CAB-DB69-4E13-A9B4-4B0C1BB9167C}" type="slidenum">
              <a:rPr lang="en-IN" smtClean="0"/>
              <a:t>‹#›</a:t>
            </a:fld>
            <a:endParaRPr lang="en-IN"/>
          </a:p>
        </p:txBody>
      </p:sp>
    </p:spTree>
    <p:extLst>
      <p:ext uri="{BB962C8B-B14F-4D97-AF65-F5344CB8AC3E}">
        <p14:creationId xmlns:p14="http://schemas.microsoft.com/office/powerpoint/2010/main" val="3976820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255B346-E7E2-4F36-94ED-4CE3FFCA4562}" type="datetime1">
              <a:rPr lang="en-IN" smtClean="0"/>
              <a:t>11-02-2016</a:t>
            </a:fld>
            <a:endParaRPr lang="en-IN"/>
          </a:p>
        </p:txBody>
      </p:sp>
      <p:sp>
        <p:nvSpPr>
          <p:cNvPr id="8" name="Footer Placeholder 7"/>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9" name="Slide Number Placeholder 8"/>
          <p:cNvSpPr>
            <a:spLocks noGrp="1"/>
          </p:cNvSpPr>
          <p:nvPr>
            <p:ph type="sldNum" sz="quarter" idx="12"/>
          </p:nvPr>
        </p:nvSpPr>
        <p:spPr/>
        <p:txBody>
          <a:bodyPr/>
          <a:lstStyle/>
          <a:p>
            <a:fld id="{CAE22CAB-DB69-4E13-A9B4-4B0C1BB9167C}" type="slidenum">
              <a:rPr lang="en-IN" smtClean="0"/>
              <a:t>‹#›</a:t>
            </a:fld>
            <a:endParaRPr lang="en-IN"/>
          </a:p>
        </p:txBody>
      </p:sp>
    </p:spTree>
    <p:extLst>
      <p:ext uri="{BB962C8B-B14F-4D97-AF65-F5344CB8AC3E}">
        <p14:creationId xmlns:p14="http://schemas.microsoft.com/office/powerpoint/2010/main" val="2106837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273A562-4A0E-4013-880E-CD619BBB2B24}" type="datetime1">
              <a:rPr lang="en-IN" smtClean="0"/>
              <a:t>11-02-2016</a:t>
            </a:fld>
            <a:endParaRPr lang="en-IN"/>
          </a:p>
        </p:txBody>
      </p:sp>
      <p:sp>
        <p:nvSpPr>
          <p:cNvPr id="4" name="Footer Placeholder 3"/>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5" name="Slide Number Placeholder 4"/>
          <p:cNvSpPr>
            <a:spLocks noGrp="1"/>
          </p:cNvSpPr>
          <p:nvPr>
            <p:ph type="sldNum" sz="quarter" idx="12"/>
          </p:nvPr>
        </p:nvSpPr>
        <p:spPr/>
        <p:txBody>
          <a:bodyPr/>
          <a:lstStyle/>
          <a:p>
            <a:fld id="{CAE22CAB-DB69-4E13-A9B4-4B0C1BB9167C}" type="slidenum">
              <a:rPr lang="en-IN" smtClean="0"/>
              <a:t>‹#›</a:t>
            </a:fld>
            <a:endParaRPr lang="en-IN"/>
          </a:p>
        </p:txBody>
      </p:sp>
    </p:spTree>
    <p:extLst>
      <p:ext uri="{BB962C8B-B14F-4D97-AF65-F5344CB8AC3E}">
        <p14:creationId xmlns:p14="http://schemas.microsoft.com/office/powerpoint/2010/main" val="957668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FC2C2A-A9CE-4812-919C-5BA8CADE9600}" type="datetime1">
              <a:rPr lang="en-IN" smtClean="0"/>
              <a:t>11-02-2016</a:t>
            </a:fld>
            <a:endParaRPr lang="en-IN"/>
          </a:p>
        </p:txBody>
      </p:sp>
      <p:sp>
        <p:nvSpPr>
          <p:cNvPr id="3" name="Footer Placeholder 2"/>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4" name="Slide Number Placeholder 3"/>
          <p:cNvSpPr>
            <a:spLocks noGrp="1"/>
          </p:cNvSpPr>
          <p:nvPr>
            <p:ph type="sldNum" sz="quarter" idx="12"/>
          </p:nvPr>
        </p:nvSpPr>
        <p:spPr/>
        <p:txBody>
          <a:bodyPr/>
          <a:lstStyle/>
          <a:p>
            <a:fld id="{CAE22CAB-DB69-4E13-A9B4-4B0C1BB9167C}" type="slidenum">
              <a:rPr lang="en-IN" smtClean="0"/>
              <a:t>‹#›</a:t>
            </a:fld>
            <a:endParaRPr lang="en-IN"/>
          </a:p>
        </p:txBody>
      </p:sp>
    </p:spTree>
    <p:extLst>
      <p:ext uri="{BB962C8B-B14F-4D97-AF65-F5344CB8AC3E}">
        <p14:creationId xmlns:p14="http://schemas.microsoft.com/office/powerpoint/2010/main" val="548993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CD0CD10-B108-41B9-9FC2-937181ED7CEC}" type="datetime1">
              <a:rPr lang="en-IN" smtClean="0"/>
              <a:t>11-02-2016</a:t>
            </a:fld>
            <a:endParaRPr lang="en-IN"/>
          </a:p>
        </p:txBody>
      </p:sp>
      <p:sp>
        <p:nvSpPr>
          <p:cNvPr id="6" name="Footer Placeholder 5"/>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7" name="Slide Number Placeholder 6"/>
          <p:cNvSpPr>
            <a:spLocks noGrp="1"/>
          </p:cNvSpPr>
          <p:nvPr>
            <p:ph type="sldNum" sz="quarter" idx="12"/>
          </p:nvPr>
        </p:nvSpPr>
        <p:spPr/>
        <p:txBody>
          <a:bodyPr/>
          <a:lstStyle/>
          <a:p>
            <a:fld id="{CAE22CAB-DB69-4E13-A9B4-4B0C1BB9167C}" type="slidenum">
              <a:rPr lang="en-IN" smtClean="0"/>
              <a:t>‹#›</a:t>
            </a:fld>
            <a:endParaRPr lang="en-IN"/>
          </a:p>
        </p:txBody>
      </p:sp>
    </p:spTree>
    <p:extLst>
      <p:ext uri="{BB962C8B-B14F-4D97-AF65-F5344CB8AC3E}">
        <p14:creationId xmlns:p14="http://schemas.microsoft.com/office/powerpoint/2010/main" val="4220522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8330856-8A9A-4FA8-BE4E-02706C5AFC2D}" type="datetime1">
              <a:rPr lang="en-IN" smtClean="0"/>
              <a:t>11-02-2016</a:t>
            </a:fld>
            <a:endParaRPr lang="en-IN"/>
          </a:p>
        </p:txBody>
      </p:sp>
      <p:sp>
        <p:nvSpPr>
          <p:cNvPr id="6" name="Footer Placeholder 5"/>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7" name="Slide Number Placeholder 6"/>
          <p:cNvSpPr>
            <a:spLocks noGrp="1"/>
          </p:cNvSpPr>
          <p:nvPr>
            <p:ph type="sldNum" sz="quarter" idx="12"/>
          </p:nvPr>
        </p:nvSpPr>
        <p:spPr/>
        <p:txBody>
          <a:bodyPr/>
          <a:lstStyle/>
          <a:p>
            <a:fld id="{CAE22CAB-DB69-4E13-A9B4-4B0C1BB9167C}" type="slidenum">
              <a:rPr lang="en-IN" smtClean="0"/>
              <a:t>‹#›</a:t>
            </a:fld>
            <a:endParaRPr lang="en-IN"/>
          </a:p>
        </p:txBody>
      </p:sp>
    </p:spTree>
    <p:extLst>
      <p:ext uri="{BB962C8B-B14F-4D97-AF65-F5344CB8AC3E}">
        <p14:creationId xmlns:p14="http://schemas.microsoft.com/office/powerpoint/2010/main" val="5863011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36BE992-01DD-40DA-BF36-8B16DC7C8F71}" type="datetime1">
              <a:rPr lang="en-IN" smtClean="0"/>
              <a:t>11-02-2016</a:t>
            </a:fld>
            <a:endParaRPr lang="en-IN"/>
          </a:p>
        </p:txBody>
      </p:sp>
      <p:sp>
        <p:nvSpPr>
          <p:cNvPr id="5" name="Footer Placeholder 4"/>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6" name="Slide Number Placeholder 5"/>
          <p:cNvSpPr>
            <a:spLocks noGrp="1"/>
          </p:cNvSpPr>
          <p:nvPr>
            <p:ph type="sldNum" sz="quarter" idx="12"/>
          </p:nvPr>
        </p:nvSpPr>
        <p:spPr/>
        <p:txBody>
          <a:bodyPr/>
          <a:lstStyle/>
          <a:p>
            <a:fld id="{CAE22CAB-DB69-4E13-A9B4-4B0C1BB9167C}" type="slidenum">
              <a:rPr lang="en-IN" smtClean="0"/>
              <a:t>‹#›</a:t>
            </a:fld>
            <a:endParaRPr lang="en-IN"/>
          </a:p>
        </p:txBody>
      </p:sp>
    </p:spTree>
    <p:extLst>
      <p:ext uri="{BB962C8B-B14F-4D97-AF65-F5344CB8AC3E}">
        <p14:creationId xmlns:p14="http://schemas.microsoft.com/office/powerpoint/2010/main" val="1164980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E556652-FF73-4B05-87B4-FCEDCB158AF4}" type="datetime1">
              <a:rPr lang="en-IN" smtClean="0"/>
              <a:t>11-02-2016</a:t>
            </a:fld>
            <a:endParaRPr lang="en-IN"/>
          </a:p>
        </p:txBody>
      </p:sp>
      <p:sp>
        <p:nvSpPr>
          <p:cNvPr id="5" name="Footer Placeholder 4"/>
          <p:cNvSpPr>
            <a:spLocks noGrp="1"/>
          </p:cNvSpPr>
          <p:nvPr>
            <p:ph type="ftr" sz="quarter" idx="11"/>
          </p:nvPr>
        </p:nvSpPr>
        <p:spPr/>
        <p:txBody>
          <a:bodyPr/>
          <a:lstStyle/>
          <a:p>
            <a:r>
              <a:rPr lang="en-IN" smtClean="0"/>
              <a:t>Copyright © 2016 Accenture All Rights Reserved. Confidential —For Company Internal Use Only.</a:t>
            </a:r>
            <a:endParaRPr lang="en-IN"/>
          </a:p>
        </p:txBody>
      </p:sp>
      <p:sp>
        <p:nvSpPr>
          <p:cNvPr id="6" name="Slide Number Placeholder 5"/>
          <p:cNvSpPr>
            <a:spLocks noGrp="1"/>
          </p:cNvSpPr>
          <p:nvPr>
            <p:ph type="sldNum" sz="quarter" idx="12"/>
          </p:nvPr>
        </p:nvSpPr>
        <p:spPr/>
        <p:txBody>
          <a:bodyPr/>
          <a:lstStyle/>
          <a:p>
            <a:fld id="{CAE22CAB-DB69-4E13-A9B4-4B0C1BB9167C}" type="slidenum">
              <a:rPr lang="en-IN" smtClean="0"/>
              <a:t>‹#›</a:t>
            </a:fld>
            <a:endParaRPr lang="en-IN"/>
          </a:p>
        </p:txBody>
      </p:sp>
    </p:spTree>
    <p:extLst>
      <p:ext uri="{BB962C8B-B14F-4D97-AF65-F5344CB8AC3E}">
        <p14:creationId xmlns:p14="http://schemas.microsoft.com/office/powerpoint/2010/main" val="1697721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57D0E9-44C0-421F-AB04-A207681829D9}" type="datetime1">
              <a:rPr lang="en-IN" smtClean="0"/>
              <a:t>11-02-2016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smtClean="0"/>
              <a:t>Copyright © 2016 Accenture All Rights Reserved. Confidential —For Company Internal Use Only.</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E22CAB-DB69-4E13-A9B4-4B0C1BB9167C}" type="slidenum">
              <a:rPr lang="en-IN" smtClean="0"/>
              <a:t>‹#›</a:t>
            </a:fld>
            <a:endParaRPr lang="en-IN"/>
          </a:p>
        </p:txBody>
      </p:sp>
    </p:spTree>
    <p:extLst>
      <p:ext uri="{BB962C8B-B14F-4D97-AF65-F5344CB8AC3E}">
        <p14:creationId xmlns:p14="http://schemas.microsoft.com/office/powerpoint/2010/main" val="1217202798"/>
      </p:ext>
    </p:extLst>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393371" y="528597"/>
            <a:ext cx="9144000" cy="1181450"/>
          </a:xfrm>
        </p:spPr>
        <p:txBody>
          <a:bodyPr>
            <a:normAutofit/>
          </a:bodyPr>
          <a:lstStyle/>
          <a:p>
            <a:r>
              <a:rPr lang="en-IN" sz="3600" dirty="0" smtClean="0">
                <a:solidFill>
                  <a:schemeClr val="tx1">
                    <a:lumMod val="95000"/>
                    <a:lumOff val="5000"/>
                  </a:schemeClr>
                </a:solidFill>
                <a:latin typeface="Century Gothic" panose="020B0502020202020204" pitchFamily="34" charset="0"/>
                <a:cs typeface="Times New Roman" panose="02020603050405020304" pitchFamily="18" charset="0"/>
              </a:rPr>
              <a:t> Best </a:t>
            </a:r>
            <a:r>
              <a:rPr lang="en-IN" sz="3600" dirty="0">
                <a:solidFill>
                  <a:schemeClr val="tx1">
                    <a:lumMod val="95000"/>
                    <a:lumOff val="5000"/>
                  </a:schemeClr>
                </a:solidFill>
                <a:latin typeface="Century Gothic" panose="020B0502020202020204" pitchFamily="34" charset="0"/>
                <a:cs typeface="Times New Roman" panose="02020603050405020304" pitchFamily="18" charset="0"/>
              </a:rPr>
              <a:t>Practices for Apache </a:t>
            </a:r>
            <a:r>
              <a:rPr lang="en-IN" sz="3600" dirty="0" smtClean="0">
                <a:solidFill>
                  <a:schemeClr val="tx1">
                    <a:lumMod val="95000"/>
                    <a:lumOff val="5000"/>
                  </a:schemeClr>
                </a:solidFill>
                <a:latin typeface="Century Gothic" panose="020B0502020202020204" pitchFamily="34" charset="0"/>
                <a:cs typeface="Times New Roman" panose="02020603050405020304" pitchFamily="18" charset="0"/>
              </a:rPr>
              <a:t>Hive</a:t>
            </a:r>
            <a:br>
              <a:rPr lang="en-IN" sz="3600" dirty="0" smtClean="0">
                <a:solidFill>
                  <a:schemeClr val="tx1">
                    <a:lumMod val="95000"/>
                    <a:lumOff val="5000"/>
                  </a:schemeClr>
                </a:solidFill>
                <a:latin typeface="Century Gothic" panose="020B0502020202020204" pitchFamily="34" charset="0"/>
                <a:cs typeface="Times New Roman" panose="02020603050405020304" pitchFamily="18" charset="0"/>
              </a:rPr>
            </a:br>
            <a:endParaRPr lang="en-IN" sz="3600" dirty="0">
              <a:latin typeface="Century Gothic" panose="020B0502020202020204" pitchFamily="34" charset="0"/>
            </a:endParaRPr>
          </a:p>
        </p:txBody>
      </p:sp>
      <p:sp>
        <p:nvSpPr>
          <p:cNvPr id="4" name="Subtitle 2"/>
          <p:cNvSpPr>
            <a:spLocks noGrp="1"/>
          </p:cNvSpPr>
          <p:nvPr>
            <p:ph type="subTitle" idx="1"/>
          </p:nvPr>
        </p:nvSpPr>
        <p:spPr>
          <a:xfrm>
            <a:off x="9595262" y="5795160"/>
            <a:ext cx="2402773" cy="783770"/>
          </a:xfrm>
        </p:spPr>
        <p:txBody>
          <a:bodyPr>
            <a:noAutofit/>
          </a:bodyPr>
          <a:lstStyle/>
          <a:p>
            <a:r>
              <a:rPr lang="en-IN" sz="2000" dirty="0" smtClean="0">
                <a:solidFill>
                  <a:schemeClr val="tx1">
                    <a:lumMod val="95000"/>
                    <a:lumOff val="5000"/>
                  </a:schemeClr>
                </a:solidFill>
                <a:effectLst>
                  <a:outerShdw blurRad="38100" dist="38100" dir="2700000" algn="tl">
                    <a:srgbClr val="000000">
                      <a:alpha val="43137"/>
                    </a:srgbClr>
                  </a:outerShdw>
                </a:effectLst>
              </a:rPr>
              <a:t>By</a:t>
            </a:r>
          </a:p>
          <a:p>
            <a:r>
              <a:rPr lang="en-IN" sz="2000" dirty="0" smtClean="0">
                <a:solidFill>
                  <a:schemeClr val="tx1">
                    <a:lumMod val="95000"/>
                    <a:lumOff val="5000"/>
                  </a:schemeClr>
                </a:solidFill>
                <a:effectLst>
                  <a:outerShdw blurRad="38100" dist="38100" dir="2700000" algn="tl">
                    <a:srgbClr val="000000">
                      <a:alpha val="43137"/>
                    </a:srgbClr>
                  </a:outerShdw>
                </a:effectLst>
              </a:rPr>
              <a:t> Karunakar Naidu</a:t>
            </a:r>
          </a:p>
          <a:p>
            <a:endParaRPr lang="en-IN" sz="2000" dirty="0">
              <a:solidFill>
                <a:schemeClr val="tx1">
                  <a:lumMod val="95000"/>
                  <a:lumOff val="5000"/>
                </a:schemeClr>
              </a:solidFill>
              <a:effectLst>
                <a:outerShdw blurRad="38100" dist="38100" dir="2700000" algn="tl">
                  <a:srgbClr val="000000">
                    <a:alpha val="43137"/>
                  </a:srgbClr>
                </a:outerShdw>
              </a:effectLst>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0026" y="2125682"/>
            <a:ext cx="3895107" cy="1341912"/>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02336" y="1367888"/>
            <a:ext cx="2857500" cy="2857500"/>
          </a:xfrm>
          <a:prstGeom prst="rect">
            <a:avLst/>
          </a:prstGeom>
        </p:spPr>
      </p:pic>
    </p:spTree>
    <p:extLst>
      <p:ext uri="{BB962C8B-B14F-4D97-AF65-F5344CB8AC3E}">
        <p14:creationId xmlns:p14="http://schemas.microsoft.com/office/powerpoint/2010/main" val="33477872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322" y="0"/>
            <a:ext cx="10515600" cy="997528"/>
          </a:xfrm>
        </p:spPr>
        <p:txBody>
          <a:bodyPr>
            <a:normAutofit/>
          </a:bodyPr>
          <a:lstStyle/>
          <a:p>
            <a:r>
              <a:rPr lang="en-IN" sz="4000" dirty="0" smtClean="0">
                <a:cs typeface="Times New Roman" panose="02020603050405020304" pitchFamily="18" charset="0"/>
              </a:rPr>
              <a:t>                                         </a:t>
            </a:r>
            <a:r>
              <a:rPr lang="en-IN" sz="4000" b="1" dirty="0" smtClean="0"/>
              <a:t>Agenda</a:t>
            </a:r>
            <a:endParaRPr lang="en-IN" sz="4000" b="1" dirty="0">
              <a:cs typeface="Times New Roman" panose="02020603050405020304" pitchFamily="18" charset="0"/>
            </a:endParaRPr>
          </a:p>
        </p:txBody>
      </p:sp>
      <p:sp>
        <p:nvSpPr>
          <p:cNvPr id="3" name="Content Placeholder 2"/>
          <p:cNvSpPr>
            <a:spLocks noGrp="1"/>
          </p:cNvSpPr>
          <p:nvPr>
            <p:ph idx="1"/>
          </p:nvPr>
        </p:nvSpPr>
        <p:spPr>
          <a:xfrm>
            <a:off x="731322" y="771772"/>
            <a:ext cx="9916886" cy="5540128"/>
          </a:xfrm>
        </p:spPr>
        <p:txBody>
          <a:bodyPr>
            <a:normAutofit fontScale="25000" lnSpcReduction="20000"/>
          </a:bodyPr>
          <a:lstStyle/>
          <a:p>
            <a:pPr>
              <a:lnSpc>
                <a:spcPct val="170000"/>
              </a:lnSpc>
              <a:buFont typeface="Wingdings" panose="05000000000000000000" pitchFamily="2" charset="2"/>
              <a:buChar char="v"/>
            </a:pPr>
            <a:r>
              <a:rPr lang="en-IN" sz="8800" dirty="0" smtClean="0">
                <a:latin typeface="Century Gothic" panose="020B0502020202020204" pitchFamily="34" charset="0"/>
                <a:cs typeface="Times New Roman" panose="02020603050405020304" pitchFamily="18" charset="0"/>
              </a:rPr>
              <a:t> Overview </a:t>
            </a:r>
            <a:r>
              <a:rPr lang="en-IN" sz="8800" dirty="0">
                <a:latin typeface="Century Gothic" panose="020B0502020202020204" pitchFamily="34" charset="0"/>
                <a:cs typeface="Times New Roman" panose="02020603050405020304" pitchFamily="18" charset="0"/>
              </a:rPr>
              <a:t>of </a:t>
            </a:r>
            <a:r>
              <a:rPr lang="en-IN" sz="8800" dirty="0" smtClean="0">
                <a:latin typeface="Century Gothic" panose="020B0502020202020204" pitchFamily="34" charset="0"/>
                <a:cs typeface="Times New Roman" panose="02020603050405020304" pitchFamily="18" charset="0"/>
              </a:rPr>
              <a:t>Apache Hive</a:t>
            </a:r>
          </a:p>
          <a:p>
            <a:pPr>
              <a:lnSpc>
                <a:spcPct val="170000"/>
              </a:lnSpc>
              <a:buFont typeface="Wingdings" panose="05000000000000000000" pitchFamily="2" charset="2"/>
              <a:buChar char="v"/>
            </a:pPr>
            <a:r>
              <a:rPr lang="en-IN" sz="8800" dirty="0" smtClean="0">
                <a:latin typeface="Century Gothic" panose="020B0502020202020204" pitchFamily="34" charset="0"/>
                <a:cs typeface="Times New Roman" panose="02020603050405020304" pitchFamily="18" charset="0"/>
              </a:rPr>
              <a:t> Best practices in Apache Hive</a:t>
            </a:r>
            <a:endParaRPr lang="en-IN" sz="8800" dirty="0" smtClean="0">
              <a:latin typeface="Century Gothic" panose="020B0502020202020204" pitchFamily="34" charset="0"/>
            </a:endParaRPr>
          </a:p>
          <a:p>
            <a:pPr>
              <a:lnSpc>
                <a:spcPct val="120000"/>
              </a:lnSpc>
              <a:buFont typeface="Wingdings" panose="05000000000000000000" pitchFamily="2" charset="2"/>
              <a:buChar char="§"/>
            </a:pPr>
            <a:r>
              <a:rPr lang="en-IN" sz="5600" dirty="0" smtClean="0">
                <a:latin typeface="Century Gothic" panose="020B0502020202020204" pitchFamily="34" charset="0"/>
                <a:cs typeface="Times New Roman" panose="02020603050405020304" pitchFamily="18" charset="0"/>
              </a:rPr>
              <a:t>  </a:t>
            </a:r>
            <a:r>
              <a:rPr lang="en-IN" sz="5600" dirty="0" smtClean="0">
                <a:latin typeface="Century Gothic" panose="020B0502020202020204" pitchFamily="34" charset="0"/>
              </a:rPr>
              <a:t>Understanding </a:t>
            </a:r>
            <a:r>
              <a:rPr lang="en-IN" sz="5600" dirty="0">
                <a:latin typeface="Century Gothic" panose="020B0502020202020204" pitchFamily="34" charset="0"/>
              </a:rPr>
              <a:t>Query Performance</a:t>
            </a:r>
          </a:p>
          <a:p>
            <a:pPr>
              <a:lnSpc>
                <a:spcPct val="120000"/>
              </a:lnSpc>
              <a:buFont typeface="Wingdings" panose="05000000000000000000" pitchFamily="2" charset="2"/>
              <a:buChar char="§"/>
            </a:pPr>
            <a:r>
              <a:rPr lang="en-IN" sz="5600" dirty="0" smtClean="0">
                <a:latin typeface="Century Gothic" panose="020B0502020202020204" pitchFamily="34" charset="0"/>
              </a:rPr>
              <a:t>  Controlling Job Execution</a:t>
            </a:r>
          </a:p>
          <a:p>
            <a:pPr>
              <a:lnSpc>
                <a:spcPct val="120000"/>
              </a:lnSpc>
              <a:buFont typeface="Wingdings" panose="05000000000000000000" pitchFamily="2" charset="2"/>
              <a:buChar char="§"/>
            </a:pPr>
            <a:r>
              <a:rPr lang="en-IN" sz="5600" dirty="0" smtClean="0">
                <a:latin typeface="Century Gothic" panose="020B0502020202020204" pitchFamily="34" charset="0"/>
              </a:rPr>
              <a:t>  Use of Partitioning</a:t>
            </a:r>
          </a:p>
          <a:p>
            <a:pPr>
              <a:lnSpc>
                <a:spcPct val="120000"/>
              </a:lnSpc>
              <a:buFont typeface="Wingdings" panose="05000000000000000000" pitchFamily="2" charset="2"/>
              <a:buChar char="§"/>
            </a:pPr>
            <a:r>
              <a:rPr lang="en-IN" sz="5600" dirty="0" smtClean="0">
                <a:latin typeface="Century Gothic" panose="020B0502020202020204" pitchFamily="34" charset="0"/>
              </a:rPr>
              <a:t>  Use </a:t>
            </a:r>
            <a:r>
              <a:rPr lang="en-IN" sz="5600" dirty="0">
                <a:latin typeface="Century Gothic" panose="020B0502020202020204" pitchFamily="34" charset="0"/>
              </a:rPr>
              <a:t>of Bucketing</a:t>
            </a:r>
          </a:p>
          <a:p>
            <a:pPr>
              <a:lnSpc>
                <a:spcPct val="120000"/>
              </a:lnSpc>
              <a:buFont typeface="Wingdings" panose="05000000000000000000" pitchFamily="2" charset="2"/>
              <a:buChar char="§"/>
            </a:pPr>
            <a:r>
              <a:rPr lang="en-IN" sz="5600" dirty="0" smtClean="0">
                <a:latin typeface="Century Gothic" panose="020B0502020202020204" pitchFamily="34" charset="0"/>
              </a:rPr>
              <a:t>  Indexing Data</a:t>
            </a:r>
          </a:p>
          <a:p>
            <a:pPr>
              <a:lnSpc>
                <a:spcPct val="120000"/>
              </a:lnSpc>
              <a:buFont typeface="Wingdings" panose="05000000000000000000" pitchFamily="2" charset="2"/>
              <a:buChar char="§"/>
            </a:pPr>
            <a:r>
              <a:rPr lang="en-IN" sz="5600" dirty="0" smtClean="0">
                <a:latin typeface="Century Gothic" panose="020B0502020202020204" pitchFamily="34" charset="0"/>
              </a:rPr>
              <a:t>  De-normalizing data </a:t>
            </a:r>
          </a:p>
          <a:p>
            <a:pPr>
              <a:lnSpc>
                <a:spcPct val="120000"/>
              </a:lnSpc>
              <a:buFont typeface="Wingdings" panose="05000000000000000000" pitchFamily="2" charset="2"/>
              <a:buChar char="§"/>
            </a:pPr>
            <a:r>
              <a:rPr lang="en-IN" sz="5600" dirty="0" smtClean="0">
                <a:latin typeface="Century Gothic" panose="020B0502020202020204" pitchFamily="34" charset="0"/>
              </a:rPr>
              <a:t>  Map join</a:t>
            </a:r>
          </a:p>
          <a:p>
            <a:pPr>
              <a:lnSpc>
                <a:spcPct val="120000"/>
              </a:lnSpc>
              <a:buFont typeface="Wingdings" panose="05000000000000000000" pitchFamily="2" charset="2"/>
              <a:buChar char="§"/>
            </a:pPr>
            <a:r>
              <a:rPr lang="en-IN" sz="5600" dirty="0" smtClean="0">
                <a:latin typeface="Century Gothic" panose="020B0502020202020204" pitchFamily="34" charset="0"/>
              </a:rPr>
              <a:t>  Vectorization</a:t>
            </a:r>
            <a:endParaRPr lang="en-IN" sz="5600" dirty="0">
              <a:latin typeface="Century Gothic" panose="020B0502020202020204" pitchFamily="34" charset="0"/>
            </a:endParaRPr>
          </a:p>
          <a:p>
            <a:pPr>
              <a:lnSpc>
                <a:spcPct val="120000"/>
              </a:lnSpc>
              <a:buFont typeface="Wingdings" panose="05000000000000000000" pitchFamily="2" charset="2"/>
              <a:buChar char="§"/>
            </a:pPr>
            <a:r>
              <a:rPr lang="en-IN" sz="5600" dirty="0" smtClean="0">
                <a:latin typeface="Century Gothic" panose="020B0502020202020204" pitchFamily="34" charset="0"/>
              </a:rPr>
              <a:t>  cost </a:t>
            </a:r>
            <a:r>
              <a:rPr lang="en-IN" sz="5600" dirty="0">
                <a:latin typeface="Century Gothic" panose="020B0502020202020204" pitchFamily="34" charset="0"/>
              </a:rPr>
              <a:t>based query </a:t>
            </a:r>
            <a:r>
              <a:rPr lang="en-IN" sz="5600" dirty="0" smtClean="0">
                <a:latin typeface="Century Gothic" panose="020B0502020202020204" pitchFamily="34" charset="0"/>
              </a:rPr>
              <a:t>optimization</a:t>
            </a:r>
          </a:p>
          <a:p>
            <a:pPr>
              <a:lnSpc>
                <a:spcPct val="120000"/>
              </a:lnSpc>
              <a:buFont typeface="Wingdings" panose="05000000000000000000" pitchFamily="2" charset="2"/>
              <a:buChar char="§"/>
            </a:pPr>
            <a:r>
              <a:rPr lang="en-IN" sz="5600" dirty="0" smtClean="0">
                <a:latin typeface="Century Gothic" panose="020B0502020202020204" pitchFamily="34" charset="0"/>
              </a:rPr>
              <a:t>  Efficient </a:t>
            </a:r>
            <a:r>
              <a:rPr lang="en-IN" sz="5600" dirty="0">
                <a:latin typeface="Century Gothic" panose="020B0502020202020204" pitchFamily="34" charset="0"/>
              </a:rPr>
              <a:t>Use of Single </a:t>
            </a:r>
            <a:r>
              <a:rPr lang="en-IN" sz="5600" dirty="0" smtClean="0">
                <a:latin typeface="Century Gothic" panose="020B0502020202020204" pitchFamily="34" charset="0"/>
              </a:rPr>
              <a:t>Scan</a:t>
            </a:r>
          </a:p>
          <a:p>
            <a:pPr>
              <a:lnSpc>
                <a:spcPct val="120000"/>
              </a:lnSpc>
              <a:buFont typeface="Wingdings" panose="05000000000000000000" pitchFamily="2" charset="2"/>
              <a:buChar char="§"/>
            </a:pPr>
            <a:r>
              <a:rPr lang="en-IN" sz="5600" dirty="0" smtClean="0">
                <a:latin typeface="Century Gothic" panose="020B0502020202020204" pitchFamily="34" charset="0"/>
              </a:rPr>
              <a:t>  Using Compression</a:t>
            </a:r>
          </a:p>
          <a:p>
            <a:pPr>
              <a:lnSpc>
                <a:spcPct val="120000"/>
              </a:lnSpc>
              <a:buFont typeface="Wingdings" panose="05000000000000000000" pitchFamily="2" charset="2"/>
              <a:buChar char="§"/>
            </a:pPr>
            <a:r>
              <a:rPr lang="en-IN" sz="5600" dirty="0" smtClean="0">
                <a:latin typeface="Century Gothic" panose="020B0502020202020204" pitchFamily="34" charset="0"/>
              </a:rPr>
              <a:t>  Sampling</a:t>
            </a:r>
          </a:p>
          <a:p>
            <a:pPr>
              <a:lnSpc>
                <a:spcPct val="120000"/>
              </a:lnSpc>
              <a:buFont typeface="Wingdings" panose="05000000000000000000" pitchFamily="2" charset="2"/>
              <a:buChar char="§"/>
            </a:pPr>
            <a:r>
              <a:rPr lang="en-IN" sz="5600" dirty="0" smtClean="0">
                <a:latin typeface="Century Gothic" panose="020B0502020202020204" pitchFamily="34" charset="0"/>
              </a:rPr>
              <a:t>  Predicate Push Down</a:t>
            </a:r>
          </a:p>
          <a:p>
            <a:pPr marL="0" indent="0">
              <a:buNone/>
            </a:pPr>
            <a:r>
              <a:rPr lang="en-IN" b="1" dirty="0" smtClean="0">
                <a:latin typeface="Century Gothic" panose="020B0502020202020204" pitchFamily="34" charset="0"/>
                <a:cs typeface="Times New Roman" panose="02020603050405020304" pitchFamily="18" charset="0"/>
              </a:rPr>
              <a:t>    </a:t>
            </a:r>
            <a:r>
              <a:rPr lang="en-IN" dirty="0" smtClean="0">
                <a:latin typeface="Century Gothic" panose="020B0502020202020204" pitchFamily="34" charset="0"/>
                <a:cs typeface="Times New Roman" panose="02020603050405020304" pitchFamily="18" charset="0"/>
              </a:rPr>
              <a:t>    </a:t>
            </a:r>
            <a:endParaRPr lang="en-IN" dirty="0">
              <a:latin typeface="Century Gothic" panose="020B0502020202020204" pitchFamily="34" charset="0"/>
              <a:cs typeface="Times New Roman" panose="02020603050405020304" pitchFamily="18" charset="0"/>
            </a:endParaRPr>
          </a:p>
        </p:txBody>
      </p:sp>
      <p:sp>
        <p:nvSpPr>
          <p:cNvPr id="4" name="Footer Placeholder 3"/>
          <p:cNvSpPr>
            <a:spLocks noGrp="1"/>
          </p:cNvSpPr>
          <p:nvPr>
            <p:ph type="ftr" sz="quarter" idx="11"/>
          </p:nvPr>
        </p:nvSpPr>
        <p:spPr>
          <a:xfrm>
            <a:off x="1520042" y="6356350"/>
            <a:ext cx="8288976" cy="365125"/>
          </a:xfrm>
        </p:spPr>
        <p:txBody>
          <a:bodyPr/>
          <a:lstStyle/>
          <a:p>
            <a:r>
              <a:rPr lang="en-IN" dirty="0" smtClean="0"/>
              <a:t>Copyright © 2016 Accenture All Rights Reserved. Confidential —For Company Internal Use Only.</a:t>
            </a:r>
            <a:endParaRPr lang="en-IN" dirty="0"/>
          </a:p>
        </p:txBody>
      </p:sp>
    </p:spTree>
    <p:extLst>
      <p:ext uri="{BB962C8B-B14F-4D97-AF65-F5344CB8AC3E}">
        <p14:creationId xmlns:p14="http://schemas.microsoft.com/office/powerpoint/2010/main" val="41139006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707" y="1"/>
            <a:ext cx="10515600" cy="593766"/>
          </a:xfrm>
        </p:spPr>
        <p:txBody>
          <a:bodyPr>
            <a:noAutofit/>
          </a:bodyPr>
          <a:lstStyle/>
          <a:p>
            <a:pPr>
              <a:lnSpc>
                <a:spcPct val="170000"/>
              </a:lnSpc>
            </a:pPr>
            <a:r>
              <a:rPr lang="en-IN" sz="4000" b="1" dirty="0" smtClean="0">
                <a:cs typeface="Times New Roman" panose="02020603050405020304" pitchFamily="18" charset="0"/>
              </a:rPr>
              <a:t>               Overview </a:t>
            </a:r>
            <a:r>
              <a:rPr lang="en-IN" sz="4000" b="1" dirty="0">
                <a:cs typeface="Times New Roman" panose="02020603050405020304" pitchFamily="18" charset="0"/>
              </a:rPr>
              <a:t>of Apache Hive</a:t>
            </a:r>
          </a:p>
        </p:txBody>
      </p:sp>
      <p:sp>
        <p:nvSpPr>
          <p:cNvPr id="3" name="Content Placeholder 2"/>
          <p:cNvSpPr>
            <a:spLocks noGrp="1"/>
          </p:cNvSpPr>
          <p:nvPr>
            <p:ph idx="1"/>
          </p:nvPr>
        </p:nvSpPr>
        <p:spPr>
          <a:xfrm>
            <a:off x="320634" y="593767"/>
            <a:ext cx="11566566" cy="5583196"/>
          </a:xfrm>
        </p:spPr>
        <p:txBody>
          <a:bodyPr>
            <a:normAutofit/>
          </a:bodyPr>
          <a:lstStyle/>
          <a:p>
            <a:pPr marL="0" indent="0">
              <a:buNone/>
            </a:pPr>
            <a:endParaRPr lang="en-IN" sz="1800" b="1" dirty="0" smtClean="0"/>
          </a:p>
          <a:p>
            <a:pPr marL="0" indent="0">
              <a:buNone/>
            </a:pPr>
            <a:r>
              <a:rPr lang="en-IN" sz="1800" b="1" dirty="0" smtClean="0"/>
              <a:t>Apache Hive is a high level abstraction on top of MapReduce</a:t>
            </a:r>
            <a:endParaRPr lang="en-IN" sz="1800" b="1" dirty="0"/>
          </a:p>
          <a:p>
            <a:pPr marL="0" indent="0">
              <a:buNone/>
            </a:pPr>
            <a:r>
              <a:rPr lang="en-IN" sz="1800" dirty="0" smtClean="0"/>
              <a:t>     – Uses a SQL like language called HiveQL</a:t>
            </a:r>
            <a:endParaRPr lang="en-IN" sz="1800" dirty="0"/>
          </a:p>
          <a:p>
            <a:pPr marL="0" indent="0">
              <a:buNone/>
            </a:pPr>
            <a:r>
              <a:rPr lang="en-IN" sz="1800" dirty="0" smtClean="0"/>
              <a:t>     – Generates MapReduce jobs that run on the Hadoop cluster</a:t>
            </a:r>
            <a:endParaRPr lang="en-IN" sz="1800" dirty="0"/>
          </a:p>
          <a:p>
            <a:pPr marL="0" indent="0">
              <a:buNone/>
            </a:pPr>
            <a:r>
              <a:rPr lang="en-IN" sz="1800" dirty="0" smtClean="0"/>
              <a:t>     – Originally developed by Facebook for data warehousing</a:t>
            </a:r>
            <a:endParaRPr lang="en-IN" sz="1800" dirty="0"/>
          </a:p>
          <a:p>
            <a:pPr marL="0" indent="0">
              <a:buNone/>
            </a:pPr>
            <a:r>
              <a:rPr lang="en-IN" sz="1800" dirty="0" smtClean="0"/>
              <a:t>     – Now an open source Apache project</a:t>
            </a:r>
          </a:p>
          <a:p>
            <a:pPr marL="0" indent="0">
              <a:buNone/>
            </a:pPr>
            <a:endParaRPr lang="en-IN" sz="1800" dirty="0"/>
          </a:p>
        </p:txBody>
      </p:sp>
      <p:sp>
        <p:nvSpPr>
          <p:cNvPr id="4" name="Footer Placeholder 3"/>
          <p:cNvSpPr>
            <a:spLocks noGrp="1"/>
          </p:cNvSpPr>
          <p:nvPr>
            <p:ph type="ftr" sz="quarter" idx="11"/>
          </p:nvPr>
        </p:nvSpPr>
        <p:spPr>
          <a:xfrm>
            <a:off x="2090057" y="6356350"/>
            <a:ext cx="7707086" cy="365125"/>
          </a:xfrm>
        </p:spPr>
        <p:txBody>
          <a:bodyPr/>
          <a:lstStyle/>
          <a:p>
            <a:r>
              <a:rPr lang="en-IN" dirty="0" smtClean="0"/>
              <a:t>Copyright © 2016 Accenture All Rights Reserved. Confidential —For Company Internal Use Only.</a:t>
            </a:r>
            <a:endParaRPr lang="en-IN" dirty="0"/>
          </a:p>
        </p:txBody>
      </p:sp>
      <p:sp>
        <p:nvSpPr>
          <p:cNvPr id="5" name="Rectangle 4"/>
          <p:cNvSpPr/>
          <p:nvPr/>
        </p:nvSpPr>
        <p:spPr>
          <a:xfrm>
            <a:off x="1075707" y="3066885"/>
            <a:ext cx="9322130" cy="32894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p:cNvSpPr/>
          <p:nvPr/>
        </p:nvSpPr>
        <p:spPr>
          <a:xfrm>
            <a:off x="1567542" y="3066885"/>
            <a:ext cx="7600208" cy="2674999"/>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b="1" dirty="0" smtClean="0">
              <a:solidFill>
                <a:schemeClr val="tx1"/>
              </a:solidFill>
            </a:endParaRPr>
          </a:p>
          <a:p>
            <a:r>
              <a:rPr lang="en-IN" b="1" dirty="0" smtClean="0">
                <a:solidFill>
                  <a:schemeClr val="tx1"/>
                </a:solidFill>
              </a:rPr>
              <a:t>Example Hive query:</a:t>
            </a:r>
          </a:p>
          <a:p>
            <a:r>
              <a:rPr lang="en-IN" b="1" dirty="0" smtClean="0">
                <a:solidFill>
                  <a:schemeClr val="tx1"/>
                </a:solidFill>
              </a:rPr>
              <a:t>SELECT </a:t>
            </a:r>
            <a:r>
              <a:rPr lang="en-IN" b="1" dirty="0">
                <a:solidFill>
                  <a:schemeClr val="tx1"/>
                </a:solidFill>
              </a:rPr>
              <a:t>zipcode, SUM(cost) AS total</a:t>
            </a:r>
          </a:p>
          <a:p>
            <a:r>
              <a:rPr lang="en-IN" b="1" dirty="0">
                <a:solidFill>
                  <a:schemeClr val="tx1"/>
                </a:solidFill>
              </a:rPr>
              <a:t>FROM customers</a:t>
            </a:r>
          </a:p>
          <a:p>
            <a:r>
              <a:rPr lang="en-IN" b="1" dirty="0">
                <a:solidFill>
                  <a:schemeClr val="tx1"/>
                </a:solidFill>
              </a:rPr>
              <a:t>JOIN orders</a:t>
            </a:r>
          </a:p>
          <a:p>
            <a:r>
              <a:rPr lang="en-IN" b="1" dirty="0">
                <a:solidFill>
                  <a:schemeClr val="tx1"/>
                </a:solidFill>
              </a:rPr>
              <a:t>ON customers.cust_id = orders.cust_id</a:t>
            </a:r>
          </a:p>
          <a:p>
            <a:r>
              <a:rPr lang="en-IN" b="1" dirty="0">
                <a:solidFill>
                  <a:schemeClr val="tx1"/>
                </a:solidFill>
              </a:rPr>
              <a:t>WHERE zipcode LIKE '63%'</a:t>
            </a:r>
          </a:p>
          <a:p>
            <a:r>
              <a:rPr lang="en-IN" b="1" dirty="0">
                <a:solidFill>
                  <a:schemeClr val="tx1"/>
                </a:solidFill>
              </a:rPr>
              <a:t>GROUP BY zipcode</a:t>
            </a:r>
          </a:p>
          <a:p>
            <a:r>
              <a:rPr lang="en-IN" b="1" dirty="0">
                <a:solidFill>
                  <a:schemeClr val="tx1"/>
                </a:solidFill>
              </a:rPr>
              <a:t>ORDER BY total DESC;</a:t>
            </a:r>
            <a:endParaRPr lang="en-IN" dirty="0">
              <a:solidFill>
                <a:schemeClr val="tx1"/>
              </a:solidFill>
            </a:endParaRPr>
          </a:p>
          <a:p>
            <a:pPr algn="ctr"/>
            <a:endParaRPr lang="en-IN" dirty="0">
              <a:solidFill>
                <a:schemeClr val="tx1"/>
              </a:solidFill>
            </a:endParaRPr>
          </a:p>
        </p:txBody>
      </p:sp>
    </p:spTree>
    <p:extLst>
      <p:ext uri="{BB962C8B-B14F-4D97-AF65-F5344CB8AC3E}">
        <p14:creationId xmlns:p14="http://schemas.microsoft.com/office/powerpoint/2010/main" val="26210776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712519"/>
          </a:xfrm>
        </p:spPr>
        <p:txBody>
          <a:bodyPr>
            <a:normAutofit/>
          </a:bodyPr>
          <a:lstStyle/>
          <a:p>
            <a:r>
              <a:rPr lang="en-IN" sz="4000" b="1" dirty="0" smtClean="0"/>
              <a:t>          High-Level Overview for Hive Users</a:t>
            </a:r>
            <a:endParaRPr lang="en-IN" sz="4000" b="1" dirty="0"/>
          </a:p>
        </p:txBody>
      </p:sp>
      <p:sp>
        <p:nvSpPr>
          <p:cNvPr id="3" name="Content Placeholder 2"/>
          <p:cNvSpPr>
            <a:spLocks noGrp="1"/>
          </p:cNvSpPr>
          <p:nvPr>
            <p:ph idx="1"/>
          </p:nvPr>
        </p:nvSpPr>
        <p:spPr>
          <a:xfrm>
            <a:off x="296883" y="570016"/>
            <a:ext cx="11792198" cy="5606947"/>
          </a:xfrm>
        </p:spPr>
        <p:txBody>
          <a:bodyPr>
            <a:normAutofit/>
          </a:bodyPr>
          <a:lstStyle/>
          <a:p>
            <a:pPr marL="0" indent="0">
              <a:buNone/>
            </a:pPr>
            <a:r>
              <a:rPr lang="en-IN" sz="1800" b="1" dirty="0" smtClean="0"/>
              <a:t>   </a:t>
            </a:r>
          </a:p>
          <a:p>
            <a:pPr marL="0" indent="0">
              <a:buNone/>
            </a:pPr>
            <a:r>
              <a:rPr lang="en-IN" sz="1800" b="1" dirty="0" smtClean="0"/>
              <a:t>   Hive runs on the client machine</a:t>
            </a:r>
          </a:p>
          <a:p>
            <a:pPr marL="0" indent="0">
              <a:buNone/>
            </a:pPr>
            <a:r>
              <a:rPr lang="en-IN" sz="1800" dirty="0" smtClean="0"/>
              <a:t>   – Turns HiveQL queries into MapReduce jobs</a:t>
            </a:r>
          </a:p>
          <a:p>
            <a:pPr marL="0" indent="0">
              <a:buNone/>
            </a:pPr>
            <a:r>
              <a:rPr lang="en-IN" sz="1800" dirty="0" smtClean="0"/>
              <a:t>   – Submits those jobs to the cluster</a:t>
            </a:r>
            <a:endParaRPr lang="en-IN" sz="1800" dirty="0"/>
          </a:p>
        </p:txBody>
      </p:sp>
      <p:sp>
        <p:nvSpPr>
          <p:cNvPr id="4" name="Footer Placeholder 3"/>
          <p:cNvSpPr>
            <a:spLocks noGrp="1"/>
          </p:cNvSpPr>
          <p:nvPr>
            <p:ph type="ftr" sz="quarter" idx="11"/>
          </p:nvPr>
        </p:nvSpPr>
        <p:spPr>
          <a:xfrm>
            <a:off x="2006929" y="6356350"/>
            <a:ext cx="7647709" cy="365125"/>
          </a:xfrm>
        </p:spPr>
        <p:txBody>
          <a:bodyPr/>
          <a:lstStyle/>
          <a:p>
            <a:r>
              <a:rPr lang="en-IN" dirty="0" smtClean="0"/>
              <a:t>Copyright © 2016 Accenture All Rights Reserved. Confidential —For Company Internal Use Only.</a:t>
            </a:r>
            <a:endParaRPr lang="en-IN"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530" y="2201996"/>
            <a:ext cx="11530939" cy="3323081"/>
          </a:xfrm>
          <a:prstGeom prst="rect">
            <a:avLst/>
          </a:prstGeom>
        </p:spPr>
      </p:pic>
    </p:spTree>
    <p:extLst>
      <p:ext uri="{BB962C8B-B14F-4D97-AF65-F5344CB8AC3E}">
        <p14:creationId xmlns:p14="http://schemas.microsoft.com/office/powerpoint/2010/main" val="11122812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6740" y="-21241"/>
            <a:ext cx="10515600" cy="1306285"/>
          </a:xfrm>
        </p:spPr>
        <p:txBody>
          <a:bodyPr>
            <a:noAutofit/>
          </a:bodyPr>
          <a:lstStyle/>
          <a:p>
            <a:pPr algn="ctr"/>
            <a:r>
              <a:rPr lang="en-IN" sz="4000" b="1" dirty="0" smtClean="0">
                <a:cs typeface="Times New Roman" panose="02020603050405020304" pitchFamily="18" charset="0"/>
              </a:rPr>
              <a:t/>
            </a:r>
            <a:br>
              <a:rPr lang="en-IN" sz="4000" b="1" dirty="0" smtClean="0">
                <a:cs typeface="Times New Roman" panose="02020603050405020304" pitchFamily="18" charset="0"/>
              </a:rPr>
            </a:br>
            <a:r>
              <a:rPr lang="en-IN" sz="4000" b="1" dirty="0">
                <a:cs typeface="Times New Roman" panose="02020603050405020304" pitchFamily="18" charset="0"/>
              </a:rPr>
              <a:t/>
            </a:r>
            <a:br>
              <a:rPr lang="en-IN" sz="4000" b="1" dirty="0">
                <a:cs typeface="Times New Roman" panose="02020603050405020304" pitchFamily="18" charset="0"/>
              </a:rPr>
            </a:br>
            <a:r>
              <a:rPr lang="en-IN" sz="4000" b="1" dirty="0" smtClean="0">
                <a:cs typeface="Times New Roman" panose="02020603050405020304" pitchFamily="18" charset="0"/>
              </a:rPr>
              <a:t> Best </a:t>
            </a:r>
            <a:r>
              <a:rPr lang="en-IN" sz="4000" b="1" dirty="0">
                <a:cs typeface="Times New Roman" panose="02020603050405020304" pitchFamily="18" charset="0"/>
              </a:rPr>
              <a:t>practices in Apache Hive</a:t>
            </a:r>
            <a:r>
              <a:rPr lang="en-IN" sz="4000" b="1" dirty="0"/>
              <a:t/>
            </a:r>
            <a:br>
              <a:rPr lang="en-IN" sz="4000" b="1" dirty="0"/>
            </a:br>
            <a:endParaRPr lang="en-IN" sz="4000" b="1" dirty="0"/>
          </a:p>
        </p:txBody>
      </p:sp>
      <p:sp>
        <p:nvSpPr>
          <p:cNvPr id="3" name="Text Placeholder 2"/>
          <p:cNvSpPr>
            <a:spLocks noGrp="1"/>
          </p:cNvSpPr>
          <p:nvPr>
            <p:ph type="body" idx="1"/>
          </p:nvPr>
        </p:nvSpPr>
        <p:spPr>
          <a:xfrm>
            <a:off x="95003" y="765608"/>
            <a:ext cx="11899075" cy="5590742"/>
          </a:xfrm>
        </p:spPr>
        <p:txBody>
          <a:bodyPr>
            <a:normAutofit/>
          </a:bodyPr>
          <a:lstStyle/>
          <a:p>
            <a:endParaRPr lang="en-IN" sz="1800" dirty="0" smtClean="0"/>
          </a:p>
          <a:p>
            <a:pPr algn="ctr"/>
            <a:r>
              <a:rPr lang="en-IN" sz="2000" b="1" dirty="0" smtClean="0">
                <a:solidFill>
                  <a:schemeClr val="tx1"/>
                </a:solidFill>
              </a:rPr>
              <a:t>Understanding </a:t>
            </a:r>
            <a:r>
              <a:rPr lang="en-IN" sz="2000" b="1" dirty="0">
                <a:solidFill>
                  <a:schemeClr val="tx1"/>
                </a:solidFill>
              </a:rPr>
              <a:t>Query </a:t>
            </a:r>
            <a:r>
              <a:rPr lang="en-IN" sz="2000" b="1" dirty="0" smtClean="0">
                <a:solidFill>
                  <a:schemeClr val="tx1"/>
                </a:solidFill>
              </a:rPr>
              <a:t>Performance</a:t>
            </a:r>
            <a:endParaRPr lang="en-IN" sz="2000" dirty="0" smtClean="0">
              <a:solidFill>
                <a:schemeClr val="tx1"/>
              </a:solidFill>
            </a:endParaRPr>
          </a:p>
          <a:p>
            <a:endParaRPr lang="en-IN" sz="1800" b="1" dirty="0">
              <a:solidFill>
                <a:schemeClr val="tx1"/>
              </a:solidFill>
            </a:endParaRPr>
          </a:p>
          <a:p>
            <a:pPr marL="342900" indent="-342900">
              <a:buFont typeface="Wingdings" panose="05000000000000000000" pitchFamily="2" charset="2"/>
              <a:buChar char="§"/>
            </a:pPr>
            <a:r>
              <a:rPr lang="en-IN" sz="1800" dirty="0" smtClean="0">
                <a:solidFill>
                  <a:schemeClr val="tx1"/>
                </a:solidFill>
              </a:rPr>
              <a:t>The fastest queries involve only metadata</a:t>
            </a:r>
          </a:p>
          <a:p>
            <a:r>
              <a:rPr lang="en-IN" sz="1800" dirty="0">
                <a:solidFill>
                  <a:schemeClr val="tx1"/>
                </a:solidFill>
              </a:rPr>
              <a:t> </a:t>
            </a:r>
            <a:r>
              <a:rPr lang="en-IN" sz="1800" dirty="0" smtClean="0">
                <a:solidFill>
                  <a:schemeClr val="tx1"/>
                </a:solidFill>
              </a:rPr>
              <a:t>       </a:t>
            </a:r>
          </a:p>
          <a:p>
            <a:endParaRPr lang="en-IN" sz="1800" dirty="0">
              <a:solidFill>
                <a:schemeClr val="tx1"/>
              </a:solidFill>
            </a:endParaRPr>
          </a:p>
          <a:p>
            <a:pPr marL="342900" indent="-342900">
              <a:buFont typeface="Wingdings" panose="05000000000000000000" pitchFamily="2" charset="2"/>
              <a:buChar char="§"/>
            </a:pPr>
            <a:r>
              <a:rPr lang="en-IN" sz="1800" dirty="0">
                <a:solidFill>
                  <a:schemeClr val="tx1"/>
                </a:solidFill>
              </a:rPr>
              <a:t> </a:t>
            </a:r>
            <a:r>
              <a:rPr lang="en-IN" sz="1800" dirty="0" smtClean="0">
                <a:solidFill>
                  <a:schemeClr val="tx1"/>
                </a:solidFill>
              </a:rPr>
              <a:t>The next fastest simply read from HDFS</a:t>
            </a:r>
          </a:p>
          <a:p>
            <a:endParaRPr lang="en-IN" sz="1800" dirty="0" smtClean="0">
              <a:solidFill>
                <a:schemeClr val="tx1"/>
              </a:solidFill>
            </a:endParaRPr>
          </a:p>
          <a:p>
            <a:r>
              <a:rPr lang="en-IN" sz="1800" dirty="0" smtClean="0">
                <a:solidFill>
                  <a:schemeClr val="tx1"/>
                </a:solidFill>
              </a:rPr>
              <a:t>     </a:t>
            </a:r>
          </a:p>
          <a:p>
            <a:pPr marL="342900" indent="-342900">
              <a:buFont typeface="Wingdings" panose="05000000000000000000" pitchFamily="2" charset="2"/>
              <a:buChar char="§"/>
            </a:pPr>
            <a:r>
              <a:rPr lang="en-IN" sz="1800" dirty="0" smtClean="0">
                <a:solidFill>
                  <a:schemeClr val="tx1"/>
                </a:solidFill>
              </a:rPr>
              <a:t> Then a query that requires a map only job</a:t>
            </a:r>
          </a:p>
          <a:p>
            <a:r>
              <a:rPr lang="en-IN" sz="1800" dirty="0">
                <a:solidFill>
                  <a:schemeClr val="tx1"/>
                </a:solidFill>
              </a:rPr>
              <a:t> </a:t>
            </a:r>
            <a:r>
              <a:rPr lang="en-IN" sz="1800" dirty="0" smtClean="0">
                <a:solidFill>
                  <a:schemeClr val="tx1"/>
                </a:solidFill>
              </a:rPr>
              <a:t>    </a:t>
            </a:r>
          </a:p>
        </p:txBody>
      </p:sp>
      <p:sp>
        <p:nvSpPr>
          <p:cNvPr id="4" name="Footer Placeholder 3"/>
          <p:cNvSpPr>
            <a:spLocks noGrp="1"/>
          </p:cNvSpPr>
          <p:nvPr>
            <p:ph type="ftr" sz="quarter" idx="11"/>
          </p:nvPr>
        </p:nvSpPr>
        <p:spPr>
          <a:xfrm>
            <a:off x="1377537" y="6356350"/>
            <a:ext cx="8134597" cy="365125"/>
          </a:xfrm>
        </p:spPr>
        <p:txBody>
          <a:bodyPr/>
          <a:lstStyle/>
          <a:p>
            <a:r>
              <a:rPr lang="en-IN" dirty="0" smtClean="0"/>
              <a:t>Copyright © 2016 Accenture All Rights Reserved. Confidential —For Company Internal Use Only.</a:t>
            </a:r>
            <a:endParaRPr lang="en-IN" dirty="0"/>
          </a:p>
        </p:txBody>
      </p:sp>
      <p:sp>
        <p:nvSpPr>
          <p:cNvPr id="7" name="Rectangle 6"/>
          <p:cNvSpPr/>
          <p:nvPr/>
        </p:nvSpPr>
        <p:spPr>
          <a:xfrm>
            <a:off x="786739" y="4876055"/>
            <a:ext cx="5697765" cy="520125"/>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SELECT * FROM customers WHERE zipcode = 94305;</a:t>
            </a:r>
            <a:endParaRPr lang="en-IN" dirty="0">
              <a:solidFill>
                <a:schemeClr val="tx1"/>
              </a:solidFill>
            </a:endParaRPr>
          </a:p>
        </p:txBody>
      </p:sp>
      <p:sp>
        <p:nvSpPr>
          <p:cNvPr id="8" name="Rectangle 7"/>
          <p:cNvSpPr/>
          <p:nvPr/>
        </p:nvSpPr>
        <p:spPr>
          <a:xfrm>
            <a:off x="786740" y="3539278"/>
            <a:ext cx="5697765" cy="5628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solidFill>
                  <a:schemeClr val="tx1"/>
                </a:solidFill>
              </a:rPr>
              <a:t>SELECT * FROM </a:t>
            </a:r>
            <a:r>
              <a:rPr lang="en-IN" dirty="0" smtClean="0">
                <a:solidFill>
                  <a:schemeClr val="tx1"/>
                </a:solidFill>
              </a:rPr>
              <a:t>customers;</a:t>
            </a:r>
            <a:endParaRPr lang="en-IN" dirty="0">
              <a:solidFill>
                <a:schemeClr val="tx1"/>
              </a:solidFill>
            </a:endParaRPr>
          </a:p>
        </p:txBody>
      </p:sp>
      <p:sp>
        <p:nvSpPr>
          <p:cNvPr id="9" name="Rectangle 8"/>
          <p:cNvSpPr/>
          <p:nvPr/>
        </p:nvSpPr>
        <p:spPr>
          <a:xfrm>
            <a:off x="748141" y="2319616"/>
            <a:ext cx="5697765" cy="562268"/>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smtClean="0">
                <a:solidFill>
                  <a:schemeClr val="tx1"/>
                </a:solidFill>
              </a:rPr>
              <a:t>DESCRIBE customers;</a:t>
            </a:r>
            <a:endParaRPr lang="en-IN" dirty="0">
              <a:solidFill>
                <a:schemeClr val="tx1"/>
              </a:solidFill>
            </a:endParaRPr>
          </a:p>
        </p:txBody>
      </p:sp>
    </p:spTree>
    <p:extLst>
      <p:ext uri="{BB962C8B-B14F-4D97-AF65-F5344CB8AC3E}">
        <p14:creationId xmlns:p14="http://schemas.microsoft.com/office/powerpoint/2010/main" val="156452555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151906"/>
          </a:xfrm>
        </p:spPr>
        <p:txBody>
          <a:bodyPr>
            <a:noAutofit/>
          </a:bodyPr>
          <a:lstStyle/>
          <a:p>
            <a:r>
              <a:rPr lang="en-IN" sz="4000" b="1" dirty="0" smtClean="0"/>
              <a:t>           </a:t>
            </a:r>
            <a:br>
              <a:rPr lang="en-IN" sz="4000" b="1" dirty="0" smtClean="0"/>
            </a:br>
            <a:r>
              <a:rPr lang="en-IN" sz="4000" b="1" dirty="0"/>
              <a:t> </a:t>
            </a:r>
            <a:r>
              <a:rPr lang="en-IN" sz="4000" b="1" dirty="0" smtClean="0"/>
              <a:t>             Understanding </a:t>
            </a:r>
            <a:r>
              <a:rPr lang="en-IN" sz="4000" b="1" dirty="0"/>
              <a:t>Query Performance</a:t>
            </a:r>
            <a:br>
              <a:rPr lang="en-IN" sz="4000" b="1" dirty="0"/>
            </a:br>
            <a:endParaRPr lang="en-IN" sz="4000" b="1" dirty="0"/>
          </a:p>
        </p:txBody>
      </p:sp>
      <p:sp>
        <p:nvSpPr>
          <p:cNvPr id="3" name="Content Placeholder 2"/>
          <p:cNvSpPr>
            <a:spLocks noGrp="1"/>
          </p:cNvSpPr>
          <p:nvPr>
            <p:ph idx="1"/>
          </p:nvPr>
        </p:nvSpPr>
        <p:spPr>
          <a:xfrm>
            <a:off x="320634" y="575954"/>
            <a:ext cx="11610109" cy="5618823"/>
          </a:xfrm>
        </p:spPr>
        <p:txBody>
          <a:bodyPr>
            <a:normAutofit/>
          </a:bodyPr>
          <a:lstStyle/>
          <a:p>
            <a:pPr marL="0" indent="0">
              <a:buNone/>
            </a:pPr>
            <a:endParaRPr lang="en-IN" sz="1800" dirty="0" smtClean="0"/>
          </a:p>
          <a:p>
            <a:r>
              <a:rPr lang="en-IN" sz="1800" dirty="0" smtClean="0"/>
              <a:t>We prefix query with EXPLAIN to view Hive’s execution plan</a:t>
            </a:r>
          </a:p>
          <a:p>
            <a:r>
              <a:rPr lang="en-IN" sz="1800" dirty="0" smtClean="0"/>
              <a:t>The query plan contains three main sections</a:t>
            </a:r>
          </a:p>
          <a:p>
            <a:pPr marL="0" indent="0">
              <a:buNone/>
            </a:pPr>
            <a:r>
              <a:rPr lang="en-IN" sz="1800" dirty="0" smtClean="0"/>
              <a:t>   – Abstract syntax tree details how Hive parsed query</a:t>
            </a:r>
          </a:p>
          <a:p>
            <a:pPr marL="0" indent="0">
              <a:buNone/>
            </a:pPr>
            <a:r>
              <a:rPr lang="en-IN" sz="1800" dirty="0" smtClean="0"/>
              <a:t>   – The stage dependencies and plans are more useful to most users</a:t>
            </a:r>
          </a:p>
          <a:p>
            <a:pPr marL="0" indent="0">
              <a:buNone/>
            </a:pPr>
            <a:r>
              <a:rPr lang="en-IN" sz="1800" b="1" dirty="0" smtClean="0"/>
              <a:t>        Ex:</a:t>
            </a:r>
          </a:p>
          <a:p>
            <a:pPr marL="0" indent="0">
              <a:buNone/>
            </a:pPr>
            <a:r>
              <a:rPr lang="en-IN" sz="1800" dirty="0" smtClean="0"/>
              <a:t>              hive&gt; EXPLAIN CREATE TABLE </a:t>
            </a:r>
            <a:r>
              <a:rPr lang="en-IN" sz="1800" dirty="0" err="1" smtClean="0"/>
              <a:t>cust_by_zip</a:t>
            </a:r>
            <a:r>
              <a:rPr lang="en-IN" sz="1800" dirty="0" smtClean="0"/>
              <a:t> AS</a:t>
            </a:r>
          </a:p>
          <a:p>
            <a:pPr marL="0" indent="0">
              <a:buNone/>
            </a:pPr>
            <a:r>
              <a:rPr lang="en-IN" sz="1800" dirty="0" smtClean="0"/>
              <a:t>                          SELECT zipcode, COUNT(</a:t>
            </a:r>
            <a:r>
              <a:rPr lang="en-IN" sz="1800" dirty="0" err="1" smtClean="0"/>
              <a:t>cust_id</a:t>
            </a:r>
            <a:r>
              <a:rPr lang="en-IN" sz="1800" dirty="0" smtClean="0"/>
              <a:t>) AS </a:t>
            </a:r>
            <a:r>
              <a:rPr lang="en-IN" sz="1800" dirty="0" err="1" smtClean="0"/>
              <a:t>num</a:t>
            </a:r>
            <a:endParaRPr lang="en-IN" sz="1800" dirty="0" smtClean="0"/>
          </a:p>
          <a:p>
            <a:pPr marL="0" indent="0">
              <a:buNone/>
            </a:pPr>
            <a:r>
              <a:rPr lang="en-IN" sz="1800" dirty="0" smtClean="0"/>
              <a:t>                          FROM customers GROUP BY zipcode; </a:t>
            </a:r>
          </a:p>
          <a:p>
            <a:pPr>
              <a:buFont typeface="Wingdings" panose="05000000000000000000" pitchFamily="2" charset="2"/>
              <a:buChar char="q"/>
            </a:pPr>
            <a:r>
              <a:rPr lang="en-IN" sz="1800" dirty="0" smtClean="0"/>
              <a:t>Understanding the intricate details of how Hive parses and plans every query is very useful for</a:t>
            </a:r>
          </a:p>
          <a:p>
            <a:pPr marL="0" indent="0">
              <a:buNone/>
            </a:pPr>
            <a:r>
              <a:rPr lang="en-IN" sz="1800" dirty="0" smtClean="0"/>
              <a:t>analysing complex or poorly performing queries, especially as we try various tuning steps.</a:t>
            </a:r>
          </a:p>
          <a:p>
            <a:pPr marL="0" indent="0">
              <a:buNone/>
            </a:pPr>
            <a:r>
              <a:rPr lang="en-IN" sz="1800" dirty="0" smtClean="0"/>
              <a:t>We can observe what effect these changes have at the “logical” level, in tandem with performance </a:t>
            </a:r>
          </a:p>
          <a:p>
            <a:pPr marL="0" indent="0">
              <a:buNone/>
            </a:pPr>
            <a:r>
              <a:rPr lang="en-IN" sz="1800" dirty="0" smtClean="0"/>
              <a:t>measurements. </a:t>
            </a:r>
            <a:endParaRPr lang="en-IN" sz="1800" dirty="0"/>
          </a:p>
        </p:txBody>
      </p:sp>
      <p:sp>
        <p:nvSpPr>
          <p:cNvPr id="4" name="Footer Placeholder 3"/>
          <p:cNvSpPr>
            <a:spLocks noGrp="1"/>
          </p:cNvSpPr>
          <p:nvPr>
            <p:ph type="ftr" sz="quarter" idx="11"/>
          </p:nvPr>
        </p:nvSpPr>
        <p:spPr>
          <a:xfrm>
            <a:off x="1638795" y="6356350"/>
            <a:ext cx="7469579" cy="365125"/>
          </a:xfrm>
        </p:spPr>
        <p:txBody>
          <a:bodyPr/>
          <a:lstStyle/>
          <a:p>
            <a:r>
              <a:rPr lang="en-IN" dirty="0" smtClean="0"/>
              <a:t>Copyright © 2016 Accenture All Rights Reserved. Confidential —For Company Internal Use Only.</a:t>
            </a:r>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71511" y="1302048"/>
            <a:ext cx="2513611" cy="4742587"/>
          </a:xfrm>
          <a:prstGeom prst="rect">
            <a:avLst/>
          </a:prstGeom>
        </p:spPr>
      </p:pic>
    </p:spTree>
    <p:extLst>
      <p:ext uri="{BB962C8B-B14F-4D97-AF65-F5344CB8AC3E}">
        <p14:creationId xmlns:p14="http://schemas.microsoft.com/office/powerpoint/2010/main" val="32874820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3296" y="463138"/>
            <a:ext cx="10515600" cy="403761"/>
          </a:xfrm>
        </p:spPr>
        <p:txBody>
          <a:bodyPr>
            <a:noAutofit/>
          </a:bodyPr>
          <a:lstStyle/>
          <a:p>
            <a:r>
              <a:rPr lang="en-IN" sz="4000" b="1" dirty="0" smtClean="0"/>
              <a:t>                         Controlling </a:t>
            </a:r>
            <a:r>
              <a:rPr lang="en-IN" sz="4000" b="1" dirty="0"/>
              <a:t>Job Execution</a:t>
            </a:r>
            <a:br>
              <a:rPr lang="en-IN" sz="4000" b="1" dirty="0"/>
            </a:br>
            <a:endParaRPr lang="en-IN" sz="4000" b="1" dirty="0"/>
          </a:p>
        </p:txBody>
      </p:sp>
      <p:sp>
        <p:nvSpPr>
          <p:cNvPr id="3" name="Content Placeholder 2"/>
          <p:cNvSpPr>
            <a:spLocks noGrp="1"/>
          </p:cNvSpPr>
          <p:nvPr>
            <p:ph idx="1"/>
          </p:nvPr>
        </p:nvSpPr>
        <p:spPr>
          <a:xfrm>
            <a:off x="130629" y="463138"/>
            <a:ext cx="11887200" cy="5893212"/>
          </a:xfrm>
        </p:spPr>
        <p:txBody>
          <a:bodyPr>
            <a:normAutofit/>
          </a:bodyPr>
          <a:lstStyle/>
          <a:p>
            <a:endParaRPr lang="en-IN" sz="1800" b="1" dirty="0" smtClean="0"/>
          </a:p>
          <a:p>
            <a:r>
              <a:rPr lang="en-IN" sz="1800" b="1" dirty="0" smtClean="0"/>
              <a:t>Stages in Hive’s execution plan often lack dependencies</a:t>
            </a:r>
            <a:endParaRPr lang="en-IN" sz="1800" b="1" dirty="0"/>
          </a:p>
          <a:p>
            <a:pPr marL="0" indent="0">
              <a:buNone/>
            </a:pPr>
            <a:r>
              <a:rPr lang="en-IN" sz="1800" dirty="0" smtClean="0"/>
              <a:t>   – This means they can be run in parallel</a:t>
            </a:r>
          </a:p>
          <a:p>
            <a:pPr marL="0" indent="0">
              <a:buNone/>
            </a:pPr>
            <a:endParaRPr lang="en-IN" sz="1800" dirty="0"/>
          </a:p>
          <a:p>
            <a:r>
              <a:rPr lang="en-IN" sz="1800" b="1" dirty="0" smtClean="0"/>
              <a:t>Hive supports parallel execution in such cases</a:t>
            </a:r>
            <a:endParaRPr lang="en-IN" sz="1800" b="1" dirty="0"/>
          </a:p>
          <a:p>
            <a:pPr marL="0" indent="0">
              <a:buNone/>
            </a:pPr>
            <a:r>
              <a:rPr lang="en-IN" sz="1800" dirty="0" smtClean="0"/>
              <a:t>   – However, this feature is disabled by default</a:t>
            </a:r>
          </a:p>
          <a:p>
            <a:pPr marL="0" indent="0">
              <a:buNone/>
            </a:pPr>
            <a:endParaRPr lang="en-IN" sz="1800" dirty="0"/>
          </a:p>
          <a:p>
            <a:r>
              <a:rPr lang="en-IN" sz="1800" b="1" dirty="0" smtClean="0"/>
              <a:t>Enable this by setting the </a:t>
            </a:r>
            <a:r>
              <a:rPr lang="en-IN" sz="1800" b="1" dirty="0" err="1" smtClean="0"/>
              <a:t>hive.exec.parallel</a:t>
            </a:r>
            <a:r>
              <a:rPr lang="en-IN" sz="1800" b="1" dirty="0" smtClean="0"/>
              <a:t> property to true</a:t>
            </a:r>
            <a:endParaRPr lang="en-IN" sz="1800" b="1" dirty="0"/>
          </a:p>
          <a:p>
            <a:pPr marL="0" indent="0">
              <a:buNone/>
            </a:pPr>
            <a:r>
              <a:rPr lang="en-IN" sz="1800" dirty="0" smtClean="0"/>
              <a:t>   – Set only for yourself in</a:t>
            </a:r>
            <a:r>
              <a:rPr lang="en-IN" sz="1800" dirty="0"/>
              <a:t> </a:t>
            </a:r>
            <a:r>
              <a:rPr lang="en-IN" sz="1800" dirty="0" smtClean="0"/>
              <a:t>$HOME</a:t>
            </a:r>
            <a:r>
              <a:rPr lang="en-IN" sz="1800" dirty="0"/>
              <a:t>/.</a:t>
            </a:r>
            <a:r>
              <a:rPr lang="en-IN" sz="1800" dirty="0" err="1"/>
              <a:t>hiverc</a:t>
            </a:r>
            <a:endParaRPr lang="en-IN" sz="1800" dirty="0"/>
          </a:p>
          <a:p>
            <a:pPr marL="0" indent="0">
              <a:buNone/>
            </a:pPr>
            <a:r>
              <a:rPr lang="en-IN" sz="1800" dirty="0" smtClean="0"/>
              <a:t>   – Set for all users in /</a:t>
            </a:r>
            <a:r>
              <a:rPr lang="en-IN" sz="1800" dirty="0" err="1" smtClean="0"/>
              <a:t>etc</a:t>
            </a:r>
            <a:r>
              <a:rPr lang="en-IN" sz="1800" dirty="0" smtClean="0"/>
              <a:t>/hive/</a:t>
            </a:r>
            <a:r>
              <a:rPr lang="en-IN" sz="1800" dirty="0" err="1" smtClean="0"/>
              <a:t>conf</a:t>
            </a:r>
            <a:r>
              <a:rPr lang="en-IN" sz="1800" dirty="0" smtClean="0"/>
              <a:t>/hive-site.xml</a:t>
            </a:r>
          </a:p>
          <a:p>
            <a:pPr marL="0" indent="0">
              <a:buNone/>
            </a:pPr>
            <a:endParaRPr lang="en-IN" sz="1800" dirty="0" smtClean="0"/>
          </a:p>
          <a:p>
            <a:r>
              <a:rPr lang="en-IN" sz="1800" b="1" dirty="0" smtClean="0"/>
              <a:t>Processing data locally can substantially speed up smaller jobs </a:t>
            </a:r>
            <a:endParaRPr lang="en-IN" sz="1800" b="1" dirty="0"/>
          </a:p>
          <a:p>
            <a:pPr marL="0" indent="0">
              <a:buNone/>
            </a:pPr>
            <a:r>
              <a:rPr lang="en-IN" sz="1800" dirty="0" smtClean="0"/>
              <a:t>   – Local execution can substantially improve turnaround for small jobs</a:t>
            </a:r>
          </a:p>
        </p:txBody>
      </p:sp>
      <p:sp>
        <p:nvSpPr>
          <p:cNvPr id="4" name="Footer Placeholder 3"/>
          <p:cNvSpPr>
            <a:spLocks noGrp="1"/>
          </p:cNvSpPr>
          <p:nvPr>
            <p:ph type="ftr" sz="quarter" idx="11"/>
          </p:nvPr>
        </p:nvSpPr>
        <p:spPr>
          <a:xfrm>
            <a:off x="2303813" y="6356350"/>
            <a:ext cx="6994566" cy="365125"/>
          </a:xfrm>
        </p:spPr>
        <p:txBody>
          <a:bodyPr/>
          <a:lstStyle/>
          <a:p>
            <a:r>
              <a:rPr lang="en-IN" dirty="0" smtClean="0"/>
              <a:t>Copyright © 2016 Accenture All Rights Reserved. Confidential —For Company Internal Use Only.</a:t>
            </a:r>
            <a:endParaRPr lang="en-IN" dirty="0"/>
          </a:p>
        </p:txBody>
      </p:sp>
    </p:spTree>
    <p:extLst>
      <p:ext uri="{BB962C8B-B14F-4D97-AF65-F5344CB8AC3E}">
        <p14:creationId xmlns:p14="http://schemas.microsoft.com/office/powerpoint/2010/main" val="25069113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7506" y="295626"/>
            <a:ext cx="10515600" cy="831272"/>
          </a:xfrm>
        </p:spPr>
        <p:txBody>
          <a:bodyPr>
            <a:noAutofit/>
          </a:bodyPr>
          <a:lstStyle/>
          <a:p>
            <a:r>
              <a:rPr lang="en-IN" sz="4000" b="1" dirty="0" smtClean="0"/>
              <a:t>                              Controlling </a:t>
            </a:r>
            <a:r>
              <a:rPr lang="en-IN" sz="4000" b="1" dirty="0"/>
              <a:t>Job Execution</a:t>
            </a:r>
            <a:br>
              <a:rPr lang="en-IN" sz="4000" b="1" dirty="0"/>
            </a:br>
            <a:endParaRPr lang="en-IN" sz="4000" b="1" dirty="0"/>
          </a:p>
        </p:txBody>
      </p:sp>
      <p:sp>
        <p:nvSpPr>
          <p:cNvPr id="3" name="Content Placeholder 2"/>
          <p:cNvSpPr>
            <a:spLocks noGrp="1"/>
          </p:cNvSpPr>
          <p:nvPr>
            <p:ph idx="1"/>
          </p:nvPr>
        </p:nvSpPr>
        <p:spPr>
          <a:xfrm>
            <a:off x="237506" y="475013"/>
            <a:ext cx="11792198" cy="5701950"/>
          </a:xfrm>
        </p:spPr>
        <p:txBody>
          <a:bodyPr>
            <a:normAutofit/>
          </a:bodyPr>
          <a:lstStyle/>
          <a:p>
            <a:endParaRPr lang="en-IN" sz="1800" b="1" dirty="0" smtClean="0"/>
          </a:p>
          <a:p>
            <a:r>
              <a:rPr lang="en-IN" sz="1800" b="1" dirty="0" smtClean="0"/>
              <a:t>Running </a:t>
            </a:r>
            <a:r>
              <a:rPr lang="en-IN" sz="1800" b="1" dirty="0"/>
              <a:t>MapReduce jobs on the cluster has significant overhead</a:t>
            </a:r>
          </a:p>
          <a:p>
            <a:pPr marL="0" indent="0">
              <a:buNone/>
            </a:pPr>
            <a:r>
              <a:rPr lang="en-IN" sz="1800" dirty="0"/>
              <a:t>    – Must divide work, assign tasks, start processes, collect results, etc.</a:t>
            </a:r>
          </a:p>
          <a:p>
            <a:pPr marL="0" indent="0">
              <a:buNone/>
            </a:pPr>
            <a:r>
              <a:rPr lang="en-IN" sz="1800" dirty="0"/>
              <a:t>    – Necessary to process large amounts of data in Hive</a:t>
            </a:r>
          </a:p>
          <a:p>
            <a:pPr marL="0" indent="0">
              <a:buNone/>
            </a:pPr>
            <a:r>
              <a:rPr lang="en-IN" sz="1800" dirty="0"/>
              <a:t>    – Possibly inefficient with small amount of </a:t>
            </a:r>
            <a:r>
              <a:rPr lang="en-IN" sz="1800" dirty="0" smtClean="0"/>
              <a:t>data</a:t>
            </a:r>
          </a:p>
          <a:p>
            <a:r>
              <a:rPr lang="en-IN" sz="1800" b="1" dirty="0" smtClean="0"/>
              <a:t>Processing </a:t>
            </a:r>
            <a:r>
              <a:rPr lang="en-IN" sz="1800" b="1" dirty="0"/>
              <a:t>data locally can substantially speed up smaller jobs</a:t>
            </a:r>
          </a:p>
          <a:p>
            <a:pPr marL="0" indent="0">
              <a:buNone/>
            </a:pPr>
            <a:r>
              <a:rPr lang="en-IN" sz="1800" b="1" dirty="0"/>
              <a:t>    </a:t>
            </a:r>
            <a:r>
              <a:rPr lang="en-IN" sz="1800" dirty="0"/>
              <a:t>– Local execution can substantially improve turn around for small jobs</a:t>
            </a:r>
            <a:endParaRPr lang="en-IN" sz="1800" b="1" dirty="0"/>
          </a:p>
          <a:p>
            <a:pPr marL="0" indent="0">
              <a:buNone/>
            </a:pPr>
            <a:r>
              <a:rPr lang="en-IN" sz="1800" b="1" dirty="0"/>
              <a:t>       </a:t>
            </a:r>
            <a:r>
              <a:rPr lang="en-IN" sz="1800" dirty="0"/>
              <a:t>hive&gt; SET </a:t>
            </a:r>
            <a:r>
              <a:rPr lang="en-IN" sz="1800" dirty="0" err="1"/>
              <a:t>mapred.job.tracker</a:t>
            </a:r>
            <a:r>
              <a:rPr lang="en-IN" sz="1800" dirty="0"/>
              <a:t>=local;</a:t>
            </a:r>
          </a:p>
          <a:p>
            <a:pPr marL="0" indent="0">
              <a:buNone/>
            </a:pPr>
            <a:r>
              <a:rPr lang="en-IN" sz="1800" dirty="0"/>
              <a:t>       hive&gt; SET </a:t>
            </a:r>
            <a:r>
              <a:rPr lang="en-IN" sz="1800" dirty="0" err="1"/>
              <a:t>mapred.local.dir</a:t>
            </a:r>
            <a:r>
              <a:rPr lang="en-IN" sz="1800" dirty="0"/>
              <a:t>=/</a:t>
            </a:r>
            <a:r>
              <a:rPr lang="en-IN" sz="1800" dirty="0" smtClean="0"/>
              <a:t>home/training/</a:t>
            </a:r>
            <a:r>
              <a:rPr lang="en-IN" sz="1800" dirty="0" err="1" smtClean="0"/>
              <a:t>tmpdata</a:t>
            </a:r>
            <a:endParaRPr lang="en-IN" sz="1800" dirty="0"/>
          </a:p>
          <a:p>
            <a:r>
              <a:rPr lang="en-IN" sz="1800" b="1" dirty="0" smtClean="0"/>
              <a:t>Hive can select local execution mode automatically</a:t>
            </a:r>
            <a:endParaRPr lang="en-IN" sz="1800" b="1" dirty="0"/>
          </a:p>
          <a:p>
            <a:pPr marL="0" indent="0">
              <a:buNone/>
            </a:pPr>
            <a:r>
              <a:rPr lang="en-IN" sz="1800" dirty="0" smtClean="0"/>
              <a:t>   – Enable by setting </a:t>
            </a:r>
            <a:r>
              <a:rPr lang="en-IN" sz="1800" dirty="0" err="1" smtClean="0"/>
              <a:t>hive.exec.mode.local.auto</a:t>
            </a:r>
            <a:r>
              <a:rPr lang="en-IN" sz="1800" dirty="0" smtClean="0"/>
              <a:t> to true</a:t>
            </a:r>
            <a:endParaRPr lang="en-IN" sz="1800" dirty="0"/>
          </a:p>
        </p:txBody>
      </p:sp>
      <p:sp>
        <p:nvSpPr>
          <p:cNvPr id="4" name="Footer Placeholder 3"/>
          <p:cNvSpPr>
            <a:spLocks noGrp="1"/>
          </p:cNvSpPr>
          <p:nvPr>
            <p:ph type="ftr" sz="quarter" idx="11"/>
          </p:nvPr>
        </p:nvSpPr>
        <p:spPr>
          <a:xfrm>
            <a:off x="1983179" y="6356350"/>
            <a:ext cx="8229600" cy="365125"/>
          </a:xfrm>
        </p:spPr>
        <p:txBody>
          <a:bodyPr/>
          <a:lstStyle/>
          <a:p>
            <a:r>
              <a:rPr lang="en-IN" dirty="0" smtClean="0"/>
              <a:t>Copyright © 2016 Accenture All Rights Reserved. Confidential —For Company Internal Use Only.</a:t>
            </a:r>
            <a:endParaRPr lang="en-IN" dirty="0"/>
          </a:p>
        </p:txBody>
      </p:sp>
    </p:spTree>
    <p:extLst>
      <p:ext uri="{BB962C8B-B14F-4D97-AF65-F5344CB8AC3E}">
        <p14:creationId xmlns:p14="http://schemas.microsoft.com/office/powerpoint/2010/main" val="38258225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5177" y="155345"/>
            <a:ext cx="10515600" cy="890649"/>
          </a:xfrm>
        </p:spPr>
        <p:txBody>
          <a:bodyPr>
            <a:noAutofit/>
          </a:bodyPr>
          <a:lstStyle/>
          <a:p>
            <a:r>
              <a:rPr lang="en-IN" sz="4000" dirty="0" smtClean="0"/>
              <a:t>                                 </a:t>
            </a:r>
            <a:r>
              <a:rPr lang="en-IN" sz="4000" b="1" dirty="0" smtClean="0"/>
              <a:t>Use of Partitioning</a:t>
            </a:r>
            <a:r>
              <a:rPr lang="en-IN" sz="4000" dirty="0" smtClean="0"/>
              <a:t/>
            </a:r>
            <a:br>
              <a:rPr lang="en-IN" sz="4000" dirty="0" smtClean="0"/>
            </a:br>
            <a:endParaRPr lang="en-IN" sz="4000" dirty="0"/>
          </a:p>
        </p:txBody>
      </p:sp>
      <p:sp>
        <p:nvSpPr>
          <p:cNvPr id="4" name="Footer Placeholder 3"/>
          <p:cNvSpPr>
            <a:spLocks noGrp="1"/>
          </p:cNvSpPr>
          <p:nvPr>
            <p:ph type="ftr" sz="quarter" idx="11"/>
          </p:nvPr>
        </p:nvSpPr>
        <p:spPr>
          <a:xfrm>
            <a:off x="1923803" y="6356350"/>
            <a:ext cx="8158348" cy="365125"/>
          </a:xfrm>
        </p:spPr>
        <p:txBody>
          <a:bodyPr/>
          <a:lstStyle/>
          <a:p>
            <a:r>
              <a:rPr lang="en-IN" smtClean="0"/>
              <a:t>Copyright © 2016 Accenture All Rights Reserved. Confidential —For Company Internal Use Only.</a:t>
            </a:r>
            <a:endParaRPr lang="en-IN"/>
          </a:p>
        </p:txBody>
      </p:sp>
      <p:sp>
        <p:nvSpPr>
          <p:cNvPr id="5" name="Rectangle 4"/>
          <p:cNvSpPr/>
          <p:nvPr/>
        </p:nvSpPr>
        <p:spPr>
          <a:xfrm>
            <a:off x="340426" y="354707"/>
            <a:ext cx="11511148" cy="5355312"/>
          </a:xfrm>
          <a:prstGeom prst="rect">
            <a:avLst/>
          </a:prstGeom>
        </p:spPr>
        <p:txBody>
          <a:bodyPr wrap="square">
            <a:spAutoFit/>
          </a:bodyPr>
          <a:lstStyle/>
          <a:p>
            <a:pPr marL="342900" indent="-342900">
              <a:buFont typeface="Arial" panose="020B0604020202020204" pitchFamily="34" charset="0"/>
              <a:buChar char="•"/>
            </a:pPr>
            <a:endParaRPr lang="en-IN" dirty="0" smtClean="0"/>
          </a:p>
          <a:p>
            <a:pPr marL="342900" indent="-342900">
              <a:buFont typeface="Arial" panose="020B0604020202020204" pitchFamily="34" charset="0"/>
              <a:buChar char="•"/>
            </a:pPr>
            <a:endParaRPr lang="en-IN" dirty="0" smtClean="0"/>
          </a:p>
          <a:p>
            <a:pPr marL="342900" indent="-342900">
              <a:buFont typeface="Arial" panose="020B0604020202020204" pitchFamily="34" charset="0"/>
              <a:buChar char="•"/>
            </a:pPr>
            <a:r>
              <a:rPr lang="en-IN" dirty="0" smtClean="0"/>
              <a:t>Hive </a:t>
            </a:r>
            <a:r>
              <a:rPr lang="en-IN" dirty="0"/>
              <a:t>partitioning is an effective method to improve the query performance on larger </a:t>
            </a:r>
            <a:r>
              <a:rPr lang="en-IN" dirty="0" smtClean="0"/>
              <a:t>tables. </a:t>
            </a:r>
            <a:r>
              <a:rPr lang="en-IN" dirty="0"/>
              <a:t>Partitioning allows you to store data in separate sub-directories under table location</a:t>
            </a:r>
            <a:r>
              <a:rPr lang="en-IN" dirty="0" smtClean="0"/>
              <a:t>.</a:t>
            </a:r>
          </a:p>
          <a:p>
            <a:r>
              <a:rPr lang="en-IN" dirty="0" smtClean="0"/>
              <a:t> </a:t>
            </a:r>
          </a:p>
          <a:p>
            <a:pPr marL="342900" indent="-342900">
              <a:buFont typeface="Arial" panose="020B0604020202020204" pitchFamily="34" charset="0"/>
              <a:buChar char="•"/>
            </a:pPr>
            <a:r>
              <a:rPr lang="en-IN" dirty="0" smtClean="0"/>
              <a:t>It </a:t>
            </a:r>
            <a:r>
              <a:rPr lang="en-IN" dirty="0"/>
              <a:t>greatly helps the queries which are queried upon the partition key(s). Although the selection of partition key is always a sensitive decision, it should always be a low cardinal attribute, e.g. if your data is associated with time dimension, then date could be a good partition key. Similarly, if data has association with location, like a country or state, then it’s a good idea to have hierarchical partitions like </a:t>
            </a:r>
            <a:r>
              <a:rPr lang="en-IN" dirty="0" smtClean="0"/>
              <a:t>country/state.</a:t>
            </a:r>
          </a:p>
          <a:p>
            <a:r>
              <a:rPr lang="en-IN" dirty="0"/>
              <a:t> </a:t>
            </a:r>
            <a:r>
              <a:rPr lang="en-IN" dirty="0" smtClean="0"/>
              <a:t>    </a:t>
            </a:r>
          </a:p>
          <a:p>
            <a:endParaRPr lang="en-IN" b="1" dirty="0"/>
          </a:p>
          <a:p>
            <a:r>
              <a:rPr lang="en-IN" b="1" dirty="0" smtClean="0"/>
              <a:t>Ex:  CREATE </a:t>
            </a:r>
            <a:r>
              <a:rPr lang="en-IN" b="1" dirty="0"/>
              <a:t>TABLE </a:t>
            </a:r>
            <a:r>
              <a:rPr lang="en-IN" b="1" dirty="0" err="1"/>
              <a:t>call_logs</a:t>
            </a:r>
            <a:r>
              <a:rPr lang="en-IN" b="1" dirty="0"/>
              <a:t> (</a:t>
            </a:r>
          </a:p>
          <a:p>
            <a:r>
              <a:rPr lang="en-IN" b="1" dirty="0" smtClean="0"/>
              <a:t>                 </a:t>
            </a:r>
            <a:r>
              <a:rPr lang="en-IN" b="1" dirty="0" err="1" smtClean="0"/>
              <a:t>call_time</a:t>
            </a:r>
            <a:r>
              <a:rPr lang="en-IN" b="1" dirty="0" smtClean="0"/>
              <a:t> </a:t>
            </a:r>
            <a:r>
              <a:rPr lang="en-IN" b="1" dirty="0"/>
              <a:t>STRING,</a:t>
            </a:r>
          </a:p>
          <a:p>
            <a:r>
              <a:rPr lang="en-IN" b="1" dirty="0" smtClean="0"/>
              <a:t>                 </a:t>
            </a:r>
            <a:r>
              <a:rPr lang="en-IN" b="1" dirty="0" err="1" smtClean="0"/>
              <a:t>event_type</a:t>
            </a:r>
            <a:r>
              <a:rPr lang="en-IN" b="1" dirty="0" smtClean="0"/>
              <a:t> </a:t>
            </a:r>
            <a:r>
              <a:rPr lang="en-IN" b="1" dirty="0"/>
              <a:t>STRING,</a:t>
            </a:r>
          </a:p>
          <a:p>
            <a:r>
              <a:rPr lang="en-IN" b="1" dirty="0" smtClean="0"/>
              <a:t>                 phone </a:t>
            </a:r>
            <a:r>
              <a:rPr lang="en-IN" b="1" dirty="0"/>
              <a:t>STRING,</a:t>
            </a:r>
          </a:p>
          <a:p>
            <a:r>
              <a:rPr lang="en-IN" b="1" dirty="0" smtClean="0"/>
              <a:t>                 details </a:t>
            </a:r>
            <a:r>
              <a:rPr lang="en-IN" b="1" dirty="0"/>
              <a:t>STRING)</a:t>
            </a:r>
          </a:p>
          <a:p>
            <a:r>
              <a:rPr lang="en-IN" b="1" dirty="0" smtClean="0"/>
              <a:t>            PARTITIONED </a:t>
            </a:r>
            <a:r>
              <a:rPr lang="en-IN" b="1" dirty="0"/>
              <a:t>BY (</a:t>
            </a:r>
            <a:r>
              <a:rPr lang="en-IN" b="1" dirty="0" err="1"/>
              <a:t>call_date</a:t>
            </a:r>
            <a:r>
              <a:rPr lang="en-IN" b="1" dirty="0"/>
              <a:t> STRING)</a:t>
            </a:r>
          </a:p>
          <a:p>
            <a:r>
              <a:rPr lang="en-IN" b="1" dirty="0" smtClean="0"/>
              <a:t>            ROW </a:t>
            </a:r>
            <a:r>
              <a:rPr lang="en-IN" b="1" dirty="0"/>
              <a:t>FORMAT DELIMITED</a:t>
            </a:r>
          </a:p>
          <a:p>
            <a:r>
              <a:rPr lang="en-IN" b="1" dirty="0" smtClean="0"/>
              <a:t>            FIELDS </a:t>
            </a:r>
            <a:r>
              <a:rPr lang="en-IN" b="1" dirty="0"/>
              <a:t>TERMINATED BY '\t';</a:t>
            </a:r>
          </a:p>
        </p:txBody>
      </p:sp>
    </p:spTree>
    <p:extLst>
      <p:ext uri="{BB962C8B-B14F-4D97-AF65-F5344CB8AC3E}">
        <p14:creationId xmlns:p14="http://schemas.microsoft.com/office/powerpoint/2010/main" val="8103506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0858"/>
            <a:ext cx="10515600" cy="961901"/>
          </a:xfrm>
        </p:spPr>
        <p:txBody>
          <a:bodyPr>
            <a:noAutofit/>
          </a:bodyPr>
          <a:lstStyle/>
          <a:p>
            <a:r>
              <a:rPr lang="en-IN" sz="4000" dirty="0"/>
              <a:t> </a:t>
            </a:r>
            <a:r>
              <a:rPr lang="en-IN" sz="4000" dirty="0" smtClean="0"/>
              <a:t>                                 </a:t>
            </a:r>
            <a:r>
              <a:rPr lang="en-IN" sz="4000" b="1" dirty="0" smtClean="0"/>
              <a:t>Use </a:t>
            </a:r>
            <a:r>
              <a:rPr lang="en-IN" sz="4000" b="1" dirty="0"/>
              <a:t>of Partitioning</a:t>
            </a:r>
            <a:r>
              <a:rPr lang="en-IN" sz="4000" dirty="0"/>
              <a:t/>
            </a:r>
            <a:br>
              <a:rPr lang="en-IN" sz="4000" dirty="0"/>
            </a:br>
            <a:endParaRPr lang="en-IN" sz="4000" dirty="0"/>
          </a:p>
        </p:txBody>
      </p:sp>
      <p:sp>
        <p:nvSpPr>
          <p:cNvPr id="3" name="Content Placeholder 2"/>
          <p:cNvSpPr>
            <a:spLocks noGrp="1"/>
          </p:cNvSpPr>
          <p:nvPr>
            <p:ph idx="1"/>
          </p:nvPr>
        </p:nvSpPr>
        <p:spPr>
          <a:xfrm>
            <a:off x="176151" y="754083"/>
            <a:ext cx="11839698" cy="5511945"/>
          </a:xfrm>
        </p:spPr>
        <p:txBody>
          <a:bodyPr>
            <a:normAutofit/>
          </a:bodyPr>
          <a:lstStyle/>
          <a:p>
            <a:r>
              <a:rPr lang="en-IN" sz="1800" b="1" dirty="0"/>
              <a:t>Dynamic </a:t>
            </a:r>
            <a:r>
              <a:rPr lang="en-IN" sz="1800" b="1" dirty="0" smtClean="0"/>
              <a:t>Partition Tuning</a:t>
            </a:r>
          </a:p>
          <a:p>
            <a:pPr marL="0" indent="0">
              <a:buNone/>
            </a:pPr>
            <a:r>
              <a:rPr lang="en-IN" sz="1800" b="1" dirty="0" smtClean="0"/>
              <a:t>   </a:t>
            </a:r>
            <a:r>
              <a:rPr lang="en-IN" sz="1800" dirty="0" smtClean="0"/>
              <a:t>Partitions are automatically created based on the value of the </a:t>
            </a:r>
            <a:r>
              <a:rPr lang="en-IN" sz="1800" i="1" dirty="0" smtClean="0"/>
              <a:t>last</a:t>
            </a:r>
            <a:r>
              <a:rPr lang="en-IN" sz="1800" dirty="0"/>
              <a:t> </a:t>
            </a:r>
            <a:r>
              <a:rPr lang="en-IN" sz="1800" dirty="0" smtClean="0"/>
              <a:t>column</a:t>
            </a:r>
            <a:endParaRPr lang="en-IN" sz="1800" dirty="0"/>
          </a:p>
          <a:p>
            <a:pPr marL="0" indent="0">
              <a:buNone/>
            </a:pPr>
            <a:r>
              <a:rPr lang="en-IN" sz="1800" dirty="0" smtClean="0"/>
              <a:t>   – If the partition does not already exist, it will be created</a:t>
            </a:r>
            <a:endParaRPr lang="en-IN" sz="1800" dirty="0"/>
          </a:p>
          <a:p>
            <a:pPr marL="0" indent="0">
              <a:buNone/>
            </a:pPr>
            <a:r>
              <a:rPr lang="en-IN" sz="1800" dirty="0" smtClean="0"/>
              <a:t>   – If the partition does exist, it will be overwritten</a:t>
            </a:r>
          </a:p>
          <a:p>
            <a:pPr marL="0" indent="0">
              <a:buNone/>
            </a:pPr>
            <a:r>
              <a:rPr lang="en-IN" sz="1800" b="1" dirty="0" smtClean="0"/>
              <a:t>   We can set this property making</a:t>
            </a:r>
          </a:p>
          <a:p>
            <a:pPr marL="0" indent="0">
              <a:buNone/>
            </a:pPr>
            <a:r>
              <a:rPr lang="en-IN" sz="1800" dirty="0" smtClean="0"/>
              <a:t>   </a:t>
            </a:r>
            <a:r>
              <a:rPr lang="en-IN" sz="1800" dirty="0" err="1" smtClean="0"/>
              <a:t>hive.exec.dynamic.partition</a:t>
            </a:r>
            <a:r>
              <a:rPr lang="en-IN" sz="1800" dirty="0" smtClean="0"/>
              <a:t> to true</a:t>
            </a:r>
            <a:endParaRPr lang="en-IN" sz="1800" dirty="0"/>
          </a:p>
          <a:p>
            <a:pPr marL="0" indent="0">
              <a:buNone/>
            </a:pPr>
            <a:r>
              <a:rPr lang="en-IN" sz="1800" dirty="0" smtClean="0"/>
              <a:t>   </a:t>
            </a:r>
            <a:r>
              <a:rPr lang="en-IN" sz="1800" dirty="0" err="1" smtClean="0"/>
              <a:t>hive.exec.dynamic.partition.mode</a:t>
            </a:r>
            <a:r>
              <a:rPr lang="en-IN" sz="1800" dirty="0" smtClean="0"/>
              <a:t> </a:t>
            </a:r>
            <a:r>
              <a:rPr lang="en-IN" sz="1800" dirty="0"/>
              <a:t>to </a:t>
            </a:r>
            <a:r>
              <a:rPr lang="en-IN" sz="1800" dirty="0" err="1"/>
              <a:t>nonstrict</a:t>
            </a:r>
            <a:endParaRPr lang="en-IN" sz="1800" b="1" dirty="0"/>
          </a:p>
          <a:p>
            <a:pPr marL="0" indent="0">
              <a:buNone/>
            </a:pPr>
            <a:endParaRPr lang="en-IN" sz="1800" dirty="0" smtClean="0"/>
          </a:p>
          <a:p>
            <a:pPr marL="0" indent="0">
              <a:buNone/>
            </a:pPr>
            <a:r>
              <a:rPr lang="en-IN" sz="1800" b="1" dirty="0" smtClean="0"/>
              <a:t>     </a:t>
            </a:r>
            <a:endParaRPr lang="en-IN" sz="1800" dirty="0"/>
          </a:p>
        </p:txBody>
      </p:sp>
      <p:sp>
        <p:nvSpPr>
          <p:cNvPr id="4" name="Footer Placeholder 3"/>
          <p:cNvSpPr>
            <a:spLocks noGrp="1"/>
          </p:cNvSpPr>
          <p:nvPr>
            <p:ph type="ftr" sz="quarter" idx="11"/>
          </p:nvPr>
        </p:nvSpPr>
        <p:spPr>
          <a:xfrm>
            <a:off x="2220685" y="6356350"/>
            <a:ext cx="7505205" cy="365125"/>
          </a:xfrm>
        </p:spPr>
        <p:txBody>
          <a:bodyPr/>
          <a:lstStyle/>
          <a:p>
            <a:r>
              <a:rPr lang="en-IN" dirty="0" smtClean="0"/>
              <a:t>Copyright © 2016 Accenture All Rights Reserved. Confidential —For Company Internal Use Only.</a:t>
            </a:r>
            <a:endParaRPr lang="en-IN" dirty="0"/>
          </a:p>
        </p:txBody>
      </p:sp>
      <p:sp>
        <p:nvSpPr>
          <p:cNvPr id="9" name="Rectangle 8"/>
          <p:cNvSpPr/>
          <p:nvPr/>
        </p:nvSpPr>
        <p:spPr>
          <a:xfrm>
            <a:off x="427512" y="3360718"/>
            <a:ext cx="9678389" cy="3087584"/>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solidFill>
                  <a:schemeClr val="tx1"/>
                </a:solidFill>
              </a:rPr>
              <a:t>Caution: if the partition column has many different values, many partitions will be </a:t>
            </a:r>
            <a:r>
              <a:rPr lang="en-IN" b="1" dirty="0" smtClean="0">
                <a:solidFill>
                  <a:schemeClr val="tx1"/>
                </a:solidFill>
              </a:rPr>
              <a:t>created three</a:t>
            </a:r>
          </a:p>
          <a:p>
            <a:r>
              <a:rPr lang="en-IN" b="1" dirty="0" smtClean="0">
                <a:solidFill>
                  <a:schemeClr val="tx1"/>
                </a:solidFill>
              </a:rPr>
              <a:t>                Hive </a:t>
            </a:r>
            <a:r>
              <a:rPr lang="en-IN" b="1" dirty="0">
                <a:solidFill>
                  <a:schemeClr val="tx1"/>
                </a:solidFill>
              </a:rPr>
              <a:t>configurations properties exist to limit this</a:t>
            </a:r>
          </a:p>
          <a:p>
            <a:r>
              <a:rPr lang="en-IN" dirty="0">
                <a:solidFill>
                  <a:schemeClr val="tx1"/>
                </a:solidFill>
              </a:rPr>
              <a:t>      – </a:t>
            </a:r>
            <a:r>
              <a:rPr lang="en-IN" dirty="0" err="1">
                <a:solidFill>
                  <a:schemeClr val="tx1"/>
                </a:solidFill>
              </a:rPr>
              <a:t>hive.exec.max.dynamic.partitions.pernode</a:t>
            </a:r>
            <a:endParaRPr lang="en-IN" dirty="0">
              <a:solidFill>
                <a:schemeClr val="tx1"/>
              </a:solidFill>
            </a:endParaRPr>
          </a:p>
          <a:p>
            <a:r>
              <a:rPr lang="en-IN" dirty="0">
                <a:solidFill>
                  <a:schemeClr val="tx1"/>
                </a:solidFill>
              </a:rPr>
              <a:t>             –  Maximum number of dynamic partitions that can be created by any given Mapper or Reducer (Default 100)</a:t>
            </a:r>
          </a:p>
          <a:p>
            <a:r>
              <a:rPr lang="en-IN" dirty="0">
                <a:solidFill>
                  <a:schemeClr val="tx1"/>
                </a:solidFill>
              </a:rPr>
              <a:t>      – </a:t>
            </a:r>
            <a:r>
              <a:rPr lang="en-IN" dirty="0" err="1">
                <a:solidFill>
                  <a:schemeClr val="tx1"/>
                </a:solidFill>
              </a:rPr>
              <a:t>hive.exec.max.dynamic.partitions</a:t>
            </a:r>
            <a:endParaRPr lang="en-IN" dirty="0">
              <a:solidFill>
                <a:schemeClr val="tx1"/>
              </a:solidFill>
            </a:endParaRPr>
          </a:p>
          <a:p>
            <a:r>
              <a:rPr lang="en-IN" dirty="0">
                <a:solidFill>
                  <a:schemeClr val="tx1"/>
                </a:solidFill>
              </a:rPr>
              <a:t>             – Total number of dynamic partitions that can be created by one </a:t>
            </a:r>
            <a:r>
              <a:rPr lang="en-IN" dirty="0" err="1">
                <a:solidFill>
                  <a:schemeClr val="tx1"/>
                </a:solidFill>
              </a:rPr>
              <a:t>HiveQL</a:t>
            </a:r>
            <a:r>
              <a:rPr lang="en-IN" dirty="0">
                <a:solidFill>
                  <a:schemeClr val="tx1"/>
                </a:solidFill>
              </a:rPr>
              <a:t> statement (Default 1000)</a:t>
            </a:r>
          </a:p>
          <a:p>
            <a:r>
              <a:rPr lang="en-IN" dirty="0">
                <a:solidFill>
                  <a:schemeClr val="tx1"/>
                </a:solidFill>
              </a:rPr>
              <a:t>      – </a:t>
            </a:r>
            <a:r>
              <a:rPr lang="en-IN" dirty="0" err="1">
                <a:solidFill>
                  <a:schemeClr val="tx1"/>
                </a:solidFill>
              </a:rPr>
              <a:t>hive.exec.max.created.files</a:t>
            </a:r>
            <a:endParaRPr lang="en-IN" dirty="0">
              <a:solidFill>
                <a:schemeClr val="tx1"/>
              </a:solidFill>
            </a:endParaRPr>
          </a:p>
          <a:p>
            <a:r>
              <a:rPr lang="en-IN" dirty="0">
                <a:solidFill>
                  <a:schemeClr val="tx1"/>
                </a:solidFill>
              </a:rPr>
              <a:t>             – Maximum total files created by Mappers and Reducers (Default 100000)</a:t>
            </a:r>
          </a:p>
          <a:p>
            <a:pPr algn="ctr"/>
            <a:endParaRPr lang="en-IN" dirty="0">
              <a:solidFill>
                <a:schemeClr val="tx1"/>
              </a:solidFill>
            </a:endParaRPr>
          </a:p>
        </p:txBody>
      </p:sp>
    </p:spTree>
    <p:extLst>
      <p:ext uri="{BB962C8B-B14F-4D97-AF65-F5344CB8AC3E}">
        <p14:creationId xmlns:p14="http://schemas.microsoft.com/office/powerpoint/2010/main" val="15841500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478" y="224106"/>
            <a:ext cx="10515600" cy="546266"/>
          </a:xfrm>
        </p:spPr>
        <p:txBody>
          <a:bodyPr>
            <a:noAutofit/>
          </a:bodyPr>
          <a:lstStyle/>
          <a:p>
            <a:r>
              <a:rPr lang="en-IN" sz="4000" b="1" dirty="0"/>
              <a:t> </a:t>
            </a:r>
            <a:r>
              <a:rPr lang="en-IN" sz="4000" b="1" dirty="0" smtClean="0"/>
              <a:t>                           </a:t>
            </a:r>
            <a:br>
              <a:rPr lang="en-IN" sz="4000" b="1" dirty="0" smtClean="0"/>
            </a:br>
            <a:r>
              <a:rPr lang="en-IN" sz="4000" b="1" dirty="0"/>
              <a:t> </a:t>
            </a:r>
            <a:r>
              <a:rPr lang="en-IN" sz="4000" b="1" dirty="0" smtClean="0"/>
              <a:t>                              Use </a:t>
            </a:r>
            <a:r>
              <a:rPr lang="en-IN" sz="4000" b="1" dirty="0"/>
              <a:t>of Bucketing</a:t>
            </a:r>
            <a:br>
              <a:rPr lang="en-IN" sz="4000" b="1" dirty="0"/>
            </a:br>
            <a:endParaRPr lang="en-IN" sz="4000" b="1" dirty="0"/>
          </a:p>
        </p:txBody>
      </p:sp>
      <p:sp>
        <p:nvSpPr>
          <p:cNvPr id="3" name="Content Placeholder 2"/>
          <p:cNvSpPr>
            <a:spLocks noGrp="1"/>
          </p:cNvSpPr>
          <p:nvPr>
            <p:ph idx="1"/>
          </p:nvPr>
        </p:nvSpPr>
        <p:spPr>
          <a:xfrm>
            <a:off x="0" y="546266"/>
            <a:ext cx="12065330" cy="5712030"/>
          </a:xfrm>
        </p:spPr>
        <p:txBody>
          <a:bodyPr>
            <a:normAutofit/>
          </a:bodyPr>
          <a:lstStyle/>
          <a:p>
            <a:endParaRPr lang="en-IN" sz="1800" b="1" dirty="0" smtClean="0"/>
          </a:p>
          <a:p>
            <a:r>
              <a:rPr lang="en-IN" sz="1800" b="1" dirty="0" smtClean="0"/>
              <a:t>Partitioning subdivides data by values in partitioned columns</a:t>
            </a:r>
            <a:endParaRPr lang="en-IN" sz="1800" b="1" dirty="0"/>
          </a:p>
          <a:p>
            <a:r>
              <a:rPr lang="en-IN" sz="1800" b="1" dirty="0" smtClean="0"/>
              <a:t>Bucketing data is another way of subdividing data</a:t>
            </a:r>
            <a:endParaRPr lang="en-IN" sz="1800" b="1" dirty="0"/>
          </a:p>
          <a:p>
            <a:pPr marL="0" indent="0">
              <a:buNone/>
            </a:pPr>
            <a:r>
              <a:rPr lang="en-IN" sz="1800" dirty="0" smtClean="0"/>
              <a:t>   – Calculates hash code for values inserted into bucketed columns</a:t>
            </a:r>
            <a:endParaRPr lang="en-IN" sz="1800" dirty="0"/>
          </a:p>
          <a:p>
            <a:pPr marL="0" indent="0">
              <a:buNone/>
            </a:pPr>
            <a:r>
              <a:rPr lang="en-IN" sz="1800" dirty="0" smtClean="0"/>
              <a:t>   – Hash code used to assign new records to a “bucket”</a:t>
            </a:r>
            <a:endParaRPr lang="en-IN" sz="1800" dirty="0"/>
          </a:p>
          <a:p>
            <a:r>
              <a:rPr lang="en-IN" sz="1800" b="1" dirty="0" smtClean="0"/>
              <a:t>Objective: distribute rows across a predefined number of buckets</a:t>
            </a:r>
            <a:endParaRPr lang="en-IN" sz="1800" b="1" dirty="0"/>
          </a:p>
          <a:p>
            <a:pPr marL="0" indent="0">
              <a:buNone/>
            </a:pPr>
            <a:r>
              <a:rPr lang="en-IN" sz="1800" dirty="0" smtClean="0"/>
              <a:t>   – Useful for jobs which need random samples of data</a:t>
            </a:r>
            <a:endParaRPr lang="en-IN" sz="1800" dirty="0"/>
          </a:p>
          <a:p>
            <a:pPr marL="0" indent="0">
              <a:buNone/>
            </a:pPr>
            <a:r>
              <a:rPr lang="en-IN" sz="1800" dirty="0" smtClean="0"/>
              <a:t>   – Joins may be faster if all tables are bucketed on the join column</a:t>
            </a:r>
          </a:p>
          <a:p>
            <a:r>
              <a:rPr lang="en-IN" sz="1800" b="1" dirty="0" smtClean="0"/>
              <a:t>Bucketing isn’t automatically enforced when inserting data</a:t>
            </a:r>
            <a:endParaRPr lang="en-IN" sz="1800" b="1" dirty="0"/>
          </a:p>
          <a:p>
            <a:pPr marL="0" indent="0">
              <a:buNone/>
            </a:pPr>
            <a:r>
              <a:rPr lang="en-IN" sz="1800" dirty="0"/>
              <a:t> </a:t>
            </a:r>
            <a:r>
              <a:rPr lang="en-IN" sz="1800" dirty="0" smtClean="0"/>
              <a:t>  – Set the </a:t>
            </a:r>
            <a:r>
              <a:rPr lang="en-IN" sz="1800" dirty="0" err="1" smtClean="0"/>
              <a:t>hive.enforce.bucketing</a:t>
            </a:r>
            <a:r>
              <a:rPr lang="en-IN" sz="1800" dirty="0" smtClean="0"/>
              <a:t> property to true</a:t>
            </a:r>
          </a:p>
          <a:p>
            <a:r>
              <a:rPr lang="en-IN" sz="1800" b="1" dirty="0"/>
              <a:t>To leverage the bucketing in the join operation we should</a:t>
            </a:r>
            <a:r>
              <a:rPr lang="en-IN" sz="1800" dirty="0"/>
              <a:t> </a:t>
            </a:r>
            <a:endParaRPr lang="en-IN" sz="1800" dirty="0" smtClean="0"/>
          </a:p>
          <a:p>
            <a:pPr marL="0" indent="0">
              <a:buNone/>
            </a:pPr>
            <a:r>
              <a:rPr lang="en-IN" sz="1800" b="1" dirty="0"/>
              <a:t> </a:t>
            </a:r>
            <a:r>
              <a:rPr lang="en-IN" sz="1800" b="1" dirty="0" smtClean="0"/>
              <a:t>  </a:t>
            </a:r>
            <a:r>
              <a:rPr lang="en-IN" sz="1800" dirty="0" smtClean="0"/>
              <a:t>–</a:t>
            </a:r>
            <a:r>
              <a:rPr lang="en-IN" sz="1800" b="1" dirty="0" smtClean="0"/>
              <a:t> </a:t>
            </a:r>
            <a:r>
              <a:rPr lang="en-IN" sz="1800" dirty="0" smtClean="0"/>
              <a:t>SET </a:t>
            </a:r>
            <a:r>
              <a:rPr lang="en-IN" sz="1800" dirty="0" err="1" smtClean="0"/>
              <a:t>hive.optimize.bucketmapjoin</a:t>
            </a:r>
            <a:r>
              <a:rPr lang="en-IN" sz="1800" dirty="0" smtClean="0"/>
              <a:t>=true</a:t>
            </a:r>
          </a:p>
          <a:p>
            <a:pPr marL="0" indent="0">
              <a:buNone/>
            </a:pPr>
            <a:r>
              <a:rPr lang="en-IN" sz="1800" dirty="0" smtClean="0"/>
              <a:t>(This </a:t>
            </a:r>
            <a:r>
              <a:rPr lang="en-IN" sz="1800" dirty="0"/>
              <a:t>setting hints to Hive to do bucket level join during the map stage join</a:t>
            </a:r>
            <a:r>
              <a:rPr lang="en-IN" sz="1800" dirty="0" smtClean="0"/>
              <a:t>)</a:t>
            </a:r>
            <a:endParaRPr lang="en-IN" sz="1800" dirty="0"/>
          </a:p>
        </p:txBody>
      </p:sp>
      <p:sp>
        <p:nvSpPr>
          <p:cNvPr id="4" name="Footer Placeholder 3"/>
          <p:cNvSpPr>
            <a:spLocks noGrp="1"/>
          </p:cNvSpPr>
          <p:nvPr>
            <p:ph type="ftr" sz="quarter" idx="11"/>
          </p:nvPr>
        </p:nvSpPr>
        <p:spPr>
          <a:xfrm>
            <a:off x="1520042" y="6356350"/>
            <a:ext cx="8146472" cy="365125"/>
          </a:xfrm>
        </p:spPr>
        <p:txBody>
          <a:bodyPr/>
          <a:lstStyle/>
          <a:p>
            <a:r>
              <a:rPr lang="en-IN" dirty="0" smtClean="0"/>
              <a:t>Copyright © 2016 Accenture All Rights Reserved. Confidential —For Company Internal Use Only.</a:t>
            </a:r>
            <a:endParaRPr lang="en-IN" dirty="0"/>
          </a:p>
        </p:txBody>
      </p:sp>
    </p:spTree>
    <p:extLst>
      <p:ext uri="{BB962C8B-B14F-4D97-AF65-F5344CB8AC3E}">
        <p14:creationId xmlns:p14="http://schemas.microsoft.com/office/powerpoint/2010/main" val="353851992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365" y="159690"/>
            <a:ext cx="10515600" cy="783770"/>
          </a:xfrm>
        </p:spPr>
        <p:txBody>
          <a:bodyPr>
            <a:noAutofit/>
          </a:bodyPr>
          <a:lstStyle/>
          <a:p>
            <a:r>
              <a:rPr lang="en-IN" sz="4000" b="1" dirty="0" smtClean="0"/>
              <a:t>                 </a:t>
            </a:r>
            <a:br>
              <a:rPr lang="en-IN" sz="4000" b="1" dirty="0" smtClean="0"/>
            </a:br>
            <a:r>
              <a:rPr lang="en-IN" sz="4000" b="1" dirty="0"/>
              <a:t> </a:t>
            </a:r>
            <a:r>
              <a:rPr lang="en-IN" sz="4000" b="1" dirty="0" smtClean="0"/>
              <a:t>                             Indexing </a:t>
            </a:r>
            <a:r>
              <a:rPr lang="en-IN" sz="4000" b="1" dirty="0"/>
              <a:t>Data</a:t>
            </a:r>
            <a:br>
              <a:rPr lang="en-IN" sz="4000" b="1" dirty="0"/>
            </a:br>
            <a:endParaRPr lang="en-IN" sz="4000" b="1" dirty="0"/>
          </a:p>
        </p:txBody>
      </p:sp>
      <p:sp>
        <p:nvSpPr>
          <p:cNvPr id="3" name="Content Placeholder 2"/>
          <p:cNvSpPr>
            <a:spLocks noGrp="1"/>
          </p:cNvSpPr>
          <p:nvPr>
            <p:ph idx="1"/>
          </p:nvPr>
        </p:nvSpPr>
        <p:spPr>
          <a:xfrm>
            <a:off x="142503" y="641268"/>
            <a:ext cx="11875325" cy="5535695"/>
          </a:xfrm>
        </p:spPr>
        <p:txBody>
          <a:bodyPr>
            <a:normAutofit/>
          </a:bodyPr>
          <a:lstStyle/>
          <a:p>
            <a:endParaRPr lang="en-IN" sz="1800" b="1" dirty="0" smtClean="0"/>
          </a:p>
          <a:p>
            <a:r>
              <a:rPr lang="en-IN" sz="1800" b="1" dirty="0" smtClean="0"/>
              <a:t>Tables in Hive also support indexes</a:t>
            </a:r>
            <a:endParaRPr lang="en-IN" sz="1800" b="1" dirty="0"/>
          </a:p>
          <a:p>
            <a:pPr marL="0" indent="0">
              <a:buNone/>
            </a:pPr>
            <a:r>
              <a:rPr lang="en-IN" sz="1800" dirty="0" smtClean="0"/>
              <a:t>   – Similar to indexes in RDBMSs, but much more limited</a:t>
            </a:r>
            <a:endParaRPr lang="en-IN" sz="1800" dirty="0"/>
          </a:p>
          <a:p>
            <a:r>
              <a:rPr lang="en-IN" sz="1800" b="1" dirty="0" smtClean="0"/>
              <a:t>May improve performance for certain types of queries</a:t>
            </a:r>
            <a:endParaRPr lang="en-IN" sz="1800" b="1" dirty="0"/>
          </a:p>
          <a:p>
            <a:pPr marL="0" indent="0">
              <a:buNone/>
            </a:pPr>
            <a:r>
              <a:rPr lang="en-IN" sz="1800" dirty="0" smtClean="0"/>
              <a:t>   – But maintaining them costs disk space and CPU</a:t>
            </a:r>
            <a:r>
              <a:rPr lang="en-IN" sz="1800" dirty="0"/>
              <a:t> </a:t>
            </a:r>
            <a:r>
              <a:rPr lang="en-IN" sz="1800" dirty="0" smtClean="0"/>
              <a:t>time</a:t>
            </a:r>
          </a:p>
          <a:p>
            <a:pPr marL="0" indent="0">
              <a:buNone/>
            </a:pPr>
            <a:r>
              <a:rPr lang="en-IN" sz="1800" b="1" dirty="0" smtClean="0"/>
              <a:t>Syntax:</a:t>
            </a:r>
          </a:p>
          <a:p>
            <a:pPr marL="0" indent="0">
              <a:buNone/>
            </a:pPr>
            <a:r>
              <a:rPr lang="en-IN" sz="1800" dirty="0"/>
              <a:t> </a:t>
            </a:r>
            <a:r>
              <a:rPr lang="en-IN" sz="1800" dirty="0" smtClean="0"/>
              <a:t>             hive</a:t>
            </a:r>
            <a:r>
              <a:rPr lang="en-IN" sz="1800" dirty="0"/>
              <a:t>&gt; CREATE INDEX </a:t>
            </a:r>
            <a:r>
              <a:rPr lang="en-IN" sz="1800" dirty="0" err="1" smtClean="0"/>
              <a:t>idx_orders_cust_id</a:t>
            </a:r>
            <a:r>
              <a:rPr lang="en-IN" sz="1800" dirty="0"/>
              <a:t> </a:t>
            </a:r>
            <a:endParaRPr lang="en-IN" sz="1800" dirty="0" smtClean="0"/>
          </a:p>
          <a:p>
            <a:pPr marL="0" indent="0">
              <a:buNone/>
            </a:pPr>
            <a:r>
              <a:rPr lang="en-IN" sz="1800" dirty="0"/>
              <a:t> </a:t>
            </a:r>
            <a:r>
              <a:rPr lang="en-IN" sz="1800" dirty="0" smtClean="0"/>
              <a:t>                                ON </a:t>
            </a:r>
            <a:r>
              <a:rPr lang="en-IN" sz="1800" dirty="0"/>
              <a:t>TABLE orders(</a:t>
            </a:r>
            <a:r>
              <a:rPr lang="en-IN" sz="1800" dirty="0" err="1"/>
              <a:t>cust_id</a:t>
            </a:r>
            <a:r>
              <a:rPr lang="en-IN" sz="1800" dirty="0"/>
              <a:t>)</a:t>
            </a:r>
          </a:p>
          <a:p>
            <a:pPr marL="0" indent="0">
              <a:buNone/>
            </a:pPr>
            <a:r>
              <a:rPr lang="en-IN" sz="1800" dirty="0" smtClean="0"/>
              <a:t>                                 AS '</a:t>
            </a:r>
            <a:r>
              <a:rPr lang="en-IN" sz="1800" i="1" dirty="0" err="1" smtClean="0"/>
              <a:t>handler_class</a:t>
            </a:r>
            <a:r>
              <a:rPr lang="en-IN" sz="1800" dirty="0" smtClean="0"/>
              <a:t>‘ WITH </a:t>
            </a:r>
            <a:r>
              <a:rPr lang="en-IN" sz="1800" dirty="0"/>
              <a:t>DEFERRED REBUILD</a:t>
            </a:r>
            <a:r>
              <a:rPr lang="en-IN" sz="1800" dirty="0" smtClean="0"/>
              <a:t>;</a:t>
            </a:r>
          </a:p>
          <a:p>
            <a:pPr marL="0" indent="0">
              <a:buNone/>
            </a:pPr>
            <a:r>
              <a:rPr lang="en-IN" sz="1800" b="1" dirty="0" smtClean="0"/>
              <a:t>NOTE:</a:t>
            </a:r>
          </a:p>
          <a:p>
            <a:pPr marL="0" indent="0">
              <a:buNone/>
            </a:pPr>
            <a:r>
              <a:rPr lang="en-IN" sz="1800" b="1" dirty="0" smtClean="0"/>
              <a:t>            </a:t>
            </a:r>
            <a:r>
              <a:rPr lang="en-IN" sz="1800" dirty="0" smtClean="0"/>
              <a:t>Handler class is the fully qualified name of a Java class, such as:</a:t>
            </a:r>
            <a:endParaRPr lang="en-IN" sz="1800" dirty="0"/>
          </a:p>
          <a:p>
            <a:pPr marL="0" indent="0">
              <a:buNone/>
            </a:pPr>
            <a:r>
              <a:rPr lang="en-IN" sz="1800" dirty="0" smtClean="0"/>
              <a:t>                    – </a:t>
            </a:r>
            <a:r>
              <a:rPr lang="en-IN" sz="1800" dirty="0" err="1"/>
              <a:t>org.apache.hadoop.hive.ql.index.compact.CompactIndexHandler</a:t>
            </a:r>
            <a:endParaRPr lang="en-IN" sz="1800" dirty="0"/>
          </a:p>
        </p:txBody>
      </p:sp>
      <p:sp>
        <p:nvSpPr>
          <p:cNvPr id="4" name="Footer Placeholder 3"/>
          <p:cNvSpPr>
            <a:spLocks noGrp="1"/>
          </p:cNvSpPr>
          <p:nvPr>
            <p:ph type="ftr" sz="quarter" idx="11"/>
          </p:nvPr>
        </p:nvSpPr>
        <p:spPr>
          <a:xfrm>
            <a:off x="2565069" y="6356350"/>
            <a:ext cx="7267699" cy="365125"/>
          </a:xfrm>
        </p:spPr>
        <p:txBody>
          <a:bodyPr/>
          <a:lstStyle/>
          <a:p>
            <a:r>
              <a:rPr lang="en-IN" dirty="0" smtClean="0"/>
              <a:t>Copyright © 2016 Accenture All Rights Reserved. Confidential —For Company Internal Use Only.</a:t>
            </a:r>
            <a:endParaRPr lang="en-IN" dirty="0"/>
          </a:p>
        </p:txBody>
      </p:sp>
    </p:spTree>
    <p:extLst>
      <p:ext uri="{BB962C8B-B14F-4D97-AF65-F5344CB8AC3E}">
        <p14:creationId xmlns:p14="http://schemas.microsoft.com/office/powerpoint/2010/main" val="339242090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6320" y="253123"/>
            <a:ext cx="10515600" cy="752537"/>
          </a:xfrm>
        </p:spPr>
        <p:txBody>
          <a:bodyPr>
            <a:noAutofit/>
          </a:bodyPr>
          <a:lstStyle/>
          <a:p>
            <a:r>
              <a:rPr lang="en-IN" sz="4000" dirty="0" smtClean="0"/>
              <a:t/>
            </a:r>
            <a:br>
              <a:rPr lang="en-IN" sz="4000" dirty="0" smtClean="0"/>
            </a:br>
            <a:r>
              <a:rPr lang="en-IN" sz="4000" dirty="0" smtClean="0"/>
              <a:t>                      </a:t>
            </a:r>
            <a:r>
              <a:rPr lang="en-IN" sz="4000" b="1" dirty="0" smtClean="0"/>
              <a:t>De-normalizing </a:t>
            </a:r>
            <a:r>
              <a:rPr lang="en-IN" sz="4000" b="1" dirty="0"/>
              <a:t>data</a:t>
            </a:r>
            <a:r>
              <a:rPr lang="en-IN" sz="4000" dirty="0"/>
              <a:t> </a:t>
            </a:r>
            <a:br>
              <a:rPr lang="en-IN" sz="4000" dirty="0"/>
            </a:br>
            <a:endParaRPr lang="en-IN" sz="4000" dirty="0"/>
          </a:p>
        </p:txBody>
      </p:sp>
      <p:sp>
        <p:nvSpPr>
          <p:cNvPr id="3" name="Content Placeholder 2"/>
          <p:cNvSpPr>
            <a:spLocks noGrp="1"/>
          </p:cNvSpPr>
          <p:nvPr>
            <p:ph idx="1"/>
          </p:nvPr>
        </p:nvSpPr>
        <p:spPr>
          <a:xfrm>
            <a:off x="166255" y="629392"/>
            <a:ext cx="11899075" cy="5547571"/>
          </a:xfrm>
        </p:spPr>
        <p:txBody>
          <a:bodyPr>
            <a:normAutofit/>
          </a:bodyPr>
          <a:lstStyle/>
          <a:p>
            <a:pPr>
              <a:lnSpc>
                <a:spcPct val="100000"/>
              </a:lnSpc>
            </a:pPr>
            <a:endParaRPr lang="en-IN" sz="1800" dirty="0" smtClean="0"/>
          </a:p>
          <a:p>
            <a:pPr>
              <a:lnSpc>
                <a:spcPct val="100000"/>
              </a:lnSpc>
            </a:pPr>
            <a:r>
              <a:rPr lang="en-IN" sz="1800" dirty="0" smtClean="0"/>
              <a:t>Normalization </a:t>
            </a:r>
            <a:r>
              <a:rPr lang="en-IN" sz="1800" dirty="0"/>
              <a:t>is a standard process used to model </a:t>
            </a:r>
            <a:r>
              <a:rPr lang="en-IN" sz="1800" dirty="0" smtClean="0"/>
              <a:t>our </a:t>
            </a:r>
            <a:r>
              <a:rPr lang="en-IN" sz="1800" dirty="0"/>
              <a:t>data tables with certain rules to deal with redundancy of data and anomalies. </a:t>
            </a:r>
            <a:endParaRPr lang="en-IN" sz="1800" dirty="0" smtClean="0"/>
          </a:p>
          <a:p>
            <a:pPr>
              <a:lnSpc>
                <a:spcPct val="100000"/>
              </a:lnSpc>
            </a:pPr>
            <a:endParaRPr lang="en-IN" sz="1800" dirty="0" smtClean="0"/>
          </a:p>
          <a:p>
            <a:pPr>
              <a:lnSpc>
                <a:spcPct val="100000"/>
              </a:lnSpc>
            </a:pPr>
            <a:r>
              <a:rPr lang="en-IN" sz="1800" dirty="0" smtClean="0"/>
              <a:t>If we normalize our </a:t>
            </a:r>
            <a:r>
              <a:rPr lang="en-IN" sz="1800" dirty="0"/>
              <a:t>data sets, </a:t>
            </a:r>
            <a:r>
              <a:rPr lang="en-IN" sz="1800" dirty="0" smtClean="0"/>
              <a:t>we end </a:t>
            </a:r>
            <a:r>
              <a:rPr lang="en-IN" sz="1800" dirty="0"/>
              <a:t>up creating multiple relational tables which can be joined at the run time to produce the results. </a:t>
            </a:r>
            <a:endParaRPr lang="en-IN" sz="1800" dirty="0" smtClean="0"/>
          </a:p>
          <a:p>
            <a:pPr marL="0" indent="0">
              <a:lnSpc>
                <a:spcPct val="100000"/>
              </a:lnSpc>
              <a:buNone/>
            </a:pPr>
            <a:r>
              <a:rPr lang="en-IN" sz="1800" dirty="0"/>
              <a:t> </a:t>
            </a:r>
            <a:r>
              <a:rPr lang="en-IN" sz="1800" dirty="0" smtClean="0"/>
              <a:t>  – Joins </a:t>
            </a:r>
            <a:r>
              <a:rPr lang="en-IN" sz="1800" dirty="0"/>
              <a:t>are expensive and difficult operations to perform and are one of </a:t>
            </a:r>
            <a:r>
              <a:rPr lang="en-IN" sz="1800" dirty="0" smtClean="0"/>
              <a:t>the                     </a:t>
            </a:r>
          </a:p>
          <a:p>
            <a:pPr marL="0" indent="0">
              <a:lnSpc>
                <a:spcPct val="100000"/>
              </a:lnSpc>
              <a:buNone/>
            </a:pPr>
            <a:r>
              <a:rPr lang="en-IN" sz="1800" dirty="0"/>
              <a:t> </a:t>
            </a:r>
            <a:r>
              <a:rPr lang="en-IN" sz="1800" dirty="0" smtClean="0"/>
              <a:t>     common reasons </a:t>
            </a:r>
            <a:r>
              <a:rPr lang="en-IN" sz="1800" dirty="0"/>
              <a:t>for performance issues.</a:t>
            </a:r>
            <a:endParaRPr lang="en-IN" sz="1800" dirty="0" smtClean="0"/>
          </a:p>
          <a:p>
            <a:pPr>
              <a:lnSpc>
                <a:spcPct val="100000"/>
              </a:lnSpc>
            </a:pPr>
            <a:endParaRPr lang="en-IN" sz="1800" dirty="0" smtClean="0"/>
          </a:p>
          <a:p>
            <a:pPr>
              <a:lnSpc>
                <a:spcPct val="100000"/>
              </a:lnSpc>
            </a:pPr>
            <a:r>
              <a:rPr lang="en-IN" sz="1800" dirty="0" smtClean="0"/>
              <a:t>Because </a:t>
            </a:r>
            <a:r>
              <a:rPr lang="en-IN" sz="1800" dirty="0"/>
              <a:t>of that, it’s a good idea to avoid highly normalized table structures because they require join queries to derive the desired metrics.</a:t>
            </a:r>
          </a:p>
        </p:txBody>
      </p:sp>
      <p:sp>
        <p:nvSpPr>
          <p:cNvPr id="4" name="Footer Placeholder 3"/>
          <p:cNvSpPr>
            <a:spLocks noGrp="1"/>
          </p:cNvSpPr>
          <p:nvPr>
            <p:ph type="ftr" sz="quarter" idx="11"/>
          </p:nvPr>
        </p:nvSpPr>
        <p:spPr>
          <a:xfrm>
            <a:off x="1769423" y="6356350"/>
            <a:ext cx="8063346" cy="365125"/>
          </a:xfrm>
        </p:spPr>
        <p:txBody>
          <a:bodyPr/>
          <a:lstStyle/>
          <a:p>
            <a:r>
              <a:rPr lang="en-IN" dirty="0" smtClean="0"/>
              <a:t>Copyright © 2016 Accenture All Rights Reserved. Confidential —For Company Internal Use Only.</a:t>
            </a:r>
            <a:endParaRPr lang="en-IN" dirty="0"/>
          </a:p>
        </p:txBody>
      </p:sp>
    </p:spTree>
    <p:extLst>
      <p:ext uri="{BB962C8B-B14F-4D97-AF65-F5344CB8AC3E}">
        <p14:creationId xmlns:p14="http://schemas.microsoft.com/office/powerpoint/2010/main" val="37179363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9447" y="332509"/>
            <a:ext cx="10515600" cy="645659"/>
          </a:xfrm>
        </p:spPr>
        <p:txBody>
          <a:bodyPr>
            <a:noAutofit/>
          </a:bodyPr>
          <a:lstStyle/>
          <a:p>
            <a:r>
              <a:rPr lang="en-IN" sz="4000" dirty="0" smtClean="0"/>
              <a:t/>
            </a:r>
            <a:br>
              <a:rPr lang="en-IN" sz="4000" dirty="0" smtClean="0"/>
            </a:br>
            <a:r>
              <a:rPr lang="en-IN" sz="4000" dirty="0" smtClean="0"/>
              <a:t>                              </a:t>
            </a:r>
            <a:r>
              <a:rPr lang="en-IN" sz="4000" b="1" dirty="0" smtClean="0"/>
              <a:t>Map </a:t>
            </a:r>
            <a:r>
              <a:rPr lang="en-IN" sz="4000" b="1" dirty="0"/>
              <a:t>join</a:t>
            </a:r>
            <a:r>
              <a:rPr lang="en-IN" sz="4000" dirty="0"/>
              <a:t/>
            </a:r>
            <a:br>
              <a:rPr lang="en-IN" sz="4000" dirty="0"/>
            </a:br>
            <a:endParaRPr lang="en-IN" sz="4000" dirty="0"/>
          </a:p>
        </p:txBody>
      </p:sp>
      <p:sp>
        <p:nvSpPr>
          <p:cNvPr id="3" name="Content Placeholder 2"/>
          <p:cNvSpPr>
            <a:spLocks noGrp="1"/>
          </p:cNvSpPr>
          <p:nvPr>
            <p:ph idx="1"/>
          </p:nvPr>
        </p:nvSpPr>
        <p:spPr>
          <a:xfrm>
            <a:off x="170213" y="978168"/>
            <a:ext cx="11851574" cy="5113874"/>
          </a:xfrm>
        </p:spPr>
        <p:txBody>
          <a:bodyPr>
            <a:normAutofit/>
          </a:bodyPr>
          <a:lstStyle/>
          <a:p>
            <a:pPr>
              <a:lnSpc>
                <a:spcPct val="150000"/>
              </a:lnSpc>
            </a:pPr>
            <a:r>
              <a:rPr lang="en-IN" sz="1800" dirty="0" smtClean="0"/>
              <a:t>Map </a:t>
            </a:r>
            <a:r>
              <a:rPr lang="en-IN" sz="1800" dirty="0"/>
              <a:t>joins are really efficient if a table on the other side of a join is small enough to fit in the </a:t>
            </a:r>
            <a:r>
              <a:rPr lang="en-IN" sz="1800" dirty="0" smtClean="0"/>
              <a:t>memory .</a:t>
            </a:r>
          </a:p>
          <a:p>
            <a:pPr>
              <a:lnSpc>
                <a:spcPct val="150000"/>
              </a:lnSpc>
            </a:pPr>
            <a:r>
              <a:rPr lang="en-IN" sz="1800" dirty="0" smtClean="0"/>
              <a:t>Hive </a:t>
            </a:r>
            <a:r>
              <a:rPr lang="en-IN" sz="1800" dirty="0"/>
              <a:t>supports a parameter, </a:t>
            </a:r>
            <a:r>
              <a:rPr lang="en-IN" sz="1800" b="1" dirty="0" err="1"/>
              <a:t>hive.auto.convert.join</a:t>
            </a:r>
            <a:r>
              <a:rPr lang="en-IN" sz="1800" dirty="0"/>
              <a:t>, which when it’s set to “true” suggests that Hive try to map join automatically. </a:t>
            </a:r>
            <a:endParaRPr lang="en-IN" sz="1800" dirty="0" smtClean="0"/>
          </a:p>
          <a:p>
            <a:pPr>
              <a:lnSpc>
                <a:spcPct val="150000"/>
              </a:lnSpc>
            </a:pPr>
            <a:r>
              <a:rPr lang="en-IN" sz="1800" dirty="0" smtClean="0"/>
              <a:t>When </a:t>
            </a:r>
            <a:r>
              <a:rPr lang="en-IN" sz="1800" dirty="0"/>
              <a:t>using this parameter, be sure the auto convert is enabled in the Hive environment</a:t>
            </a:r>
            <a:r>
              <a:rPr lang="en-IN" sz="1800" dirty="0" smtClean="0"/>
              <a:t>.</a:t>
            </a:r>
          </a:p>
          <a:p>
            <a:pPr marL="0" indent="0">
              <a:lnSpc>
                <a:spcPct val="150000"/>
              </a:lnSpc>
              <a:buNone/>
            </a:pPr>
            <a:r>
              <a:rPr lang="en-IN" sz="1800" b="1" dirty="0" smtClean="0"/>
              <a:t>Note :</a:t>
            </a:r>
            <a:r>
              <a:rPr lang="en-IN" sz="1800" dirty="0" smtClean="0"/>
              <a:t> We can </a:t>
            </a:r>
            <a:r>
              <a:rPr lang="en-IN" sz="1800" dirty="0"/>
              <a:t>also configure the threshold size for table files considered small enough to use this optimization. Here is the default definition of the property (in bytes): </a:t>
            </a:r>
            <a:r>
              <a:rPr lang="en-IN" sz="1800" dirty="0" err="1" smtClean="0"/>
              <a:t>hive.mapjoin.smalltable.filesize</a:t>
            </a:r>
            <a:r>
              <a:rPr lang="en-IN" sz="1800" dirty="0" smtClean="0"/>
              <a:t>=25000000;</a:t>
            </a:r>
            <a:endParaRPr lang="en-IN" sz="1800" dirty="0"/>
          </a:p>
        </p:txBody>
      </p:sp>
      <p:sp>
        <p:nvSpPr>
          <p:cNvPr id="4" name="Footer Placeholder 3"/>
          <p:cNvSpPr>
            <a:spLocks noGrp="1"/>
          </p:cNvSpPr>
          <p:nvPr>
            <p:ph type="ftr" sz="quarter" idx="11"/>
          </p:nvPr>
        </p:nvSpPr>
        <p:spPr>
          <a:xfrm>
            <a:off x="1900051" y="6372576"/>
            <a:ext cx="7612083" cy="365125"/>
          </a:xfrm>
        </p:spPr>
        <p:txBody>
          <a:bodyPr/>
          <a:lstStyle/>
          <a:p>
            <a:r>
              <a:rPr lang="en-IN" dirty="0" smtClean="0"/>
              <a:t>Copyright © 2016 Accenture All Rights Reserved. Confidential —For Company Internal Use Only.</a:t>
            </a:r>
            <a:endParaRPr lang="en-IN" dirty="0"/>
          </a:p>
        </p:txBody>
      </p:sp>
    </p:spTree>
    <p:extLst>
      <p:ext uri="{BB962C8B-B14F-4D97-AF65-F5344CB8AC3E}">
        <p14:creationId xmlns:p14="http://schemas.microsoft.com/office/powerpoint/2010/main" val="35339248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0006"/>
            <a:ext cx="10515600" cy="740662"/>
          </a:xfrm>
        </p:spPr>
        <p:txBody>
          <a:bodyPr>
            <a:noAutofit/>
          </a:bodyPr>
          <a:lstStyle/>
          <a:p>
            <a:r>
              <a:rPr lang="en-IN" sz="4000" b="1" dirty="0" smtClean="0"/>
              <a:t/>
            </a:r>
            <a:br>
              <a:rPr lang="en-IN" sz="4000" b="1" dirty="0" smtClean="0"/>
            </a:br>
            <a:r>
              <a:rPr lang="en-IN" sz="4000" b="1" dirty="0" smtClean="0"/>
              <a:t>                                  Vectorization</a:t>
            </a:r>
            <a:r>
              <a:rPr lang="en-IN" sz="4000" b="1" dirty="0"/>
              <a:t/>
            </a:r>
            <a:br>
              <a:rPr lang="en-IN" sz="4000" b="1" dirty="0"/>
            </a:br>
            <a:endParaRPr lang="en-IN" sz="4000" b="1" dirty="0"/>
          </a:p>
        </p:txBody>
      </p:sp>
      <p:sp>
        <p:nvSpPr>
          <p:cNvPr id="3" name="Content Placeholder 2"/>
          <p:cNvSpPr>
            <a:spLocks noGrp="1"/>
          </p:cNvSpPr>
          <p:nvPr>
            <p:ph idx="1"/>
          </p:nvPr>
        </p:nvSpPr>
        <p:spPr>
          <a:xfrm>
            <a:off x="838200" y="930668"/>
            <a:ext cx="10515600" cy="5246295"/>
          </a:xfrm>
        </p:spPr>
        <p:txBody>
          <a:bodyPr>
            <a:normAutofit/>
          </a:bodyPr>
          <a:lstStyle/>
          <a:p>
            <a:pPr>
              <a:lnSpc>
                <a:spcPct val="150000"/>
              </a:lnSpc>
            </a:pPr>
            <a:r>
              <a:rPr lang="en-IN" sz="1800" dirty="0"/>
              <a:t>Vectorized query execution is a Hive feature that greatly reduces the CPU usage for typical query operations like scans, filters, aggregates, and </a:t>
            </a:r>
            <a:r>
              <a:rPr lang="en-IN" sz="1800" dirty="0" smtClean="0"/>
              <a:t>joins.</a:t>
            </a:r>
          </a:p>
          <a:p>
            <a:pPr>
              <a:lnSpc>
                <a:spcPct val="150000"/>
              </a:lnSpc>
            </a:pPr>
            <a:r>
              <a:rPr lang="en-IN" sz="1800" dirty="0"/>
              <a:t>Vectorization allows Hive to process a batch of rows together instead of processing one row at a time. </a:t>
            </a:r>
          </a:p>
          <a:p>
            <a:pPr>
              <a:lnSpc>
                <a:spcPct val="150000"/>
              </a:lnSpc>
            </a:pPr>
            <a:r>
              <a:rPr lang="en-IN" sz="1800" dirty="0" smtClean="0"/>
              <a:t>Each </a:t>
            </a:r>
            <a:r>
              <a:rPr lang="en-IN" sz="1800" dirty="0"/>
              <a:t>batch consists of a column vector which is usually an array of primitive types</a:t>
            </a:r>
            <a:r>
              <a:rPr lang="en-IN" sz="1800" dirty="0" smtClean="0"/>
              <a:t>. </a:t>
            </a:r>
            <a:r>
              <a:rPr lang="en-IN" sz="1800" dirty="0"/>
              <a:t>Operations are performed on the entire column vector, which improves the instruction pipelines and cache usage. </a:t>
            </a:r>
            <a:endParaRPr lang="en-IN" sz="1800" dirty="0" smtClean="0"/>
          </a:p>
          <a:p>
            <a:pPr>
              <a:lnSpc>
                <a:spcPct val="150000"/>
              </a:lnSpc>
            </a:pPr>
            <a:r>
              <a:rPr lang="en-IN" sz="1800" dirty="0" smtClean="0"/>
              <a:t>To </a:t>
            </a:r>
            <a:r>
              <a:rPr lang="en-IN" sz="1800" dirty="0"/>
              <a:t>enable vectorization, set this configuration parameter </a:t>
            </a:r>
            <a:endParaRPr lang="en-IN" sz="1800" dirty="0" smtClean="0"/>
          </a:p>
          <a:p>
            <a:pPr marL="0" indent="0">
              <a:lnSpc>
                <a:spcPct val="150000"/>
              </a:lnSpc>
              <a:buNone/>
            </a:pPr>
            <a:r>
              <a:rPr lang="en-IN" sz="1800" b="1" dirty="0"/>
              <a:t> </a:t>
            </a:r>
            <a:r>
              <a:rPr lang="en-IN" sz="1800" b="1" dirty="0" smtClean="0"/>
              <a:t>          SET </a:t>
            </a:r>
            <a:r>
              <a:rPr lang="en-IN" sz="1800" b="1" dirty="0" err="1"/>
              <a:t>hive.vectorized.execution.enabled</a:t>
            </a:r>
            <a:r>
              <a:rPr lang="en-IN" sz="1800" b="1" dirty="0"/>
              <a:t>=true</a:t>
            </a:r>
            <a:r>
              <a:rPr lang="en-IN" sz="1800" dirty="0"/>
              <a:t>.</a:t>
            </a:r>
          </a:p>
        </p:txBody>
      </p:sp>
      <p:sp>
        <p:nvSpPr>
          <p:cNvPr id="4" name="Footer Placeholder 3"/>
          <p:cNvSpPr>
            <a:spLocks noGrp="1"/>
          </p:cNvSpPr>
          <p:nvPr>
            <p:ph type="ftr" sz="quarter" idx="11"/>
          </p:nvPr>
        </p:nvSpPr>
        <p:spPr>
          <a:xfrm>
            <a:off x="1698171" y="6356350"/>
            <a:ext cx="7992094" cy="365125"/>
          </a:xfrm>
        </p:spPr>
        <p:txBody>
          <a:bodyPr/>
          <a:lstStyle/>
          <a:p>
            <a:r>
              <a:rPr lang="en-IN" dirty="0" smtClean="0"/>
              <a:t>Copyright © 2016 Accenture All Rights Reserved. Confidential —For Company Internal Use Only.</a:t>
            </a:r>
            <a:endParaRPr lang="en-IN" dirty="0"/>
          </a:p>
        </p:txBody>
      </p:sp>
    </p:spTree>
    <p:extLst>
      <p:ext uri="{BB962C8B-B14F-4D97-AF65-F5344CB8AC3E}">
        <p14:creationId xmlns:p14="http://schemas.microsoft.com/office/powerpoint/2010/main" val="6721027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6735" y="381579"/>
            <a:ext cx="10515600" cy="633784"/>
          </a:xfrm>
        </p:spPr>
        <p:txBody>
          <a:bodyPr>
            <a:noAutofit/>
          </a:bodyPr>
          <a:lstStyle/>
          <a:p>
            <a:r>
              <a:rPr lang="en-IN" sz="4000" b="1" dirty="0" smtClean="0"/>
              <a:t/>
            </a:r>
            <a:br>
              <a:rPr lang="en-IN" sz="4000" b="1" dirty="0" smtClean="0"/>
            </a:br>
            <a:r>
              <a:rPr lang="en-IN" sz="4000" b="1" dirty="0" smtClean="0"/>
              <a:t>                      cost </a:t>
            </a:r>
            <a:r>
              <a:rPr lang="en-IN" sz="4000" b="1" dirty="0"/>
              <a:t>based query optimization</a:t>
            </a:r>
            <a:br>
              <a:rPr lang="en-IN" sz="4000" b="1" dirty="0"/>
            </a:br>
            <a:endParaRPr lang="en-IN" sz="4000" b="1" dirty="0"/>
          </a:p>
        </p:txBody>
      </p:sp>
      <p:sp>
        <p:nvSpPr>
          <p:cNvPr id="3" name="Content Placeholder 2"/>
          <p:cNvSpPr>
            <a:spLocks noGrp="1"/>
          </p:cNvSpPr>
          <p:nvPr>
            <p:ph idx="1"/>
          </p:nvPr>
        </p:nvSpPr>
        <p:spPr>
          <a:xfrm>
            <a:off x="201881" y="788164"/>
            <a:ext cx="11756571" cy="5388799"/>
          </a:xfrm>
        </p:spPr>
        <p:txBody>
          <a:bodyPr>
            <a:normAutofit/>
          </a:bodyPr>
          <a:lstStyle/>
          <a:p>
            <a:endParaRPr lang="en-IN" sz="1800" dirty="0" smtClean="0"/>
          </a:p>
          <a:p>
            <a:r>
              <a:rPr lang="en-IN" sz="1800" dirty="0" smtClean="0"/>
              <a:t>Hive </a:t>
            </a:r>
            <a:r>
              <a:rPr lang="en-IN" sz="1800" dirty="0"/>
              <a:t>optimizes each query’s logical and physical execution plan before submitting for final execution. These optimizations are not based on the cost of the query – that is, until now.</a:t>
            </a:r>
          </a:p>
          <a:p>
            <a:r>
              <a:rPr lang="en-IN" sz="1800" dirty="0"/>
              <a:t>A recent addition to </a:t>
            </a:r>
            <a:r>
              <a:rPr lang="en-IN" sz="1800" dirty="0" smtClean="0"/>
              <a:t>Hive(0.14),</a:t>
            </a:r>
            <a:r>
              <a:rPr lang="en-IN" sz="1800" dirty="0"/>
              <a:t> </a:t>
            </a:r>
            <a:r>
              <a:rPr lang="en-IN" sz="1800" b="1" dirty="0" smtClean="0"/>
              <a:t>Cost-based optimization</a:t>
            </a:r>
            <a:r>
              <a:rPr lang="en-IN" sz="1800" dirty="0" smtClean="0"/>
              <a:t>, </a:t>
            </a:r>
            <a:r>
              <a:rPr lang="en-IN" sz="1800" dirty="0"/>
              <a:t>performs further optimizations based on query cost, resulting in potentially different decisions: how to order joins, which type of join to perform, degree of parallelism and others.</a:t>
            </a:r>
          </a:p>
          <a:p>
            <a:r>
              <a:rPr lang="en-IN" sz="1800" dirty="0"/>
              <a:t>To use cost-based optimization (also known as CBO), set the following parameters at the beginning of your query</a:t>
            </a:r>
            <a:r>
              <a:rPr lang="en-IN" sz="1800" dirty="0" smtClean="0"/>
              <a:t>:</a:t>
            </a:r>
          </a:p>
          <a:p>
            <a:pPr marL="0" indent="0">
              <a:buNone/>
            </a:pPr>
            <a:r>
              <a:rPr lang="en-IN" sz="1800" b="1" dirty="0"/>
              <a:t> </a:t>
            </a:r>
            <a:r>
              <a:rPr lang="en-IN" sz="1800" b="1" dirty="0" smtClean="0"/>
              <a:t>  [</a:t>
            </a:r>
            <a:r>
              <a:rPr lang="en-IN" sz="1800" b="1" dirty="0"/>
              <a:t>code language=”SQL”]</a:t>
            </a:r>
            <a:br>
              <a:rPr lang="en-IN" sz="1800" b="1" dirty="0"/>
            </a:br>
            <a:r>
              <a:rPr lang="en-IN" sz="1800" b="1" dirty="0" smtClean="0"/>
              <a:t>   set </a:t>
            </a:r>
            <a:r>
              <a:rPr lang="en-IN" sz="1800" b="1" dirty="0" err="1"/>
              <a:t>hive.cbo.enable</a:t>
            </a:r>
            <a:r>
              <a:rPr lang="en-IN" sz="1800" b="1" dirty="0"/>
              <a:t>=true;</a:t>
            </a:r>
            <a:br>
              <a:rPr lang="en-IN" sz="1800" b="1" dirty="0"/>
            </a:br>
            <a:r>
              <a:rPr lang="en-IN" sz="1800" b="1" dirty="0" smtClean="0"/>
              <a:t>   set </a:t>
            </a:r>
            <a:r>
              <a:rPr lang="en-IN" sz="1800" b="1" dirty="0" err="1"/>
              <a:t>hive.compute.query.using.stats</a:t>
            </a:r>
            <a:r>
              <a:rPr lang="en-IN" sz="1800" b="1" dirty="0"/>
              <a:t>=true;</a:t>
            </a:r>
            <a:br>
              <a:rPr lang="en-IN" sz="1800" b="1" dirty="0"/>
            </a:br>
            <a:r>
              <a:rPr lang="en-IN" sz="1800" b="1" dirty="0" smtClean="0"/>
              <a:t>   set </a:t>
            </a:r>
            <a:r>
              <a:rPr lang="en-IN" sz="1800" b="1" dirty="0" err="1"/>
              <a:t>hive.stats.fetch.column.stats</a:t>
            </a:r>
            <a:r>
              <a:rPr lang="en-IN" sz="1800" b="1" dirty="0"/>
              <a:t>=true;</a:t>
            </a:r>
            <a:br>
              <a:rPr lang="en-IN" sz="1800" b="1" dirty="0"/>
            </a:br>
            <a:r>
              <a:rPr lang="en-IN" sz="1800" b="1" dirty="0" smtClean="0"/>
              <a:t>   set </a:t>
            </a:r>
            <a:r>
              <a:rPr lang="en-IN" sz="1800" b="1" dirty="0" err="1"/>
              <a:t>hive.stats.fetch.partition.stats</a:t>
            </a:r>
            <a:r>
              <a:rPr lang="en-IN" sz="1800" b="1" dirty="0"/>
              <a:t>=true;</a:t>
            </a:r>
            <a:br>
              <a:rPr lang="en-IN" sz="1800" b="1" dirty="0"/>
            </a:br>
            <a:r>
              <a:rPr lang="en-IN" sz="1800" b="1" dirty="0" smtClean="0"/>
              <a:t>   [/</a:t>
            </a:r>
            <a:r>
              <a:rPr lang="en-IN" sz="1800" b="1" dirty="0"/>
              <a:t>code]</a:t>
            </a:r>
          </a:p>
          <a:p>
            <a:endParaRPr lang="en-IN" sz="1800" dirty="0"/>
          </a:p>
        </p:txBody>
      </p:sp>
      <p:sp>
        <p:nvSpPr>
          <p:cNvPr id="4" name="Footer Placeholder 3"/>
          <p:cNvSpPr>
            <a:spLocks noGrp="1"/>
          </p:cNvSpPr>
          <p:nvPr>
            <p:ph type="ftr" sz="quarter" idx="11"/>
          </p:nvPr>
        </p:nvSpPr>
        <p:spPr>
          <a:xfrm>
            <a:off x="1805049" y="6356350"/>
            <a:ext cx="8098972" cy="365125"/>
          </a:xfrm>
        </p:spPr>
        <p:txBody>
          <a:bodyPr/>
          <a:lstStyle/>
          <a:p>
            <a:r>
              <a:rPr lang="en-IN" dirty="0" smtClean="0"/>
              <a:t>Copyright © 2016 Accenture All Rights Reserved. Confidential —For Company Internal Use Only.</a:t>
            </a:r>
            <a:endParaRPr lang="en-IN" dirty="0"/>
          </a:p>
        </p:txBody>
      </p:sp>
    </p:spTree>
    <p:extLst>
      <p:ext uri="{BB962C8B-B14F-4D97-AF65-F5344CB8AC3E}">
        <p14:creationId xmlns:p14="http://schemas.microsoft.com/office/powerpoint/2010/main" val="428049224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3132"/>
            <a:ext cx="10515600" cy="621909"/>
          </a:xfrm>
        </p:spPr>
        <p:txBody>
          <a:bodyPr>
            <a:noAutofit/>
          </a:bodyPr>
          <a:lstStyle/>
          <a:p>
            <a:r>
              <a:rPr lang="en-IN" sz="4000" b="1" dirty="0" smtClean="0"/>
              <a:t>                      Efficient </a:t>
            </a:r>
            <a:r>
              <a:rPr lang="en-IN" sz="4000" b="1" dirty="0"/>
              <a:t>Use of Single Scan</a:t>
            </a:r>
            <a:endParaRPr lang="en-IN" sz="4000" dirty="0"/>
          </a:p>
        </p:txBody>
      </p:sp>
      <p:sp>
        <p:nvSpPr>
          <p:cNvPr id="3" name="Content Placeholder 2"/>
          <p:cNvSpPr>
            <a:spLocks noGrp="1"/>
          </p:cNvSpPr>
          <p:nvPr>
            <p:ph idx="1"/>
          </p:nvPr>
        </p:nvSpPr>
        <p:spPr>
          <a:xfrm>
            <a:off x="201881" y="895041"/>
            <a:ext cx="11839698" cy="5281922"/>
          </a:xfrm>
        </p:spPr>
        <p:txBody>
          <a:bodyPr>
            <a:normAutofit/>
          </a:bodyPr>
          <a:lstStyle/>
          <a:p>
            <a:r>
              <a:rPr lang="en-IN" sz="1800" dirty="0" smtClean="0"/>
              <a:t>Hive </a:t>
            </a:r>
            <a:r>
              <a:rPr lang="en-IN" sz="1800" dirty="0"/>
              <a:t>does complete table scan in order to process a certain query. So it's recommend to use that single scan to perform multiple operations</a:t>
            </a:r>
            <a:r>
              <a:rPr lang="en-IN" sz="1800" dirty="0" smtClean="0"/>
              <a:t>.</a:t>
            </a:r>
          </a:p>
          <a:p>
            <a:pPr marL="0" indent="0">
              <a:buNone/>
            </a:pPr>
            <a:r>
              <a:rPr lang="en-IN" sz="1800" dirty="0" smtClean="0"/>
              <a:t>   </a:t>
            </a:r>
            <a:r>
              <a:rPr lang="en-IN" sz="1800" b="1" dirty="0" smtClean="0"/>
              <a:t>Ex: INSERT </a:t>
            </a:r>
            <a:r>
              <a:rPr lang="en-IN" sz="1800" b="1" dirty="0"/>
              <a:t>INTO page_views_20140101 </a:t>
            </a:r>
            <a:br>
              <a:rPr lang="en-IN" sz="1800" b="1" dirty="0"/>
            </a:br>
            <a:r>
              <a:rPr lang="en-IN" sz="1800" b="1" dirty="0" smtClean="0"/>
              <a:t>         SELECT </a:t>
            </a:r>
            <a:r>
              <a:rPr lang="en-IN" sz="1800" b="1" dirty="0"/>
              <a:t>* FROM </a:t>
            </a:r>
            <a:r>
              <a:rPr lang="en-IN" sz="1800" b="1" dirty="0" err="1"/>
              <a:t>page_views</a:t>
            </a:r>
            <a:r>
              <a:rPr lang="en-IN" sz="1800" b="1" dirty="0"/>
              <a:t> WHERE date='20140101</a:t>
            </a:r>
            <a:r>
              <a:rPr lang="en-IN" sz="1800" b="1" dirty="0" smtClean="0"/>
              <a:t>'; </a:t>
            </a:r>
          </a:p>
          <a:p>
            <a:pPr marL="0" indent="0">
              <a:buNone/>
            </a:pPr>
            <a:r>
              <a:rPr lang="en-IN" sz="1800" b="1" dirty="0"/>
              <a:t> </a:t>
            </a:r>
            <a:r>
              <a:rPr lang="en-IN" sz="1800" b="1" dirty="0" smtClean="0"/>
              <a:t>        and</a:t>
            </a:r>
          </a:p>
          <a:p>
            <a:pPr marL="0" indent="0">
              <a:buNone/>
            </a:pPr>
            <a:r>
              <a:rPr lang="en-IN" sz="1800" b="1" dirty="0" smtClean="0"/>
              <a:t>         INSERT </a:t>
            </a:r>
            <a:r>
              <a:rPr lang="en-IN" sz="1800" b="1" dirty="0"/>
              <a:t>INTO page_views_20140102 </a:t>
            </a:r>
            <a:br>
              <a:rPr lang="en-IN" sz="1800" b="1" dirty="0"/>
            </a:br>
            <a:r>
              <a:rPr lang="en-IN" sz="1800" b="1" dirty="0" smtClean="0"/>
              <a:t>         SELECT </a:t>
            </a:r>
            <a:r>
              <a:rPr lang="en-IN" sz="1800" b="1" dirty="0"/>
              <a:t>* FROM </a:t>
            </a:r>
            <a:r>
              <a:rPr lang="en-IN" sz="1800" b="1" dirty="0" err="1"/>
              <a:t>page_views</a:t>
            </a:r>
            <a:r>
              <a:rPr lang="en-IN" sz="1800" b="1" dirty="0"/>
              <a:t/>
            </a:r>
            <a:br>
              <a:rPr lang="en-IN" sz="1800" b="1" dirty="0"/>
            </a:br>
            <a:r>
              <a:rPr lang="en-IN" sz="1800" b="1" dirty="0" smtClean="0"/>
              <a:t>         WHERE </a:t>
            </a:r>
            <a:r>
              <a:rPr lang="en-IN" sz="1800" b="1" dirty="0"/>
              <a:t>date='20140102</a:t>
            </a:r>
            <a:r>
              <a:rPr lang="en-IN" sz="1800" b="1" dirty="0" smtClean="0"/>
              <a:t>';</a:t>
            </a:r>
          </a:p>
          <a:p>
            <a:r>
              <a:rPr lang="en-IN" sz="1800" dirty="0"/>
              <a:t>Here the queries work fine but to execute them, processor does complete table scan for two times. In order to avoid this and to do it one go, we can execute following </a:t>
            </a:r>
            <a:r>
              <a:rPr lang="en-IN" sz="1800" dirty="0" smtClean="0"/>
              <a:t>query</a:t>
            </a:r>
          </a:p>
          <a:p>
            <a:pPr marL="0" indent="0">
              <a:buNone/>
            </a:pPr>
            <a:r>
              <a:rPr lang="en-IN" sz="1800" dirty="0" smtClean="0"/>
              <a:t>   </a:t>
            </a:r>
            <a:r>
              <a:rPr lang="en-IN" sz="1800" b="1" dirty="0" smtClean="0"/>
              <a:t>FROM </a:t>
            </a:r>
            <a:r>
              <a:rPr lang="en-IN" sz="1800" b="1" dirty="0" err="1"/>
              <a:t>page_views</a:t>
            </a:r>
            <a:r>
              <a:rPr lang="en-IN" sz="1800" b="1" dirty="0"/>
              <a:t> </a:t>
            </a:r>
            <a:br>
              <a:rPr lang="en-IN" sz="1800" b="1" dirty="0"/>
            </a:br>
            <a:r>
              <a:rPr lang="en-IN" sz="1800" b="1" dirty="0" smtClean="0"/>
              <a:t>   INSERT </a:t>
            </a:r>
            <a:r>
              <a:rPr lang="en-IN" sz="1800" b="1" dirty="0"/>
              <a:t>INTO page_views_20140101 SELECT * WHERE date='20140101'</a:t>
            </a:r>
            <a:br>
              <a:rPr lang="en-IN" sz="1800" b="1" dirty="0"/>
            </a:br>
            <a:r>
              <a:rPr lang="en-IN" sz="1800" b="1" dirty="0" smtClean="0"/>
              <a:t>   INSERT </a:t>
            </a:r>
            <a:r>
              <a:rPr lang="en-IN" sz="1800" b="1" dirty="0"/>
              <a:t>INTO page_views_20140102 SELECT * WHERE date='20140102'</a:t>
            </a:r>
          </a:p>
        </p:txBody>
      </p:sp>
      <p:sp>
        <p:nvSpPr>
          <p:cNvPr id="4" name="Footer Placeholder 3"/>
          <p:cNvSpPr>
            <a:spLocks noGrp="1"/>
          </p:cNvSpPr>
          <p:nvPr>
            <p:ph type="ftr" sz="quarter" idx="11"/>
          </p:nvPr>
        </p:nvSpPr>
        <p:spPr>
          <a:xfrm>
            <a:off x="2244436" y="6356350"/>
            <a:ext cx="8027720" cy="365125"/>
          </a:xfrm>
        </p:spPr>
        <p:txBody>
          <a:bodyPr/>
          <a:lstStyle/>
          <a:p>
            <a:r>
              <a:rPr lang="en-IN" dirty="0" smtClean="0"/>
              <a:t>Copyright © 2016 Accenture All Rights Reserved. Confidential —For Company Internal Use Only.</a:t>
            </a:r>
            <a:endParaRPr lang="en-IN" dirty="0"/>
          </a:p>
        </p:txBody>
      </p:sp>
    </p:spTree>
    <p:extLst>
      <p:ext uri="{BB962C8B-B14F-4D97-AF65-F5344CB8AC3E}">
        <p14:creationId xmlns:p14="http://schemas.microsoft.com/office/powerpoint/2010/main" val="267685274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3198" y="530647"/>
            <a:ext cx="10515600" cy="586283"/>
          </a:xfrm>
        </p:spPr>
        <p:txBody>
          <a:bodyPr>
            <a:noAutofit/>
          </a:bodyPr>
          <a:lstStyle/>
          <a:p>
            <a:r>
              <a:rPr lang="en-IN" sz="4000" b="1" dirty="0" smtClean="0"/>
              <a:t/>
            </a:r>
            <a:br>
              <a:rPr lang="en-IN" sz="4000" b="1" dirty="0" smtClean="0"/>
            </a:br>
            <a:r>
              <a:rPr lang="en-IN" sz="4000" b="1" dirty="0" smtClean="0"/>
              <a:t>                           Using Compression</a:t>
            </a:r>
            <a:r>
              <a:rPr lang="en-IN" sz="4000" b="1" dirty="0"/>
              <a:t/>
            </a:r>
            <a:br>
              <a:rPr lang="en-IN" sz="4000" b="1" dirty="0"/>
            </a:br>
            <a:endParaRPr lang="en-IN" sz="4000" b="1" dirty="0"/>
          </a:p>
        </p:txBody>
      </p:sp>
      <p:sp>
        <p:nvSpPr>
          <p:cNvPr id="3" name="Content Placeholder 2"/>
          <p:cNvSpPr>
            <a:spLocks noGrp="1"/>
          </p:cNvSpPr>
          <p:nvPr>
            <p:ph idx="1"/>
          </p:nvPr>
        </p:nvSpPr>
        <p:spPr>
          <a:xfrm>
            <a:off x="213755" y="823789"/>
            <a:ext cx="11804073" cy="5353174"/>
          </a:xfrm>
        </p:spPr>
        <p:txBody>
          <a:bodyPr>
            <a:normAutofit/>
          </a:bodyPr>
          <a:lstStyle/>
          <a:p>
            <a:pPr>
              <a:lnSpc>
                <a:spcPct val="120000"/>
              </a:lnSpc>
            </a:pPr>
            <a:endParaRPr lang="en-IN" sz="1800" dirty="0" smtClean="0"/>
          </a:p>
          <a:p>
            <a:pPr>
              <a:lnSpc>
                <a:spcPct val="120000"/>
              </a:lnSpc>
            </a:pPr>
            <a:r>
              <a:rPr lang="en-IN" sz="1800" dirty="0" smtClean="0"/>
              <a:t>Compression </a:t>
            </a:r>
            <a:r>
              <a:rPr lang="en-IN" sz="1800" dirty="0"/>
              <a:t>techniques significantly reduce the intermediate data volume, which internally reduces the amount of data transfers between mappers and reducers. All this generally occurs over the network. </a:t>
            </a:r>
            <a:endParaRPr lang="en-IN" sz="1800" dirty="0" smtClean="0"/>
          </a:p>
          <a:p>
            <a:pPr>
              <a:lnSpc>
                <a:spcPct val="120000"/>
              </a:lnSpc>
            </a:pPr>
            <a:r>
              <a:rPr lang="en-IN" sz="1800" dirty="0" smtClean="0"/>
              <a:t>Compression </a:t>
            </a:r>
            <a:r>
              <a:rPr lang="en-IN" sz="1800" dirty="0"/>
              <a:t>can be applied on the mapper and reducer output </a:t>
            </a:r>
            <a:r>
              <a:rPr lang="en-IN" sz="1800" dirty="0" smtClean="0"/>
              <a:t>individually. A </a:t>
            </a:r>
            <a:r>
              <a:rPr lang="en-IN" sz="1800" dirty="0"/>
              <a:t>compressed file size should not be larger than a few hundred </a:t>
            </a:r>
            <a:r>
              <a:rPr lang="en-IN" sz="1800" dirty="0" smtClean="0"/>
              <a:t>megabytes Otherwise </a:t>
            </a:r>
            <a:r>
              <a:rPr lang="en-IN" sz="1800" dirty="0"/>
              <a:t>it can potentially lead to an imbalanced job. </a:t>
            </a:r>
            <a:endParaRPr lang="en-IN" sz="1800" dirty="0" smtClean="0"/>
          </a:p>
          <a:p>
            <a:pPr>
              <a:lnSpc>
                <a:spcPct val="120000"/>
              </a:lnSpc>
            </a:pPr>
            <a:r>
              <a:rPr lang="en-IN" sz="1800" dirty="0" smtClean="0"/>
              <a:t>Other </a:t>
            </a:r>
            <a:r>
              <a:rPr lang="en-IN" sz="1800" dirty="0"/>
              <a:t>options of compression codec could be snappy, </a:t>
            </a:r>
            <a:r>
              <a:rPr lang="en-IN" sz="1800" dirty="0" err="1"/>
              <a:t>lzo</a:t>
            </a:r>
            <a:r>
              <a:rPr lang="en-IN" sz="1800" dirty="0"/>
              <a:t>, </a:t>
            </a:r>
            <a:r>
              <a:rPr lang="en-IN" sz="1800" dirty="0" err="1"/>
              <a:t>bzip</a:t>
            </a:r>
            <a:r>
              <a:rPr lang="en-IN" sz="1800" dirty="0"/>
              <a:t>, etc</a:t>
            </a:r>
            <a:r>
              <a:rPr lang="en-IN" sz="1800" dirty="0" smtClean="0"/>
              <a:t>.</a:t>
            </a:r>
          </a:p>
          <a:p>
            <a:pPr>
              <a:lnSpc>
                <a:spcPct val="120000"/>
              </a:lnSpc>
            </a:pPr>
            <a:r>
              <a:rPr lang="en-IN" sz="1800" dirty="0"/>
              <a:t>For map output compression set </a:t>
            </a:r>
            <a:r>
              <a:rPr lang="en-IN" sz="1800" b="1" dirty="0" err="1"/>
              <a:t>mapred.compress.map.output</a:t>
            </a:r>
            <a:r>
              <a:rPr lang="en-IN" sz="1800" dirty="0"/>
              <a:t> to true</a:t>
            </a:r>
          </a:p>
          <a:p>
            <a:pPr>
              <a:lnSpc>
                <a:spcPct val="120000"/>
              </a:lnSpc>
            </a:pPr>
            <a:r>
              <a:rPr lang="en-IN" sz="1800" dirty="0"/>
              <a:t>For job output compression set </a:t>
            </a:r>
            <a:r>
              <a:rPr lang="en-IN" sz="1800" b="1" dirty="0" err="1"/>
              <a:t>mapred.output.compress</a:t>
            </a:r>
            <a:r>
              <a:rPr lang="en-IN" sz="1800" dirty="0"/>
              <a:t> to true</a:t>
            </a:r>
          </a:p>
          <a:p>
            <a:pPr marL="0" indent="0">
              <a:lnSpc>
                <a:spcPct val="120000"/>
              </a:lnSpc>
              <a:buNone/>
            </a:pPr>
            <a:r>
              <a:rPr lang="en-IN" sz="1800" dirty="0" smtClean="0"/>
              <a:t>   </a:t>
            </a:r>
            <a:r>
              <a:rPr lang="en-IN" sz="1800" b="1" dirty="0" smtClean="0"/>
              <a:t>Ex: </a:t>
            </a:r>
            <a:r>
              <a:rPr lang="en-IN" sz="1800" dirty="0" smtClean="0"/>
              <a:t>Using </a:t>
            </a:r>
            <a:r>
              <a:rPr lang="en-IN" sz="1800" dirty="0"/>
              <a:t>Snappy for Hive </a:t>
            </a:r>
            <a:r>
              <a:rPr lang="en-IN" sz="1800" dirty="0" smtClean="0"/>
              <a:t>Compression</a:t>
            </a:r>
          </a:p>
          <a:p>
            <a:pPr marL="0" indent="0">
              <a:lnSpc>
                <a:spcPct val="120000"/>
              </a:lnSpc>
              <a:buNone/>
            </a:pPr>
            <a:r>
              <a:rPr lang="en-IN" sz="1800" dirty="0"/>
              <a:t>         SET </a:t>
            </a:r>
            <a:r>
              <a:rPr lang="en-IN" sz="1800" dirty="0" err="1"/>
              <a:t>hive.exec.compress.output</a:t>
            </a:r>
            <a:r>
              <a:rPr lang="en-IN" sz="1800" dirty="0"/>
              <a:t>=true;</a:t>
            </a:r>
          </a:p>
          <a:p>
            <a:pPr marL="0" indent="0">
              <a:lnSpc>
                <a:spcPct val="120000"/>
              </a:lnSpc>
              <a:buNone/>
            </a:pPr>
            <a:r>
              <a:rPr lang="en-IN" sz="1800" dirty="0" smtClean="0"/>
              <a:t>         SET </a:t>
            </a:r>
            <a:r>
              <a:rPr lang="en-IN" sz="1800" dirty="0" err="1"/>
              <a:t>mapred.output.compression.codec</a:t>
            </a:r>
            <a:r>
              <a:rPr lang="en-IN" sz="1800" dirty="0"/>
              <a:t>=</a:t>
            </a:r>
            <a:r>
              <a:rPr lang="en-IN" sz="1800" dirty="0" err="1"/>
              <a:t>org.apache.hadoop.io.compress.SnappyCodec</a:t>
            </a:r>
            <a:r>
              <a:rPr lang="en-IN" sz="1800" dirty="0"/>
              <a:t>;</a:t>
            </a:r>
          </a:p>
          <a:p>
            <a:pPr marL="0" indent="0">
              <a:lnSpc>
                <a:spcPct val="120000"/>
              </a:lnSpc>
              <a:buNone/>
            </a:pPr>
            <a:r>
              <a:rPr lang="en-IN" sz="1800" dirty="0" smtClean="0"/>
              <a:t>         SET </a:t>
            </a:r>
            <a:r>
              <a:rPr lang="en-IN" sz="1800" dirty="0" err="1"/>
              <a:t>mapred.output.compression.type</a:t>
            </a:r>
            <a:r>
              <a:rPr lang="en-IN" sz="1800" dirty="0"/>
              <a:t>=BLOCK;</a:t>
            </a:r>
          </a:p>
          <a:p>
            <a:pPr>
              <a:lnSpc>
                <a:spcPct val="120000"/>
              </a:lnSpc>
            </a:pPr>
            <a:endParaRPr lang="en-IN" sz="1800" dirty="0"/>
          </a:p>
        </p:txBody>
      </p:sp>
      <p:sp>
        <p:nvSpPr>
          <p:cNvPr id="4" name="Footer Placeholder 3"/>
          <p:cNvSpPr>
            <a:spLocks noGrp="1"/>
          </p:cNvSpPr>
          <p:nvPr>
            <p:ph type="ftr" sz="quarter" idx="11"/>
          </p:nvPr>
        </p:nvSpPr>
        <p:spPr>
          <a:xfrm>
            <a:off x="1508166" y="6398121"/>
            <a:ext cx="8514608" cy="365125"/>
          </a:xfrm>
        </p:spPr>
        <p:txBody>
          <a:bodyPr/>
          <a:lstStyle/>
          <a:p>
            <a:r>
              <a:rPr lang="en-IN" dirty="0" smtClean="0"/>
              <a:t>Copyright © 2016 Accenture All Rights Reserved. Confidential —For Company Internal Use Only.</a:t>
            </a:r>
            <a:endParaRPr lang="en-IN" dirty="0"/>
          </a:p>
        </p:txBody>
      </p:sp>
    </p:spTree>
    <p:extLst>
      <p:ext uri="{BB962C8B-B14F-4D97-AF65-F5344CB8AC3E}">
        <p14:creationId xmlns:p14="http://schemas.microsoft.com/office/powerpoint/2010/main" val="92226339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9447" y="308758"/>
            <a:ext cx="10515600" cy="728787"/>
          </a:xfrm>
        </p:spPr>
        <p:txBody>
          <a:bodyPr>
            <a:normAutofit/>
          </a:bodyPr>
          <a:lstStyle/>
          <a:p>
            <a:pPr algn="ctr"/>
            <a:r>
              <a:rPr lang="en-IN" sz="4000" b="1" dirty="0" smtClean="0"/>
              <a:t>Sampling</a:t>
            </a:r>
            <a:endParaRPr lang="en-IN" sz="4000" b="1" dirty="0"/>
          </a:p>
        </p:txBody>
      </p:sp>
      <p:sp>
        <p:nvSpPr>
          <p:cNvPr id="3" name="Content Placeholder 2"/>
          <p:cNvSpPr>
            <a:spLocks noGrp="1"/>
          </p:cNvSpPr>
          <p:nvPr>
            <p:ph idx="1"/>
          </p:nvPr>
        </p:nvSpPr>
        <p:spPr>
          <a:xfrm>
            <a:off x="838200" y="1037545"/>
            <a:ext cx="10515600" cy="5139418"/>
          </a:xfrm>
        </p:spPr>
        <p:txBody>
          <a:bodyPr>
            <a:normAutofit/>
          </a:bodyPr>
          <a:lstStyle/>
          <a:p>
            <a:pPr>
              <a:lnSpc>
                <a:spcPct val="150000"/>
              </a:lnSpc>
            </a:pPr>
            <a:r>
              <a:rPr lang="en-IN" sz="1800" dirty="0"/>
              <a:t>Sampling allows users to take a subset of dataset and analyze it, without having to analyze the entire data set. If a representative sample is used, then a query can return meaningful results as well as finish quicker and consume fewer compute resources.</a:t>
            </a:r>
          </a:p>
          <a:p>
            <a:pPr>
              <a:lnSpc>
                <a:spcPct val="150000"/>
              </a:lnSpc>
            </a:pPr>
            <a:r>
              <a:rPr lang="en-IN" sz="1800" dirty="0"/>
              <a:t>Hive offers a built-in TABLESAMPLE clause that allows you to sample your tables. TABLESAMPLE can sample at various granularity levels – it can return only subsets of buckets (bucket sampling), or HDFS blocks (block sampling), or only first N records from each input split. Alternatively, you can implement your own UDF that filters out records according to your sampling algorithm.</a:t>
            </a:r>
          </a:p>
          <a:p>
            <a:pPr>
              <a:lnSpc>
                <a:spcPct val="150000"/>
              </a:lnSpc>
            </a:pPr>
            <a:endParaRPr lang="en-IN" sz="1800" dirty="0"/>
          </a:p>
        </p:txBody>
      </p:sp>
      <p:sp>
        <p:nvSpPr>
          <p:cNvPr id="4" name="Footer Placeholder 3"/>
          <p:cNvSpPr>
            <a:spLocks noGrp="1"/>
          </p:cNvSpPr>
          <p:nvPr>
            <p:ph type="ftr" sz="quarter" idx="11"/>
          </p:nvPr>
        </p:nvSpPr>
        <p:spPr>
          <a:xfrm>
            <a:off x="1935677" y="6356350"/>
            <a:ext cx="8146473" cy="365125"/>
          </a:xfrm>
        </p:spPr>
        <p:txBody>
          <a:bodyPr/>
          <a:lstStyle/>
          <a:p>
            <a:r>
              <a:rPr lang="en-IN" dirty="0" smtClean="0"/>
              <a:t>Copyright © 2016 Accenture All Rights Reserved. Confidential —For Company Internal Use Only.</a:t>
            </a:r>
            <a:endParaRPr lang="en-IN" dirty="0"/>
          </a:p>
        </p:txBody>
      </p:sp>
    </p:spTree>
    <p:extLst>
      <p:ext uri="{BB962C8B-B14F-4D97-AF65-F5344CB8AC3E}">
        <p14:creationId xmlns:p14="http://schemas.microsoft.com/office/powerpoint/2010/main" val="235661873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7506"/>
            <a:ext cx="10515600" cy="598158"/>
          </a:xfrm>
        </p:spPr>
        <p:txBody>
          <a:bodyPr>
            <a:noAutofit/>
          </a:bodyPr>
          <a:lstStyle/>
          <a:p>
            <a:pPr algn="ctr"/>
            <a:r>
              <a:rPr lang="en-IN" sz="4000" b="1" dirty="0" smtClean="0"/>
              <a:t/>
            </a:r>
            <a:br>
              <a:rPr lang="en-IN" sz="4000" b="1" dirty="0" smtClean="0"/>
            </a:br>
            <a:r>
              <a:rPr lang="en-IN" sz="4000" b="1" dirty="0" smtClean="0"/>
              <a:t>Predicate </a:t>
            </a:r>
            <a:r>
              <a:rPr lang="en-IN" sz="4000" b="1" dirty="0"/>
              <a:t>Push Down</a:t>
            </a:r>
            <a:br>
              <a:rPr lang="en-IN" sz="4000" b="1" dirty="0"/>
            </a:br>
            <a:endParaRPr lang="en-IN" sz="4000" b="1" dirty="0"/>
          </a:p>
        </p:txBody>
      </p:sp>
      <p:sp>
        <p:nvSpPr>
          <p:cNvPr id="3" name="Content Placeholder 2"/>
          <p:cNvSpPr>
            <a:spLocks noGrp="1"/>
          </p:cNvSpPr>
          <p:nvPr>
            <p:ph idx="1"/>
          </p:nvPr>
        </p:nvSpPr>
        <p:spPr>
          <a:xfrm>
            <a:off x="403761" y="835664"/>
            <a:ext cx="11376561" cy="5341299"/>
          </a:xfrm>
        </p:spPr>
        <p:txBody>
          <a:bodyPr>
            <a:normAutofit/>
          </a:bodyPr>
          <a:lstStyle/>
          <a:p>
            <a:pPr>
              <a:lnSpc>
                <a:spcPct val="150000"/>
              </a:lnSpc>
            </a:pPr>
            <a:r>
              <a:rPr lang="en-IN" sz="1800" dirty="0" smtClean="0"/>
              <a:t>Predicate </a:t>
            </a:r>
            <a:r>
              <a:rPr lang="en-IN" sz="1800" dirty="0"/>
              <a:t>pushdown is a term borrowed from relational databases even though for Hive it is predicate </a:t>
            </a:r>
            <a:r>
              <a:rPr lang="en-IN" sz="1800" dirty="0" smtClean="0"/>
              <a:t>push up. </a:t>
            </a:r>
            <a:r>
              <a:rPr lang="en-IN" sz="1800" dirty="0"/>
              <a:t>The basic idea is to process expressions as early in the plan as possible. </a:t>
            </a:r>
            <a:endParaRPr lang="en-IN" sz="1800" dirty="0" smtClean="0"/>
          </a:p>
          <a:p>
            <a:pPr>
              <a:lnSpc>
                <a:spcPct val="150000"/>
              </a:lnSpc>
            </a:pPr>
            <a:r>
              <a:rPr lang="en-IN" sz="1800" dirty="0" smtClean="0"/>
              <a:t>The </a:t>
            </a:r>
            <a:r>
              <a:rPr lang="en-IN" sz="1800" dirty="0"/>
              <a:t>default plan generation adds filters where they are seen but in some instances some of the filter expressions can be pushed nearer to the operator that sees this particular data for the first time</a:t>
            </a:r>
            <a:r>
              <a:rPr lang="en-IN" sz="1800" dirty="0" smtClean="0"/>
              <a:t>.</a:t>
            </a:r>
          </a:p>
          <a:p>
            <a:pPr>
              <a:lnSpc>
                <a:spcPct val="150000"/>
              </a:lnSpc>
            </a:pPr>
            <a:r>
              <a:rPr lang="en-IN" sz="1800" dirty="0"/>
              <a:t>when doing an OUTER JOIN, Hive will sometimes ignore the fact that </a:t>
            </a:r>
            <a:r>
              <a:rPr lang="en-IN" sz="1800" dirty="0" smtClean="0"/>
              <a:t>WHERE </a:t>
            </a:r>
            <a:r>
              <a:rPr lang="en-IN" sz="1800" dirty="0"/>
              <a:t>clause is on a partition and do a full table scan anyway. In order to get Hive to push your predicate down and avoid a full table scan, </a:t>
            </a:r>
            <a:r>
              <a:rPr lang="en-IN" sz="1800" dirty="0" smtClean="0"/>
              <a:t>we put predicate </a:t>
            </a:r>
            <a:r>
              <a:rPr lang="en-IN" sz="1800" dirty="0"/>
              <a:t>on the JOIN instead of the WHERE </a:t>
            </a:r>
            <a:r>
              <a:rPr lang="en-IN" sz="1800" dirty="0" smtClean="0"/>
              <a:t>clause.</a:t>
            </a:r>
          </a:p>
          <a:p>
            <a:pPr>
              <a:lnSpc>
                <a:spcPct val="150000"/>
              </a:lnSpc>
            </a:pPr>
            <a:r>
              <a:rPr lang="en-IN" sz="1800" dirty="0"/>
              <a:t>Predicate pushdown is enabled by setting </a:t>
            </a:r>
            <a:r>
              <a:rPr lang="en-IN" sz="1800" b="1" dirty="0" err="1"/>
              <a:t>hive.optimize.ppd</a:t>
            </a:r>
            <a:r>
              <a:rPr lang="en-IN" sz="1800" b="1" dirty="0"/>
              <a:t> to true</a:t>
            </a:r>
            <a:r>
              <a:rPr lang="en-IN" sz="1800" dirty="0"/>
              <a:t>. It is disable by </a:t>
            </a:r>
            <a:r>
              <a:rPr lang="en-IN" sz="1800" dirty="0" smtClean="0"/>
              <a:t>default.</a:t>
            </a:r>
            <a:endParaRPr lang="en-IN" sz="1800" b="1" dirty="0"/>
          </a:p>
        </p:txBody>
      </p:sp>
      <p:sp>
        <p:nvSpPr>
          <p:cNvPr id="4" name="Footer Placeholder 3"/>
          <p:cNvSpPr>
            <a:spLocks noGrp="1"/>
          </p:cNvSpPr>
          <p:nvPr>
            <p:ph type="ftr" sz="quarter" idx="11"/>
          </p:nvPr>
        </p:nvSpPr>
        <p:spPr>
          <a:xfrm>
            <a:off x="2090057" y="6356350"/>
            <a:ext cx="7790213" cy="365125"/>
          </a:xfrm>
        </p:spPr>
        <p:txBody>
          <a:bodyPr/>
          <a:lstStyle/>
          <a:p>
            <a:r>
              <a:rPr lang="en-IN" dirty="0" smtClean="0"/>
              <a:t>Copyright © 2016 Accenture All Rights Reserved. Confidential —For Company Internal Use Only.</a:t>
            </a:r>
            <a:endParaRPr lang="en-IN" dirty="0"/>
          </a:p>
        </p:txBody>
      </p:sp>
    </p:spTree>
    <p:extLst>
      <p:ext uri="{BB962C8B-B14F-4D97-AF65-F5344CB8AC3E}">
        <p14:creationId xmlns:p14="http://schemas.microsoft.com/office/powerpoint/2010/main" val="332145454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2280063" y="6424674"/>
            <a:ext cx="7125194" cy="365125"/>
          </a:xfrm>
        </p:spPr>
        <p:txBody>
          <a:bodyPr/>
          <a:lstStyle/>
          <a:p>
            <a:r>
              <a:rPr lang="en-IN" dirty="0" smtClean="0"/>
              <a:t>Copyright © 2016 Accenture All Rights Reserved. Confidential —For Company Internal Use Only.</a:t>
            </a:r>
            <a:endParaRPr lang="en-IN"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356350"/>
          </a:xfrm>
          <a:prstGeom prst="rect">
            <a:avLst/>
          </a:prstGeom>
        </p:spPr>
      </p:pic>
    </p:spTree>
    <p:extLst>
      <p:ext uri="{BB962C8B-B14F-4D97-AF65-F5344CB8AC3E}">
        <p14:creationId xmlns:p14="http://schemas.microsoft.com/office/powerpoint/2010/main" val="153977694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479</TotalTime>
  <Words>1868</Words>
  <Application>Microsoft Office PowerPoint</Application>
  <PresentationFormat>Widescreen</PresentationFormat>
  <Paragraphs>229</Paragraphs>
  <Slides>21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Calibri Light</vt:lpstr>
      <vt:lpstr>Century Gothic</vt:lpstr>
      <vt:lpstr>Times New Roman</vt:lpstr>
      <vt:lpstr>Wingdings</vt:lpstr>
      <vt:lpstr>Office Theme</vt:lpstr>
      <vt:lpstr> Best Practices for Apache Hive </vt:lpstr>
      <vt:lpstr>                                         Agenda</vt:lpstr>
      <vt:lpstr>               Overview of Apache Hive</vt:lpstr>
      <vt:lpstr>          High-Level Overview for Hive Users</vt:lpstr>
      <vt:lpstr>   Best practices in Apache Hive </vt:lpstr>
      <vt:lpstr>                          Understanding Query Performance </vt:lpstr>
      <vt:lpstr>                         Controlling Job Execution </vt:lpstr>
      <vt:lpstr>                              Controlling Job Execution </vt:lpstr>
      <vt:lpstr>                                 Use of Partitioning </vt:lpstr>
      <vt:lpstr>                                  Use of Partitioning </vt:lpstr>
      <vt:lpstr>                                                            Use of Bucketing </vt:lpstr>
      <vt:lpstr>                                                Indexing Data </vt:lpstr>
      <vt:lpstr>                       De-normalizing data  </vt:lpstr>
      <vt:lpstr>                               Map join </vt:lpstr>
      <vt:lpstr>                                   Vectorization </vt:lpstr>
      <vt:lpstr>                       cost based query optimization </vt:lpstr>
      <vt:lpstr>                      Efficient Use of Single Scan</vt:lpstr>
      <vt:lpstr>                            Using Compression </vt:lpstr>
      <vt:lpstr>Sampling</vt:lpstr>
      <vt:lpstr> Predicate Push Down </vt:lpstr>
      <vt:lpstr>PowerPoint Presentation</vt:lpstr>
    </vt:vector>
  </TitlesOfParts>
  <Company>Accenture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Best Practices for Apache HIVE</dc:title>
  <dc:creator>Karunakar Gandham</dc:creator>
  <cp:lastModifiedBy>Karunakar Gandham</cp:lastModifiedBy>
  <cp:revision>248</cp:revision>
  <dcterms:created xsi:type="dcterms:W3CDTF">2016-01-20T14:47:49Z</dcterms:created>
  <dcterms:modified xsi:type="dcterms:W3CDTF">2016-02-11T12:21:10Z</dcterms:modified>
</cp:coreProperties>
</file>