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51" r:id="rId1"/>
  </p:sldMasterIdLst>
  <p:notesMasterIdLst>
    <p:notesMasterId r:id="rId20"/>
  </p:notesMasterIdLst>
  <p:handoutMasterIdLst>
    <p:handoutMasterId r:id="rId21"/>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96" y="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smtClean="0"/>
              <a:t>Copyright © 2015 Accenture All Rights Reserved. Confidential —For Company Internal Use Only.</a:t>
            </a:r>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4CC2B93-FF9C-4199-93D4-543BC6CAB0CB}" type="datetimeFigureOut">
              <a:rPr lang="en-IN" smtClean="0"/>
              <a:t>10-02-2016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35BDAB-EEE2-4308-B910-5483B8F57AFD}" type="slidenum">
              <a:rPr lang="en-IN" smtClean="0"/>
              <a:t>‹#›</a:t>
            </a:fld>
            <a:endParaRPr lang="en-IN"/>
          </a:p>
        </p:txBody>
      </p:sp>
    </p:spTree>
    <p:extLst>
      <p:ext uri="{BB962C8B-B14F-4D97-AF65-F5344CB8AC3E}">
        <p14:creationId xmlns:p14="http://schemas.microsoft.com/office/powerpoint/2010/main" val="282522404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smtClean="0"/>
              <a:t>Copyright © 2015 Accenture All Rights Reserved. Confidential —For Company Internal Use Only.</a:t>
            </a: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060B51-FE89-45B0-B98A-3D0A1F527753}" type="datetimeFigureOut">
              <a:rPr lang="en-IN" smtClean="0"/>
              <a:t>10-02-2016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82AC86-9B59-492E-9303-35840FE9C37E}" type="slidenum">
              <a:rPr lang="en-IN" smtClean="0"/>
              <a:t>‹#›</a:t>
            </a:fld>
            <a:endParaRPr lang="en-IN"/>
          </a:p>
        </p:txBody>
      </p:sp>
    </p:spTree>
    <p:extLst>
      <p:ext uri="{BB962C8B-B14F-4D97-AF65-F5344CB8AC3E}">
        <p14:creationId xmlns:p14="http://schemas.microsoft.com/office/powerpoint/2010/main" val="24767389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8" name="Slide Number Placeholder 7"/>
          <p:cNvSpPr>
            <a:spLocks noGrp="1"/>
          </p:cNvSpPr>
          <p:nvPr>
            <p:ph type="sldNum" sz="quarter" idx="11"/>
          </p:nvPr>
        </p:nvSpPr>
        <p:spPr/>
        <p:txBody>
          <a:bodyPr/>
          <a:lstStyle/>
          <a:p>
            <a:fld id="{5582AC86-9B59-492E-9303-35840FE9C37E}" type="slidenum">
              <a:rPr lang="en-IN" smtClean="0"/>
              <a:t>1</a:t>
            </a:fld>
            <a:endParaRPr lang="en-IN"/>
          </a:p>
        </p:txBody>
      </p:sp>
    </p:spTree>
    <p:extLst>
      <p:ext uri="{BB962C8B-B14F-4D97-AF65-F5344CB8AC3E}">
        <p14:creationId xmlns:p14="http://schemas.microsoft.com/office/powerpoint/2010/main" val="543109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Footer Placeholder 3"/>
          <p:cNvSpPr>
            <a:spLocks noGrp="1"/>
          </p:cNvSpPr>
          <p:nvPr>
            <p:ph type="ftr" sz="quarter" idx="10"/>
          </p:nvPr>
        </p:nvSpPr>
        <p:spPr/>
        <p:txBody>
          <a:bodyPr/>
          <a:lstStyle/>
          <a:p>
            <a:endParaRPr lang="en-IN"/>
          </a:p>
        </p:txBody>
      </p:sp>
      <p:sp>
        <p:nvSpPr>
          <p:cNvPr id="6" name="Slide Number Placeholder 5"/>
          <p:cNvSpPr>
            <a:spLocks noGrp="1"/>
          </p:cNvSpPr>
          <p:nvPr>
            <p:ph type="sldNum" sz="quarter" idx="12"/>
          </p:nvPr>
        </p:nvSpPr>
        <p:spPr/>
        <p:txBody>
          <a:bodyPr/>
          <a:lstStyle/>
          <a:p>
            <a:fld id="{5582AC86-9B59-492E-9303-35840FE9C37E}" type="slidenum">
              <a:rPr lang="en-IN" smtClean="0"/>
              <a:t>2</a:t>
            </a:fld>
            <a:endParaRPr lang="en-IN"/>
          </a:p>
        </p:txBody>
      </p:sp>
    </p:spTree>
    <p:extLst>
      <p:ext uri="{BB962C8B-B14F-4D97-AF65-F5344CB8AC3E}">
        <p14:creationId xmlns:p14="http://schemas.microsoft.com/office/powerpoint/2010/main" val="3118294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5" name="Slide Number Placeholder 4"/>
          <p:cNvSpPr>
            <a:spLocks noGrp="1"/>
          </p:cNvSpPr>
          <p:nvPr>
            <p:ph type="sldNum" sz="quarter" idx="11"/>
          </p:nvPr>
        </p:nvSpPr>
        <p:spPr/>
        <p:txBody>
          <a:bodyPr/>
          <a:lstStyle/>
          <a:p>
            <a:fld id="{5582AC86-9B59-492E-9303-35840FE9C37E}" type="slidenum">
              <a:rPr lang="en-IN" smtClean="0"/>
              <a:t>3</a:t>
            </a:fld>
            <a:endParaRPr lang="en-IN"/>
          </a:p>
        </p:txBody>
      </p:sp>
    </p:spTree>
    <p:extLst>
      <p:ext uri="{BB962C8B-B14F-4D97-AF65-F5344CB8AC3E}">
        <p14:creationId xmlns:p14="http://schemas.microsoft.com/office/powerpoint/2010/main" val="2065633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1890B79-B4B4-4047-A3EE-9AA1F302BF62}" type="datetime1">
              <a:rPr lang="en-IN" smtClean="0"/>
              <a:t>10-02-2016</a:t>
            </a:fld>
            <a:endParaRPr lang="en-IN"/>
          </a:p>
        </p:txBody>
      </p:sp>
      <p:sp>
        <p:nvSpPr>
          <p:cNvPr id="5"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98319697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470D92D-4595-4ED6-9FE5-51E8D4471E2A}" type="datetime1">
              <a:rPr lang="en-IN" smtClean="0"/>
              <a:t>10-02-2016</a:t>
            </a:fld>
            <a:endParaRPr lang="en-IN"/>
          </a:p>
        </p:txBody>
      </p:sp>
      <p:sp>
        <p:nvSpPr>
          <p:cNvPr id="5"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1429757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72BF86-FD1D-4666-9105-AADD53745CB8}" type="datetime1">
              <a:rPr lang="en-IN" smtClean="0"/>
              <a:t>10-02-2016</a:t>
            </a:fld>
            <a:endParaRPr lang="en-IN"/>
          </a:p>
        </p:txBody>
      </p:sp>
      <p:sp>
        <p:nvSpPr>
          <p:cNvPr id="5"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16726053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E3858F8-328E-4D63-ACC2-16F88C410530}" type="datetime1">
              <a:rPr lang="en-IN" smtClean="0"/>
              <a:t>10-02-2016</a:t>
            </a:fld>
            <a:endParaRPr lang="en-IN"/>
          </a:p>
        </p:txBody>
      </p:sp>
      <p:sp>
        <p:nvSpPr>
          <p:cNvPr id="6" name="Footer Placeholder 5"/>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7" name="Slide Number Placeholder 6"/>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3929686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DBAF6F6-E4B6-4BD5-B3A1-D7D8C50B3E7B}" type="datetime1">
              <a:rPr lang="en-IN" smtClean="0"/>
              <a:t>10-02-2016</a:t>
            </a:fld>
            <a:endParaRPr lang="en-IN"/>
          </a:p>
        </p:txBody>
      </p:sp>
      <p:sp>
        <p:nvSpPr>
          <p:cNvPr id="8" name="Footer Placeholder 7"/>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9" name="Slide Number Placeholder 8"/>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1810240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C1EE520-1263-49DA-ACC7-9A2013BF37D1}" type="datetime1">
              <a:rPr lang="en-IN" smtClean="0"/>
              <a:t>10-02-2016</a:t>
            </a:fld>
            <a:endParaRPr lang="en-IN"/>
          </a:p>
        </p:txBody>
      </p:sp>
      <p:sp>
        <p:nvSpPr>
          <p:cNvPr id="5" name="Footer Placeholder 3"/>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4"/>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998863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B43EFBD-8882-4F64-9F55-E04C64CD8311}" type="datetime1">
              <a:rPr lang="en-IN" smtClean="0"/>
              <a:t>10-02-2016</a:t>
            </a:fld>
            <a:endParaRPr lang="en-IN"/>
          </a:p>
        </p:txBody>
      </p:sp>
      <p:sp>
        <p:nvSpPr>
          <p:cNvPr id="5" name="Footer Placeholder 2"/>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3"/>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3928299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28588101-D704-4D56-A720-16F3C3FEF924}" type="datetime1">
              <a:rPr lang="en-IN" smtClean="0"/>
              <a:t>10-02-2016</a:t>
            </a:fld>
            <a:endParaRPr lang="en-IN"/>
          </a:p>
        </p:txBody>
      </p:sp>
      <p:sp>
        <p:nvSpPr>
          <p:cNvPr id="5" name="Footer Placeholder 5"/>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6"/>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693310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FAB8D9-C6E5-4641-80C1-71C0A459699D}" type="datetime1">
              <a:rPr lang="en-IN" smtClean="0"/>
              <a:t>10-02-2016</a:t>
            </a:fld>
            <a:endParaRPr lang="en-IN"/>
          </a:p>
        </p:txBody>
      </p:sp>
      <p:sp>
        <p:nvSpPr>
          <p:cNvPr id="6" name="Footer Placeholder 5"/>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7" name="Slide Number Placeholder 6"/>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3891766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1BC5979-D3DB-4E88-AD1C-8F6D294FE983}" type="datetime1">
              <a:rPr lang="en-IN" smtClean="0"/>
              <a:t>10-02-2016</a:t>
            </a:fld>
            <a:endParaRPr lang="en-IN"/>
          </a:p>
        </p:txBody>
      </p:sp>
      <p:sp>
        <p:nvSpPr>
          <p:cNvPr id="6" name="Footer Placeholder 5"/>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7" name="Slide Number Placeholder 6"/>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170793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28C98D2-3AB7-48ED-B5D7-D7E75C3BDFF9}" type="datetime1">
              <a:rPr lang="en-IN" smtClean="0"/>
              <a:t>10-02-2016</a:t>
            </a:fld>
            <a:endParaRPr lang="en-IN"/>
          </a:p>
        </p:txBody>
      </p:sp>
      <p:sp>
        <p:nvSpPr>
          <p:cNvPr id="5"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4162164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356D982-F771-4AD5-9B22-2AC205B87958}" type="datetime1">
              <a:rPr lang="en-IN" smtClean="0"/>
              <a:t>10-02-2016</a:t>
            </a:fld>
            <a:endParaRPr lang="en-IN"/>
          </a:p>
        </p:txBody>
      </p:sp>
      <p:sp>
        <p:nvSpPr>
          <p:cNvPr id="5"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12"/>
          </p:nvPr>
        </p:nvSpPr>
        <p:spPr/>
        <p:txBody>
          <a:bodyPr/>
          <a:lstStyle/>
          <a:p>
            <a:fld id="{F144C43C-C8F4-4270-B7CE-D13DE8DBFC8C}" type="slidenum">
              <a:rPr lang="en-IN" smtClean="0"/>
              <a:t>‹#›</a:t>
            </a:fld>
            <a:endParaRPr lang="en-IN"/>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8151117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4FA5DF9-DE0D-43F5-83F4-453CB3B4CE45}" type="datetime1">
              <a:rPr lang="en-IN" smtClean="0"/>
              <a:t>10-02-2016</a:t>
            </a:fld>
            <a:endParaRPr lang="en-IN"/>
          </a:p>
        </p:txBody>
      </p:sp>
      <p:sp>
        <p:nvSpPr>
          <p:cNvPr id="5"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20990858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C2BF547-6344-461C-B8A1-63CDA11B5DDE}" type="datetime1">
              <a:rPr lang="en-IN" smtClean="0"/>
              <a:t>10-02-2016</a:t>
            </a:fld>
            <a:endParaRPr lang="en-IN"/>
          </a:p>
        </p:txBody>
      </p:sp>
      <p:sp>
        <p:nvSpPr>
          <p:cNvPr id="4"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34296416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B7A0753-2C1E-4791-9ABA-4EE3431E76E7}" type="datetime1">
              <a:rPr lang="en-IN" smtClean="0"/>
              <a:t>10-02-2016</a:t>
            </a:fld>
            <a:endParaRPr lang="en-IN"/>
          </a:p>
        </p:txBody>
      </p:sp>
      <p:sp>
        <p:nvSpPr>
          <p:cNvPr id="4"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38483243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4617FE9-D6E0-4898-90D9-22DACAB59AAF}" type="datetime1">
              <a:rPr lang="en-IN" smtClean="0"/>
              <a:t>10-02-2016</a:t>
            </a:fld>
            <a:endParaRPr lang="en-IN"/>
          </a:p>
        </p:txBody>
      </p:sp>
      <p:sp>
        <p:nvSpPr>
          <p:cNvPr id="5"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13455604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32FEC2-2C65-45EE-94F4-7EB4DBCC6557}" type="datetime1">
              <a:rPr lang="en-IN" smtClean="0"/>
              <a:t>10-02-2016</a:t>
            </a:fld>
            <a:endParaRPr lang="en-IN"/>
          </a:p>
        </p:txBody>
      </p:sp>
      <p:sp>
        <p:nvSpPr>
          <p:cNvPr id="5"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12"/>
          </p:nvPr>
        </p:nvSpPr>
        <p:spPr/>
        <p:txBody>
          <a:bodyPr/>
          <a:lstStyle/>
          <a:p>
            <a:fld id="{F144C43C-C8F4-4270-B7CE-D13DE8DBFC8C}" type="slidenum">
              <a:rPr lang="en-IN" smtClean="0"/>
              <a:t>‹#›</a:t>
            </a:fld>
            <a:endParaRPr lang="en-IN"/>
          </a:p>
        </p:txBody>
      </p:sp>
    </p:spTree>
    <p:extLst>
      <p:ext uri="{BB962C8B-B14F-4D97-AF65-F5344CB8AC3E}">
        <p14:creationId xmlns:p14="http://schemas.microsoft.com/office/powerpoint/2010/main" val="414490767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9CCC65E-A278-471F-89E2-B1DB82710D8E}" type="datetime1">
              <a:rPr lang="en-IN" smtClean="0"/>
              <a:t>10-02-2016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144C43C-C8F4-4270-B7CE-D13DE8DBFC8C}" type="slidenum">
              <a:rPr lang="en-IN" smtClean="0"/>
              <a:t>‹#›</a:t>
            </a:fld>
            <a:endParaRPr lang="en-IN"/>
          </a:p>
        </p:txBody>
      </p:sp>
    </p:spTree>
    <p:extLst>
      <p:ext uri="{BB962C8B-B14F-4D97-AF65-F5344CB8AC3E}">
        <p14:creationId xmlns:p14="http://schemas.microsoft.com/office/powerpoint/2010/main" val="1772754937"/>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68" r:id="rId17"/>
  </p:sldLayoutIdLst>
  <p:hf sldNum="0" hd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8093" y="1425038"/>
            <a:ext cx="8825658" cy="795648"/>
          </a:xfrm>
        </p:spPr>
        <p:txBody>
          <a:bodyPr>
            <a:normAutofit fontScale="90000"/>
          </a:bodyPr>
          <a:lstStyle/>
          <a:p>
            <a:pPr algn="ctr"/>
            <a:r>
              <a:rPr lang="en-IN" sz="3600" dirty="0" smtClean="0">
                <a:solidFill>
                  <a:schemeClr val="tx1">
                    <a:lumMod val="95000"/>
                    <a:lumOff val="5000"/>
                  </a:schemeClr>
                </a:solidFill>
                <a:latin typeface="Times New Roman" panose="02020603050405020304" pitchFamily="18" charset="0"/>
                <a:cs typeface="Times New Roman" panose="02020603050405020304" pitchFamily="18" charset="0"/>
              </a:rPr>
              <a:t>Best Practices for Apache Sqoop </a:t>
            </a:r>
            <a:r>
              <a:rPr lang="en-IN" sz="3200" dirty="0" smtClean="0"/>
              <a:t/>
            </a:r>
            <a:br>
              <a:rPr lang="en-IN" sz="3200" dirty="0" smtClean="0"/>
            </a:br>
            <a:r>
              <a:rPr lang="en-IN" dirty="0" smtClean="0"/>
              <a:t> </a:t>
            </a:r>
            <a:endParaRPr lang="en-IN"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013" y="2541319"/>
            <a:ext cx="3895107" cy="1341912"/>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0224" y="2541319"/>
            <a:ext cx="3455719" cy="1151906"/>
          </a:xfrm>
          <a:prstGeom prst="rect">
            <a:avLst/>
          </a:prstGeom>
        </p:spPr>
      </p:pic>
      <p:sp>
        <p:nvSpPr>
          <p:cNvPr id="7" name="Subtitle 2"/>
          <p:cNvSpPr txBox="1">
            <a:spLocks/>
          </p:cNvSpPr>
          <p:nvPr/>
        </p:nvSpPr>
        <p:spPr>
          <a:xfrm>
            <a:off x="9714017" y="5858033"/>
            <a:ext cx="2030680" cy="697145"/>
          </a:xfrm>
          <a:prstGeom prst="rect">
            <a:avLst/>
          </a:prstGeom>
        </p:spPr>
        <p:txBody>
          <a:bodyPr vert="horz" lIns="91440" tIns="45720" rIns="91440" bIns="45720" rtlCol="0" anchor="t">
            <a:no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solidFill>
                <a:latin typeface="+mj-lt"/>
                <a:ea typeface="+mj-ea"/>
                <a:cs typeface="+mj-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9pPr>
          </a:lstStyle>
          <a:p>
            <a:r>
              <a:rPr lang="en-IN" sz="1400" smtClean="0">
                <a:solidFill>
                  <a:schemeClr val="tx1">
                    <a:lumMod val="95000"/>
                    <a:lumOff val="5000"/>
                  </a:schemeClr>
                </a:solidFill>
                <a:effectLst>
                  <a:outerShdw blurRad="38100" dist="38100" dir="2700000" algn="tl">
                    <a:srgbClr val="000000">
                      <a:alpha val="43137"/>
                    </a:srgbClr>
                  </a:outerShdw>
                </a:effectLst>
              </a:rPr>
              <a:t>                By</a:t>
            </a:r>
          </a:p>
          <a:p>
            <a:r>
              <a:rPr lang="en-IN" sz="1400" smtClean="0">
                <a:solidFill>
                  <a:schemeClr val="tx1">
                    <a:lumMod val="95000"/>
                    <a:lumOff val="5000"/>
                  </a:schemeClr>
                </a:solidFill>
                <a:effectLst>
                  <a:outerShdw blurRad="38100" dist="38100" dir="2700000" algn="tl">
                    <a:srgbClr val="000000">
                      <a:alpha val="43137"/>
                    </a:srgbClr>
                  </a:outerShdw>
                </a:effectLst>
              </a:rPr>
              <a:t> Karunakar NAIDU</a:t>
            </a:r>
          </a:p>
          <a:p>
            <a:endParaRPr lang="en-IN" sz="1400" dirty="0">
              <a:solidFill>
                <a:schemeClr val="tx1">
                  <a:lumMod val="95000"/>
                  <a:lumOff val="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238466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7345" y="96458"/>
            <a:ext cx="9404723" cy="770441"/>
          </a:xfrm>
        </p:spPr>
        <p:txBody>
          <a:bodyPr/>
          <a:lstStyle/>
          <a:p>
            <a:pPr algn="ctr"/>
            <a:r>
              <a:rPr lang="en-IN" sz="4000" dirty="0" smtClean="0">
                <a:latin typeface="Calibri" panose="020F0502020204030204" pitchFamily="34" charset="0"/>
              </a:rPr>
              <a:t>Agenda</a:t>
            </a:r>
            <a:endParaRPr lang="en-IN" sz="4000" dirty="0">
              <a:latin typeface="Calibri" panose="020F0502020204030204" pitchFamily="34" charset="0"/>
            </a:endParaRPr>
          </a:p>
        </p:txBody>
      </p:sp>
      <p:sp>
        <p:nvSpPr>
          <p:cNvPr id="3" name="Content Placeholder 2"/>
          <p:cNvSpPr>
            <a:spLocks noGrp="1"/>
          </p:cNvSpPr>
          <p:nvPr>
            <p:ph idx="1"/>
          </p:nvPr>
        </p:nvSpPr>
        <p:spPr>
          <a:xfrm>
            <a:off x="1186437" y="700644"/>
            <a:ext cx="8946541" cy="5997039"/>
          </a:xfrm>
        </p:spPr>
        <p:txBody>
          <a:bodyPr>
            <a:noAutofit/>
          </a:bodyPr>
          <a:lstStyle/>
          <a:p>
            <a:pPr>
              <a:lnSpc>
                <a:spcPct val="110000"/>
              </a:lnSpc>
              <a:buClr>
                <a:schemeClr val="tx1"/>
              </a:buClr>
              <a:buFont typeface="Wingdings" panose="05000000000000000000" pitchFamily="2" charset="2"/>
              <a:buChar char="v"/>
            </a:pPr>
            <a:r>
              <a:rPr lang="en-IN" sz="1800" dirty="0" smtClean="0">
                <a:latin typeface="Calibri" panose="020F0502020204030204" pitchFamily="34" charset="0"/>
              </a:rPr>
              <a:t>Overview of Sqoop</a:t>
            </a:r>
          </a:p>
          <a:p>
            <a:pPr>
              <a:lnSpc>
                <a:spcPct val="110000"/>
              </a:lnSpc>
              <a:buClr>
                <a:schemeClr val="tx1"/>
              </a:buClr>
              <a:buFont typeface="Wingdings" panose="05000000000000000000" pitchFamily="2" charset="2"/>
              <a:buChar char="v"/>
            </a:pPr>
            <a:r>
              <a:rPr lang="en-IN" sz="1800" dirty="0" smtClean="0">
                <a:latin typeface="Calibri" panose="020F0502020204030204" pitchFamily="34" charset="0"/>
              </a:rPr>
              <a:t>Importing data using Sqoop</a:t>
            </a:r>
          </a:p>
          <a:p>
            <a:pPr>
              <a:lnSpc>
                <a:spcPct val="110000"/>
              </a:lnSpc>
              <a:buClr>
                <a:schemeClr val="tx1"/>
              </a:buClr>
              <a:buFont typeface="Wingdings" panose="05000000000000000000" pitchFamily="2" charset="2"/>
              <a:buChar char="v"/>
            </a:pPr>
            <a:r>
              <a:rPr lang="en-IN" sz="1800" dirty="0">
                <a:latin typeface="Calibri" panose="020F0502020204030204" pitchFamily="34" charset="0"/>
              </a:rPr>
              <a:t>Exporting data using Sqoop</a:t>
            </a:r>
            <a:endParaRPr lang="en-IN" sz="1800" dirty="0" smtClean="0">
              <a:latin typeface="Calibri" panose="020F0502020204030204" pitchFamily="34" charset="0"/>
            </a:endParaRPr>
          </a:p>
          <a:p>
            <a:pPr>
              <a:lnSpc>
                <a:spcPct val="110000"/>
              </a:lnSpc>
              <a:buClr>
                <a:schemeClr val="tx1"/>
              </a:buClr>
              <a:buFont typeface="Wingdings" panose="05000000000000000000" pitchFamily="2" charset="2"/>
              <a:buChar char="v"/>
            </a:pPr>
            <a:r>
              <a:rPr lang="en-IN" sz="1800" dirty="0" smtClean="0">
                <a:latin typeface="Calibri" panose="020F0502020204030204" pitchFamily="34" charset="0"/>
              </a:rPr>
              <a:t>Best Practices for Sqoop</a:t>
            </a:r>
          </a:p>
          <a:p>
            <a:pPr>
              <a:lnSpc>
                <a:spcPct val="110000"/>
              </a:lnSpc>
              <a:buClr>
                <a:schemeClr val="tx1"/>
              </a:buClr>
              <a:buFont typeface="Wingdings" panose="05000000000000000000" pitchFamily="2" charset="2"/>
              <a:buChar char="§"/>
            </a:pPr>
            <a:r>
              <a:rPr lang="en-IN" sz="1800" dirty="0">
                <a:latin typeface="Calibri" panose="020F0502020204030204" pitchFamily="34" charset="0"/>
              </a:rPr>
              <a:t> Formatting Arguments</a:t>
            </a:r>
          </a:p>
          <a:p>
            <a:pPr>
              <a:lnSpc>
                <a:spcPct val="110000"/>
              </a:lnSpc>
              <a:buClr>
                <a:schemeClr val="tx1"/>
              </a:buClr>
              <a:buFont typeface="Wingdings" panose="05000000000000000000" pitchFamily="2" charset="2"/>
              <a:buChar char="§"/>
            </a:pPr>
            <a:r>
              <a:rPr lang="en-IN" sz="1800" dirty="0">
                <a:latin typeface="Calibri" panose="020F0502020204030204" pitchFamily="34" charset="0"/>
              </a:rPr>
              <a:t>Controlling Parallelism</a:t>
            </a:r>
          </a:p>
          <a:p>
            <a:pPr>
              <a:lnSpc>
                <a:spcPct val="110000"/>
              </a:lnSpc>
              <a:buClr>
                <a:schemeClr val="tx1"/>
              </a:buClr>
              <a:buFont typeface="Wingdings" panose="05000000000000000000" pitchFamily="2" charset="2"/>
              <a:buChar char="§"/>
            </a:pPr>
            <a:r>
              <a:rPr lang="en-IN" sz="1800" dirty="0">
                <a:latin typeface="Calibri" panose="020F0502020204030204" pitchFamily="34" charset="0"/>
              </a:rPr>
              <a:t>Connectors</a:t>
            </a:r>
          </a:p>
          <a:p>
            <a:pPr>
              <a:lnSpc>
                <a:spcPct val="110000"/>
              </a:lnSpc>
              <a:buClr>
                <a:schemeClr val="tx1"/>
              </a:buClr>
              <a:buFont typeface="Wingdings" panose="05000000000000000000" pitchFamily="2" charset="2"/>
              <a:buChar char="§"/>
            </a:pPr>
            <a:r>
              <a:rPr lang="en-IN" sz="1800" dirty="0">
                <a:latin typeface="Calibri" panose="020F0502020204030204" pitchFamily="34" charset="0"/>
              </a:rPr>
              <a:t>Splitting Data</a:t>
            </a:r>
          </a:p>
          <a:p>
            <a:pPr>
              <a:lnSpc>
                <a:spcPct val="110000"/>
              </a:lnSpc>
              <a:buClr>
                <a:schemeClr val="tx1"/>
              </a:buClr>
              <a:buFont typeface="Wingdings" panose="05000000000000000000" pitchFamily="2" charset="2"/>
              <a:buChar char="§"/>
            </a:pPr>
            <a:r>
              <a:rPr lang="en-IN" sz="1800" dirty="0">
                <a:latin typeface="Calibri" panose="020F0502020204030204" pitchFamily="34" charset="0"/>
              </a:rPr>
              <a:t>Boundary Queries</a:t>
            </a:r>
          </a:p>
          <a:p>
            <a:pPr>
              <a:lnSpc>
                <a:spcPct val="110000"/>
              </a:lnSpc>
              <a:buClr>
                <a:schemeClr val="tx1"/>
              </a:buClr>
              <a:buFont typeface="Wingdings" panose="05000000000000000000" pitchFamily="2" charset="2"/>
              <a:buChar char="§"/>
            </a:pPr>
            <a:r>
              <a:rPr lang="en-IN" sz="1800" dirty="0">
                <a:latin typeface="Calibri" panose="020F0502020204030204" pitchFamily="34" charset="0"/>
              </a:rPr>
              <a:t>Option Files</a:t>
            </a:r>
          </a:p>
          <a:p>
            <a:pPr>
              <a:lnSpc>
                <a:spcPct val="110000"/>
              </a:lnSpc>
              <a:buClr>
                <a:schemeClr val="tx1"/>
              </a:buClr>
              <a:buFont typeface="Wingdings" panose="05000000000000000000" pitchFamily="2" charset="2"/>
              <a:buChar char="§"/>
            </a:pPr>
            <a:r>
              <a:rPr lang="en-IN" sz="1800" dirty="0">
                <a:latin typeface="Calibri" panose="020F0502020204030204" pitchFamily="34" charset="0"/>
              </a:rPr>
              <a:t>Using Compression</a:t>
            </a:r>
          </a:p>
          <a:p>
            <a:pPr>
              <a:lnSpc>
                <a:spcPct val="110000"/>
              </a:lnSpc>
              <a:buClr>
                <a:schemeClr val="tx1"/>
              </a:buClr>
              <a:buFont typeface="Wingdings" panose="05000000000000000000" pitchFamily="2" charset="2"/>
              <a:buChar char="§"/>
            </a:pPr>
            <a:r>
              <a:rPr lang="en-IN" sz="1800" dirty="0">
                <a:latin typeface="Calibri" panose="020F0502020204030204" pitchFamily="34" charset="0"/>
              </a:rPr>
              <a:t>Batch Exports</a:t>
            </a:r>
          </a:p>
          <a:p>
            <a:pPr>
              <a:lnSpc>
                <a:spcPct val="110000"/>
              </a:lnSpc>
              <a:buClr>
                <a:schemeClr val="tx1"/>
              </a:buClr>
              <a:buFont typeface="Wingdings" panose="05000000000000000000" pitchFamily="2" charset="2"/>
              <a:buChar char="§"/>
            </a:pPr>
            <a:r>
              <a:rPr lang="en-IN" sz="1800" dirty="0">
                <a:latin typeface="Calibri" panose="020F0502020204030204" pitchFamily="34" charset="0"/>
              </a:rPr>
              <a:t>ATOMIC EXPORT</a:t>
            </a:r>
          </a:p>
          <a:p>
            <a:pPr>
              <a:lnSpc>
                <a:spcPct val="110000"/>
              </a:lnSpc>
              <a:buClr>
                <a:schemeClr val="tx1"/>
              </a:buClr>
              <a:buFont typeface="Wingdings" panose="05000000000000000000" pitchFamily="2" charset="2"/>
              <a:buChar char="§"/>
            </a:pPr>
            <a:r>
              <a:rPr lang="en-IN" sz="1800" dirty="0">
                <a:latin typeface="Calibri" panose="020F0502020204030204" pitchFamily="34" charset="0"/>
              </a:rPr>
              <a:t>Other Effective Sqoop Practices</a:t>
            </a:r>
            <a:endParaRPr lang="en-IN" sz="1800" dirty="0" smtClean="0">
              <a:latin typeface="Calibri" panose="020F0502020204030204" pitchFamily="34" charset="0"/>
            </a:endParaRPr>
          </a:p>
          <a:p>
            <a:pPr marL="0" indent="0">
              <a:lnSpc>
                <a:spcPct val="110000"/>
              </a:lnSpc>
              <a:buClr>
                <a:schemeClr val="tx1"/>
              </a:buClr>
              <a:buNone/>
            </a:pPr>
            <a:endParaRPr lang="en-IN" sz="1800" dirty="0">
              <a:latin typeface="Calibri" panose="020F0502020204030204" pitchFamily="34" charset="0"/>
            </a:endParaRPr>
          </a:p>
        </p:txBody>
      </p:sp>
      <p:sp>
        <p:nvSpPr>
          <p:cNvPr id="7" name="Footer Placeholder 6"/>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Tree>
    <p:extLst>
      <p:ext uri="{BB962C8B-B14F-4D97-AF65-F5344CB8AC3E}">
        <p14:creationId xmlns:p14="http://schemas.microsoft.com/office/powerpoint/2010/main" val="36739898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sz="4000" dirty="0" smtClean="0">
                <a:latin typeface="Calibri" panose="020F0502020204030204" pitchFamily="34" charset="0"/>
              </a:rPr>
              <a:t>            Overview </a:t>
            </a:r>
            <a:r>
              <a:rPr lang="en-IN" sz="4000" dirty="0">
                <a:latin typeface="Calibri" panose="020F0502020204030204" pitchFamily="34" charset="0"/>
              </a:rPr>
              <a:t>of Sqoop</a:t>
            </a:r>
            <a:br>
              <a:rPr lang="en-IN" sz="4000" dirty="0">
                <a:latin typeface="Calibri" panose="020F0502020204030204" pitchFamily="34" charset="0"/>
              </a:rPr>
            </a:br>
            <a:r>
              <a:rPr lang="en-IN" sz="4000" dirty="0">
                <a:latin typeface="Calibri" panose="020F0502020204030204" pitchFamily="34" charset="0"/>
              </a:rPr>
              <a:t/>
            </a:r>
            <a:br>
              <a:rPr lang="en-IN" sz="4000" dirty="0">
                <a:latin typeface="Calibri" panose="020F0502020204030204" pitchFamily="34" charset="0"/>
              </a:rPr>
            </a:br>
            <a:endParaRPr lang="en-IN" sz="4000" dirty="0">
              <a:latin typeface="Calibri" panose="020F0502020204030204" pitchFamily="34" charset="0"/>
            </a:endParaRPr>
          </a:p>
        </p:txBody>
      </p:sp>
      <p:sp>
        <p:nvSpPr>
          <p:cNvPr id="3" name="Content Placeholder 2"/>
          <p:cNvSpPr>
            <a:spLocks noGrp="1"/>
          </p:cNvSpPr>
          <p:nvPr>
            <p:ph idx="1"/>
          </p:nvPr>
        </p:nvSpPr>
        <p:spPr>
          <a:xfrm>
            <a:off x="996434" y="1518528"/>
            <a:ext cx="8946541" cy="4195481"/>
          </a:xfrm>
        </p:spPr>
        <p:txBody>
          <a:bodyPr>
            <a:normAutofit/>
          </a:bodyPr>
          <a:lstStyle/>
          <a:p>
            <a:pPr>
              <a:buClr>
                <a:schemeClr val="tx1"/>
              </a:buClr>
            </a:pPr>
            <a:r>
              <a:rPr lang="en-IN" sz="1800" b="1" dirty="0">
                <a:latin typeface="Calibri" panose="020F0502020204030204" pitchFamily="34" charset="0"/>
                <a:cs typeface="Times New Roman" panose="02020603050405020304" pitchFamily="18" charset="0"/>
              </a:rPr>
              <a:t>Sqoop</a:t>
            </a:r>
            <a:r>
              <a:rPr lang="en-IN" sz="1800" dirty="0">
                <a:latin typeface="Calibri" panose="020F0502020204030204" pitchFamily="34" charset="0"/>
                <a:cs typeface="Times New Roman" panose="02020603050405020304" pitchFamily="18" charset="0"/>
              </a:rPr>
              <a:t> is a tool designed to transfer data between </a:t>
            </a:r>
            <a:r>
              <a:rPr lang="en-IN" sz="1800" b="1" dirty="0">
                <a:latin typeface="Calibri" panose="020F0502020204030204" pitchFamily="34" charset="0"/>
                <a:cs typeface="Times New Roman" panose="02020603050405020304" pitchFamily="18" charset="0"/>
              </a:rPr>
              <a:t>Hadoop</a:t>
            </a:r>
            <a:r>
              <a:rPr lang="en-IN" sz="1800" dirty="0">
                <a:latin typeface="Calibri" panose="020F0502020204030204" pitchFamily="34" charset="0"/>
                <a:cs typeface="Times New Roman" panose="02020603050405020304" pitchFamily="18" charset="0"/>
              </a:rPr>
              <a:t> and relational database servers. It is used to import data from relational databases such as MySQL, </a:t>
            </a:r>
            <a:r>
              <a:rPr lang="en-IN" sz="1800" dirty="0" smtClean="0">
                <a:latin typeface="Calibri" panose="020F0502020204030204" pitchFamily="34" charset="0"/>
                <a:cs typeface="Times New Roman" panose="02020603050405020304" pitchFamily="18" charset="0"/>
              </a:rPr>
              <a:t>Oracle etc., </a:t>
            </a:r>
            <a:r>
              <a:rPr lang="en-IN" sz="1800" dirty="0">
                <a:latin typeface="Calibri" panose="020F0502020204030204" pitchFamily="34" charset="0"/>
                <a:cs typeface="Times New Roman" panose="02020603050405020304" pitchFamily="18" charset="0"/>
              </a:rPr>
              <a:t>to </a:t>
            </a:r>
            <a:r>
              <a:rPr lang="en-IN" sz="1800" b="1" dirty="0">
                <a:latin typeface="Calibri" panose="020F0502020204030204" pitchFamily="34" charset="0"/>
                <a:cs typeface="Times New Roman" panose="02020603050405020304" pitchFamily="18" charset="0"/>
              </a:rPr>
              <a:t>Hadoop</a:t>
            </a:r>
            <a:r>
              <a:rPr lang="en-IN" sz="1800" dirty="0">
                <a:latin typeface="Calibri" panose="020F0502020204030204" pitchFamily="34" charset="0"/>
                <a:cs typeface="Times New Roman" panose="02020603050405020304" pitchFamily="18" charset="0"/>
              </a:rPr>
              <a:t> HDFS, and export from </a:t>
            </a:r>
            <a:r>
              <a:rPr lang="en-IN" sz="1800" b="1" dirty="0" smtClean="0">
                <a:latin typeface="Calibri" panose="020F0502020204030204" pitchFamily="34" charset="0"/>
                <a:cs typeface="Times New Roman" panose="02020603050405020304" pitchFamily="18" charset="0"/>
              </a:rPr>
              <a:t>Hadoop file</a:t>
            </a:r>
            <a:r>
              <a:rPr lang="en-IN" sz="1800" dirty="0" smtClean="0">
                <a:latin typeface="Calibri" panose="020F0502020204030204" pitchFamily="34" charset="0"/>
                <a:cs typeface="Times New Roman" panose="02020603050405020304" pitchFamily="18" charset="0"/>
              </a:rPr>
              <a:t> </a:t>
            </a:r>
            <a:r>
              <a:rPr lang="en-IN" sz="1800" dirty="0">
                <a:latin typeface="Calibri" panose="020F0502020204030204" pitchFamily="34" charset="0"/>
                <a:cs typeface="Times New Roman" panose="02020603050405020304" pitchFamily="18" charset="0"/>
              </a:rPr>
              <a:t>system to relational databases</a:t>
            </a:r>
            <a:r>
              <a:rPr lang="en-IN" sz="1800" dirty="0" smtClean="0">
                <a:latin typeface="Calibri" panose="020F0502020204030204" pitchFamily="34" charset="0"/>
                <a:cs typeface="Times New Roman" panose="02020603050405020304" pitchFamily="18" charset="0"/>
              </a:rPr>
              <a:t>.</a:t>
            </a:r>
          </a:p>
          <a:p>
            <a:pPr marL="0" indent="0">
              <a:buClr>
                <a:schemeClr val="tx1"/>
              </a:buClr>
              <a:buNone/>
            </a:pPr>
            <a:endParaRPr lang="en-IN" sz="1800" dirty="0" smtClean="0">
              <a:latin typeface="Calibri" panose="020F0502020204030204" pitchFamily="34" charset="0"/>
              <a:cs typeface="Times New Roman" panose="02020603050405020304" pitchFamily="18" charset="0"/>
            </a:endParaRPr>
          </a:p>
          <a:p>
            <a:pPr>
              <a:buClr>
                <a:schemeClr val="tx1"/>
              </a:buClr>
            </a:pPr>
            <a:r>
              <a:rPr lang="en-IN" sz="1800" dirty="0" smtClean="0">
                <a:latin typeface="Calibri" panose="020F0502020204030204" pitchFamily="34" charset="0"/>
                <a:cs typeface="Times New Roman" panose="02020603050405020304" pitchFamily="18" charset="0"/>
              </a:rPr>
              <a:t>Allows easy integration with Hadoop based Systems:</a:t>
            </a:r>
          </a:p>
          <a:p>
            <a:pPr>
              <a:buClr>
                <a:schemeClr val="tx1"/>
              </a:buClr>
              <a:buFont typeface="Courier New" panose="02070309020205020404" pitchFamily="49" charset="0"/>
              <a:buChar char="o"/>
            </a:pPr>
            <a:r>
              <a:rPr lang="en-IN" sz="1800" dirty="0" smtClean="0">
                <a:latin typeface="Calibri" panose="020F0502020204030204" pitchFamily="34" charset="0"/>
                <a:cs typeface="Times New Roman" panose="02020603050405020304" pitchFamily="18" charset="0"/>
              </a:rPr>
              <a:t>            Hive</a:t>
            </a:r>
          </a:p>
          <a:p>
            <a:pPr>
              <a:buClr>
                <a:schemeClr val="tx1"/>
              </a:buClr>
              <a:buFont typeface="Courier New" panose="02070309020205020404" pitchFamily="49" charset="0"/>
              <a:buChar char="o"/>
            </a:pPr>
            <a:r>
              <a:rPr lang="en-IN" sz="1800" dirty="0">
                <a:latin typeface="Calibri" panose="020F0502020204030204" pitchFamily="34" charset="0"/>
                <a:cs typeface="Times New Roman" panose="02020603050405020304" pitchFamily="18" charset="0"/>
              </a:rPr>
              <a:t> </a:t>
            </a:r>
            <a:r>
              <a:rPr lang="en-IN" sz="1800" dirty="0" smtClean="0">
                <a:latin typeface="Calibri" panose="020F0502020204030204" pitchFamily="34" charset="0"/>
                <a:cs typeface="Times New Roman" panose="02020603050405020304" pitchFamily="18" charset="0"/>
              </a:rPr>
              <a:t>           HBase</a:t>
            </a:r>
          </a:p>
          <a:p>
            <a:pPr>
              <a:buClr>
                <a:schemeClr val="tx1"/>
              </a:buClr>
              <a:buFont typeface="Courier New" panose="02070309020205020404" pitchFamily="49" charset="0"/>
              <a:buChar char="o"/>
            </a:pPr>
            <a:r>
              <a:rPr lang="en-IN" sz="1800" dirty="0">
                <a:latin typeface="Calibri" panose="020F0502020204030204" pitchFamily="34" charset="0"/>
                <a:cs typeface="Times New Roman" panose="02020603050405020304" pitchFamily="18" charset="0"/>
              </a:rPr>
              <a:t> </a:t>
            </a:r>
            <a:r>
              <a:rPr lang="en-IN" sz="1800" dirty="0" smtClean="0">
                <a:latin typeface="Calibri" panose="020F0502020204030204" pitchFamily="34" charset="0"/>
                <a:cs typeface="Times New Roman" panose="02020603050405020304" pitchFamily="18" charset="0"/>
              </a:rPr>
              <a:t>           Oozie</a:t>
            </a:r>
            <a:endParaRPr lang="en-IN" sz="1800" dirty="0">
              <a:latin typeface="Calibri" panose="020F0502020204030204" pitchFamily="34"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Tree>
    <p:extLst>
      <p:ext uri="{BB962C8B-B14F-4D97-AF65-F5344CB8AC3E}">
        <p14:creationId xmlns:p14="http://schemas.microsoft.com/office/powerpoint/2010/main" val="3373651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0"/>
            <a:ext cx="9404723" cy="1400530"/>
          </a:xfrm>
        </p:spPr>
        <p:txBody>
          <a:bodyPr>
            <a:normAutofit/>
          </a:bodyPr>
          <a:lstStyle/>
          <a:p>
            <a:pPr algn="ctr"/>
            <a:r>
              <a:rPr lang="en-IN" sz="4000" dirty="0" smtClean="0">
                <a:latin typeface="Calibri" panose="020F0502020204030204" pitchFamily="34" charset="0"/>
              </a:rPr>
              <a:t>               Sqoop Architecture</a:t>
            </a:r>
            <a:br>
              <a:rPr lang="en-IN" sz="4000" dirty="0" smtClean="0">
                <a:latin typeface="Calibri" panose="020F0502020204030204" pitchFamily="34" charset="0"/>
              </a:rPr>
            </a:br>
            <a:endParaRPr lang="en-IN" sz="4000" dirty="0">
              <a:latin typeface="Calibri" panose="020F0502020204030204" pitchFamily="34" charset="0"/>
            </a:endParaRP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992" y="918294"/>
            <a:ext cx="5504531" cy="4195762"/>
          </a:xfrm>
        </p:spPr>
      </p:pic>
      <p:sp>
        <p:nvSpPr>
          <p:cNvPr id="8" name="Rectangle 7"/>
          <p:cNvSpPr/>
          <p:nvPr/>
        </p:nvSpPr>
        <p:spPr>
          <a:xfrm>
            <a:off x="5686523" y="1218213"/>
            <a:ext cx="6096000" cy="3693319"/>
          </a:xfrm>
          <a:prstGeom prst="rect">
            <a:avLst/>
          </a:prstGeom>
        </p:spPr>
        <p:txBody>
          <a:bodyPr>
            <a:spAutoFit/>
          </a:bodyPr>
          <a:lstStyle/>
          <a:p>
            <a:pPr marL="285750" indent="-285750">
              <a:lnSpc>
                <a:spcPct val="300000"/>
              </a:lnSpc>
              <a:buFont typeface="Arial" panose="020B0604020202020204" pitchFamily="34" charset="0"/>
              <a:buChar char="•"/>
            </a:pPr>
            <a:r>
              <a:rPr lang="en-IN" dirty="0" smtClean="0">
                <a:cs typeface="Times New Roman" panose="02020603050405020304" pitchFamily="18" charset="0"/>
              </a:rPr>
              <a:t>Client server architecture.</a:t>
            </a:r>
          </a:p>
          <a:p>
            <a:pPr marL="285750" indent="-285750">
              <a:lnSpc>
                <a:spcPct val="300000"/>
              </a:lnSpc>
              <a:buFont typeface="Arial" panose="020B0604020202020204" pitchFamily="34" charset="0"/>
              <a:buChar char="•"/>
            </a:pPr>
            <a:r>
              <a:rPr lang="en-IN" dirty="0" smtClean="0">
                <a:cs typeface="Times New Roman" panose="02020603050405020304" pitchFamily="18" charset="0"/>
              </a:rPr>
              <a:t>CLI + WEB.</a:t>
            </a:r>
          </a:p>
          <a:p>
            <a:pPr marL="285750" indent="-285750">
              <a:lnSpc>
                <a:spcPct val="300000"/>
              </a:lnSpc>
              <a:buFont typeface="Arial" panose="020B0604020202020204" pitchFamily="34" charset="0"/>
              <a:buChar char="•"/>
            </a:pPr>
            <a:r>
              <a:rPr lang="en-IN" dirty="0" smtClean="0">
                <a:cs typeface="Times New Roman" panose="02020603050405020304" pitchFamily="18" charset="0"/>
              </a:rPr>
              <a:t>Server access to HIVE and HBASE.</a:t>
            </a:r>
          </a:p>
          <a:p>
            <a:pPr marL="285750" indent="-285750">
              <a:lnSpc>
                <a:spcPct val="300000"/>
              </a:lnSpc>
              <a:buFont typeface="Arial" panose="020B0604020202020204" pitchFamily="34" charset="0"/>
              <a:buChar char="•"/>
            </a:pPr>
            <a:r>
              <a:rPr lang="en-IN" dirty="0" smtClean="0">
                <a:cs typeface="Times New Roman" panose="02020603050405020304" pitchFamily="18" charset="0"/>
              </a:rPr>
              <a:t>Oozie finds REST API.</a:t>
            </a:r>
          </a:p>
          <a:p>
            <a:endParaRPr lang="en-IN" dirty="0">
              <a:cs typeface="Times New Roman" panose="02020603050405020304" pitchFamily="18" charset="0"/>
            </a:endParaRPr>
          </a:p>
        </p:txBody>
      </p:sp>
      <p:sp>
        <p:nvSpPr>
          <p:cNvPr id="5"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Tree>
    <p:extLst>
      <p:ext uri="{BB962C8B-B14F-4D97-AF65-F5344CB8AC3E}">
        <p14:creationId xmlns:p14="http://schemas.microsoft.com/office/powerpoint/2010/main" val="1449518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dirty="0" smtClean="0">
                <a:latin typeface="Calibri" panose="020F0502020204030204" pitchFamily="34" charset="0"/>
              </a:rPr>
              <a:t>         Importing </a:t>
            </a:r>
            <a:r>
              <a:rPr lang="en-IN" sz="4000" dirty="0">
                <a:latin typeface="Calibri" panose="020F0502020204030204" pitchFamily="34" charset="0"/>
              </a:rPr>
              <a:t>data using Sqoop</a:t>
            </a:r>
            <a:br>
              <a:rPr lang="en-IN" sz="4000" dirty="0">
                <a:latin typeface="Calibri" panose="020F0502020204030204" pitchFamily="34" charset="0"/>
              </a:rPr>
            </a:br>
            <a:endParaRPr lang="en-IN" sz="4000" dirty="0">
              <a:latin typeface="Calibri" panose="020F0502020204030204" pitchFamily="34" charset="0"/>
            </a:endParaRPr>
          </a:p>
        </p:txBody>
      </p:sp>
      <p:sp>
        <p:nvSpPr>
          <p:cNvPr id="6" name="Footer Placeholder 5"/>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7" name="Content Placeholder 2"/>
          <p:cNvSpPr>
            <a:spLocks noGrp="1"/>
          </p:cNvSpPr>
          <p:nvPr>
            <p:ph idx="1"/>
          </p:nvPr>
        </p:nvSpPr>
        <p:spPr>
          <a:xfrm>
            <a:off x="964481" y="1447800"/>
            <a:ext cx="9916989" cy="4195481"/>
          </a:xfrm>
        </p:spPr>
        <p:txBody>
          <a:bodyPr>
            <a:noAutofit/>
          </a:bodyPr>
          <a:lstStyle/>
          <a:p>
            <a:pPr marL="0" indent="0">
              <a:buNone/>
            </a:pPr>
            <a:r>
              <a:rPr lang="en-IN" sz="1800" dirty="0" smtClean="0">
                <a:latin typeface="Calibri" panose="020F0502020204030204" pitchFamily="34" charset="0"/>
                <a:cs typeface="Times New Roman" panose="02020603050405020304" pitchFamily="18" charset="0"/>
              </a:rPr>
              <a:t>Ex: Load data from MySQL into Hive</a:t>
            </a:r>
          </a:p>
          <a:p>
            <a:pPr marL="0" indent="0">
              <a:buNone/>
            </a:pPr>
            <a:r>
              <a:rPr lang="en-IN" sz="1800" dirty="0">
                <a:latin typeface="Calibri" panose="020F0502020204030204" pitchFamily="34" charset="0"/>
                <a:cs typeface="Times New Roman" panose="02020603050405020304" pitchFamily="18" charset="0"/>
              </a:rPr>
              <a:t> </a:t>
            </a:r>
            <a:r>
              <a:rPr lang="en-IN" sz="1800" dirty="0" smtClean="0">
                <a:latin typeface="Calibri" panose="020F0502020204030204" pitchFamily="34" charset="0"/>
                <a:cs typeface="Times New Roman" panose="02020603050405020304" pitchFamily="18" charset="0"/>
              </a:rPr>
              <a:t>           bin/</a:t>
            </a:r>
            <a:r>
              <a:rPr lang="en-IN" sz="1800" dirty="0" err="1" smtClean="0">
                <a:latin typeface="Calibri" panose="020F0502020204030204" pitchFamily="34" charset="0"/>
                <a:cs typeface="Times New Roman" panose="02020603050405020304" pitchFamily="18" charset="0"/>
              </a:rPr>
              <a:t>sqoop</a:t>
            </a:r>
            <a:r>
              <a:rPr lang="en-IN" sz="1800" dirty="0">
                <a:latin typeface="Calibri" panose="020F0502020204030204" pitchFamily="34" charset="0"/>
                <a:cs typeface="Times New Roman" panose="02020603050405020304" pitchFamily="18" charset="0"/>
              </a:rPr>
              <a:t> </a:t>
            </a:r>
            <a:r>
              <a:rPr lang="en-IN" sz="1800" dirty="0" smtClean="0">
                <a:latin typeface="Calibri" panose="020F0502020204030204" pitchFamily="34" charset="0"/>
                <a:cs typeface="Times New Roman" panose="02020603050405020304" pitchFamily="18" charset="0"/>
              </a:rPr>
              <a:t>import </a:t>
            </a:r>
          </a:p>
          <a:p>
            <a:pPr marL="0" indent="0">
              <a:buNone/>
            </a:pPr>
            <a:r>
              <a:rPr lang="en-IN" sz="1800" dirty="0">
                <a:latin typeface="Calibri" panose="020F0502020204030204" pitchFamily="34" charset="0"/>
                <a:cs typeface="Times New Roman" panose="02020603050405020304" pitchFamily="18" charset="0"/>
              </a:rPr>
              <a:t> </a:t>
            </a:r>
            <a:r>
              <a:rPr lang="en-IN" sz="1800" dirty="0" smtClean="0">
                <a:latin typeface="Calibri" panose="020F0502020204030204" pitchFamily="34" charset="0"/>
                <a:cs typeface="Times New Roman" panose="02020603050405020304" pitchFamily="18" charset="0"/>
              </a:rPr>
              <a:t>            	    --connect jdbc:mysql://&lt;mysqlhost&gt;:&lt;mysql port&gt;/database \</a:t>
            </a:r>
          </a:p>
          <a:p>
            <a:pPr marL="0" indent="0">
              <a:buNone/>
            </a:pPr>
            <a:r>
              <a:rPr lang="en-IN" sz="1800" dirty="0">
                <a:latin typeface="Calibri" panose="020F0502020204030204" pitchFamily="34" charset="0"/>
                <a:cs typeface="Times New Roman" panose="02020603050405020304" pitchFamily="18" charset="0"/>
              </a:rPr>
              <a:t> </a:t>
            </a:r>
            <a:r>
              <a:rPr lang="en-IN" sz="1800" dirty="0" smtClean="0">
                <a:latin typeface="Calibri" panose="020F0502020204030204" pitchFamily="34" charset="0"/>
                <a:cs typeface="Times New Roman" panose="02020603050405020304" pitchFamily="18" charset="0"/>
              </a:rPr>
              <a:t>                  --username &lt;username&gt;</a:t>
            </a:r>
          </a:p>
          <a:p>
            <a:pPr marL="0" indent="0">
              <a:buNone/>
            </a:pPr>
            <a:r>
              <a:rPr lang="en-IN" sz="1800" dirty="0">
                <a:latin typeface="Calibri" panose="020F0502020204030204" pitchFamily="34" charset="0"/>
                <a:cs typeface="Times New Roman" panose="02020603050405020304" pitchFamily="18" charset="0"/>
              </a:rPr>
              <a:t> </a:t>
            </a:r>
            <a:r>
              <a:rPr lang="en-IN" sz="1800" dirty="0" smtClean="0">
                <a:latin typeface="Calibri" panose="020F0502020204030204" pitchFamily="34" charset="0"/>
                <a:cs typeface="Times New Roman" panose="02020603050405020304" pitchFamily="18" charset="0"/>
              </a:rPr>
              <a:t>                  --password &lt;password&gt;</a:t>
            </a:r>
          </a:p>
          <a:p>
            <a:pPr marL="0" indent="0">
              <a:buNone/>
            </a:pPr>
            <a:r>
              <a:rPr lang="en-IN" sz="1800" dirty="0">
                <a:latin typeface="Calibri" panose="020F0502020204030204" pitchFamily="34" charset="0"/>
                <a:cs typeface="Times New Roman" panose="02020603050405020304" pitchFamily="18" charset="0"/>
              </a:rPr>
              <a:t> </a:t>
            </a:r>
            <a:r>
              <a:rPr lang="en-IN" sz="1800" dirty="0" smtClean="0">
                <a:latin typeface="Calibri" panose="020F0502020204030204" pitchFamily="34" charset="0"/>
                <a:cs typeface="Times New Roman" panose="02020603050405020304" pitchFamily="18" charset="0"/>
              </a:rPr>
              <a:t>                  --table &lt;table name&gt;</a:t>
            </a:r>
          </a:p>
          <a:p>
            <a:pPr marL="0" indent="0">
              <a:buNone/>
            </a:pPr>
            <a:r>
              <a:rPr lang="en-IN" sz="1800" dirty="0">
                <a:latin typeface="Calibri" panose="020F0502020204030204" pitchFamily="34" charset="0"/>
                <a:cs typeface="Times New Roman" panose="02020603050405020304" pitchFamily="18" charset="0"/>
              </a:rPr>
              <a:t> </a:t>
            </a:r>
            <a:r>
              <a:rPr lang="en-IN" sz="1800" dirty="0" smtClean="0">
                <a:latin typeface="Calibri" panose="020F0502020204030204" pitchFamily="34" charset="0"/>
                <a:cs typeface="Times New Roman" panose="02020603050405020304" pitchFamily="18" charset="0"/>
              </a:rPr>
              <a:t>                  --hive-table &lt;Hive table name&gt;</a:t>
            </a:r>
          </a:p>
          <a:p>
            <a:pPr marL="0" indent="0">
              <a:buNone/>
            </a:pPr>
            <a:r>
              <a:rPr lang="en-IN" sz="1800" dirty="0">
                <a:latin typeface="Calibri" panose="020F0502020204030204" pitchFamily="34" charset="0"/>
                <a:cs typeface="Times New Roman" panose="02020603050405020304" pitchFamily="18" charset="0"/>
              </a:rPr>
              <a:t> </a:t>
            </a:r>
            <a:r>
              <a:rPr lang="en-IN" sz="1800" dirty="0" smtClean="0">
                <a:latin typeface="Calibri" panose="020F0502020204030204" pitchFamily="34" charset="0"/>
                <a:cs typeface="Times New Roman" panose="02020603050405020304" pitchFamily="18" charset="0"/>
              </a:rPr>
              <a:t>                  --create-hive-table \</a:t>
            </a:r>
          </a:p>
          <a:p>
            <a:pPr marL="0" indent="0">
              <a:buNone/>
            </a:pPr>
            <a:r>
              <a:rPr lang="en-IN" sz="1800" dirty="0">
                <a:latin typeface="Calibri" panose="020F0502020204030204" pitchFamily="34" charset="0"/>
                <a:cs typeface="Times New Roman" panose="02020603050405020304" pitchFamily="18" charset="0"/>
              </a:rPr>
              <a:t> </a:t>
            </a:r>
            <a:r>
              <a:rPr lang="en-IN" sz="1800" dirty="0" smtClean="0">
                <a:latin typeface="Calibri" panose="020F0502020204030204" pitchFamily="34" charset="0"/>
                <a:cs typeface="Times New Roman" panose="02020603050405020304" pitchFamily="18" charset="0"/>
              </a:rPr>
              <a:t>                  --hive-import \</a:t>
            </a:r>
          </a:p>
          <a:p>
            <a:pPr marL="0" indent="0">
              <a:buNone/>
            </a:pPr>
            <a:r>
              <a:rPr lang="en-IN" sz="1800" dirty="0">
                <a:latin typeface="Calibri" panose="020F0502020204030204" pitchFamily="34" charset="0"/>
                <a:cs typeface="Times New Roman" panose="02020603050405020304" pitchFamily="18" charset="0"/>
              </a:rPr>
              <a:t> </a:t>
            </a:r>
            <a:r>
              <a:rPr lang="en-IN" sz="1800" dirty="0" smtClean="0">
                <a:latin typeface="Calibri" panose="020F0502020204030204" pitchFamily="34" charset="0"/>
                <a:cs typeface="Times New Roman" panose="02020603050405020304" pitchFamily="18" charset="0"/>
              </a:rPr>
              <a:t>                  --hive-home &lt;hive path&gt;  </a:t>
            </a:r>
          </a:p>
          <a:p>
            <a:pPr marL="0" indent="0">
              <a:buNone/>
            </a:pPr>
            <a:endParaRPr lang="en-IN" sz="1800" dirty="0" smtClean="0">
              <a:latin typeface="Calibri" panose="020F0502020204030204" pitchFamily="34" charset="0"/>
              <a:cs typeface="Times New Roman" panose="02020603050405020304" pitchFamily="18" charset="0"/>
            </a:endParaRPr>
          </a:p>
          <a:p>
            <a:pPr>
              <a:buClr>
                <a:schemeClr val="tx1"/>
              </a:buClr>
            </a:pPr>
            <a:r>
              <a:rPr lang="en-IN" sz="1800" dirty="0" smtClean="0">
                <a:latin typeface="Calibri" panose="020F0502020204030204" pitchFamily="34" charset="0"/>
                <a:cs typeface="Times New Roman" panose="02020603050405020304" pitchFamily="18" charset="0"/>
              </a:rPr>
              <a:t>NOTE: </a:t>
            </a:r>
            <a:r>
              <a:rPr lang="en-IN" sz="1800" dirty="0">
                <a:latin typeface="Calibri" panose="020F0502020204030204" pitchFamily="34" charset="0"/>
                <a:cs typeface="Times New Roman" panose="02020603050405020304" pitchFamily="18" charset="0"/>
              </a:rPr>
              <a:t>Use the command-line parameter --</a:t>
            </a:r>
            <a:r>
              <a:rPr lang="en-IN" sz="1800" b="1" dirty="0">
                <a:latin typeface="Calibri" panose="020F0502020204030204" pitchFamily="34" charset="0"/>
                <a:cs typeface="Times New Roman" panose="02020603050405020304" pitchFamily="18" charset="0"/>
              </a:rPr>
              <a:t>where</a:t>
            </a:r>
            <a:r>
              <a:rPr lang="en-IN" sz="1800" dirty="0">
                <a:latin typeface="Calibri" panose="020F0502020204030204" pitchFamily="34" charset="0"/>
                <a:cs typeface="Times New Roman" panose="02020603050405020304" pitchFamily="18" charset="0"/>
              </a:rPr>
              <a:t> to specify a SQL condition </a:t>
            </a:r>
            <a:r>
              <a:rPr lang="en-IN" sz="1800" dirty="0" smtClean="0">
                <a:latin typeface="Calibri" panose="020F0502020204030204" pitchFamily="34" charset="0"/>
                <a:cs typeface="Times New Roman" panose="02020603050405020304" pitchFamily="18" charset="0"/>
              </a:rPr>
              <a:t>to import only a subset of data</a:t>
            </a:r>
            <a:endParaRPr lang="en-IN" sz="18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246695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dirty="0" smtClean="0">
                <a:latin typeface="Calibri" panose="020F0502020204030204" pitchFamily="34" charset="0"/>
              </a:rPr>
              <a:t>         Exporting </a:t>
            </a:r>
            <a:r>
              <a:rPr lang="en-IN" sz="4000" dirty="0">
                <a:latin typeface="Calibri" panose="020F0502020204030204" pitchFamily="34" charset="0"/>
              </a:rPr>
              <a:t>data using Sqoop</a:t>
            </a:r>
            <a:br>
              <a:rPr lang="en-IN" sz="4000" dirty="0">
                <a:latin typeface="Calibri" panose="020F0502020204030204" pitchFamily="34" charset="0"/>
              </a:rPr>
            </a:br>
            <a:endParaRPr lang="en-IN" sz="4000" dirty="0">
              <a:latin typeface="Calibri" panose="020F0502020204030204" pitchFamily="34" charset="0"/>
            </a:endParaRPr>
          </a:p>
        </p:txBody>
      </p:sp>
      <p:sp>
        <p:nvSpPr>
          <p:cNvPr id="3" name="Content Placeholder 2"/>
          <p:cNvSpPr>
            <a:spLocks noGrp="1"/>
          </p:cNvSpPr>
          <p:nvPr>
            <p:ph idx="1"/>
          </p:nvPr>
        </p:nvSpPr>
        <p:spPr>
          <a:xfrm>
            <a:off x="249383" y="1235035"/>
            <a:ext cx="10236530" cy="4514602"/>
          </a:xfrm>
        </p:spPr>
        <p:txBody>
          <a:bodyPr>
            <a:noAutofit/>
          </a:bodyPr>
          <a:lstStyle/>
          <a:p>
            <a:pPr marL="0" indent="0">
              <a:buNone/>
            </a:pPr>
            <a:endParaRPr lang="en-IN" sz="1800" dirty="0" smtClean="0">
              <a:latin typeface="Calibri" panose="020F0502020204030204" pitchFamily="34" charset="0"/>
              <a:cs typeface="Times New Roman" panose="02020603050405020304" pitchFamily="18" charset="0"/>
            </a:endParaRPr>
          </a:p>
          <a:p>
            <a:pPr marL="0" indent="0">
              <a:buNone/>
            </a:pPr>
            <a:r>
              <a:rPr lang="en-IN" sz="1800" dirty="0" smtClean="0">
                <a:latin typeface="Calibri" panose="020F0502020204030204" pitchFamily="34" charset="0"/>
                <a:cs typeface="Times New Roman" panose="02020603050405020304" pitchFamily="18" charset="0"/>
              </a:rPr>
              <a:t>Ex</a:t>
            </a:r>
            <a:r>
              <a:rPr lang="en-IN" sz="1800" dirty="0">
                <a:latin typeface="Calibri" panose="020F0502020204030204" pitchFamily="34" charset="0"/>
                <a:cs typeface="Times New Roman" panose="02020603050405020304" pitchFamily="18" charset="0"/>
              </a:rPr>
              <a:t>: Load data from MySQL into Hive</a:t>
            </a:r>
          </a:p>
          <a:p>
            <a:pPr marL="0" indent="0">
              <a:buNone/>
            </a:pPr>
            <a:r>
              <a:rPr lang="en-IN" sz="1800" dirty="0" smtClean="0">
                <a:latin typeface="Calibri" panose="020F0502020204030204" pitchFamily="34" charset="0"/>
                <a:cs typeface="Times New Roman" panose="02020603050405020304" pitchFamily="18" charset="0"/>
              </a:rPr>
              <a:t>           bin/</a:t>
            </a:r>
            <a:r>
              <a:rPr lang="en-IN" sz="1800" dirty="0" err="1" smtClean="0">
                <a:latin typeface="Calibri" panose="020F0502020204030204" pitchFamily="34" charset="0"/>
                <a:cs typeface="Times New Roman" panose="02020603050405020304" pitchFamily="18" charset="0"/>
              </a:rPr>
              <a:t>sqoop</a:t>
            </a:r>
            <a:r>
              <a:rPr lang="en-IN" sz="1800" dirty="0" smtClean="0">
                <a:latin typeface="Calibri" panose="020F0502020204030204" pitchFamily="34" charset="0"/>
                <a:cs typeface="Times New Roman" panose="02020603050405020304" pitchFamily="18" charset="0"/>
              </a:rPr>
              <a:t> </a:t>
            </a:r>
            <a:r>
              <a:rPr lang="en-IN" sz="1800" dirty="0">
                <a:latin typeface="Calibri" panose="020F0502020204030204" pitchFamily="34" charset="0"/>
                <a:cs typeface="Times New Roman" panose="02020603050405020304" pitchFamily="18" charset="0"/>
              </a:rPr>
              <a:t>export </a:t>
            </a:r>
            <a:r>
              <a:rPr lang="en-IN" sz="1800" b="1" dirty="0">
                <a:latin typeface="Calibri" panose="020F0502020204030204" pitchFamily="34" charset="0"/>
                <a:cs typeface="Times New Roman" panose="02020603050405020304" pitchFamily="18" charset="0"/>
              </a:rPr>
              <a:t>\</a:t>
            </a:r>
          </a:p>
          <a:p>
            <a:pPr marL="0" indent="0">
              <a:buNone/>
            </a:pPr>
            <a:r>
              <a:rPr lang="en-IN" sz="1800" dirty="0" smtClean="0">
                <a:latin typeface="Calibri" panose="020F0502020204030204" pitchFamily="34" charset="0"/>
                <a:cs typeface="Times New Roman" panose="02020603050405020304" pitchFamily="18" charset="0"/>
              </a:rPr>
              <a:t>                  </a:t>
            </a:r>
            <a:r>
              <a:rPr lang="en-IN" sz="1800" dirty="0">
                <a:latin typeface="Calibri" panose="020F0502020204030204" pitchFamily="34" charset="0"/>
                <a:cs typeface="Times New Roman" panose="02020603050405020304" pitchFamily="18" charset="0"/>
              </a:rPr>
              <a:t>--connect jdbc:mysql://&lt;mysqlhost&gt;:&lt;mysql port&gt;/database \</a:t>
            </a:r>
          </a:p>
          <a:p>
            <a:pPr marL="0" indent="0">
              <a:buNone/>
            </a:pPr>
            <a:r>
              <a:rPr lang="en-IN" sz="1800" dirty="0">
                <a:latin typeface="Calibri" panose="020F0502020204030204" pitchFamily="34" charset="0"/>
                <a:cs typeface="Times New Roman" panose="02020603050405020304" pitchFamily="18" charset="0"/>
              </a:rPr>
              <a:t>                   --username &lt;username&gt;</a:t>
            </a:r>
          </a:p>
          <a:p>
            <a:pPr marL="0" indent="0">
              <a:buNone/>
            </a:pPr>
            <a:r>
              <a:rPr lang="en-IN" sz="1800" dirty="0">
                <a:latin typeface="Calibri" panose="020F0502020204030204" pitchFamily="34" charset="0"/>
                <a:cs typeface="Times New Roman" panose="02020603050405020304" pitchFamily="18" charset="0"/>
              </a:rPr>
              <a:t>                   --password &lt;password&gt;</a:t>
            </a:r>
          </a:p>
          <a:p>
            <a:pPr marL="0" indent="0">
              <a:buNone/>
            </a:pPr>
            <a:r>
              <a:rPr lang="en-IN" sz="1800" dirty="0">
                <a:latin typeface="Calibri" panose="020F0502020204030204" pitchFamily="34" charset="0"/>
                <a:cs typeface="Times New Roman" panose="02020603050405020304" pitchFamily="18" charset="0"/>
              </a:rPr>
              <a:t>                   --table &lt;table </a:t>
            </a:r>
            <a:r>
              <a:rPr lang="en-IN" sz="1800" dirty="0" smtClean="0">
                <a:latin typeface="Calibri" panose="020F0502020204030204" pitchFamily="34" charset="0"/>
                <a:cs typeface="Times New Roman" panose="02020603050405020304" pitchFamily="18" charset="0"/>
              </a:rPr>
              <a:t>name in mysql or destination table&gt;</a:t>
            </a:r>
            <a:endParaRPr lang="en-IN" sz="1800" dirty="0">
              <a:latin typeface="Calibri" panose="020F0502020204030204" pitchFamily="34" charset="0"/>
              <a:cs typeface="Times New Roman" panose="02020603050405020304" pitchFamily="18" charset="0"/>
            </a:endParaRPr>
          </a:p>
          <a:p>
            <a:pPr marL="0" indent="0">
              <a:buNone/>
            </a:pPr>
            <a:r>
              <a:rPr lang="en-IN" sz="1800" b="1" dirty="0" smtClean="0">
                <a:latin typeface="Calibri" panose="020F0502020204030204" pitchFamily="34" charset="0"/>
                <a:cs typeface="Times New Roman" panose="02020603050405020304" pitchFamily="18" charset="0"/>
              </a:rPr>
              <a:t>                  </a:t>
            </a:r>
            <a:r>
              <a:rPr lang="en-IN" sz="1800" dirty="0" smtClean="0">
                <a:latin typeface="Calibri" panose="020F0502020204030204" pitchFamily="34" charset="0"/>
                <a:cs typeface="Times New Roman" panose="02020603050405020304" pitchFamily="18" charset="0"/>
              </a:rPr>
              <a:t>--export-</a:t>
            </a:r>
            <a:r>
              <a:rPr lang="en-IN" sz="1800" dirty="0" err="1" smtClean="0">
                <a:latin typeface="Calibri" panose="020F0502020204030204" pitchFamily="34" charset="0"/>
                <a:cs typeface="Times New Roman" panose="02020603050405020304" pitchFamily="18" charset="0"/>
              </a:rPr>
              <a:t>dir</a:t>
            </a:r>
            <a:r>
              <a:rPr lang="en-IN" sz="1800" dirty="0" smtClean="0">
                <a:latin typeface="Calibri" panose="020F0502020204030204" pitchFamily="34" charset="0"/>
                <a:cs typeface="Times New Roman" panose="02020603050405020304" pitchFamily="18" charset="0"/>
              </a:rPr>
              <a:t> &lt;</a:t>
            </a:r>
            <a:r>
              <a:rPr lang="en-IN" sz="1800" dirty="0">
                <a:latin typeface="Calibri" panose="020F0502020204030204" pitchFamily="34" charset="0"/>
                <a:cs typeface="Times New Roman" panose="02020603050405020304" pitchFamily="18" charset="0"/>
              </a:rPr>
              <a:t>the directory in HDFS that contains the </a:t>
            </a:r>
            <a:r>
              <a:rPr lang="en-IN" sz="1800" dirty="0" smtClean="0">
                <a:latin typeface="Calibri" panose="020F0502020204030204" pitchFamily="34" charset="0"/>
                <a:cs typeface="Times New Roman" panose="02020603050405020304" pitchFamily="18" charset="0"/>
              </a:rPr>
              <a:t>source data)&gt;</a:t>
            </a:r>
          </a:p>
          <a:p>
            <a:pPr marL="0" indent="0">
              <a:buNone/>
            </a:pPr>
            <a:endParaRPr lang="en-IN" sz="1800" dirty="0">
              <a:latin typeface="Calibri" panose="020F0502020204030204" pitchFamily="34"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Tree>
    <p:extLst>
      <p:ext uri="{BB962C8B-B14F-4D97-AF65-F5344CB8AC3E}">
        <p14:creationId xmlns:p14="http://schemas.microsoft.com/office/powerpoint/2010/main" val="6262440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39387"/>
            <a:ext cx="9404723" cy="1413861"/>
          </a:xfrm>
        </p:spPr>
        <p:txBody>
          <a:bodyPr/>
          <a:lstStyle/>
          <a:p>
            <a:pPr algn="ctr"/>
            <a:r>
              <a:rPr lang="en-IN" sz="4000" dirty="0" smtClean="0">
                <a:latin typeface="Calibri" panose="020F0502020204030204" pitchFamily="34" charset="0"/>
              </a:rPr>
              <a:t>Formatting Arguments</a:t>
            </a:r>
            <a:endParaRPr lang="en-IN" sz="4000" dirty="0">
              <a:latin typeface="Calibri" panose="020F0502020204030204" pitchFamily="34" charset="0"/>
            </a:endParaRPr>
          </a:p>
        </p:txBody>
      </p:sp>
      <p:sp>
        <p:nvSpPr>
          <p:cNvPr id="3" name="Content Placeholder 2"/>
          <p:cNvSpPr>
            <a:spLocks noGrp="1"/>
          </p:cNvSpPr>
          <p:nvPr>
            <p:ph idx="1"/>
          </p:nvPr>
        </p:nvSpPr>
        <p:spPr>
          <a:xfrm>
            <a:off x="486888" y="1199408"/>
            <a:ext cx="9904021" cy="5048991"/>
          </a:xfrm>
        </p:spPr>
        <p:txBody>
          <a:bodyPr>
            <a:normAutofit/>
          </a:bodyPr>
          <a:lstStyle/>
          <a:p>
            <a:pPr>
              <a:buClr>
                <a:schemeClr val="tx1"/>
              </a:buClr>
            </a:pPr>
            <a:r>
              <a:rPr lang="en-IN" sz="1800" dirty="0">
                <a:latin typeface="Calibri" panose="020F0502020204030204" pitchFamily="34" charset="0"/>
              </a:rPr>
              <a:t>With imports, use the output line formatting options wherever possible, for accuracy of data transfer - "--enclosed -by", "--fields-terminated-by",  </a:t>
            </a:r>
            <a:r>
              <a:rPr lang="en-IN" sz="1800" dirty="0" smtClean="0">
                <a:latin typeface="Calibri" panose="020F0502020204030204" pitchFamily="34" charset="0"/>
              </a:rPr>
              <a:t>"—escaped-by” etc. which helps while processing data with other components in Hadoop eco system.</a:t>
            </a:r>
          </a:p>
          <a:p>
            <a:pPr>
              <a:buClr>
                <a:schemeClr val="tx1"/>
              </a:buClr>
            </a:pPr>
            <a:endParaRPr lang="en-IN" sz="1800" dirty="0" smtClean="0">
              <a:latin typeface="Calibri" panose="020F0502020204030204" pitchFamily="34" charset="0"/>
            </a:endParaRPr>
          </a:p>
          <a:p>
            <a:pPr>
              <a:buClr>
                <a:schemeClr val="tx1"/>
              </a:buClr>
            </a:pPr>
            <a:endParaRPr lang="en-IN" sz="1800" dirty="0">
              <a:latin typeface="Calibri" panose="020F0502020204030204" pitchFamily="34" charset="0"/>
            </a:endParaRPr>
          </a:p>
        </p:txBody>
      </p:sp>
      <p:sp>
        <p:nvSpPr>
          <p:cNvPr id="4" name="Footer Placeholder 3"/>
          <p:cNvSpPr>
            <a:spLocks noGrp="1"/>
          </p:cNvSpPr>
          <p:nvPr>
            <p:ph type="ftr" sz="quarter" idx="11"/>
          </p:nvPr>
        </p:nvSpPr>
        <p:spPr/>
        <p:txBody>
          <a:bodyPr/>
          <a:lstStyle/>
          <a:p>
            <a:r>
              <a:rPr lang="en-IN" smtClean="0"/>
              <a:t>Copyright © 2016 Accenture All Rights Reserved. Confidential —For Company Internal Use Only.</a:t>
            </a:r>
            <a:endParaRPr lang="en-IN"/>
          </a:p>
        </p:txBody>
      </p:sp>
      <p:graphicFrame>
        <p:nvGraphicFramePr>
          <p:cNvPr id="6" name="Table 5"/>
          <p:cNvGraphicFramePr>
            <a:graphicFrameLocks noGrp="1"/>
          </p:cNvGraphicFramePr>
          <p:nvPr>
            <p:extLst>
              <p:ext uri="{D42A27DB-BD31-4B8C-83A1-F6EECF244321}">
                <p14:modId xmlns:p14="http://schemas.microsoft.com/office/powerpoint/2010/main" val="1920641987"/>
              </p:ext>
            </p:extLst>
          </p:nvPr>
        </p:nvGraphicFramePr>
        <p:xfrm>
          <a:off x="1284470" y="2442475"/>
          <a:ext cx="8999560" cy="2865120"/>
        </p:xfrm>
        <a:graphic>
          <a:graphicData uri="http://schemas.openxmlformats.org/drawingml/2006/table">
            <a:tbl>
              <a:tblPr firstRow="1" bandRow="1">
                <a:tableStyleId>{7DF18680-E054-41AD-8BC1-D1AEF772440D}</a:tableStyleId>
              </a:tblPr>
              <a:tblGrid>
                <a:gridCol w="4499780"/>
                <a:gridCol w="4499780"/>
              </a:tblGrid>
              <a:tr h="370840">
                <a:tc>
                  <a:txBody>
                    <a:bodyPr/>
                    <a:lstStyle/>
                    <a:p>
                      <a:r>
                        <a:rPr lang="en-IN" dirty="0" smtClean="0">
                          <a:latin typeface="Calibri" panose="020F0502020204030204" pitchFamily="34" charset="0"/>
                        </a:rPr>
                        <a:t>Formatting Argument</a:t>
                      </a:r>
                      <a:endParaRPr lang="en-IN" dirty="0">
                        <a:latin typeface="Calibri" panose="020F0502020204030204" pitchFamily="34" charset="0"/>
                      </a:endParaRPr>
                    </a:p>
                  </a:txBody>
                  <a:tcPr/>
                </a:tc>
                <a:tc>
                  <a:txBody>
                    <a:bodyPr/>
                    <a:lstStyle/>
                    <a:p>
                      <a:r>
                        <a:rPr lang="en-IN" dirty="0" smtClean="0">
                          <a:latin typeface="Calibri" panose="020F0502020204030204" pitchFamily="34" charset="0"/>
                        </a:rPr>
                        <a:t>Purpose</a:t>
                      </a:r>
                      <a:endParaRPr lang="en-IN" dirty="0">
                        <a:latin typeface="Calibri" panose="020F0502020204030204" pitchFamily="34" charset="0"/>
                      </a:endParaRPr>
                    </a:p>
                  </a:txBody>
                  <a:tcPr/>
                </a:tc>
              </a:tr>
              <a:tr h="370840">
                <a:tc>
                  <a:txBody>
                    <a:bodyPr/>
                    <a:lstStyle/>
                    <a:p>
                      <a:r>
                        <a:rPr lang="en-IN" dirty="0" smtClean="0">
                          <a:latin typeface="Calibri" panose="020F0502020204030204" pitchFamily="34" charset="0"/>
                        </a:rPr>
                        <a:t>enclosed-by</a:t>
                      </a:r>
                      <a:endParaRPr lang="en-IN" dirty="0">
                        <a:latin typeface="Calibri" panose="020F0502020204030204" pitchFamily="34" charset="0"/>
                      </a:endParaRPr>
                    </a:p>
                  </a:txBody>
                  <a:tcPr/>
                </a:tc>
                <a:tc>
                  <a:txBody>
                    <a:bodyPr/>
                    <a:lstStyle/>
                    <a:p>
                      <a:r>
                        <a:rPr lang="en-IN" dirty="0" smtClean="0">
                          <a:latin typeface="Calibri" panose="020F0502020204030204" pitchFamily="34" charset="0"/>
                        </a:rPr>
                        <a:t>The field enclosing character</a:t>
                      </a:r>
                      <a:endParaRPr lang="en-IN" dirty="0">
                        <a:latin typeface="Calibri" panose="020F0502020204030204" pitchFamily="34" charset="0"/>
                      </a:endParaRPr>
                    </a:p>
                  </a:txBody>
                  <a:tcPr/>
                </a:tc>
              </a:tr>
              <a:tr h="370840">
                <a:tc>
                  <a:txBody>
                    <a:bodyPr/>
                    <a:lstStyle/>
                    <a:p>
                      <a:r>
                        <a:rPr lang="en-IN" dirty="0" smtClean="0">
                          <a:latin typeface="Calibri" panose="020F0502020204030204" pitchFamily="34" charset="0"/>
                        </a:rPr>
                        <a:t>escaped-by</a:t>
                      </a:r>
                      <a:endParaRPr lang="en-IN" dirty="0">
                        <a:latin typeface="Calibri" panose="020F0502020204030204" pitchFamily="34" charset="0"/>
                      </a:endParaRPr>
                    </a:p>
                  </a:txBody>
                  <a:tcPr/>
                </a:tc>
                <a:tc>
                  <a:txBody>
                    <a:bodyPr/>
                    <a:lstStyle/>
                    <a:p>
                      <a:r>
                        <a:rPr lang="en-IN" dirty="0" smtClean="0">
                          <a:latin typeface="Calibri" panose="020F0502020204030204" pitchFamily="34" charset="0"/>
                        </a:rPr>
                        <a:t>The escape character</a:t>
                      </a:r>
                      <a:endParaRPr lang="en-IN" dirty="0">
                        <a:latin typeface="Calibri" panose="020F0502020204030204" pitchFamily="34" charset="0"/>
                      </a:endParaRPr>
                    </a:p>
                  </a:txBody>
                  <a:tcPr/>
                </a:tc>
              </a:tr>
              <a:tr h="370840">
                <a:tc>
                  <a:txBody>
                    <a:bodyPr/>
                    <a:lstStyle/>
                    <a:p>
                      <a:r>
                        <a:rPr lang="en-IN" dirty="0" smtClean="0">
                          <a:latin typeface="Calibri" panose="020F0502020204030204" pitchFamily="34" charset="0"/>
                        </a:rPr>
                        <a:t>fields-terminated-by</a:t>
                      </a:r>
                      <a:endParaRPr lang="en-IN" dirty="0">
                        <a:latin typeface="Calibri" panose="020F0502020204030204" pitchFamily="34" charset="0"/>
                      </a:endParaRPr>
                    </a:p>
                  </a:txBody>
                  <a:tcPr/>
                </a:tc>
                <a:tc>
                  <a:txBody>
                    <a:bodyPr/>
                    <a:lstStyle/>
                    <a:p>
                      <a:r>
                        <a:rPr lang="en-IN" dirty="0" smtClean="0">
                          <a:latin typeface="Calibri" panose="020F0502020204030204" pitchFamily="34" charset="0"/>
                        </a:rPr>
                        <a:t>The field separator character</a:t>
                      </a:r>
                      <a:endParaRPr lang="en-IN" dirty="0">
                        <a:latin typeface="Calibri" panose="020F0502020204030204" pitchFamily="34" charset="0"/>
                      </a:endParaRPr>
                    </a:p>
                  </a:txBody>
                  <a:tcPr/>
                </a:tc>
              </a:tr>
              <a:tr h="370840">
                <a:tc>
                  <a:txBody>
                    <a:bodyPr/>
                    <a:lstStyle/>
                    <a:p>
                      <a:r>
                        <a:rPr lang="en-IN" dirty="0" smtClean="0">
                          <a:latin typeface="Calibri" panose="020F0502020204030204" pitchFamily="34" charset="0"/>
                        </a:rPr>
                        <a:t>lines-terminated-by</a:t>
                      </a:r>
                      <a:endParaRPr lang="en-IN" dirty="0">
                        <a:latin typeface="Calibri" panose="020F0502020204030204" pitchFamily="34" charset="0"/>
                      </a:endParaRPr>
                    </a:p>
                  </a:txBody>
                  <a:tcPr/>
                </a:tc>
                <a:tc>
                  <a:txBody>
                    <a:bodyPr/>
                    <a:lstStyle/>
                    <a:p>
                      <a:r>
                        <a:rPr lang="en-IN" dirty="0" smtClean="0">
                          <a:latin typeface="Calibri" panose="020F0502020204030204" pitchFamily="34" charset="0"/>
                        </a:rPr>
                        <a:t>The end of line char</a:t>
                      </a:r>
                      <a:endParaRPr lang="en-IN" dirty="0">
                        <a:latin typeface="Calibri" panose="020F0502020204030204" pitchFamily="34" charset="0"/>
                      </a:endParaRPr>
                    </a:p>
                  </a:txBody>
                  <a:tcPr/>
                </a:tc>
              </a:tr>
              <a:tr h="370840">
                <a:tc>
                  <a:txBody>
                    <a:bodyPr/>
                    <a:lstStyle/>
                    <a:p>
                      <a:r>
                        <a:rPr lang="en-IN" dirty="0" smtClean="0">
                          <a:latin typeface="Calibri" panose="020F0502020204030204" pitchFamily="34" charset="0"/>
                        </a:rPr>
                        <a:t>mysql-delimiters</a:t>
                      </a:r>
                      <a:endParaRPr lang="en-IN" dirty="0">
                        <a:latin typeface="Calibri" panose="020F0502020204030204" pitchFamily="34" charset="0"/>
                      </a:endParaRPr>
                    </a:p>
                  </a:txBody>
                  <a:tcPr/>
                </a:tc>
                <a:tc>
                  <a:txBody>
                    <a:bodyPr/>
                    <a:lstStyle/>
                    <a:p>
                      <a:r>
                        <a:rPr lang="en-IN" dirty="0" smtClean="0">
                          <a:latin typeface="Calibri" panose="020F0502020204030204" pitchFamily="34" charset="0"/>
                        </a:rPr>
                        <a:t>Default delimiter: fields(,) lines (\n) escaped- by (\) optionally-enclosed-by(‘)</a:t>
                      </a:r>
                      <a:endParaRPr lang="en-IN" dirty="0">
                        <a:latin typeface="Calibri" panose="020F0502020204030204" pitchFamily="34" charset="0"/>
                      </a:endParaRPr>
                    </a:p>
                  </a:txBody>
                  <a:tcPr/>
                </a:tc>
              </a:tr>
              <a:tr h="370840">
                <a:tc>
                  <a:txBody>
                    <a:bodyPr/>
                    <a:lstStyle/>
                    <a:p>
                      <a:r>
                        <a:rPr lang="en-IN" dirty="0" smtClean="0">
                          <a:latin typeface="Calibri" panose="020F0502020204030204" pitchFamily="34" charset="0"/>
                        </a:rPr>
                        <a:t>Optionally-enclosed-by</a:t>
                      </a:r>
                      <a:endParaRPr lang="en-IN" dirty="0">
                        <a:latin typeface="Calibri" panose="020F0502020204030204" pitchFamily="34" charset="0"/>
                      </a:endParaRPr>
                    </a:p>
                  </a:txBody>
                  <a:tcPr/>
                </a:tc>
                <a:tc>
                  <a:txBody>
                    <a:bodyPr/>
                    <a:lstStyle/>
                    <a:p>
                      <a:r>
                        <a:rPr lang="en-IN" dirty="0" smtClean="0">
                          <a:latin typeface="Calibri" panose="020F0502020204030204" pitchFamily="34" charset="0"/>
                        </a:rPr>
                        <a:t>The field enclosing character.</a:t>
                      </a:r>
                      <a:endParaRPr lang="en-IN" dirty="0">
                        <a:latin typeface="Calibri" panose="020F0502020204030204" pitchFamily="34" charset="0"/>
                      </a:endParaRPr>
                    </a:p>
                  </a:txBody>
                  <a:tcPr/>
                </a:tc>
              </a:tr>
            </a:tbl>
          </a:graphicData>
        </a:graphic>
      </p:graphicFrame>
    </p:spTree>
    <p:extLst>
      <p:ext uri="{BB962C8B-B14F-4D97-AF65-F5344CB8AC3E}">
        <p14:creationId xmlns:p14="http://schemas.microsoft.com/office/powerpoint/2010/main" val="2043362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485201"/>
            <a:ext cx="9404723" cy="962599"/>
          </a:xfrm>
        </p:spPr>
        <p:txBody>
          <a:bodyPr/>
          <a:lstStyle/>
          <a:p>
            <a:pPr algn="ctr"/>
            <a:r>
              <a:rPr lang="en-IN" sz="4000" dirty="0" smtClean="0">
                <a:latin typeface="Calibri" panose="020F0502020204030204" pitchFamily="34" charset="0"/>
              </a:rPr>
              <a:t>Controlling Parallelism</a:t>
            </a:r>
            <a:endParaRPr lang="en-IN" sz="4000" dirty="0">
              <a:latin typeface="Calibri" panose="020F0502020204030204" pitchFamily="34" charset="0"/>
            </a:endParaRPr>
          </a:p>
        </p:txBody>
      </p:sp>
      <p:sp>
        <p:nvSpPr>
          <p:cNvPr id="3" name="Content Placeholder 2"/>
          <p:cNvSpPr>
            <a:spLocks noGrp="1"/>
          </p:cNvSpPr>
          <p:nvPr>
            <p:ph idx="1"/>
          </p:nvPr>
        </p:nvSpPr>
        <p:spPr>
          <a:xfrm>
            <a:off x="645130" y="1258784"/>
            <a:ext cx="9710153" cy="4989615"/>
          </a:xfrm>
        </p:spPr>
        <p:txBody>
          <a:bodyPr>
            <a:noAutofit/>
          </a:bodyPr>
          <a:lstStyle/>
          <a:p>
            <a:pPr>
              <a:buClr>
                <a:schemeClr val="tx1"/>
              </a:buClr>
            </a:pPr>
            <a:r>
              <a:rPr lang="en-IN" sz="1800" dirty="0">
                <a:latin typeface="Calibri" panose="020F0502020204030204" pitchFamily="34" charset="0"/>
              </a:rPr>
              <a:t>We can specify the degree of parallel task execution to import data from source database system. </a:t>
            </a:r>
            <a:endParaRPr lang="en-IN" sz="1800" dirty="0" smtClean="0">
              <a:latin typeface="Calibri" panose="020F0502020204030204" pitchFamily="34" charset="0"/>
            </a:endParaRPr>
          </a:p>
          <a:p>
            <a:pPr>
              <a:buClr>
                <a:schemeClr val="tx1"/>
              </a:buClr>
            </a:pPr>
            <a:r>
              <a:rPr lang="en-IN" sz="1800" dirty="0" smtClean="0">
                <a:latin typeface="Calibri" panose="020F0502020204030204" pitchFamily="34" charset="0"/>
              </a:rPr>
              <a:t>Here </a:t>
            </a:r>
            <a:r>
              <a:rPr lang="en-IN" sz="1800" dirty="0">
                <a:latin typeface="Calibri" panose="020F0502020204030204" pitchFamily="34" charset="0"/>
              </a:rPr>
              <a:t>increasing parallelism means increasing the number of mappers from default 4 to higher number. </a:t>
            </a:r>
            <a:endParaRPr lang="en-IN" sz="1800" dirty="0" smtClean="0">
              <a:latin typeface="Calibri" panose="020F0502020204030204" pitchFamily="34" charset="0"/>
            </a:endParaRPr>
          </a:p>
          <a:p>
            <a:pPr>
              <a:buClr>
                <a:schemeClr val="tx1"/>
              </a:buClr>
            </a:pPr>
            <a:r>
              <a:rPr lang="en-IN" sz="1800" dirty="0" smtClean="0">
                <a:latin typeface="Calibri" panose="020F0502020204030204" pitchFamily="34" charset="0"/>
              </a:rPr>
              <a:t>For </a:t>
            </a:r>
            <a:r>
              <a:rPr lang="en-IN" sz="1800" dirty="0">
                <a:latin typeface="Calibri" panose="020F0502020204030204" pitchFamily="34" charset="0"/>
              </a:rPr>
              <a:t>many database systems and Hadoop clusters, increasing value to 8 or 16 has given a significant performance improvement. But to do so we have to consider many other things, like the no. of mappers slots on Hadoop cluster or spool space of given user etc. </a:t>
            </a:r>
            <a:endParaRPr lang="en-IN" sz="1800" dirty="0" smtClean="0">
              <a:latin typeface="Calibri" panose="020F0502020204030204" pitchFamily="34" charset="0"/>
            </a:endParaRPr>
          </a:p>
          <a:p>
            <a:pPr>
              <a:buClr>
                <a:schemeClr val="tx1"/>
              </a:buClr>
            </a:pPr>
            <a:r>
              <a:rPr lang="en-IN" sz="1800" dirty="0" smtClean="0">
                <a:latin typeface="Calibri" panose="020F0502020204030204" pitchFamily="34" charset="0"/>
              </a:rPr>
              <a:t>It </a:t>
            </a:r>
            <a:r>
              <a:rPr lang="en-IN" sz="1800" dirty="0">
                <a:latin typeface="Calibri" panose="020F0502020204030204" pitchFamily="34" charset="0"/>
              </a:rPr>
              <a:t>is recommended to keep lesser map tasks than your cluster map slots if that values increases than the map slots, tasks start execution in serial way which results in degraded performance</a:t>
            </a:r>
            <a:r>
              <a:rPr lang="en-IN" sz="1800" dirty="0" smtClean="0">
                <a:latin typeface="Calibri" panose="020F0502020204030204" pitchFamily="34" charset="0"/>
              </a:rPr>
              <a:t>.</a:t>
            </a:r>
          </a:p>
          <a:p>
            <a:pPr marL="0" indent="0">
              <a:buNone/>
            </a:pPr>
            <a:r>
              <a:rPr lang="en-IN" sz="1800" b="1" dirty="0" smtClean="0">
                <a:latin typeface="Calibri" panose="020F0502020204030204" pitchFamily="34" charset="0"/>
              </a:rPr>
              <a:t>     Ex: </a:t>
            </a:r>
          </a:p>
          <a:p>
            <a:pPr marL="0" indent="0">
              <a:buNone/>
            </a:pPr>
            <a:r>
              <a:rPr lang="en-IN" sz="1800" b="1" dirty="0">
                <a:latin typeface="Calibri" panose="020F0502020204030204" pitchFamily="34" charset="0"/>
              </a:rPr>
              <a:t> </a:t>
            </a:r>
            <a:r>
              <a:rPr lang="en-IN" sz="1800" b="1" dirty="0" smtClean="0">
                <a:latin typeface="Calibri" panose="020F0502020204030204" pitchFamily="34" charset="0"/>
              </a:rPr>
              <a:t>     </a:t>
            </a:r>
            <a:r>
              <a:rPr lang="en-IN" sz="1800" dirty="0" err="1" smtClean="0">
                <a:latin typeface="Calibri" panose="020F0502020204030204" pitchFamily="34" charset="0"/>
              </a:rPr>
              <a:t>sqoop</a:t>
            </a:r>
            <a:r>
              <a:rPr lang="en-IN" sz="1800" dirty="0" smtClean="0">
                <a:latin typeface="Calibri" panose="020F0502020204030204" pitchFamily="34" charset="0"/>
              </a:rPr>
              <a:t> </a:t>
            </a:r>
            <a:r>
              <a:rPr lang="en-IN" sz="1800" dirty="0">
                <a:latin typeface="Calibri" panose="020F0502020204030204" pitchFamily="34" charset="0"/>
              </a:rPr>
              <a:t>import \</a:t>
            </a:r>
            <a:br>
              <a:rPr lang="en-IN" sz="1800" dirty="0">
                <a:latin typeface="Calibri" panose="020F0502020204030204" pitchFamily="34" charset="0"/>
              </a:rPr>
            </a:br>
            <a:r>
              <a:rPr lang="en-IN" sz="1800" dirty="0" smtClean="0">
                <a:latin typeface="Calibri" panose="020F0502020204030204" pitchFamily="34" charset="0"/>
              </a:rPr>
              <a:t>          --</a:t>
            </a:r>
            <a:r>
              <a:rPr lang="en-IN" sz="1800" dirty="0">
                <a:latin typeface="Calibri" panose="020F0502020204030204" pitchFamily="34" charset="0"/>
              </a:rPr>
              <a:t>connect </a:t>
            </a:r>
            <a:r>
              <a:rPr lang="en-IN" sz="1800" dirty="0" err="1">
                <a:latin typeface="Calibri" panose="020F0502020204030204" pitchFamily="34" charset="0"/>
              </a:rPr>
              <a:t>jdbc:mysql</a:t>
            </a:r>
            <a:r>
              <a:rPr lang="en-IN" sz="1800" dirty="0">
                <a:latin typeface="Calibri" panose="020F0502020204030204" pitchFamily="34" charset="0"/>
              </a:rPr>
              <a:t>://hostname/</a:t>
            </a:r>
            <a:r>
              <a:rPr lang="en-IN" sz="1800" dirty="0" err="1">
                <a:latin typeface="Calibri" panose="020F0502020204030204" pitchFamily="34" charset="0"/>
              </a:rPr>
              <a:t>database_name</a:t>
            </a:r>
            <a:r>
              <a:rPr lang="en-IN" sz="1800" dirty="0">
                <a:latin typeface="Calibri" panose="020F0502020204030204" pitchFamily="34" charset="0"/>
              </a:rPr>
              <a:t> \</a:t>
            </a:r>
            <a:br>
              <a:rPr lang="en-IN" sz="1800" dirty="0">
                <a:latin typeface="Calibri" panose="020F0502020204030204" pitchFamily="34" charset="0"/>
              </a:rPr>
            </a:br>
            <a:r>
              <a:rPr lang="en-IN" sz="1800" dirty="0" smtClean="0">
                <a:latin typeface="Calibri" panose="020F0502020204030204" pitchFamily="34" charset="0"/>
              </a:rPr>
              <a:t>          --</a:t>
            </a:r>
            <a:r>
              <a:rPr lang="en-IN" sz="1800" dirty="0">
                <a:latin typeface="Calibri" panose="020F0502020204030204" pitchFamily="34" charset="0"/>
              </a:rPr>
              <a:t>username user1 \</a:t>
            </a:r>
            <a:br>
              <a:rPr lang="en-IN" sz="1800" dirty="0">
                <a:latin typeface="Calibri" panose="020F0502020204030204" pitchFamily="34" charset="0"/>
              </a:rPr>
            </a:br>
            <a:r>
              <a:rPr lang="en-IN" sz="1800" dirty="0" smtClean="0">
                <a:latin typeface="Calibri" panose="020F0502020204030204" pitchFamily="34" charset="0"/>
              </a:rPr>
              <a:t>          --</a:t>
            </a:r>
            <a:r>
              <a:rPr lang="en-IN" sz="1800" dirty="0">
                <a:latin typeface="Calibri" panose="020F0502020204030204" pitchFamily="34" charset="0"/>
              </a:rPr>
              <a:t>password </a:t>
            </a:r>
            <a:r>
              <a:rPr lang="en-IN" sz="1800" dirty="0" err="1">
                <a:latin typeface="Calibri" panose="020F0502020204030204" pitchFamily="34" charset="0"/>
              </a:rPr>
              <a:t>pwd</a:t>
            </a:r>
            <a:r>
              <a:rPr lang="en-IN" sz="1800" dirty="0">
                <a:latin typeface="Calibri" panose="020F0502020204030204" pitchFamily="34" charset="0"/>
              </a:rPr>
              <a:t> \</a:t>
            </a:r>
            <a:br>
              <a:rPr lang="en-IN" sz="1800" dirty="0">
                <a:latin typeface="Calibri" panose="020F0502020204030204" pitchFamily="34" charset="0"/>
              </a:rPr>
            </a:br>
            <a:r>
              <a:rPr lang="en-IN" sz="1800" dirty="0" smtClean="0">
                <a:latin typeface="Calibri" panose="020F0502020204030204" pitchFamily="34" charset="0"/>
              </a:rPr>
              <a:t>          --</a:t>
            </a:r>
            <a:r>
              <a:rPr lang="en-IN" sz="1800" dirty="0">
                <a:latin typeface="Calibri" panose="020F0502020204030204" pitchFamily="34" charset="0"/>
              </a:rPr>
              <a:t>table student \</a:t>
            </a:r>
            <a:br>
              <a:rPr lang="en-IN" sz="1800" dirty="0">
                <a:latin typeface="Calibri" panose="020F0502020204030204" pitchFamily="34" charset="0"/>
              </a:rPr>
            </a:br>
            <a:r>
              <a:rPr lang="en-IN" sz="1800" dirty="0" smtClean="0">
                <a:latin typeface="Calibri" panose="020F0502020204030204" pitchFamily="34" charset="0"/>
              </a:rPr>
              <a:t>          --</a:t>
            </a:r>
            <a:r>
              <a:rPr lang="en-IN" sz="1800" dirty="0">
                <a:latin typeface="Calibri" panose="020F0502020204030204" pitchFamily="34" charset="0"/>
              </a:rPr>
              <a:t>m 8</a:t>
            </a:r>
          </a:p>
        </p:txBody>
      </p:sp>
      <p:sp>
        <p:nvSpPr>
          <p:cNvPr id="4" name="Footer Placeholder 3"/>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Tree>
    <p:extLst>
      <p:ext uri="{BB962C8B-B14F-4D97-AF65-F5344CB8AC3E}">
        <p14:creationId xmlns:p14="http://schemas.microsoft.com/office/powerpoint/2010/main" val="41746489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580204"/>
            <a:ext cx="9404723" cy="867596"/>
          </a:xfrm>
        </p:spPr>
        <p:txBody>
          <a:bodyPr/>
          <a:lstStyle/>
          <a:p>
            <a:pPr algn="ctr"/>
            <a:r>
              <a:rPr lang="en-IN" sz="4000" dirty="0" smtClean="0">
                <a:latin typeface="Calibri" panose="020F0502020204030204" pitchFamily="34" charset="0"/>
              </a:rPr>
              <a:t>Connectors</a:t>
            </a:r>
            <a:endParaRPr lang="en-IN" sz="4000" dirty="0">
              <a:latin typeface="Calibri" panose="020F0502020204030204" pitchFamily="34" charset="0"/>
            </a:endParaRPr>
          </a:p>
        </p:txBody>
      </p:sp>
      <p:sp>
        <p:nvSpPr>
          <p:cNvPr id="3" name="Content Placeholder 2"/>
          <p:cNvSpPr>
            <a:spLocks noGrp="1"/>
          </p:cNvSpPr>
          <p:nvPr>
            <p:ph idx="1"/>
          </p:nvPr>
        </p:nvSpPr>
        <p:spPr>
          <a:xfrm>
            <a:off x="1103312" y="1447800"/>
            <a:ext cx="8946541" cy="4800599"/>
          </a:xfrm>
        </p:spPr>
        <p:txBody>
          <a:bodyPr>
            <a:normAutofit/>
          </a:bodyPr>
          <a:lstStyle/>
          <a:p>
            <a:pPr>
              <a:lnSpc>
                <a:spcPct val="150000"/>
              </a:lnSpc>
              <a:buClr>
                <a:schemeClr val="tx1"/>
              </a:buClr>
            </a:pPr>
            <a:r>
              <a:rPr lang="en-IN" sz="1800" dirty="0">
                <a:latin typeface="Calibri" panose="020F0502020204030204" pitchFamily="34" charset="0"/>
              </a:rPr>
              <a:t>Connectors allow Sqoop to transcend SQL dialects while optimizing data transfer. A “connector” is a pluggable piece that fetches metadata about transferred data (columns, associated data types, and so on) to drive data transfer in the most efficient manner. The most basic connector that ships with Sqoop is Generic JDBC Connector, and as the name suggests, it uses only the JDBC interface for </a:t>
            </a:r>
            <a:r>
              <a:rPr lang="en-IN" sz="1800" dirty="0" smtClean="0">
                <a:latin typeface="Calibri" panose="020F0502020204030204" pitchFamily="34" charset="0"/>
              </a:rPr>
              <a:t>accessing </a:t>
            </a:r>
            <a:r>
              <a:rPr lang="en-IN" sz="1800" dirty="0">
                <a:latin typeface="Calibri" panose="020F0502020204030204" pitchFamily="34" charset="0"/>
              </a:rPr>
              <a:t>metadata and transferring </a:t>
            </a:r>
            <a:r>
              <a:rPr lang="en-IN" sz="1800" dirty="0" smtClean="0">
                <a:latin typeface="Calibri" panose="020F0502020204030204" pitchFamily="34" charset="0"/>
              </a:rPr>
              <a:t>data.</a:t>
            </a:r>
          </a:p>
          <a:p>
            <a:pPr>
              <a:lnSpc>
                <a:spcPct val="150000"/>
              </a:lnSpc>
              <a:buClr>
                <a:schemeClr val="tx1"/>
              </a:buClr>
            </a:pPr>
            <a:r>
              <a:rPr lang="en-IN" sz="1800" dirty="0" smtClean="0">
                <a:latin typeface="Calibri" panose="020F0502020204030204" pitchFamily="34" charset="0"/>
              </a:rPr>
              <a:t>Using direct connectors improves performance.</a:t>
            </a:r>
          </a:p>
          <a:p>
            <a:pPr>
              <a:lnSpc>
                <a:spcPct val="150000"/>
              </a:lnSpc>
              <a:buClr>
                <a:schemeClr val="tx1"/>
              </a:buClr>
            </a:pPr>
            <a:r>
              <a:rPr lang="en-IN" sz="1800" dirty="0" smtClean="0">
                <a:latin typeface="Calibri" panose="020F0502020204030204" pitchFamily="34" charset="0"/>
              </a:rPr>
              <a:t>We can use parameter </a:t>
            </a:r>
            <a:r>
              <a:rPr lang="en-IN" sz="1800" b="1" dirty="0" smtClean="0">
                <a:latin typeface="Calibri" panose="020F0502020204030204" pitchFamily="34" charset="0"/>
              </a:rPr>
              <a:t>--direct </a:t>
            </a:r>
            <a:r>
              <a:rPr lang="en-IN" sz="1800" dirty="0" smtClean="0">
                <a:latin typeface="Calibri" panose="020F0502020204030204" pitchFamily="34" charset="0"/>
              </a:rPr>
              <a:t>for connecting directly.</a:t>
            </a:r>
          </a:p>
          <a:p>
            <a:pPr>
              <a:lnSpc>
                <a:spcPct val="150000"/>
              </a:lnSpc>
              <a:buClr>
                <a:schemeClr val="tx1"/>
              </a:buClr>
            </a:pPr>
            <a:r>
              <a:rPr lang="en-IN" sz="1800" dirty="0" smtClean="0">
                <a:latin typeface="Calibri" panose="020F0502020204030204" pitchFamily="34" charset="0"/>
              </a:rPr>
              <a:t>Some of direct connectors are MySQL, PostgreSQL, Oracle, Teradata and others.</a:t>
            </a:r>
            <a:endParaRPr lang="en-IN" sz="1800" dirty="0">
              <a:latin typeface="Calibri" panose="020F0502020204030204" pitchFamily="34" charset="0"/>
            </a:endParaRPr>
          </a:p>
        </p:txBody>
      </p:sp>
      <p:sp>
        <p:nvSpPr>
          <p:cNvPr id="4" name="Footer Placeholder 3"/>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Tree>
    <p:extLst>
      <p:ext uri="{BB962C8B-B14F-4D97-AF65-F5344CB8AC3E}">
        <p14:creationId xmlns:p14="http://schemas.microsoft.com/office/powerpoint/2010/main" val="2014233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1113" y="403760"/>
            <a:ext cx="9404723" cy="808219"/>
          </a:xfrm>
        </p:spPr>
        <p:txBody>
          <a:bodyPr/>
          <a:lstStyle/>
          <a:p>
            <a:pPr algn="ctr"/>
            <a:r>
              <a:rPr lang="en-IN" sz="4000" dirty="0" smtClean="0">
                <a:latin typeface="Calibri" panose="020F0502020204030204" pitchFamily="34" charset="0"/>
              </a:rPr>
              <a:t>Splitting Data</a:t>
            </a:r>
            <a:endParaRPr lang="en-IN" sz="4000" dirty="0">
              <a:latin typeface="Calibri" panose="020F0502020204030204" pitchFamily="34" charset="0"/>
            </a:endParaRPr>
          </a:p>
        </p:txBody>
      </p:sp>
      <p:sp>
        <p:nvSpPr>
          <p:cNvPr id="3" name="Content Placeholder 2"/>
          <p:cNvSpPr>
            <a:spLocks noGrp="1"/>
          </p:cNvSpPr>
          <p:nvPr>
            <p:ph idx="1"/>
          </p:nvPr>
        </p:nvSpPr>
        <p:spPr>
          <a:xfrm>
            <a:off x="741114" y="1211980"/>
            <a:ext cx="9308740" cy="5036420"/>
          </a:xfrm>
        </p:spPr>
        <p:txBody>
          <a:bodyPr>
            <a:normAutofit/>
          </a:bodyPr>
          <a:lstStyle/>
          <a:p>
            <a:pPr>
              <a:buClr>
                <a:schemeClr val="tx1"/>
              </a:buClr>
            </a:pPr>
            <a:r>
              <a:rPr lang="en-IN" sz="1800" b="1" dirty="0">
                <a:latin typeface="Calibri" panose="020F0502020204030204" pitchFamily="34" charset="0"/>
              </a:rPr>
              <a:t>--split-by :</a:t>
            </a:r>
            <a:r>
              <a:rPr lang="en-IN" sz="1800" dirty="0">
                <a:latin typeface="Calibri" panose="020F0502020204030204" pitchFamily="34" charset="0"/>
              </a:rPr>
              <a:t> It is used to specify the column of the table used to generate splits for imports. This means that it specifies which column will be used to create the split while importing the data into </a:t>
            </a:r>
            <a:r>
              <a:rPr lang="en-IN" sz="1800" dirty="0" smtClean="0">
                <a:latin typeface="Calibri" panose="020F0502020204030204" pitchFamily="34" charset="0"/>
              </a:rPr>
              <a:t>our </a:t>
            </a:r>
            <a:r>
              <a:rPr lang="en-IN" sz="1800" dirty="0">
                <a:latin typeface="Calibri" panose="020F0502020204030204" pitchFamily="34" charset="0"/>
              </a:rPr>
              <a:t>cluster. It can be used to enhance the import performance by achieving greater parallelism. </a:t>
            </a:r>
            <a:endParaRPr lang="en-IN" sz="1800" dirty="0" smtClean="0">
              <a:latin typeface="Calibri" panose="020F0502020204030204" pitchFamily="34" charset="0"/>
            </a:endParaRPr>
          </a:p>
          <a:p>
            <a:pPr>
              <a:buClr>
                <a:schemeClr val="tx1"/>
              </a:buClr>
            </a:pPr>
            <a:r>
              <a:rPr lang="en-IN" sz="1800" dirty="0" smtClean="0">
                <a:latin typeface="Calibri" panose="020F0502020204030204" pitchFamily="34" charset="0"/>
              </a:rPr>
              <a:t>Sqoop </a:t>
            </a:r>
            <a:r>
              <a:rPr lang="en-IN" sz="1800" dirty="0">
                <a:latin typeface="Calibri" panose="020F0502020204030204" pitchFamily="34" charset="0"/>
              </a:rPr>
              <a:t>creates splits based on values in a particular column of the table which is specified by </a:t>
            </a:r>
            <a:r>
              <a:rPr lang="en-IN" sz="1800" b="1" dirty="0">
                <a:latin typeface="Calibri" panose="020F0502020204030204" pitchFamily="34" charset="0"/>
              </a:rPr>
              <a:t>--split-by </a:t>
            </a:r>
            <a:r>
              <a:rPr lang="en-IN" sz="1800" dirty="0">
                <a:latin typeface="Calibri" panose="020F0502020204030204" pitchFamily="34" charset="0"/>
              </a:rPr>
              <a:t>by the user through the import command. If it is not available, the primary key of the input table is used to create the splits.</a:t>
            </a:r>
            <a:endParaRPr lang="en-IN" sz="1800" dirty="0" smtClean="0">
              <a:latin typeface="Calibri" panose="020F0502020204030204" pitchFamily="34" charset="0"/>
            </a:endParaRPr>
          </a:p>
          <a:p>
            <a:pPr>
              <a:buClr>
                <a:schemeClr val="tx1"/>
              </a:buClr>
            </a:pPr>
            <a:r>
              <a:rPr lang="en-IN" sz="1800" b="1" dirty="0">
                <a:latin typeface="Calibri" panose="020F0502020204030204" pitchFamily="34" charset="0"/>
              </a:rPr>
              <a:t>Reason to </a:t>
            </a:r>
            <a:r>
              <a:rPr lang="en-IN" sz="1800" b="1" dirty="0" smtClean="0">
                <a:latin typeface="Calibri" panose="020F0502020204030204" pitchFamily="34" charset="0"/>
              </a:rPr>
              <a:t>use </a:t>
            </a:r>
            <a:r>
              <a:rPr lang="en-IN" sz="1800" dirty="0" smtClean="0">
                <a:latin typeface="Calibri" panose="020F0502020204030204" pitchFamily="34" charset="0"/>
              </a:rPr>
              <a:t>is sometimes </a:t>
            </a:r>
            <a:r>
              <a:rPr lang="en-IN" sz="1800" dirty="0">
                <a:latin typeface="Calibri" panose="020F0502020204030204" pitchFamily="34" charset="0"/>
              </a:rPr>
              <a:t>the primary key doesn't have an even distribution of values between the min and max </a:t>
            </a:r>
            <a:r>
              <a:rPr lang="en-IN" sz="1800" dirty="0" smtClean="0">
                <a:latin typeface="Calibri" panose="020F0502020204030204" pitchFamily="34" charset="0"/>
              </a:rPr>
              <a:t>values (which </a:t>
            </a:r>
            <a:r>
              <a:rPr lang="en-IN" sz="1800" dirty="0">
                <a:latin typeface="Calibri" panose="020F0502020204030204" pitchFamily="34" charset="0"/>
              </a:rPr>
              <a:t>is used to create the splits if --split-by is not </a:t>
            </a:r>
            <a:r>
              <a:rPr lang="en-IN" sz="1800" dirty="0" smtClean="0">
                <a:latin typeface="Calibri" panose="020F0502020204030204" pitchFamily="34" charset="0"/>
              </a:rPr>
              <a:t>available). </a:t>
            </a:r>
            <a:r>
              <a:rPr lang="en-IN" sz="1800" dirty="0">
                <a:latin typeface="Calibri" panose="020F0502020204030204" pitchFamily="34" charset="0"/>
              </a:rPr>
              <a:t>In such a situation you can specify some other column which has proper distribution of data to create splits for efficient imports.</a:t>
            </a:r>
          </a:p>
        </p:txBody>
      </p:sp>
      <p:sp>
        <p:nvSpPr>
          <p:cNvPr id="4" name="Footer Placeholder 3"/>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Tree>
    <p:extLst>
      <p:ext uri="{BB962C8B-B14F-4D97-AF65-F5344CB8AC3E}">
        <p14:creationId xmlns:p14="http://schemas.microsoft.com/office/powerpoint/2010/main" val="1896950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580204"/>
            <a:ext cx="9404723" cy="867596"/>
          </a:xfrm>
        </p:spPr>
        <p:txBody>
          <a:bodyPr/>
          <a:lstStyle/>
          <a:p>
            <a:pPr algn="ctr"/>
            <a:r>
              <a:rPr lang="en-IN" sz="4000" b="1" dirty="0" smtClean="0">
                <a:latin typeface="Calibri" panose="020F0502020204030204" pitchFamily="34" charset="0"/>
              </a:rPr>
              <a:t>Boundary Queries</a:t>
            </a:r>
            <a:endParaRPr lang="en-IN" sz="4000" dirty="0">
              <a:latin typeface="Calibri" panose="020F0502020204030204" pitchFamily="34" charset="0"/>
            </a:endParaRPr>
          </a:p>
        </p:txBody>
      </p:sp>
      <p:sp>
        <p:nvSpPr>
          <p:cNvPr id="3" name="Content Placeholder 2"/>
          <p:cNvSpPr>
            <a:spLocks noGrp="1"/>
          </p:cNvSpPr>
          <p:nvPr>
            <p:ph idx="1"/>
          </p:nvPr>
        </p:nvSpPr>
        <p:spPr>
          <a:xfrm>
            <a:off x="1103312" y="1447800"/>
            <a:ext cx="8946541" cy="4800599"/>
          </a:xfrm>
        </p:spPr>
        <p:txBody>
          <a:bodyPr>
            <a:normAutofit/>
          </a:bodyPr>
          <a:lstStyle/>
          <a:p>
            <a:pPr>
              <a:lnSpc>
                <a:spcPct val="150000"/>
              </a:lnSpc>
              <a:buClr>
                <a:schemeClr val="tx1"/>
              </a:buClr>
            </a:pPr>
            <a:endParaRPr lang="en-IN" sz="1800" dirty="0" smtClean="0">
              <a:latin typeface="Calibri" panose="020F0502020204030204" pitchFamily="34" charset="0"/>
            </a:endParaRPr>
          </a:p>
          <a:p>
            <a:pPr>
              <a:lnSpc>
                <a:spcPct val="150000"/>
              </a:lnSpc>
              <a:buClr>
                <a:schemeClr val="tx1"/>
              </a:buClr>
            </a:pPr>
            <a:r>
              <a:rPr lang="en-IN" sz="1800" dirty="0" smtClean="0">
                <a:latin typeface="Calibri" panose="020F0502020204030204" pitchFamily="34" charset="0"/>
              </a:rPr>
              <a:t>By </a:t>
            </a:r>
            <a:r>
              <a:rPr lang="en-IN" sz="1800" dirty="0">
                <a:latin typeface="Calibri" panose="020F0502020204030204" pitchFamily="34" charset="0"/>
              </a:rPr>
              <a:t>default </a:t>
            </a:r>
            <a:r>
              <a:rPr lang="en-IN" sz="1800" dirty="0" err="1">
                <a:latin typeface="Calibri" panose="020F0502020204030204" pitchFamily="34" charset="0"/>
              </a:rPr>
              <a:t>sqoop</a:t>
            </a:r>
            <a:r>
              <a:rPr lang="en-IN" sz="1800" dirty="0">
                <a:latin typeface="Calibri" panose="020F0502020204030204" pitchFamily="34" charset="0"/>
              </a:rPr>
              <a:t> will use query </a:t>
            </a:r>
            <a:r>
              <a:rPr lang="en-IN" sz="1800" b="1" dirty="0">
                <a:latin typeface="Calibri" panose="020F0502020204030204" pitchFamily="34" charset="0"/>
              </a:rPr>
              <a:t>select min(), max() from </a:t>
            </a:r>
            <a:r>
              <a:rPr lang="en-IN" sz="1800" dirty="0">
                <a:latin typeface="Calibri" panose="020F0502020204030204" pitchFamily="34" charset="0"/>
              </a:rPr>
              <a:t>to find out boundaries for creating splits. In some cases this query is not the most optimal so you can specify any arbitrary query returning two numeric columns using --boundary-query argument</a:t>
            </a:r>
            <a:r>
              <a:rPr lang="en-IN" sz="1800" dirty="0" smtClean="0">
                <a:latin typeface="Calibri" panose="020F0502020204030204" pitchFamily="34" charset="0"/>
              </a:rPr>
              <a:t>.</a:t>
            </a:r>
          </a:p>
          <a:p>
            <a:pPr>
              <a:lnSpc>
                <a:spcPct val="150000"/>
              </a:lnSpc>
              <a:buClr>
                <a:schemeClr val="tx1"/>
              </a:buClr>
            </a:pPr>
            <a:r>
              <a:rPr lang="en-IN" sz="1800" b="1" dirty="0">
                <a:latin typeface="Calibri" panose="020F0502020204030204" pitchFamily="34" charset="0"/>
              </a:rPr>
              <a:t>Reason to use </a:t>
            </a:r>
            <a:r>
              <a:rPr lang="en-IN" sz="1800" dirty="0" smtClean="0">
                <a:latin typeface="Calibri" panose="020F0502020204030204" pitchFamily="34" charset="0"/>
              </a:rPr>
              <a:t>is</a:t>
            </a:r>
            <a:r>
              <a:rPr lang="en-IN" sz="1800" dirty="0">
                <a:latin typeface="Calibri" panose="020F0502020204030204" pitchFamily="34" charset="0"/>
              </a:rPr>
              <a:t> If --split-by is not giving you the optimal performance you can use this to improve the performance further.</a:t>
            </a:r>
          </a:p>
        </p:txBody>
      </p:sp>
      <p:sp>
        <p:nvSpPr>
          <p:cNvPr id="4" name="Footer Placeholder 3"/>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Tree>
    <p:extLst>
      <p:ext uri="{BB962C8B-B14F-4D97-AF65-F5344CB8AC3E}">
        <p14:creationId xmlns:p14="http://schemas.microsoft.com/office/powerpoint/2010/main" val="3067907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463137"/>
            <a:ext cx="9404723" cy="701341"/>
          </a:xfrm>
        </p:spPr>
        <p:txBody>
          <a:bodyPr/>
          <a:lstStyle/>
          <a:p>
            <a:pPr algn="ctr"/>
            <a:r>
              <a:rPr lang="en-IN" sz="4000" b="1" dirty="0" smtClean="0">
                <a:latin typeface="Calibri" panose="020F0502020204030204" pitchFamily="34" charset="0"/>
              </a:rPr>
              <a:t>Option Files</a:t>
            </a:r>
            <a:endParaRPr lang="en-IN" sz="4000" b="1" dirty="0">
              <a:latin typeface="Calibri" panose="020F0502020204030204" pitchFamily="34" charset="0"/>
            </a:endParaRPr>
          </a:p>
        </p:txBody>
      </p:sp>
      <p:sp>
        <p:nvSpPr>
          <p:cNvPr id="3" name="Content Placeholder 2"/>
          <p:cNvSpPr>
            <a:spLocks noGrp="1"/>
          </p:cNvSpPr>
          <p:nvPr>
            <p:ph idx="1"/>
          </p:nvPr>
        </p:nvSpPr>
        <p:spPr>
          <a:xfrm>
            <a:off x="498764" y="1282536"/>
            <a:ext cx="10070275" cy="4965864"/>
          </a:xfrm>
        </p:spPr>
        <p:txBody>
          <a:bodyPr>
            <a:normAutofit/>
          </a:bodyPr>
          <a:lstStyle/>
          <a:p>
            <a:pPr>
              <a:buClr>
                <a:schemeClr val="tx1"/>
              </a:buClr>
            </a:pPr>
            <a:r>
              <a:rPr lang="en-IN" sz="1800" dirty="0">
                <a:latin typeface="Calibri" panose="020F0502020204030204" pitchFamily="34" charset="0"/>
              </a:rPr>
              <a:t>When using Sqoop, the command line options that do not change from invocation to invocation can be put in an options file for convenience. </a:t>
            </a:r>
            <a:endParaRPr lang="en-IN" sz="1800" dirty="0" smtClean="0">
              <a:latin typeface="Calibri" panose="020F0502020204030204" pitchFamily="34" charset="0"/>
            </a:endParaRPr>
          </a:p>
          <a:p>
            <a:pPr>
              <a:buClr>
                <a:schemeClr val="tx1"/>
              </a:buClr>
            </a:pPr>
            <a:r>
              <a:rPr lang="en-IN" sz="1800" dirty="0" smtClean="0">
                <a:latin typeface="Calibri" panose="020F0502020204030204" pitchFamily="34" charset="0"/>
              </a:rPr>
              <a:t>An </a:t>
            </a:r>
            <a:r>
              <a:rPr lang="en-IN" sz="1800" dirty="0">
                <a:latin typeface="Calibri" panose="020F0502020204030204" pitchFamily="34" charset="0"/>
              </a:rPr>
              <a:t>options file is a text file where each line identifies an option in the order that it appears otherwise on the command line. Option files allow specifying a single option on multiple lines by using the back-slash character at the end of intermediate lines. Also supported are comments within option files that begin with the hash </a:t>
            </a:r>
            <a:r>
              <a:rPr lang="en-IN" sz="1800" dirty="0" smtClean="0">
                <a:latin typeface="Calibri" panose="020F0502020204030204" pitchFamily="34" charset="0"/>
              </a:rPr>
              <a:t>character.</a:t>
            </a:r>
          </a:p>
          <a:p>
            <a:pPr>
              <a:buClr>
                <a:schemeClr val="tx1"/>
              </a:buClr>
            </a:pPr>
            <a:r>
              <a:rPr lang="en-IN" sz="1800" dirty="0" smtClean="0">
                <a:latin typeface="Calibri" panose="020F0502020204030204" pitchFamily="34" charset="0"/>
              </a:rPr>
              <a:t>We can </a:t>
            </a:r>
            <a:r>
              <a:rPr lang="en-IN" sz="1800" dirty="0">
                <a:latin typeface="Calibri" panose="020F0502020204030204" pitchFamily="34" charset="0"/>
              </a:rPr>
              <a:t>specify more than one option files within the same invocation if needed</a:t>
            </a:r>
            <a:r>
              <a:rPr lang="en-IN" sz="1800" dirty="0" smtClean="0">
                <a:latin typeface="Calibri" panose="020F0502020204030204" pitchFamily="34" charset="0"/>
              </a:rPr>
              <a:t>.</a:t>
            </a:r>
          </a:p>
          <a:p>
            <a:pPr marL="0" indent="0">
              <a:buClr>
                <a:schemeClr val="tx1"/>
              </a:buClr>
              <a:buNone/>
            </a:pPr>
            <a:r>
              <a:rPr lang="en-IN" sz="1800" b="1" dirty="0" smtClean="0">
                <a:latin typeface="Calibri" panose="020F0502020204030204" pitchFamily="34" charset="0"/>
              </a:rPr>
              <a:t>     Ex: </a:t>
            </a:r>
            <a:r>
              <a:rPr lang="en-IN" sz="1800" b="1" dirty="0">
                <a:latin typeface="Calibri" panose="020F0502020204030204" pitchFamily="34" charset="0"/>
              </a:rPr>
              <a:t>T</a:t>
            </a:r>
            <a:r>
              <a:rPr lang="en-IN" sz="1800" b="1" dirty="0" smtClean="0">
                <a:latin typeface="Calibri" panose="020F0502020204030204" pitchFamily="34" charset="0"/>
              </a:rPr>
              <a:t>he </a:t>
            </a:r>
            <a:r>
              <a:rPr lang="en-IN" sz="1800" b="1" dirty="0">
                <a:latin typeface="Calibri" panose="020F0502020204030204" pitchFamily="34" charset="0"/>
              </a:rPr>
              <a:t>following Sqoop invocation for import can be specified </a:t>
            </a:r>
            <a:r>
              <a:rPr lang="en-IN" sz="1800" b="1" dirty="0" smtClean="0">
                <a:latin typeface="Calibri" panose="020F0502020204030204" pitchFamily="34" charset="0"/>
              </a:rPr>
              <a:t>  </a:t>
            </a:r>
          </a:p>
          <a:p>
            <a:pPr marL="0" indent="0">
              <a:buClr>
                <a:schemeClr val="tx1"/>
              </a:buClr>
              <a:buNone/>
            </a:pPr>
            <a:r>
              <a:rPr lang="en-IN" sz="1800" dirty="0">
                <a:latin typeface="Calibri" panose="020F0502020204030204" pitchFamily="34" charset="0"/>
              </a:rPr>
              <a:t> </a:t>
            </a:r>
            <a:r>
              <a:rPr lang="en-IN" sz="1800" dirty="0" smtClean="0">
                <a:latin typeface="Calibri" panose="020F0502020204030204" pitchFamily="34" charset="0"/>
              </a:rPr>
              <a:t>         </a:t>
            </a:r>
            <a:r>
              <a:rPr lang="en-IN" sz="1800" b="1" dirty="0" smtClean="0">
                <a:latin typeface="Calibri" panose="020F0502020204030204" pitchFamily="34" charset="0"/>
              </a:rPr>
              <a:t>alternatively </a:t>
            </a:r>
            <a:r>
              <a:rPr lang="en-IN" sz="1800" b="1" dirty="0">
                <a:latin typeface="Calibri" panose="020F0502020204030204" pitchFamily="34" charset="0"/>
              </a:rPr>
              <a:t>as shown below</a:t>
            </a:r>
            <a:r>
              <a:rPr lang="en-IN" sz="1800" b="1" dirty="0" smtClean="0">
                <a:latin typeface="Calibri" panose="020F0502020204030204" pitchFamily="34" charset="0"/>
              </a:rPr>
              <a:t>:</a:t>
            </a:r>
          </a:p>
          <a:p>
            <a:pPr marL="0" indent="0">
              <a:buClr>
                <a:schemeClr val="tx1"/>
              </a:buClr>
              <a:buNone/>
            </a:pPr>
            <a:r>
              <a:rPr lang="en-IN" sz="1800" b="1" dirty="0">
                <a:latin typeface="Calibri" panose="020F0502020204030204" pitchFamily="34" charset="0"/>
              </a:rPr>
              <a:t>$ </a:t>
            </a:r>
            <a:r>
              <a:rPr lang="en-IN" sz="1800" b="1" dirty="0" err="1">
                <a:latin typeface="Calibri" panose="020F0502020204030204" pitchFamily="34" charset="0"/>
              </a:rPr>
              <a:t>sqoop</a:t>
            </a:r>
            <a:r>
              <a:rPr lang="en-IN" sz="1800" b="1" dirty="0">
                <a:latin typeface="Calibri" panose="020F0502020204030204" pitchFamily="34" charset="0"/>
              </a:rPr>
              <a:t> import --connect </a:t>
            </a:r>
            <a:r>
              <a:rPr lang="en-IN" sz="1800" b="1" dirty="0" err="1">
                <a:latin typeface="Calibri" panose="020F0502020204030204" pitchFamily="34" charset="0"/>
              </a:rPr>
              <a:t>jdbc:mysql</a:t>
            </a:r>
            <a:r>
              <a:rPr lang="en-IN" sz="1800" b="1" dirty="0">
                <a:latin typeface="Calibri" panose="020F0502020204030204" pitchFamily="34" charset="0"/>
              </a:rPr>
              <a:t>://localhost/</a:t>
            </a:r>
            <a:r>
              <a:rPr lang="en-IN" sz="1800" b="1" dirty="0" err="1">
                <a:latin typeface="Calibri" panose="020F0502020204030204" pitchFamily="34" charset="0"/>
              </a:rPr>
              <a:t>db</a:t>
            </a:r>
            <a:r>
              <a:rPr lang="en-IN" sz="1800" b="1" dirty="0">
                <a:latin typeface="Calibri" panose="020F0502020204030204" pitchFamily="34" charset="0"/>
              </a:rPr>
              <a:t> --username foo --table TEST</a:t>
            </a:r>
          </a:p>
          <a:p>
            <a:pPr marL="0" indent="0">
              <a:buClr>
                <a:schemeClr val="tx1"/>
              </a:buClr>
              <a:buNone/>
            </a:pPr>
            <a:endParaRPr lang="en-IN" sz="1800" b="1" dirty="0">
              <a:latin typeface="Calibri" panose="020F0502020204030204" pitchFamily="34" charset="0"/>
            </a:endParaRPr>
          </a:p>
          <a:p>
            <a:pPr marL="0" indent="0">
              <a:buClr>
                <a:schemeClr val="tx1"/>
              </a:buClr>
              <a:buNone/>
            </a:pPr>
            <a:r>
              <a:rPr lang="en-IN" sz="1800" b="1" dirty="0">
                <a:latin typeface="Calibri" panose="020F0502020204030204" pitchFamily="34" charset="0"/>
              </a:rPr>
              <a:t>$ </a:t>
            </a:r>
            <a:r>
              <a:rPr lang="en-IN" sz="1800" b="1" dirty="0" err="1">
                <a:latin typeface="Calibri" panose="020F0502020204030204" pitchFamily="34" charset="0"/>
              </a:rPr>
              <a:t>sqoop</a:t>
            </a:r>
            <a:r>
              <a:rPr lang="en-IN" sz="1800" b="1" dirty="0">
                <a:latin typeface="Calibri" panose="020F0502020204030204" pitchFamily="34" charset="0"/>
              </a:rPr>
              <a:t> --options-file /users/homer/work/import.txt --table TEST</a:t>
            </a:r>
          </a:p>
        </p:txBody>
      </p:sp>
      <p:sp>
        <p:nvSpPr>
          <p:cNvPr id="4" name="Footer Placeholder 3"/>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Tree>
    <p:extLst>
      <p:ext uri="{BB962C8B-B14F-4D97-AF65-F5344CB8AC3E}">
        <p14:creationId xmlns:p14="http://schemas.microsoft.com/office/powerpoint/2010/main" val="1695450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7363" y="142502"/>
            <a:ext cx="9404723" cy="748843"/>
          </a:xfrm>
        </p:spPr>
        <p:txBody>
          <a:bodyPr/>
          <a:lstStyle/>
          <a:p>
            <a:pPr algn="ctr"/>
            <a:r>
              <a:rPr lang="en-IN" sz="4000" dirty="0" smtClean="0">
                <a:latin typeface="Calibri" panose="020F0502020204030204" pitchFamily="34" charset="0"/>
              </a:rPr>
              <a:t>Using Compression</a:t>
            </a:r>
            <a:endParaRPr lang="en-IN" sz="4000" dirty="0">
              <a:latin typeface="Calibri" panose="020F0502020204030204" pitchFamily="34" charset="0"/>
            </a:endParaRPr>
          </a:p>
        </p:txBody>
      </p:sp>
      <p:sp>
        <p:nvSpPr>
          <p:cNvPr id="3" name="Content Placeholder 2"/>
          <p:cNvSpPr>
            <a:spLocks noGrp="1"/>
          </p:cNvSpPr>
          <p:nvPr>
            <p:ph idx="1"/>
          </p:nvPr>
        </p:nvSpPr>
        <p:spPr>
          <a:xfrm>
            <a:off x="142505" y="835736"/>
            <a:ext cx="10212778" cy="5083921"/>
          </a:xfrm>
        </p:spPr>
        <p:txBody>
          <a:bodyPr>
            <a:noAutofit/>
          </a:bodyPr>
          <a:lstStyle/>
          <a:p>
            <a:pPr>
              <a:lnSpc>
                <a:spcPct val="110000"/>
              </a:lnSpc>
              <a:buClr>
                <a:schemeClr val="tx1"/>
              </a:buClr>
            </a:pPr>
            <a:r>
              <a:rPr lang="en-IN" sz="1800" dirty="0">
                <a:latin typeface="Calibri" panose="020F0502020204030204" pitchFamily="34" charset="0"/>
              </a:rPr>
              <a:t>Sometimes we would need to keep imported data on HDFS in compressed state in order to reduce the overall disk utilization. As </a:t>
            </a:r>
            <a:r>
              <a:rPr lang="en-IN" sz="1800" dirty="0" err="1">
                <a:latin typeface="Calibri" panose="020F0502020204030204" pitchFamily="34" charset="0"/>
              </a:rPr>
              <a:t>sqoop</a:t>
            </a:r>
            <a:r>
              <a:rPr lang="en-IN" sz="1800" dirty="0">
                <a:latin typeface="Calibri" panose="020F0502020204030204" pitchFamily="34" charset="0"/>
              </a:rPr>
              <a:t> is based on Map Reduce execution, it inherits Hadoop's all compression features. </a:t>
            </a:r>
            <a:endParaRPr lang="en-IN" sz="1800" dirty="0" smtClean="0">
              <a:latin typeface="Calibri" panose="020F0502020204030204" pitchFamily="34" charset="0"/>
            </a:endParaRPr>
          </a:p>
          <a:p>
            <a:pPr>
              <a:lnSpc>
                <a:spcPct val="110000"/>
              </a:lnSpc>
              <a:buClr>
                <a:schemeClr val="tx1"/>
              </a:buClr>
            </a:pPr>
            <a:r>
              <a:rPr lang="en-IN" sz="1800" dirty="0" smtClean="0">
                <a:latin typeface="Calibri" panose="020F0502020204030204" pitchFamily="34" charset="0"/>
              </a:rPr>
              <a:t>It </a:t>
            </a:r>
            <a:r>
              <a:rPr lang="en-IN" sz="1800" dirty="0">
                <a:latin typeface="Calibri" panose="020F0502020204030204" pitchFamily="34" charset="0"/>
              </a:rPr>
              <a:t>allows </a:t>
            </a:r>
            <a:r>
              <a:rPr lang="en-IN" sz="1800" dirty="0" smtClean="0">
                <a:latin typeface="Calibri" panose="020F0502020204030204" pitchFamily="34" charset="0"/>
              </a:rPr>
              <a:t>us </a:t>
            </a:r>
            <a:r>
              <a:rPr lang="en-IN" sz="1800" dirty="0">
                <a:latin typeface="Calibri" panose="020F0502020204030204" pitchFamily="34" charset="0"/>
              </a:rPr>
              <a:t>to save imported data into various compressed formats e.g. GZIP or BZ2 etc. We can execute </a:t>
            </a:r>
            <a:r>
              <a:rPr lang="en-IN" sz="1800" dirty="0" smtClean="0">
                <a:latin typeface="Calibri" panose="020F0502020204030204" pitchFamily="34" charset="0"/>
              </a:rPr>
              <a:t>following </a:t>
            </a:r>
            <a:r>
              <a:rPr lang="en-IN" sz="1800" dirty="0">
                <a:latin typeface="Calibri" panose="020F0502020204030204" pitchFamily="34" charset="0"/>
              </a:rPr>
              <a:t>query to use by default </a:t>
            </a:r>
            <a:r>
              <a:rPr lang="en-IN" sz="1800" dirty="0" err="1">
                <a:latin typeface="Calibri" panose="020F0502020204030204" pitchFamily="34" charset="0"/>
              </a:rPr>
              <a:t>gzip</a:t>
            </a:r>
            <a:r>
              <a:rPr lang="en-IN" sz="1800" dirty="0">
                <a:latin typeface="Calibri" panose="020F0502020204030204" pitchFamily="34" charset="0"/>
              </a:rPr>
              <a:t> </a:t>
            </a:r>
            <a:r>
              <a:rPr lang="en-IN" sz="1800" dirty="0" smtClean="0">
                <a:latin typeface="Calibri" panose="020F0502020204030204" pitchFamily="34" charset="0"/>
              </a:rPr>
              <a:t>compression.</a:t>
            </a:r>
          </a:p>
          <a:p>
            <a:pPr marL="0" indent="0">
              <a:lnSpc>
                <a:spcPct val="110000"/>
              </a:lnSpc>
              <a:buClr>
                <a:schemeClr val="tx1"/>
              </a:buClr>
              <a:buNone/>
            </a:pPr>
            <a:r>
              <a:rPr lang="en-IN" sz="1800" b="1" dirty="0">
                <a:latin typeface="Calibri" panose="020F0502020204030204" pitchFamily="34" charset="0"/>
              </a:rPr>
              <a:t>    Ex</a:t>
            </a:r>
            <a:r>
              <a:rPr lang="en-IN" sz="1800" b="1" dirty="0" smtClean="0">
                <a:latin typeface="Calibri" panose="020F0502020204030204" pitchFamily="34" charset="0"/>
              </a:rPr>
              <a:t>: </a:t>
            </a:r>
            <a:r>
              <a:rPr lang="en-IN" sz="1800" b="1" dirty="0" err="1" smtClean="0">
                <a:latin typeface="Calibri" panose="020F0502020204030204" pitchFamily="34" charset="0"/>
              </a:rPr>
              <a:t>sqoop</a:t>
            </a:r>
            <a:r>
              <a:rPr lang="en-IN" sz="1800" b="1" dirty="0" smtClean="0">
                <a:latin typeface="Calibri" panose="020F0502020204030204" pitchFamily="34" charset="0"/>
              </a:rPr>
              <a:t> </a:t>
            </a:r>
            <a:r>
              <a:rPr lang="en-IN" sz="1800" b="1" dirty="0">
                <a:latin typeface="Calibri" panose="020F0502020204030204" pitchFamily="34" charset="0"/>
              </a:rPr>
              <a:t>import \</a:t>
            </a:r>
          </a:p>
          <a:p>
            <a:pPr marL="0" indent="0">
              <a:lnSpc>
                <a:spcPct val="110000"/>
              </a:lnSpc>
              <a:buClr>
                <a:schemeClr val="tx1"/>
              </a:buClr>
              <a:buNone/>
            </a:pPr>
            <a:r>
              <a:rPr lang="en-IN" sz="1800" b="1" dirty="0" smtClean="0">
                <a:latin typeface="Calibri" panose="020F0502020204030204" pitchFamily="34" charset="0"/>
              </a:rPr>
              <a:t>              --</a:t>
            </a:r>
            <a:r>
              <a:rPr lang="en-IN" sz="1800" b="1" dirty="0">
                <a:latin typeface="Calibri" panose="020F0502020204030204" pitchFamily="34" charset="0"/>
              </a:rPr>
              <a:t>connect </a:t>
            </a:r>
            <a:r>
              <a:rPr lang="en-IN" sz="1800" b="1" dirty="0" err="1">
                <a:latin typeface="Calibri" panose="020F0502020204030204" pitchFamily="34" charset="0"/>
              </a:rPr>
              <a:t>jdbc:mysql</a:t>
            </a:r>
            <a:r>
              <a:rPr lang="en-IN" sz="1800" b="1" dirty="0">
                <a:latin typeface="Calibri" panose="020F0502020204030204" pitchFamily="34" charset="0"/>
              </a:rPr>
              <a:t>://hostname/</a:t>
            </a:r>
            <a:r>
              <a:rPr lang="en-IN" sz="1800" b="1" dirty="0" err="1">
                <a:latin typeface="Calibri" panose="020F0502020204030204" pitchFamily="34" charset="0"/>
              </a:rPr>
              <a:t>database_name</a:t>
            </a:r>
            <a:r>
              <a:rPr lang="en-IN" sz="1800" b="1" dirty="0">
                <a:latin typeface="Calibri" panose="020F0502020204030204" pitchFamily="34" charset="0"/>
              </a:rPr>
              <a:t> \</a:t>
            </a:r>
          </a:p>
          <a:p>
            <a:pPr marL="0" indent="0">
              <a:lnSpc>
                <a:spcPct val="110000"/>
              </a:lnSpc>
              <a:buClr>
                <a:schemeClr val="tx1"/>
              </a:buClr>
              <a:buNone/>
            </a:pPr>
            <a:r>
              <a:rPr lang="en-IN" sz="1800" b="1" dirty="0" smtClean="0">
                <a:latin typeface="Calibri" panose="020F0502020204030204" pitchFamily="34" charset="0"/>
              </a:rPr>
              <a:t>              --</a:t>
            </a:r>
            <a:r>
              <a:rPr lang="en-IN" sz="1800" b="1" dirty="0">
                <a:latin typeface="Calibri" panose="020F0502020204030204" pitchFamily="34" charset="0"/>
              </a:rPr>
              <a:t>username user1 \</a:t>
            </a:r>
          </a:p>
          <a:p>
            <a:pPr marL="0" indent="0">
              <a:lnSpc>
                <a:spcPct val="110000"/>
              </a:lnSpc>
              <a:buClr>
                <a:schemeClr val="tx1"/>
              </a:buClr>
              <a:buNone/>
            </a:pPr>
            <a:r>
              <a:rPr lang="en-IN" sz="1800" b="1" dirty="0" smtClean="0">
                <a:latin typeface="Calibri" panose="020F0502020204030204" pitchFamily="34" charset="0"/>
              </a:rPr>
              <a:t>              --</a:t>
            </a:r>
            <a:r>
              <a:rPr lang="en-IN" sz="1800" b="1" dirty="0">
                <a:latin typeface="Calibri" panose="020F0502020204030204" pitchFamily="34" charset="0"/>
              </a:rPr>
              <a:t>password </a:t>
            </a:r>
            <a:r>
              <a:rPr lang="en-IN" sz="1800" b="1" dirty="0" err="1">
                <a:latin typeface="Calibri" panose="020F0502020204030204" pitchFamily="34" charset="0"/>
              </a:rPr>
              <a:t>pwd</a:t>
            </a:r>
            <a:r>
              <a:rPr lang="en-IN" sz="1800" b="1" dirty="0">
                <a:latin typeface="Calibri" panose="020F0502020204030204" pitchFamily="34" charset="0"/>
              </a:rPr>
              <a:t> \</a:t>
            </a:r>
          </a:p>
          <a:p>
            <a:pPr marL="0" indent="0">
              <a:lnSpc>
                <a:spcPct val="110000"/>
              </a:lnSpc>
              <a:buClr>
                <a:schemeClr val="tx1"/>
              </a:buClr>
              <a:buNone/>
            </a:pPr>
            <a:r>
              <a:rPr lang="en-IN" sz="1800" b="1" dirty="0" smtClean="0">
                <a:latin typeface="Calibri" panose="020F0502020204030204" pitchFamily="34" charset="0"/>
              </a:rPr>
              <a:t>              --</a:t>
            </a:r>
            <a:r>
              <a:rPr lang="en-IN" sz="1800" b="1" dirty="0">
                <a:latin typeface="Calibri" panose="020F0502020204030204" pitchFamily="34" charset="0"/>
              </a:rPr>
              <a:t>table student \</a:t>
            </a:r>
          </a:p>
          <a:p>
            <a:pPr marL="0" indent="0">
              <a:lnSpc>
                <a:spcPct val="110000"/>
              </a:lnSpc>
              <a:buClr>
                <a:schemeClr val="tx1"/>
              </a:buClr>
              <a:buNone/>
            </a:pPr>
            <a:r>
              <a:rPr lang="en-IN" sz="1800" b="1" dirty="0" smtClean="0">
                <a:latin typeface="Calibri" panose="020F0502020204030204" pitchFamily="34" charset="0"/>
              </a:rPr>
              <a:t>              --</a:t>
            </a:r>
            <a:r>
              <a:rPr lang="en-IN" sz="1800" b="1" dirty="0">
                <a:latin typeface="Calibri" panose="020F0502020204030204" pitchFamily="34" charset="0"/>
              </a:rPr>
              <a:t>compress\</a:t>
            </a:r>
          </a:p>
          <a:p>
            <a:pPr marL="0" indent="0">
              <a:lnSpc>
                <a:spcPct val="110000"/>
              </a:lnSpc>
              <a:buClr>
                <a:schemeClr val="tx1"/>
              </a:buClr>
              <a:buNone/>
            </a:pPr>
            <a:r>
              <a:rPr lang="en-IN" sz="1800" b="1" dirty="0" smtClean="0">
                <a:latin typeface="Calibri" panose="020F0502020204030204" pitchFamily="34" charset="0"/>
              </a:rPr>
              <a:t>              --</a:t>
            </a:r>
            <a:r>
              <a:rPr lang="en-IN" sz="1800" b="1" dirty="0">
                <a:latin typeface="Calibri" panose="020F0502020204030204" pitchFamily="34" charset="0"/>
              </a:rPr>
              <a:t>compression-codec org.apache.hadoop.io.compress.BZip2Codec</a:t>
            </a:r>
          </a:p>
          <a:p>
            <a:pPr marL="0" indent="0">
              <a:lnSpc>
                <a:spcPct val="110000"/>
              </a:lnSpc>
              <a:buClr>
                <a:schemeClr val="tx1"/>
              </a:buClr>
              <a:buNone/>
            </a:pPr>
            <a:endParaRPr lang="en-IN" sz="1800" b="1" dirty="0">
              <a:latin typeface="Calibri" panose="020F0502020204030204" pitchFamily="34" charset="0"/>
            </a:endParaRPr>
          </a:p>
          <a:p>
            <a:pPr marL="0" indent="0">
              <a:lnSpc>
                <a:spcPct val="110000"/>
              </a:lnSpc>
              <a:buClr>
                <a:schemeClr val="tx1"/>
              </a:buClr>
              <a:buNone/>
            </a:pPr>
            <a:r>
              <a:rPr lang="en-IN" sz="1800" dirty="0">
                <a:latin typeface="Calibri" panose="020F0502020204030204" pitchFamily="34" charset="0"/>
              </a:rPr>
              <a:t>This will store all files with .bz2.</a:t>
            </a:r>
          </a:p>
        </p:txBody>
      </p:sp>
      <p:sp>
        <p:nvSpPr>
          <p:cNvPr id="4" name="Footer Placeholder 3"/>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Tree>
    <p:extLst>
      <p:ext uri="{BB962C8B-B14F-4D97-AF65-F5344CB8AC3E}">
        <p14:creationId xmlns:p14="http://schemas.microsoft.com/office/powerpoint/2010/main" val="59288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106877"/>
            <a:ext cx="9404723" cy="748843"/>
          </a:xfrm>
        </p:spPr>
        <p:txBody>
          <a:bodyPr/>
          <a:lstStyle/>
          <a:p>
            <a:pPr algn="ctr"/>
            <a:r>
              <a:rPr lang="en-IN" sz="4000" dirty="0" smtClean="0">
                <a:latin typeface="Calibri" panose="020F0502020204030204" pitchFamily="34" charset="0"/>
              </a:rPr>
              <a:t>Batch Exports</a:t>
            </a:r>
            <a:endParaRPr lang="en-IN" sz="4000" dirty="0">
              <a:latin typeface="Calibri" panose="020F0502020204030204" pitchFamily="34" charset="0"/>
            </a:endParaRPr>
          </a:p>
        </p:txBody>
      </p:sp>
      <p:sp>
        <p:nvSpPr>
          <p:cNvPr id="3" name="Content Placeholder 2"/>
          <p:cNvSpPr>
            <a:spLocks noGrp="1"/>
          </p:cNvSpPr>
          <p:nvPr>
            <p:ph idx="1"/>
          </p:nvPr>
        </p:nvSpPr>
        <p:spPr>
          <a:xfrm>
            <a:off x="645130" y="817923"/>
            <a:ext cx="9404723" cy="5119547"/>
          </a:xfrm>
        </p:spPr>
        <p:txBody>
          <a:bodyPr>
            <a:noAutofit/>
          </a:bodyPr>
          <a:lstStyle/>
          <a:p>
            <a:pPr>
              <a:buClr>
                <a:schemeClr val="tx1"/>
              </a:buClr>
            </a:pPr>
            <a:r>
              <a:rPr lang="en-IN" sz="1800" dirty="0" smtClean="0">
                <a:latin typeface="Calibri" panose="020F0502020204030204" pitchFamily="34" charset="0"/>
              </a:rPr>
              <a:t>The –batch parameter uses the JDBC batch API.</a:t>
            </a:r>
          </a:p>
          <a:p>
            <a:pPr>
              <a:buClr>
                <a:schemeClr val="tx1"/>
              </a:buClr>
            </a:pPr>
            <a:r>
              <a:rPr lang="en-IN" sz="1800" dirty="0" smtClean="0">
                <a:latin typeface="Calibri" panose="020F0502020204030204" pitchFamily="34" charset="0"/>
              </a:rPr>
              <a:t>Enabling </a:t>
            </a:r>
            <a:r>
              <a:rPr lang="en-IN" sz="1800" dirty="0">
                <a:latin typeface="Calibri" panose="020F0502020204030204" pitchFamily="34" charset="0"/>
              </a:rPr>
              <a:t>batch mode on the JDBC </a:t>
            </a:r>
            <a:r>
              <a:rPr lang="en-IN" sz="1800" dirty="0" smtClean="0">
                <a:latin typeface="Calibri" panose="020F0502020204030204" pitchFamily="34" charset="0"/>
              </a:rPr>
              <a:t>driver queues </a:t>
            </a:r>
            <a:r>
              <a:rPr lang="en-IN" sz="1800" dirty="0">
                <a:latin typeface="Calibri" panose="020F0502020204030204" pitchFamily="34" charset="0"/>
              </a:rPr>
              <a:t>the queries and deliver batched </a:t>
            </a:r>
            <a:r>
              <a:rPr lang="en-IN" sz="1800" dirty="0" smtClean="0">
                <a:latin typeface="Calibri" panose="020F0502020204030204" pitchFamily="34" charset="0"/>
              </a:rPr>
              <a:t>results.</a:t>
            </a:r>
          </a:p>
          <a:p>
            <a:pPr>
              <a:buClr>
                <a:schemeClr val="tx1"/>
              </a:buClr>
            </a:pPr>
            <a:r>
              <a:rPr lang="en-IN" sz="1800" dirty="0" smtClean="0">
                <a:latin typeface="Calibri" panose="020F0502020204030204" pitchFamily="34" charset="0"/>
              </a:rPr>
              <a:t>And also we can set properties :</a:t>
            </a:r>
          </a:p>
          <a:p>
            <a:pPr marL="0" indent="0">
              <a:buClr>
                <a:schemeClr val="tx1"/>
              </a:buClr>
              <a:buNone/>
            </a:pPr>
            <a:r>
              <a:rPr lang="en-IN" sz="1800" b="1" dirty="0" smtClean="0">
                <a:latin typeface="Calibri" panose="020F0502020204030204" pitchFamily="34" charset="0"/>
              </a:rPr>
              <a:t>     </a:t>
            </a:r>
            <a:r>
              <a:rPr lang="en-IN" sz="1800" b="1" dirty="0" err="1" smtClean="0">
                <a:latin typeface="Calibri" panose="020F0502020204030204" pitchFamily="34" charset="0"/>
              </a:rPr>
              <a:t>sqoop.export.records.per.statement</a:t>
            </a:r>
            <a:r>
              <a:rPr lang="en-IN" sz="1800" b="1" dirty="0" smtClean="0">
                <a:latin typeface="Calibri" panose="020F0502020204030204" pitchFamily="34" charset="0"/>
              </a:rPr>
              <a:t> </a:t>
            </a:r>
            <a:r>
              <a:rPr lang="en-IN" sz="1800" dirty="0" smtClean="0">
                <a:latin typeface="Calibri" panose="020F0502020204030204" pitchFamily="34" charset="0"/>
              </a:rPr>
              <a:t>(Number </a:t>
            </a:r>
            <a:r>
              <a:rPr lang="en-IN" sz="1800" dirty="0">
                <a:latin typeface="Calibri" panose="020F0502020204030204" pitchFamily="34" charset="0"/>
              </a:rPr>
              <a:t>of rows that will </a:t>
            </a:r>
            <a:r>
              <a:rPr lang="en-IN" sz="1800" dirty="0" smtClean="0">
                <a:latin typeface="Calibri" panose="020F0502020204030204" pitchFamily="34" charset="0"/>
              </a:rPr>
              <a:t>be  </a:t>
            </a:r>
          </a:p>
          <a:p>
            <a:pPr marL="0" indent="0">
              <a:buClr>
                <a:schemeClr val="tx1"/>
              </a:buClr>
              <a:buNone/>
            </a:pPr>
            <a:r>
              <a:rPr lang="en-IN" sz="1800" dirty="0">
                <a:latin typeface="Calibri" panose="020F0502020204030204" pitchFamily="34" charset="0"/>
              </a:rPr>
              <a:t> </a:t>
            </a:r>
            <a:r>
              <a:rPr lang="en-IN" sz="1800" dirty="0" smtClean="0">
                <a:latin typeface="Calibri" panose="020F0502020204030204" pitchFamily="34" charset="0"/>
              </a:rPr>
              <a:t>    created </a:t>
            </a:r>
            <a:r>
              <a:rPr lang="en-IN" sz="1800" dirty="0">
                <a:latin typeface="Calibri" panose="020F0502020204030204" pitchFamily="34" charset="0"/>
              </a:rPr>
              <a:t>for single insert statement</a:t>
            </a:r>
            <a:r>
              <a:rPr lang="en-IN" sz="1800" dirty="0" smtClean="0">
                <a:latin typeface="Calibri" panose="020F0502020204030204" pitchFamily="34" charset="0"/>
              </a:rPr>
              <a:t>).</a:t>
            </a:r>
          </a:p>
          <a:p>
            <a:pPr marL="0" indent="0">
              <a:buClr>
                <a:schemeClr val="tx1"/>
              </a:buClr>
              <a:buNone/>
            </a:pPr>
            <a:r>
              <a:rPr lang="en-IN" sz="1800" dirty="0" smtClean="0">
                <a:latin typeface="Calibri" panose="020F0502020204030204" pitchFamily="34" charset="0"/>
              </a:rPr>
              <a:t>     </a:t>
            </a:r>
            <a:r>
              <a:rPr lang="en-IN" sz="1800" b="1" dirty="0" err="1" smtClean="0">
                <a:latin typeface="Calibri" panose="020F0502020204030204" pitchFamily="34" charset="0"/>
              </a:rPr>
              <a:t>export.statements.per.transaction</a:t>
            </a:r>
            <a:r>
              <a:rPr lang="en-IN" sz="1800" dirty="0" smtClean="0">
                <a:latin typeface="Calibri" panose="020F0502020204030204" pitchFamily="34" charset="0"/>
              </a:rPr>
              <a:t> (Number </a:t>
            </a:r>
            <a:r>
              <a:rPr lang="en-IN" sz="1800" dirty="0">
                <a:latin typeface="Calibri" panose="020F0502020204030204" pitchFamily="34" charset="0"/>
              </a:rPr>
              <a:t>of insert statements per </a:t>
            </a:r>
            <a:r>
              <a:rPr lang="en-IN" sz="1800" dirty="0" smtClean="0">
                <a:latin typeface="Calibri" panose="020F0502020204030204" pitchFamily="34" charset="0"/>
              </a:rPr>
              <a:t>    </a:t>
            </a:r>
          </a:p>
          <a:p>
            <a:pPr marL="0" indent="0">
              <a:buClr>
                <a:schemeClr val="tx1"/>
              </a:buClr>
              <a:buNone/>
            </a:pPr>
            <a:r>
              <a:rPr lang="en-IN" sz="1800" dirty="0">
                <a:latin typeface="Calibri" panose="020F0502020204030204" pitchFamily="34" charset="0"/>
              </a:rPr>
              <a:t> </a:t>
            </a:r>
            <a:r>
              <a:rPr lang="en-IN" sz="1800" dirty="0" smtClean="0">
                <a:latin typeface="Calibri" panose="020F0502020204030204" pitchFamily="34" charset="0"/>
              </a:rPr>
              <a:t>    single transaction).</a:t>
            </a:r>
          </a:p>
          <a:p>
            <a:pPr marL="0" indent="0">
              <a:buClr>
                <a:schemeClr val="tx1"/>
              </a:buClr>
              <a:buNone/>
            </a:pPr>
            <a:r>
              <a:rPr lang="en-IN" sz="1800" b="1" dirty="0" smtClean="0">
                <a:latin typeface="Calibri" panose="020F0502020204030204" pitchFamily="34" charset="0"/>
              </a:rPr>
              <a:t>Ex : </a:t>
            </a:r>
            <a:r>
              <a:rPr lang="en-IN" sz="1800" b="1" dirty="0" err="1" smtClean="0">
                <a:latin typeface="Calibri" panose="020F0502020204030204" pitchFamily="34" charset="0"/>
              </a:rPr>
              <a:t>sqoop</a:t>
            </a:r>
            <a:r>
              <a:rPr lang="en-IN" sz="1800" b="1" dirty="0" smtClean="0">
                <a:latin typeface="Calibri" panose="020F0502020204030204" pitchFamily="34" charset="0"/>
              </a:rPr>
              <a:t> </a:t>
            </a:r>
            <a:r>
              <a:rPr lang="en-IN" sz="1800" b="1" dirty="0">
                <a:latin typeface="Calibri" panose="020F0502020204030204" pitchFamily="34" charset="0"/>
              </a:rPr>
              <a:t>export -D </a:t>
            </a:r>
            <a:r>
              <a:rPr lang="en-IN" sz="1800" b="1" dirty="0" err="1">
                <a:latin typeface="Calibri" panose="020F0502020204030204" pitchFamily="34" charset="0"/>
              </a:rPr>
              <a:t>sqoop.export.records.per.statement</a:t>
            </a:r>
            <a:r>
              <a:rPr lang="en-IN" sz="1800" b="1" dirty="0">
                <a:latin typeface="Calibri" panose="020F0502020204030204" pitchFamily="34" charset="0"/>
              </a:rPr>
              <a:t>=100 --table </a:t>
            </a:r>
            <a:r>
              <a:rPr lang="en-IN" sz="1800" b="1" dirty="0" smtClean="0">
                <a:latin typeface="Calibri" panose="020F0502020204030204" pitchFamily="34" charset="0"/>
              </a:rPr>
              <a:t>       </a:t>
            </a:r>
          </a:p>
          <a:p>
            <a:pPr marL="0" indent="0">
              <a:buClr>
                <a:schemeClr val="tx1"/>
              </a:buClr>
              <a:buNone/>
            </a:pPr>
            <a:r>
              <a:rPr lang="en-IN" sz="1800" b="1" dirty="0">
                <a:latin typeface="Calibri" panose="020F0502020204030204" pitchFamily="34" charset="0"/>
              </a:rPr>
              <a:t> </a:t>
            </a:r>
            <a:r>
              <a:rPr lang="en-IN" sz="1800" b="1" dirty="0" smtClean="0">
                <a:latin typeface="Calibri" panose="020F0502020204030204" pitchFamily="34" charset="0"/>
              </a:rPr>
              <a:t>      &lt;</a:t>
            </a:r>
            <a:r>
              <a:rPr lang="en-IN" sz="1800" b="1" dirty="0" err="1">
                <a:latin typeface="Calibri" panose="020F0502020204030204" pitchFamily="34" charset="0"/>
              </a:rPr>
              <a:t>tablename</a:t>
            </a:r>
            <a:r>
              <a:rPr lang="en-IN" sz="1800" b="1" dirty="0">
                <a:latin typeface="Calibri" panose="020F0502020204030204" pitchFamily="34" charset="0"/>
              </a:rPr>
              <a:t>&gt; --export-</a:t>
            </a:r>
            <a:r>
              <a:rPr lang="en-IN" sz="1800" b="1" dirty="0" err="1">
                <a:latin typeface="Calibri" panose="020F0502020204030204" pitchFamily="34" charset="0"/>
              </a:rPr>
              <a:t>dir</a:t>
            </a:r>
            <a:r>
              <a:rPr lang="en-IN" sz="1800" b="1" dirty="0">
                <a:latin typeface="Calibri" panose="020F0502020204030204" pitchFamily="34" charset="0"/>
              </a:rPr>
              <a:t> &lt;path&gt; </a:t>
            </a:r>
          </a:p>
          <a:p>
            <a:pPr marL="0" indent="0">
              <a:buClr>
                <a:schemeClr val="tx1"/>
              </a:buClr>
              <a:buNone/>
            </a:pPr>
            <a:r>
              <a:rPr lang="en-IN" sz="1800" b="1" dirty="0" smtClean="0">
                <a:latin typeface="Calibri" panose="020F0502020204030204" pitchFamily="34" charset="0"/>
              </a:rPr>
              <a:t>       --</a:t>
            </a:r>
            <a:r>
              <a:rPr lang="en-IN" sz="1800" b="1" dirty="0">
                <a:latin typeface="Calibri" panose="020F0502020204030204" pitchFamily="34" charset="0"/>
              </a:rPr>
              <a:t>input-fields-terminated-by '\t' --input-lines-terminated-by '\n' --connect</a:t>
            </a:r>
          </a:p>
          <a:p>
            <a:pPr marL="0" indent="0">
              <a:buClr>
                <a:schemeClr val="tx1"/>
              </a:buClr>
              <a:buNone/>
            </a:pPr>
            <a:r>
              <a:rPr lang="en-IN" sz="1800" b="1" dirty="0" smtClean="0">
                <a:latin typeface="Calibri" panose="020F0502020204030204" pitchFamily="34" charset="0"/>
              </a:rPr>
              <a:t>       '</a:t>
            </a:r>
            <a:r>
              <a:rPr lang="en-IN" sz="1800" b="1" dirty="0" err="1" smtClean="0">
                <a:latin typeface="Calibri" panose="020F0502020204030204" pitchFamily="34" charset="0"/>
              </a:rPr>
              <a:t>jdbc:netezza</a:t>
            </a:r>
            <a:r>
              <a:rPr lang="en-IN" sz="1800" b="1" dirty="0">
                <a:latin typeface="Calibri" panose="020F0502020204030204" pitchFamily="34" charset="0"/>
              </a:rPr>
              <a:t>://&lt;host&gt;/&lt;</a:t>
            </a:r>
            <a:r>
              <a:rPr lang="en-IN" sz="1800" b="1" dirty="0" err="1">
                <a:latin typeface="Calibri" panose="020F0502020204030204" pitchFamily="34" charset="0"/>
              </a:rPr>
              <a:t>db</a:t>
            </a:r>
            <a:r>
              <a:rPr lang="en-IN" sz="1800" b="1" dirty="0">
                <a:latin typeface="Calibri" panose="020F0502020204030204" pitchFamily="34" charset="0"/>
              </a:rPr>
              <a:t>&gt;' --driver </a:t>
            </a:r>
            <a:r>
              <a:rPr lang="en-IN" sz="1800" b="1" dirty="0" err="1">
                <a:latin typeface="Calibri" panose="020F0502020204030204" pitchFamily="34" charset="0"/>
              </a:rPr>
              <a:t>org.netezza.Driver</a:t>
            </a:r>
            <a:r>
              <a:rPr lang="en-IN" sz="1800" b="1" dirty="0">
                <a:latin typeface="Calibri" panose="020F0502020204030204" pitchFamily="34" charset="0"/>
              </a:rPr>
              <a:t> </a:t>
            </a:r>
          </a:p>
          <a:p>
            <a:pPr marL="0" indent="0">
              <a:buClr>
                <a:schemeClr val="tx1"/>
              </a:buClr>
              <a:buNone/>
            </a:pPr>
            <a:r>
              <a:rPr lang="en-IN" sz="1800" b="1" dirty="0" smtClean="0">
                <a:latin typeface="Calibri" panose="020F0502020204030204" pitchFamily="34" charset="0"/>
              </a:rPr>
              <a:t>       --</a:t>
            </a:r>
            <a:r>
              <a:rPr lang="en-IN" sz="1800" b="1" dirty="0">
                <a:latin typeface="Calibri" panose="020F0502020204030204" pitchFamily="34" charset="0"/>
              </a:rPr>
              <a:t>username &lt;username&gt; --password &lt;</a:t>
            </a:r>
            <a:r>
              <a:rPr lang="en-IN" sz="1800" b="1" dirty="0" err="1">
                <a:latin typeface="Calibri" panose="020F0502020204030204" pitchFamily="34" charset="0"/>
              </a:rPr>
              <a:t>passwrd</a:t>
            </a:r>
            <a:r>
              <a:rPr lang="en-IN" sz="1800" b="1" dirty="0">
                <a:latin typeface="Calibri" panose="020F0502020204030204" pitchFamily="34" charset="0"/>
              </a:rPr>
              <a:t>&gt;</a:t>
            </a:r>
          </a:p>
          <a:p>
            <a:pPr marL="0" indent="0">
              <a:buClr>
                <a:schemeClr val="tx1"/>
              </a:buClr>
              <a:buNone/>
            </a:pPr>
            <a:r>
              <a:rPr lang="en-IN" sz="1800" b="1" dirty="0" smtClean="0">
                <a:latin typeface="Calibri" panose="020F0502020204030204" pitchFamily="34" charset="0"/>
              </a:rPr>
              <a:t>       --</a:t>
            </a:r>
            <a:r>
              <a:rPr lang="en-IN" sz="1800" b="1" dirty="0">
                <a:latin typeface="Calibri" panose="020F0502020204030204" pitchFamily="34" charset="0"/>
              </a:rPr>
              <a:t>connection-</a:t>
            </a:r>
            <a:r>
              <a:rPr lang="en-IN" sz="1800" b="1" dirty="0" err="1">
                <a:latin typeface="Calibri" panose="020F0502020204030204" pitchFamily="34" charset="0"/>
              </a:rPr>
              <a:t>param</a:t>
            </a:r>
            <a:r>
              <a:rPr lang="en-IN" sz="1800" b="1" dirty="0">
                <a:latin typeface="Calibri" panose="020F0502020204030204" pitchFamily="34" charset="0"/>
              </a:rPr>
              <a:t>-file /path/to/</a:t>
            </a:r>
            <a:r>
              <a:rPr lang="en-IN" sz="1800" b="1" dirty="0" err="1">
                <a:latin typeface="Calibri" panose="020F0502020204030204" pitchFamily="34" charset="0"/>
              </a:rPr>
              <a:t>sqoop.properties</a:t>
            </a:r>
            <a:endParaRPr lang="en-IN" sz="1800" b="1" dirty="0">
              <a:latin typeface="Calibri" panose="020F0502020204030204" pitchFamily="34" charset="0"/>
            </a:endParaRPr>
          </a:p>
          <a:p>
            <a:pPr marL="0" indent="0">
              <a:buClr>
                <a:schemeClr val="tx1"/>
              </a:buClr>
              <a:buNone/>
            </a:pPr>
            <a:r>
              <a:rPr lang="en-IN" sz="1800" b="1" dirty="0" smtClean="0">
                <a:latin typeface="Calibri" panose="020F0502020204030204" pitchFamily="34" charset="0"/>
              </a:rPr>
              <a:t>       --</a:t>
            </a:r>
            <a:r>
              <a:rPr lang="en-IN" sz="1800" b="1" dirty="0">
                <a:latin typeface="Calibri" panose="020F0502020204030204" pitchFamily="34" charset="0"/>
              </a:rPr>
              <a:t>batch</a:t>
            </a:r>
            <a:endParaRPr lang="en-IN" sz="1800" b="1" dirty="0" smtClean="0">
              <a:latin typeface="Calibri" panose="020F0502020204030204" pitchFamily="34" charset="0"/>
            </a:endParaRPr>
          </a:p>
          <a:p>
            <a:pPr marL="0" indent="0">
              <a:buClr>
                <a:schemeClr val="tx1"/>
              </a:buClr>
              <a:buNone/>
            </a:pPr>
            <a:endParaRPr lang="en-IN" sz="1800" dirty="0">
              <a:latin typeface="Calibri" panose="020F0502020204030204" pitchFamily="34" charset="0"/>
            </a:endParaRPr>
          </a:p>
        </p:txBody>
      </p:sp>
      <p:sp>
        <p:nvSpPr>
          <p:cNvPr id="4" name="Footer Placeholder 3"/>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Tree>
    <p:extLst>
      <p:ext uri="{BB962C8B-B14F-4D97-AF65-F5344CB8AC3E}">
        <p14:creationId xmlns:p14="http://schemas.microsoft.com/office/powerpoint/2010/main" val="2992275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380009"/>
            <a:ext cx="9404723" cy="641965"/>
          </a:xfrm>
        </p:spPr>
        <p:txBody>
          <a:bodyPr/>
          <a:lstStyle/>
          <a:p>
            <a:pPr algn="ctr"/>
            <a:r>
              <a:rPr lang="en-IN" sz="4000" b="1" cap="all" dirty="0">
                <a:latin typeface="Calibri" panose="020F0502020204030204" pitchFamily="34" charset="0"/>
              </a:rPr>
              <a:t>ATOMIC EXPORT</a:t>
            </a:r>
            <a:br>
              <a:rPr lang="en-IN" sz="4000" b="1" cap="all" dirty="0">
                <a:latin typeface="Calibri" panose="020F0502020204030204" pitchFamily="34" charset="0"/>
              </a:rPr>
            </a:br>
            <a:endParaRPr lang="en-IN" sz="4000" dirty="0">
              <a:latin typeface="Calibri" panose="020F0502020204030204" pitchFamily="34" charset="0"/>
            </a:endParaRPr>
          </a:p>
        </p:txBody>
      </p:sp>
      <p:sp>
        <p:nvSpPr>
          <p:cNvPr id="3" name="Content Placeholder 2"/>
          <p:cNvSpPr>
            <a:spLocks noGrp="1"/>
          </p:cNvSpPr>
          <p:nvPr>
            <p:ph idx="1"/>
          </p:nvPr>
        </p:nvSpPr>
        <p:spPr>
          <a:xfrm>
            <a:off x="645130" y="1116282"/>
            <a:ext cx="9404723" cy="5132118"/>
          </a:xfrm>
        </p:spPr>
        <p:txBody>
          <a:bodyPr>
            <a:normAutofit/>
          </a:bodyPr>
          <a:lstStyle/>
          <a:p>
            <a:pPr>
              <a:lnSpc>
                <a:spcPct val="110000"/>
              </a:lnSpc>
              <a:buClr>
                <a:schemeClr val="tx1"/>
              </a:buClr>
            </a:pPr>
            <a:r>
              <a:rPr lang="en-IN" sz="1800" dirty="0" smtClean="0">
                <a:latin typeface="Calibri" panose="020F0502020204030204" pitchFamily="34" charset="0"/>
              </a:rPr>
              <a:t>We know that in database concepts atomicity means </a:t>
            </a:r>
            <a:r>
              <a:rPr lang="en-IN" sz="1800" dirty="0">
                <a:latin typeface="Calibri" panose="020F0502020204030204" pitchFamily="34" charset="0"/>
              </a:rPr>
              <a:t>do a complete job or do nothing. </a:t>
            </a:r>
            <a:endParaRPr lang="en-IN" sz="1800" dirty="0" smtClean="0">
              <a:latin typeface="Calibri" panose="020F0502020204030204" pitchFamily="34" charset="0"/>
            </a:endParaRPr>
          </a:p>
          <a:p>
            <a:pPr>
              <a:lnSpc>
                <a:spcPct val="110000"/>
              </a:lnSpc>
              <a:buClr>
                <a:schemeClr val="tx1"/>
              </a:buClr>
            </a:pPr>
            <a:r>
              <a:rPr lang="en-IN" sz="1800" dirty="0" smtClean="0">
                <a:latin typeface="Calibri" panose="020F0502020204030204" pitchFamily="34" charset="0"/>
              </a:rPr>
              <a:t>Similarly</a:t>
            </a:r>
            <a:r>
              <a:rPr lang="en-IN" sz="1800" dirty="0">
                <a:latin typeface="Calibri" panose="020F0502020204030204" pitchFamily="34" charset="0"/>
              </a:rPr>
              <a:t>, if </a:t>
            </a:r>
            <a:r>
              <a:rPr lang="en-IN" sz="1800" dirty="0" smtClean="0">
                <a:latin typeface="Calibri" panose="020F0502020204030204" pitchFamily="34" charset="0"/>
              </a:rPr>
              <a:t>we are </a:t>
            </a:r>
            <a:r>
              <a:rPr lang="en-IN" sz="1800" dirty="0">
                <a:latin typeface="Calibri" panose="020F0502020204030204" pitchFamily="34" charset="0"/>
              </a:rPr>
              <a:t>exporting data using Sqoop to a table which is very important from the application point of view and you want make sure that </a:t>
            </a:r>
            <a:r>
              <a:rPr lang="en-IN" sz="1800" dirty="0" err="1">
                <a:latin typeface="Calibri" panose="020F0502020204030204" pitchFamily="34" charset="0"/>
              </a:rPr>
              <a:t>sqoop</a:t>
            </a:r>
            <a:r>
              <a:rPr lang="en-IN" sz="1800" dirty="0">
                <a:latin typeface="Calibri" panose="020F0502020204030204" pitchFamily="34" charset="0"/>
              </a:rPr>
              <a:t> should export all data present in HDFS, then </a:t>
            </a:r>
            <a:r>
              <a:rPr lang="en-IN" sz="1800" dirty="0" smtClean="0">
                <a:latin typeface="Calibri" panose="020F0502020204030204" pitchFamily="34" charset="0"/>
              </a:rPr>
              <a:t>we can </a:t>
            </a:r>
            <a:r>
              <a:rPr lang="en-IN" sz="1800" dirty="0">
                <a:latin typeface="Calibri" panose="020F0502020204030204" pitchFamily="34" charset="0"/>
              </a:rPr>
              <a:t>use </a:t>
            </a:r>
            <a:r>
              <a:rPr lang="en-IN" sz="1800" i="1" dirty="0">
                <a:latin typeface="Calibri" panose="020F0502020204030204" pitchFamily="34" charset="0"/>
              </a:rPr>
              <a:t>staging-table</a:t>
            </a:r>
            <a:r>
              <a:rPr lang="en-IN" sz="1800" dirty="0">
                <a:latin typeface="Calibri" panose="020F0502020204030204" pitchFamily="34" charset="0"/>
              </a:rPr>
              <a:t> option. Here, we will mention a staging table where </a:t>
            </a:r>
            <a:r>
              <a:rPr lang="en-IN" sz="1800" dirty="0" err="1">
                <a:latin typeface="Calibri" panose="020F0502020204030204" pitchFamily="34" charset="0"/>
              </a:rPr>
              <a:t>sqoop</a:t>
            </a:r>
            <a:r>
              <a:rPr lang="en-IN" sz="1800" dirty="0">
                <a:latin typeface="Calibri" panose="020F0502020204030204" pitchFamily="34" charset="0"/>
              </a:rPr>
              <a:t> will export all its data and it all data export is successful then only it should write that data in actual table</a:t>
            </a:r>
            <a:r>
              <a:rPr lang="en-IN" sz="1800" dirty="0" smtClean="0">
                <a:latin typeface="Calibri" panose="020F0502020204030204" pitchFamily="34" charset="0"/>
              </a:rPr>
              <a:t>.</a:t>
            </a:r>
          </a:p>
          <a:p>
            <a:pPr marL="0" indent="0">
              <a:lnSpc>
                <a:spcPct val="110000"/>
              </a:lnSpc>
              <a:buNone/>
            </a:pPr>
            <a:r>
              <a:rPr lang="en-IN" sz="1800" b="1" dirty="0" smtClean="0">
                <a:latin typeface="Calibri" panose="020F0502020204030204" pitchFamily="34" charset="0"/>
              </a:rPr>
              <a:t>     Ex: $ </a:t>
            </a:r>
            <a:r>
              <a:rPr lang="en-IN" sz="1800" b="1" dirty="0" err="1">
                <a:latin typeface="Calibri" panose="020F0502020204030204" pitchFamily="34" charset="0"/>
              </a:rPr>
              <a:t>sqoop</a:t>
            </a:r>
            <a:r>
              <a:rPr lang="en-IN" sz="1800" b="1" dirty="0">
                <a:latin typeface="Calibri" panose="020F0502020204030204" pitchFamily="34" charset="0"/>
              </a:rPr>
              <a:t> export \</a:t>
            </a:r>
          </a:p>
          <a:p>
            <a:pPr marL="0" indent="0">
              <a:lnSpc>
                <a:spcPct val="110000"/>
              </a:lnSpc>
              <a:buNone/>
            </a:pPr>
            <a:r>
              <a:rPr lang="en-IN" sz="1800" b="1" dirty="0" smtClean="0">
                <a:latin typeface="Calibri" panose="020F0502020204030204" pitchFamily="34" charset="0"/>
              </a:rPr>
              <a:t>                 --</a:t>
            </a:r>
            <a:r>
              <a:rPr lang="en-IN" sz="1800" b="1" dirty="0">
                <a:latin typeface="Calibri" panose="020F0502020204030204" pitchFamily="34" charset="0"/>
              </a:rPr>
              <a:t>connect </a:t>
            </a:r>
            <a:r>
              <a:rPr lang="en-IN" sz="1800" b="1" dirty="0" err="1">
                <a:latin typeface="Calibri" panose="020F0502020204030204" pitchFamily="34" charset="0"/>
              </a:rPr>
              <a:t>jdbc:mysql</a:t>
            </a:r>
            <a:r>
              <a:rPr lang="en-IN" sz="1800" b="1" dirty="0">
                <a:latin typeface="Calibri" panose="020F0502020204030204" pitchFamily="34" charset="0"/>
              </a:rPr>
              <a:t>://hostname/</a:t>
            </a:r>
            <a:r>
              <a:rPr lang="en-IN" sz="1800" b="1" dirty="0" err="1">
                <a:latin typeface="Calibri" panose="020F0502020204030204" pitchFamily="34" charset="0"/>
              </a:rPr>
              <a:t>database_name</a:t>
            </a:r>
            <a:r>
              <a:rPr lang="en-IN" sz="1800" b="1" dirty="0">
                <a:latin typeface="Calibri" panose="020F0502020204030204" pitchFamily="34" charset="0"/>
              </a:rPr>
              <a:t> \</a:t>
            </a:r>
          </a:p>
          <a:p>
            <a:pPr marL="0" indent="0">
              <a:lnSpc>
                <a:spcPct val="110000"/>
              </a:lnSpc>
              <a:buNone/>
            </a:pPr>
            <a:r>
              <a:rPr lang="en-IN" sz="1800" b="1" dirty="0" smtClean="0">
                <a:latin typeface="Calibri" panose="020F0502020204030204" pitchFamily="34" charset="0"/>
              </a:rPr>
              <a:t>                 --</a:t>
            </a:r>
            <a:r>
              <a:rPr lang="en-IN" sz="1800" b="1" dirty="0">
                <a:latin typeface="Calibri" panose="020F0502020204030204" pitchFamily="34" charset="0"/>
              </a:rPr>
              <a:t>username user1 \</a:t>
            </a:r>
          </a:p>
          <a:p>
            <a:pPr marL="0" indent="0">
              <a:lnSpc>
                <a:spcPct val="110000"/>
              </a:lnSpc>
              <a:buNone/>
            </a:pPr>
            <a:r>
              <a:rPr lang="en-IN" sz="1800" b="1" dirty="0" smtClean="0">
                <a:latin typeface="Calibri" panose="020F0502020204030204" pitchFamily="34" charset="0"/>
              </a:rPr>
              <a:t>                 --</a:t>
            </a:r>
            <a:r>
              <a:rPr lang="en-IN" sz="1800" b="1" dirty="0">
                <a:latin typeface="Calibri" panose="020F0502020204030204" pitchFamily="34" charset="0"/>
              </a:rPr>
              <a:t>password </a:t>
            </a:r>
            <a:r>
              <a:rPr lang="en-IN" sz="1800" b="1" dirty="0" err="1">
                <a:latin typeface="Calibri" panose="020F0502020204030204" pitchFamily="34" charset="0"/>
              </a:rPr>
              <a:t>pwd</a:t>
            </a:r>
            <a:r>
              <a:rPr lang="en-IN" sz="1800" b="1" dirty="0">
                <a:latin typeface="Calibri" panose="020F0502020204030204" pitchFamily="34" charset="0"/>
              </a:rPr>
              <a:t> \</a:t>
            </a:r>
          </a:p>
          <a:p>
            <a:pPr marL="0" indent="0">
              <a:lnSpc>
                <a:spcPct val="110000"/>
              </a:lnSpc>
              <a:buNone/>
            </a:pPr>
            <a:r>
              <a:rPr lang="en-IN" sz="1800" b="1" dirty="0" smtClean="0">
                <a:latin typeface="Calibri" panose="020F0502020204030204" pitchFamily="34" charset="0"/>
              </a:rPr>
              <a:t>                 -- </a:t>
            </a:r>
            <a:r>
              <a:rPr lang="en-IN" sz="1800" b="1" dirty="0">
                <a:latin typeface="Calibri" panose="020F0502020204030204" pitchFamily="34" charset="0"/>
              </a:rPr>
              <a:t>export-</a:t>
            </a:r>
            <a:r>
              <a:rPr lang="en-IN" sz="1800" b="1" dirty="0" err="1">
                <a:latin typeface="Calibri" panose="020F0502020204030204" pitchFamily="34" charset="0"/>
              </a:rPr>
              <a:t>dir</a:t>
            </a:r>
            <a:r>
              <a:rPr lang="en-IN" sz="1800" b="1" dirty="0">
                <a:latin typeface="Calibri" panose="020F0502020204030204" pitchFamily="34" charset="0"/>
              </a:rPr>
              <a:t> /user/hive/warehouse/student</a:t>
            </a:r>
          </a:p>
          <a:p>
            <a:pPr marL="0" indent="0">
              <a:lnSpc>
                <a:spcPct val="110000"/>
              </a:lnSpc>
              <a:buNone/>
            </a:pPr>
            <a:r>
              <a:rPr lang="en-IN" sz="1800" b="1" dirty="0" smtClean="0">
                <a:latin typeface="Calibri" panose="020F0502020204030204" pitchFamily="34" charset="0"/>
              </a:rPr>
              <a:t>                 --</a:t>
            </a:r>
            <a:r>
              <a:rPr lang="en-IN" sz="1800" b="1" dirty="0">
                <a:latin typeface="Calibri" panose="020F0502020204030204" pitchFamily="34" charset="0"/>
              </a:rPr>
              <a:t>staging-table </a:t>
            </a:r>
            <a:r>
              <a:rPr lang="en-IN" sz="1800" b="1" dirty="0" err="1">
                <a:latin typeface="Calibri" panose="020F0502020204030204" pitchFamily="34" charset="0"/>
              </a:rPr>
              <a:t>staging_student</a:t>
            </a:r>
            <a:endParaRPr lang="en-IN" sz="1800" b="1" dirty="0">
              <a:latin typeface="Calibri" panose="020F0502020204030204" pitchFamily="34" charset="0"/>
            </a:endParaRPr>
          </a:p>
        </p:txBody>
      </p:sp>
      <p:sp>
        <p:nvSpPr>
          <p:cNvPr id="4" name="Footer Placeholder 3"/>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Tree>
    <p:extLst>
      <p:ext uri="{BB962C8B-B14F-4D97-AF65-F5344CB8AC3E}">
        <p14:creationId xmlns:p14="http://schemas.microsoft.com/office/powerpoint/2010/main" val="4052546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474317"/>
            <a:ext cx="9404723" cy="772592"/>
          </a:xfrm>
        </p:spPr>
        <p:txBody>
          <a:bodyPr/>
          <a:lstStyle/>
          <a:p>
            <a:pPr algn="ctr"/>
            <a:r>
              <a:rPr lang="en-IN" sz="4000" dirty="0" smtClean="0">
                <a:latin typeface="Calibri" panose="020F0502020204030204" pitchFamily="34" charset="0"/>
              </a:rPr>
              <a:t>Other Effective </a:t>
            </a:r>
            <a:r>
              <a:rPr lang="en-IN" sz="4000" dirty="0">
                <a:latin typeface="Calibri" panose="020F0502020204030204" pitchFamily="34" charset="0"/>
              </a:rPr>
              <a:t>Sqoop Practices</a:t>
            </a:r>
          </a:p>
        </p:txBody>
      </p:sp>
      <p:sp>
        <p:nvSpPr>
          <p:cNvPr id="3" name="Content Placeholder 2"/>
          <p:cNvSpPr>
            <a:spLocks noGrp="1"/>
          </p:cNvSpPr>
          <p:nvPr>
            <p:ph idx="1"/>
          </p:nvPr>
        </p:nvSpPr>
        <p:spPr>
          <a:xfrm>
            <a:off x="1103312" y="1246909"/>
            <a:ext cx="8946541" cy="5001490"/>
          </a:xfrm>
        </p:spPr>
        <p:txBody>
          <a:bodyPr>
            <a:normAutofit/>
          </a:bodyPr>
          <a:lstStyle/>
          <a:p>
            <a:pPr>
              <a:lnSpc>
                <a:spcPct val="150000"/>
              </a:lnSpc>
              <a:buClr>
                <a:schemeClr val="tx1"/>
              </a:buClr>
            </a:pPr>
            <a:endParaRPr lang="en-IN" sz="1800" dirty="0" smtClean="0">
              <a:latin typeface="Calibri" panose="020F0502020204030204" pitchFamily="34" charset="0"/>
            </a:endParaRPr>
          </a:p>
          <a:p>
            <a:pPr>
              <a:lnSpc>
                <a:spcPct val="150000"/>
              </a:lnSpc>
              <a:buClr>
                <a:schemeClr val="tx1"/>
              </a:buClr>
            </a:pPr>
            <a:r>
              <a:rPr lang="en-IN" sz="1800" dirty="0" smtClean="0">
                <a:latin typeface="Calibri" panose="020F0502020204030204" pitchFamily="34" charset="0"/>
              </a:rPr>
              <a:t>Do </a:t>
            </a:r>
            <a:r>
              <a:rPr lang="en-IN" sz="1800" dirty="0">
                <a:latin typeface="Calibri" panose="020F0502020204030204" pitchFamily="34" charset="0"/>
              </a:rPr>
              <a:t>create an empty export table</a:t>
            </a:r>
            <a:r>
              <a:rPr lang="en-IN" sz="1800" dirty="0" smtClean="0">
                <a:latin typeface="Calibri" panose="020F0502020204030204" pitchFamily="34" charset="0"/>
              </a:rPr>
              <a:t>.</a:t>
            </a:r>
          </a:p>
          <a:p>
            <a:pPr>
              <a:lnSpc>
                <a:spcPct val="150000"/>
              </a:lnSpc>
              <a:buClr>
                <a:schemeClr val="tx1"/>
              </a:buClr>
            </a:pPr>
            <a:r>
              <a:rPr lang="en-IN" sz="1800" dirty="0">
                <a:latin typeface="Calibri" panose="020F0502020204030204" pitchFamily="34" charset="0"/>
              </a:rPr>
              <a:t>Don’t use the same table for both import and export. </a:t>
            </a:r>
            <a:endParaRPr lang="en-IN" sz="1800" dirty="0" smtClean="0">
              <a:latin typeface="Calibri" panose="020F0502020204030204" pitchFamily="34" charset="0"/>
            </a:endParaRPr>
          </a:p>
          <a:p>
            <a:pPr>
              <a:lnSpc>
                <a:spcPct val="150000"/>
              </a:lnSpc>
              <a:buClr>
                <a:schemeClr val="tx1"/>
              </a:buClr>
            </a:pPr>
            <a:r>
              <a:rPr lang="en-IN" sz="1800" dirty="0">
                <a:latin typeface="Calibri" panose="020F0502020204030204" pitchFamily="34" charset="0"/>
              </a:rPr>
              <a:t>Do use --escaped-by option during import and --input-escaped-by during export. </a:t>
            </a:r>
            <a:endParaRPr lang="en-IN" sz="1800" dirty="0" smtClean="0">
              <a:latin typeface="Calibri" panose="020F0502020204030204" pitchFamily="34" charset="0"/>
            </a:endParaRPr>
          </a:p>
          <a:p>
            <a:pPr>
              <a:lnSpc>
                <a:spcPct val="150000"/>
              </a:lnSpc>
              <a:buClr>
                <a:schemeClr val="tx1"/>
              </a:buClr>
            </a:pPr>
            <a:r>
              <a:rPr lang="en-IN" sz="1800" dirty="0" smtClean="0">
                <a:latin typeface="Calibri" panose="020F0502020204030204" pitchFamily="34" charset="0"/>
              </a:rPr>
              <a:t>Do </a:t>
            </a:r>
            <a:r>
              <a:rPr lang="en-IN" sz="1800" dirty="0">
                <a:latin typeface="Calibri" panose="020F0502020204030204" pitchFamily="34" charset="0"/>
              </a:rPr>
              <a:t>use fields-terminated-by during import and input-fields-terminated-by during export</a:t>
            </a:r>
            <a:r>
              <a:rPr lang="en-IN" sz="1800" dirty="0" smtClean="0">
                <a:latin typeface="Calibri" panose="020F0502020204030204" pitchFamily="34" charset="0"/>
              </a:rPr>
              <a:t>.</a:t>
            </a:r>
          </a:p>
          <a:p>
            <a:pPr>
              <a:lnSpc>
                <a:spcPct val="150000"/>
              </a:lnSpc>
              <a:buClr>
                <a:schemeClr val="tx1"/>
              </a:buClr>
            </a:pPr>
            <a:r>
              <a:rPr lang="en-IN" sz="1800" dirty="0">
                <a:latin typeface="Calibri" panose="020F0502020204030204" pitchFamily="34" charset="0"/>
              </a:rPr>
              <a:t>Don’t specify the query, if you use the direct connector. </a:t>
            </a:r>
            <a:endParaRPr lang="en-IN" sz="1800" dirty="0" smtClean="0">
              <a:latin typeface="Calibri" panose="020F0502020204030204" pitchFamily="34" charset="0"/>
            </a:endParaRPr>
          </a:p>
          <a:p>
            <a:pPr>
              <a:lnSpc>
                <a:spcPct val="150000"/>
              </a:lnSpc>
              <a:buClr>
                <a:schemeClr val="tx1"/>
              </a:buClr>
            </a:pPr>
            <a:endParaRPr lang="en-IN" sz="1800" dirty="0">
              <a:latin typeface="Calibri" panose="020F0502020204030204" pitchFamily="34" charset="0"/>
            </a:endParaRPr>
          </a:p>
        </p:txBody>
      </p:sp>
      <p:sp>
        <p:nvSpPr>
          <p:cNvPr id="4" name="Footer Placeholder 3"/>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Tree>
    <p:extLst>
      <p:ext uri="{BB962C8B-B14F-4D97-AF65-F5344CB8AC3E}">
        <p14:creationId xmlns:p14="http://schemas.microsoft.com/office/powerpoint/2010/main" val="1535421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4000" dirty="0">
                <a:latin typeface="Calibri" panose="020F0502020204030204" pitchFamily="34" charset="0"/>
              </a:rPr>
              <a:t>Other Effective Sqoop Practices</a:t>
            </a:r>
          </a:p>
        </p:txBody>
      </p:sp>
      <p:sp>
        <p:nvSpPr>
          <p:cNvPr id="3" name="Content Placeholder 2"/>
          <p:cNvSpPr>
            <a:spLocks noGrp="1"/>
          </p:cNvSpPr>
          <p:nvPr>
            <p:ph idx="1"/>
          </p:nvPr>
        </p:nvSpPr>
        <p:spPr/>
        <p:txBody>
          <a:bodyPr/>
          <a:lstStyle/>
          <a:p>
            <a:pPr>
              <a:lnSpc>
                <a:spcPct val="150000"/>
              </a:lnSpc>
              <a:buClr>
                <a:schemeClr val="tx1"/>
              </a:buClr>
            </a:pPr>
            <a:r>
              <a:rPr lang="en-IN" sz="1800" dirty="0">
                <a:latin typeface="Calibri" panose="020F0502020204030204" pitchFamily="34" charset="0"/>
              </a:rPr>
              <a:t>Use the verbose argument (--verbose) for more information during trouble-shooting.</a:t>
            </a:r>
          </a:p>
          <a:p>
            <a:pPr>
              <a:lnSpc>
                <a:spcPct val="150000"/>
              </a:lnSpc>
              <a:buClr>
                <a:schemeClr val="tx1"/>
              </a:buClr>
            </a:pPr>
            <a:r>
              <a:rPr lang="en-IN" sz="1800" dirty="0">
                <a:latin typeface="Calibri" panose="020F0502020204030204" pitchFamily="34" charset="0"/>
              </a:rPr>
              <a:t>Be cognizant of the configuration of concurrent connections allowed to the database; Use fetch size for controlling number of records to be read from the database, and also factor in the number of parallel tasks.</a:t>
            </a:r>
          </a:p>
          <a:p>
            <a:pPr>
              <a:lnSpc>
                <a:spcPct val="150000"/>
              </a:lnSpc>
              <a:buClr>
                <a:schemeClr val="tx1"/>
              </a:buClr>
            </a:pPr>
            <a:r>
              <a:rPr lang="en-IN" sz="1800" dirty="0">
                <a:latin typeface="Calibri" panose="020F0502020204030204" pitchFamily="34" charset="0"/>
              </a:rPr>
              <a:t>Be aware of case sensitivity of </a:t>
            </a:r>
            <a:r>
              <a:rPr lang="en-IN" sz="1800" dirty="0" smtClean="0">
                <a:latin typeface="Calibri" panose="020F0502020204030204" pitchFamily="34" charset="0"/>
              </a:rPr>
              <a:t>Sqoop.</a:t>
            </a:r>
            <a:endParaRPr lang="en-IN" sz="1800" dirty="0">
              <a:latin typeface="Calibri" panose="020F0502020204030204" pitchFamily="34" charset="0"/>
            </a:endParaRPr>
          </a:p>
          <a:p>
            <a:pPr>
              <a:lnSpc>
                <a:spcPct val="150000"/>
              </a:lnSpc>
            </a:pPr>
            <a:endParaRPr lang="en-IN" dirty="0">
              <a:latin typeface="Calibri" panose="020F0502020204030204" pitchFamily="34" charset="0"/>
            </a:endParaRPr>
          </a:p>
        </p:txBody>
      </p:sp>
      <p:sp>
        <p:nvSpPr>
          <p:cNvPr id="4" name="Footer Placeholder 3"/>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Tree>
    <p:extLst>
      <p:ext uri="{BB962C8B-B14F-4D97-AF65-F5344CB8AC3E}">
        <p14:creationId xmlns:p14="http://schemas.microsoft.com/office/powerpoint/2010/main" val="373532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mtClean="0"/>
              <a:t>Copyright © 2016 Accenture All Rights Reserved. Confidential —For Company Internal Use Only.</a:t>
            </a:r>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426535" cy="6858000"/>
          </a:xfrm>
          <a:prstGeom prst="rect">
            <a:avLst/>
          </a:prstGeom>
        </p:spPr>
      </p:pic>
    </p:spTree>
    <p:extLst>
      <p:ext uri="{BB962C8B-B14F-4D97-AF65-F5344CB8AC3E}">
        <p14:creationId xmlns:p14="http://schemas.microsoft.com/office/powerpoint/2010/main" val="4557609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343</TotalTime>
  <Words>1319</Words>
  <Application>Microsoft Office PowerPoint</Application>
  <PresentationFormat>Widescreen</PresentationFormat>
  <Paragraphs>164</Paragraphs>
  <Slides>18</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Century Gothic</vt:lpstr>
      <vt:lpstr>Courier New</vt:lpstr>
      <vt:lpstr>Times New Roman</vt:lpstr>
      <vt:lpstr>Wingdings</vt:lpstr>
      <vt:lpstr>Wingdings 3</vt:lpstr>
      <vt:lpstr>Ion</vt:lpstr>
      <vt:lpstr>Best Practices for Apache Sqoop   </vt:lpstr>
      <vt:lpstr>Agenda</vt:lpstr>
      <vt:lpstr>            Overview of Sqoop  </vt:lpstr>
      <vt:lpstr>               Sqoop Architecture </vt:lpstr>
      <vt:lpstr>         Importing data using Sqoop </vt:lpstr>
      <vt:lpstr>         Exporting data using Sqoop </vt:lpstr>
      <vt:lpstr>Formatting Arguments</vt:lpstr>
      <vt:lpstr>Controlling Parallelism</vt:lpstr>
      <vt:lpstr>Connectors</vt:lpstr>
      <vt:lpstr>Splitting Data</vt:lpstr>
      <vt:lpstr>Boundary Queries</vt:lpstr>
      <vt:lpstr>Option Files</vt:lpstr>
      <vt:lpstr>Using Compression</vt:lpstr>
      <vt:lpstr>Batch Exports</vt:lpstr>
      <vt:lpstr>ATOMIC EXPORT </vt:lpstr>
      <vt:lpstr>Other Effective Sqoop Practices</vt:lpstr>
      <vt:lpstr>Other Effective Sqoop Practices</vt:lpstr>
      <vt:lpstr>PowerPoint Presentation</vt:lpstr>
    </vt:vector>
  </TitlesOfParts>
  <Company>Accenture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Best Practices for Apache Sqoop   </dc:title>
  <dc:creator>Karunakar Gandham</dc:creator>
  <cp:lastModifiedBy>Karunakar Gandham</cp:lastModifiedBy>
  <cp:revision>197</cp:revision>
  <dcterms:created xsi:type="dcterms:W3CDTF">2016-01-20T12:36:57Z</dcterms:created>
  <dcterms:modified xsi:type="dcterms:W3CDTF">2016-02-10T07:15:28Z</dcterms:modified>
</cp:coreProperties>
</file>