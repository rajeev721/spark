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embedTrueTypeFonts="1" saveSubsetFonts="1">
  <p:sldMasterIdLst>
    <p:sldMasterId id="2147483648" r:id="rId4"/>
  </p:sldMasterIdLst>
  <p:notesMasterIdLst>
    <p:notesMasterId r:id="rId93"/>
  </p:notesMasterIdLst>
  <p:handoutMasterIdLst>
    <p:handoutMasterId r:id="rId94"/>
  </p:handoutMasterIdLst>
  <p:sldIdLst>
    <p:sldId id="259" r:id="rId5"/>
    <p:sldId id="288" r:id="rId6"/>
    <p:sldId id="280" r:id="rId7"/>
    <p:sldId id="281" r:id="rId8"/>
    <p:sldId id="282" r:id="rId9"/>
    <p:sldId id="283" r:id="rId10"/>
    <p:sldId id="284" r:id="rId11"/>
    <p:sldId id="285" r:id="rId12"/>
    <p:sldId id="286" r:id="rId13"/>
    <p:sldId id="287" r:id="rId14"/>
    <p:sldId id="289" r:id="rId15"/>
    <p:sldId id="290" r:id="rId16"/>
    <p:sldId id="291" r:id="rId17"/>
    <p:sldId id="361" r:id="rId18"/>
    <p:sldId id="293" r:id="rId19"/>
    <p:sldId id="360" r:id="rId20"/>
    <p:sldId id="294" r:id="rId21"/>
    <p:sldId id="295" r:id="rId22"/>
    <p:sldId id="296" r:id="rId23"/>
    <p:sldId id="297" r:id="rId24"/>
    <p:sldId id="298" r:id="rId25"/>
    <p:sldId id="299" r:id="rId26"/>
    <p:sldId id="300" r:id="rId27"/>
    <p:sldId id="301" r:id="rId28"/>
    <p:sldId id="302" r:id="rId29"/>
    <p:sldId id="309" r:id="rId30"/>
    <p:sldId id="304" r:id="rId31"/>
    <p:sldId id="305" r:id="rId32"/>
    <p:sldId id="306" r:id="rId33"/>
    <p:sldId id="307" r:id="rId34"/>
    <p:sldId id="308" r:id="rId35"/>
    <p:sldId id="310" r:id="rId36"/>
    <p:sldId id="311" r:id="rId37"/>
    <p:sldId id="312" r:id="rId38"/>
    <p:sldId id="313" r:id="rId39"/>
    <p:sldId id="314" r:id="rId40"/>
    <p:sldId id="315" r:id="rId41"/>
    <p:sldId id="316" r:id="rId42"/>
    <p:sldId id="317" r:id="rId43"/>
    <p:sldId id="318" r:id="rId44"/>
    <p:sldId id="319" r:id="rId45"/>
    <p:sldId id="320" r:id="rId46"/>
    <p:sldId id="321" r:id="rId47"/>
    <p:sldId id="322" r:id="rId48"/>
    <p:sldId id="323" r:id="rId49"/>
    <p:sldId id="324" r:id="rId50"/>
    <p:sldId id="325" r:id="rId51"/>
    <p:sldId id="326" r:id="rId52"/>
    <p:sldId id="342" r:id="rId53"/>
    <p:sldId id="358" r:id="rId54"/>
    <p:sldId id="327" r:id="rId55"/>
    <p:sldId id="328" r:id="rId56"/>
    <p:sldId id="329" r:id="rId57"/>
    <p:sldId id="330" r:id="rId58"/>
    <p:sldId id="331" r:id="rId59"/>
    <p:sldId id="332" r:id="rId60"/>
    <p:sldId id="333" r:id="rId61"/>
    <p:sldId id="334" r:id="rId62"/>
    <p:sldId id="335" r:id="rId63"/>
    <p:sldId id="336" r:id="rId64"/>
    <p:sldId id="337" r:id="rId65"/>
    <p:sldId id="338" r:id="rId66"/>
    <p:sldId id="339" r:id="rId67"/>
    <p:sldId id="344" r:id="rId68"/>
    <p:sldId id="340" r:id="rId69"/>
    <p:sldId id="341" r:id="rId70"/>
    <p:sldId id="345" r:id="rId71"/>
    <p:sldId id="346" r:id="rId72"/>
    <p:sldId id="347" r:id="rId73"/>
    <p:sldId id="348" r:id="rId74"/>
    <p:sldId id="349" r:id="rId75"/>
    <p:sldId id="350" r:id="rId76"/>
    <p:sldId id="351" r:id="rId77"/>
    <p:sldId id="352" r:id="rId78"/>
    <p:sldId id="353" r:id="rId79"/>
    <p:sldId id="354" r:id="rId80"/>
    <p:sldId id="355" r:id="rId81"/>
    <p:sldId id="356" r:id="rId82"/>
    <p:sldId id="359" r:id="rId83"/>
    <p:sldId id="363" r:id="rId84"/>
    <p:sldId id="364" r:id="rId85"/>
    <p:sldId id="365" r:id="rId86"/>
    <p:sldId id="366" r:id="rId87"/>
    <p:sldId id="367" r:id="rId88"/>
    <p:sldId id="368" r:id="rId89"/>
    <p:sldId id="369" r:id="rId90"/>
    <p:sldId id="370" r:id="rId91"/>
    <p:sldId id="371" r:id="rId92"/>
  </p:sldIdLst>
  <p:sldSz cx="9144000" cy="6858000" type="screen4x3"/>
  <p:notesSz cx="6858000" cy="9144000"/>
  <p:embeddedFontLst>
    <p:embeddedFont>
      <p:font typeface="Calibri" panose="020F0502020204030204" pitchFamily="34" charset="0"/>
      <p:regular r:id="rId95"/>
      <p:bold r:id="rId96"/>
      <p:italic r:id="rId97"/>
      <p:boldItalic r:id="rId98"/>
    </p:embeddedFont>
  </p:embeddedFontLst>
  <p:custDataLst>
    <p:tags r:id="rId99"/>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59">
          <p15:clr>
            <a:srgbClr val="A4A3A4"/>
          </p15:clr>
        </p15:guide>
        <p15:guide id="2" orient="horz" pos="245">
          <p15:clr>
            <a:srgbClr val="A4A3A4"/>
          </p15:clr>
        </p15:guide>
        <p15:guide id="3" orient="horz" pos="665">
          <p15:clr>
            <a:srgbClr val="A4A3A4"/>
          </p15:clr>
        </p15:guide>
        <p15:guide id="4" orient="horz" pos="732">
          <p15:clr>
            <a:srgbClr val="A4A3A4"/>
          </p15:clr>
        </p15:guide>
        <p15:guide id="5" orient="horz" pos="4223">
          <p15:clr>
            <a:srgbClr val="A4A3A4"/>
          </p15:clr>
        </p15:guide>
        <p15:guide id="6" orient="horz" pos="4142">
          <p15:clr>
            <a:srgbClr val="A4A3A4"/>
          </p15:clr>
        </p15:guide>
        <p15:guide id="7" orient="horz" pos="4090">
          <p15:clr>
            <a:srgbClr val="A4A3A4"/>
          </p15:clr>
        </p15:guide>
        <p15:guide id="8" orient="horz" pos="811">
          <p15:clr>
            <a:srgbClr val="A4A3A4"/>
          </p15:clr>
        </p15:guide>
        <p15:guide id="9" orient="horz" pos="2451">
          <p15:clr>
            <a:srgbClr val="A4A3A4"/>
          </p15:clr>
        </p15:guide>
        <p15:guide id="10" pos="287">
          <p15:clr>
            <a:srgbClr val="A4A3A4"/>
          </p15:clr>
        </p15:guide>
        <p15:guide id="11" pos="5473">
          <p15:clr>
            <a:srgbClr val="A4A3A4"/>
          </p15:clr>
        </p15:guide>
        <p15:guide id="12" pos="2845">
          <p15:clr>
            <a:srgbClr val="A4A3A4"/>
          </p15:clr>
        </p15:guide>
        <p15:guide id="13" pos="2915">
          <p15:clr>
            <a:srgbClr val="A4A3A4"/>
          </p15:clr>
        </p15:guide>
        <p15:guide id="14" pos="2881">
          <p15:clr>
            <a:srgbClr val="A4A3A4"/>
          </p15:clr>
        </p15:guide>
        <p15:guide id="15" pos="5504">
          <p15:clr>
            <a:srgbClr val="A4A3A4"/>
          </p15:clr>
        </p15:guide>
        <p15:guide id="16" pos="1970">
          <p15:clr>
            <a:srgbClr val="A4A3A4"/>
          </p15:clr>
        </p15:guide>
        <p15:guide id="17" pos="3790">
          <p15:clr>
            <a:srgbClr val="A4A3A4"/>
          </p15:clr>
        </p15:guide>
        <p15:guide id="18" pos="3721">
          <p15:clr>
            <a:srgbClr val="A4A3A4"/>
          </p15:clr>
        </p15:guide>
        <p15:guide id="19" pos="2037">
          <p15:clr>
            <a:srgbClr val="A4A3A4"/>
          </p15:clr>
        </p15:guide>
        <p15:guide id="20" pos="5526">
          <p15:clr>
            <a:srgbClr val="A4A3A4"/>
          </p15:clr>
        </p15:guide>
        <p15:guide id="21" pos="2813">
          <p15:clr>
            <a:srgbClr val="A4A3A4"/>
          </p15:clr>
        </p15:guide>
        <p15:guide id="22" pos="2948">
          <p15:clr>
            <a:srgbClr val="A4A3A4"/>
          </p15:clr>
        </p15:guide>
        <p15:guide id="23" pos="2061">
          <p15:clr>
            <a:srgbClr val="A4A3A4"/>
          </p15:clr>
        </p15:guide>
        <p15:guide id="24" pos="3699">
          <p15:clr>
            <a:srgbClr val="A4A3A4"/>
          </p15:clr>
        </p15:guide>
        <p15:guide id="25" pos="1925">
          <p15:clr>
            <a:srgbClr val="A4A3A4"/>
          </p15:clr>
        </p15:guide>
        <p15:guide id="26" pos="383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0"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CCCC"/>
    <a:srgbClr val="5375AD"/>
    <a:srgbClr val="778888"/>
    <a:srgbClr val="359B4C"/>
    <a:srgbClr val="00BBEE"/>
    <a:srgbClr val="FF0000"/>
    <a:srgbClr val="FF9900"/>
    <a:srgbClr val="99BEBE"/>
    <a:srgbClr val="BDC453"/>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662" autoAdjust="0"/>
    <p:restoredTop sz="94434" autoAdjust="0"/>
  </p:normalViewPr>
  <p:slideViewPr>
    <p:cSldViewPr snapToGrid="0" snapToObjects="1" showGuides="1">
      <p:cViewPr varScale="1">
        <p:scale>
          <a:sx n="92" d="100"/>
          <a:sy n="92" d="100"/>
        </p:scale>
        <p:origin x="1824" y="90"/>
      </p:cViewPr>
      <p:guideLst>
        <p:guide orient="horz" pos="2159"/>
        <p:guide orient="horz" pos="245"/>
        <p:guide orient="horz" pos="665"/>
        <p:guide orient="horz" pos="732"/>
        <p:guide orient="horz" pos="4223"/>
        <p:guide orient="horz" pos="4142"/>
        <p:guide orient="horz" pos="4090"/>
        <p:guide orient="horz" pos="811"/>
        <p:guide orient="horz" pos="2451"/>
        <p:guide pos="287"/>
        <p:guide pos="5473"/>
        <p:guide pos="2845"/>
        <p:guide pos="2915"/>
        <p:guide pos="2881"/>
        <p:guide pos="5504"/>
        <p:guide pos="1970"/>
        <p:guide pos="3790"/>
        <p:guide pos="3721"/>
        <p:guide pos="2037"/>
        <p:guide pos="5526"/>
        <p:guide pos="2813"/>
        <p:guide pos="2948"/>
        <p:guide pos="2061"/>
        <p:guide pos="3699"/>
        <p:guide pos="1925"/>
        <p:guide pos="383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54" d="100"/>
          <a:sy n="54" d="100"/>
        </p:scale>
        <p:origin x="2820"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102"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95" Type="http://schemas.openxmlformats.org/officeDocument/2006/relationships/font" Target="fonts/font1.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notesMaster" Target="notesMasters/notesMaster1.xml"/><Relationship Id="rId98" Type="http://schemas.openxmlformats.org/officeDocument/2006/relationships/font" Target="fonts/font4.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handoutMaster" Target="handoutMasters/handoutMaster1.xml"/><Relationship Id="rId99" Type="http://schemas.openxmlformats.org/officeDocument/2006/relationships/tags" Target="tags/tag1.xml"/><Relationship Id="rId10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font" Target="fonts/font3.fntdata"/><Relationship Id="rId10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NULL"/></Relationships>
</file>

<file path=ppt/drawings/_rels/vmlDrawing2.vml.rels><?xml version="1.0" encoding="UTF-8" standalone="yes"?>
<Relationships xmlns="http://schemas.openxmlformats.org/package/2006/relationships"><Relationship Id="rId1" Type="http://schemas.openxmlformats.org/officeDocument/2006/relationships/image" Target="NULL"/></Relationships>
</file>

<file path=ppt/drawings/_rels/vmlDrawing3.vml.rels><?xml version="1.0" encoding="UTF-8" standalone="yes"?>
<Relationships xmlns="http://schemas.openxmlformats.org/package/2006/relationships"><Relationship Id="rId1" Type="http://schemas.openxmlformats.org/officeDocument/2006/relationships/image" Target="NULL"/></Relationships>
</file>

<file path=ppt/drawings/_rels/vmlDrawing4.vml.rels><?xml version="1.0" encoding="UTF-8" standalone="yes"?>
<Relationships xmlns="http://schemas.openxmlformats.org/package/2006/relationships"><Relationship Id="rId1" Type="http://schemas.openxmlformats.org/officeDocument/2006/relationships/image" Target="NULL"/></Relationships>
</file>

<file path=ppt/drawings/_rels/vmlDrawing5.vml.rels><?xml version="1.0" encoding="UTF-8" standalone="yes"?>
<Relationships xmlns="http://schemas.openxmlformats.org/package/2006/relationships"><Relationship Id="rId1" Type="http://schemas.openxmlformats.org/officeDocument/2006/relationships/image" Target="NULL"/></Relationships>
</file>

<file path=ppt/drawings/_rels/vmlDrawing6.vml.rels><?xml version="1.0" encoding="UTF-8" standalone="yes"?>
<Relationships xmlns="http://schemas.openxmlformats.org/package/2006/relationships"><Relationship Id="rId1" Type="http://schemas.openxmlformats.org/officeDocument/2006/relationships/image" Target="NULL"/></Relationships>
</file>

<file path=ppt/drawings/_rels/vmlDrawing7.vml.rels><?xml version="1.0" encoding="UTF-8" standalone="yes"?>
<Relationships xmlns="http://schemas.openxmlformats.org/package/2006/relationships"><Relationship Id="rId1" Type="http://schemas.openxmlformats.org/officeDocument/2006/relationships/image" Target="NULL"/></Relationships>
</file>

<file path=ppt/drawings/_rels/vmlDrawing8.vml.rels><?xml version="1.0" encoding="UTF-8" standalone="yes"?>
<Relationships xmlns="http://schemas.openxmlformats.org/package/2006/relationships"><Relationship Id="rId1" Type="http://schemas.openxmlformats.org/officeDocument/2006/relationships/image" Target="NULL"/></Relationships>
</file>

<file path=ppt/drawings/_rels/vmlDrawing9.vml.rels><?xml version="1.0" encoding="UTF-8" standalone="yes"?>
<Relationships xmlns="http://schemas.openxmlformats.org/package/2006/relationships"><Relationship Id="rId1" Type="http://schemas.openxmlformats.org/officeDocument/2006/relationships/image" Target="NULL"/></Relationships>
</file>

<file path=ppt/drawings/_rels/vmlDrawing10.vml.rels><?xml version="1.0" encoding="UTF-8" standalone="yes"?>
<Relationships xmlns="http://schemas.openxmlformats.org/package/2006/relationships"><Relationship Id="rId1" Type="http://schemas.openxmlformats.org/officeDocument/2006/relationships/image" Target="NULL"/></Relationships>
</file>

<file path=ppt/drawings/_rels/vmlDrawing11.vml.rels><?xml version="1.0" encoding="UTF-8" standalone="yes"?>
<Relationships xmlns="http://schemas.openxmlformats.org/package/2006/relationships"><Relationship Id="rId1" Type="http://schemas.openxmlformats.org/officeDocument/2006/relationships/image" Target="NULL"/></Relationships>
</file>

<file path=ppt/drawings/_rels/vmlDrawing12.vml.rels><?xml version="1.0" encoding="UTF-8" standalone="yes"?>
<Relationships xmlns="http://schemas.openxmlformats.org/package/2006/relationships"><Relationship Id="rId1" Type="http://schemas.openxmlformats.org/officeDocument/2006/relationships/image" Target="NULL"/></Relationships>
</file>

<file path=ppt/drawings/_rels/vmlDrawing13.vml.rels><?xml version="1.0" encoding="UTF-8" standalone="yes"?>
<Relationships xmlns="http://schemas.openxmlformats.org/package/2006/relationships"><Relationship Id="rId1" Type="http://schemas.openxmlformats.org/officeDocument/2006/relationships/image" Target="NULL"/></Relationships>
</file>

<file path=ppt/drawings/_rels/vmlDrawing14.vml.rels><?xml version="1.0" encoding="UTF-8" standalone="yes"?>
<Relationships xmlns="http://schemas.openxmlformats.org/package/2006/relationships"><Relationship Id="rId1" Type="http://schemas.openxmlformats.org/officeDocument/2006/relationships/image" Target="NULL"/></Relationships>
</file>

<file path=ppt/drawings/_rels/vmlDrawing15.vml.rels><?xml version="1.0" encoding="UTF-8" standalone="yes"?>
<Relationships xmlns="http://schemas.openxmlformats.org/package/2006/relationships"><Relationship Id="rId1" Type="http://schemas.openxmlformats.org/officeDocument/2006/relationships/image" Target="NULL"/></Relationships>
</file>

<file path=ppt/drawings/_rels/vmlDrawing16.vml.rels><?xml version="1.0" encoding="UTF-8" standalone="yes"?>
<Relationships xmlns="http://schemas.openxmlformats.org/package/2006/relationships"><Relationship Id="rId1" Type="http://schemas.openxmlformats.org/officeDocument/2006/relationships/image" Target="NULL"/></Relationships>
</file>

<file path=ppt/drawings/_rels/vmlDrawing17.vml.rels><?xml version="1.0" encoding="UTF-8" standalone="yes"?>
<Relationships xmlns="http://schemas.openxmlformats.org/package/2006/relationships"><Relationship Id="rId1" Type="http://schemas.openxmlformats.org/officeDocument/2006/relationships/image" Target="NULL"/></Relationships>
</file>

<file path=ppt/drawings/_rels/vmlDrawing18.vml.rels><?xml version="1.0" encoding="UTF-8" standalone="yes"?>
<Relationships xmlns="http://schemas.openxmlformats.org/package/2006/relationships"><Relationship Id="rId1" Type="http://schemas.openxmlformats.org/officeDocument/2006/relationships/image" Target="NULL"/></Relationships>
</file>

<file path=ppt/drawings/_rels/vmlDrawing19.vml.rels><?xml version="1.0" encoding="UTF-8" standalone="yes"?>
<Relationships xmlns="http://schemas.openxmlformats.org/package/2006/relationships"><Relationship Id="rId1" Type="http://schemas.openxmlformats.org/officeDocument/2006/relationships/image" Target="NULL"/></Relationships>
</file>

<file path=ppt/drawings/_rels/vmlDrawing20.vml.rels><?xml version="1.0" encoding="UTF-8" standalone="yes"?>
<Relationships xmlns="http://schemas.openxmlformats.org/package/2006/relationships"><Relationship Id="rId1" Type="http://schemas.openxmlformats.org/officeDocument/2006/relationships/image" Target="NULL"/></Relationships>
</file>

<file path=ppt/drawings/_rels/vmlDrawing21.vml.rels><?xml version="1.0" encoding="UTF-8" standalone="yes"?>
<Relationships xmlns="http://schemas.openxmlformats.org/package/2006/relationships"><Relationship Id="rId1" Type="http://schemas.openxmlformats.org/officeDocument/2006/relationships/image" Target="NUL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dirty="0">
              <a:latin typeface="Arial"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128"/>
              </a:defRPr>
            </a:lvl1pPr>
          </a:lstStyle>
          <a:p>
            <a:pPr>
              <a:defRPr/>
            </a:pPr>
            <a:fld id="{5E4C7717-A413-48EB-9E74-9CC8DF624EC2}" type="datetime1">
              <a:rPr lang="en-US">
                <a:latin typeface="Arial" pitchFamily="34" charset="0"/>
              </a:rPr>
              <a:pPr>
                <a:defRPr/>
              </a:pPr>
              <a:t>1/7/2016</a:t>
            </a:fld>
            <a:endParaRPr lang="en-US" dirty="0">
              <a:latin typeface="Arial"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dirty="0">
              <a:latin typeface="Arial"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128"/>
              </a:defRPr>
            </a:lvl1pPr>
          </a:lstStyle>
          <a:p>
            <a:pPr>
              <a:defRPr/>
            </a:pPr>
            <a:fld id="{311B6921-662F-4705-A734-0B75ECCE1C4E}" type="slidenum">
              <a:rPr lang="en-US">
                <a:latin typeface="Arial" pitchFamily="34" charset="0"/>
              </a:rPr>
              <a:pPr>
                <a:defRPr/>
              </a:pPr>
              <a:t>‹#›</a:t>
            </a:fld>
            <a:endParaRPr lang="en-US" dirty="0">
              <a:latin typeface="Arial" pitchFamily="34" charset="0"/>
            </a:endParaRPr>
          </a:p>
        </p:txBody>
      </p:sp>
    </p:spTree>
    <p:extLst>
      <p:ext uri="{BB962C8B-B14F-4D97-AF65-F5344CB8AC3E}">
        <p14:creationId xmlns:p14="http://schemas.microsoft.com/office/powerpoint/2010/main" val="298572316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Arial" pitchFamily="34" charset="0"/>
                <a:ea typeface="+mn-ea"/>
                <a:cs typeface="+mn-cs"/>
              </a:defRPr>
            </a:lvl1pPr>
          </a:lstStyle>
          <a:p>
            <a:pPr>
              <a:defRPr/>
            </a:pPr>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Arial" pitchFamily="34" charset="0"/>
              </a:defRPr>
            </a:lvl1pPr>
          </a:lstStyle>
          <a:p>
            <a:pPr>
              <a:defRPr/>
            </a:pPr>
            <a:fld id="{4612C19A-B064-4A02-B1DD-2674A5B33712}" type="datetime1">
              <a:rPr lang="en-US" smtClean="0"/>
              <a:pPr>
                <a:defRPr/>
              </a:pPr>
              <a:t>1/7/2016</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dirty="0" smtClean="0"/>
              <a:t>Click to edit Master text styles</a:t>
            </a:r>
          </a:p>
          <a:p>
            <a:pPr lvl="1"/>
            <a:r>
              <a:rPr lang="en-US" noProof="0" dirty="0" smtClean="0"/>
              <a:t>Second level</a:t>
            </a:r>
          </a:p>
          <a:p>
            <a:pPr lvl="2"/>
            <a:r>
              <a:rPr lang="en-US" noProof="0" dirty="0" smtClean="0"/>
              <a:t>Third level</a:t>
            </a:r>
          </a:p>
          <a:p>
            <a:pPr lvl="3"/>
            <a:r>
              <a:rPr lang="en-US" noProof="0" dirty="0" smtClean="0"/>
              <a:t>Fourth level</a:t>
            </a:r>
          </a:p>
          <a:p>
            <a:pPr lvl="4"/>
            <a:r>
              <a:rPr lang="en-US" noProof="0" dirty="0" smtClean="0"/>
              <a:t>Fifth level</a:t>
            </a:r>
            <a:endParaRPr lang="en-GB" noProof="0" dirty="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Arial" pitchFamily="34" charset="0"/>
                <a:ea typeface="+mn-ea"/>
                <a:cs typeface="+mn-cs"/>
              </a:defRPr>
            </a:lvl1pPr>
          </a:lstStyle>
          <a:p>
            <a:pPr>
              <a:defRPr/>
            </a:pPr>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Arial" pitchFamily="34" charset="0"/>
              </a:defRPr>
            </a:lvl1pPr>
          </a:lstStyle>
          <a:p>
            <a:pPr>
              <a:defRPr/>
            </a:pPr>
            <a:fld id="{2E57817C-C749-40AE-A5FD-F6A74744A7F9}" type="slidenum">
              <a:rPr lang="en-GB" smtClean="0"/>
              <a:pPr>
                <a:defRPr/>
              </a:pPr>
              <a:t>‹#›</a:t>
            </a:fld>
            <a:endParaRPr lang="en-GB" dirty="0"/>
          </a:p>
        </p:txBody>
      </p:sp>
    </p:spTree>
    <p:extLst>
      <p:ext uri="{BB962C8B-B14F-4D97-AF65-F5344CB8AC3E}">
        <p14:creationId xmlns:p14="http://schemas.microsoft.com/office/powerpoint/2010/main" val="1795906298"/>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itchFamily="34" charset="0"/>
        <a:ea typeface="Arial" pitchFamily="34" charset="0"/>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Arial" pitchFamily="34" charset="0"/>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Arial" pitchFamily="34" charset="0"/>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Arial" pitchFamily="34" charset="0"/>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Arial"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noFill/>
          <a:ln>
            <a:solidFill>
              <a:srgbClr val="000000"/>
            </a:solidFill>
            <a:miter lim="800000"/>
            <a:headEnd/>
            <a:tailEnd/>
          </a:ln>
        </p:spPr>
      </p:sp>
      <p:sp>
        <p:nvSpPr>
          <p:cNvPr id="9219" name="Notes Placeholder 2"/>
          <p:cNvSpPr>
            <a:spLocks noGrp="1"/>
          </p:cNvSpPr>
          <p:nvPr>
            <p:ph type="body" idx="1"/>
          </p:nvPr>
        </p:nvSpPr>
        <p:spPr bwMode="auto">
          <a:noFill/>
        </p:spPr>
        <p:txBody>
          <a:bodyPr/>
          <a:lstStyle/>
          <a:p>
            <a:endParaRPr lang="en-US" dirty="0" smtClean="0"/>
          </a:p>
        </p:txBody>
      </p:sp>
    </p:spTree>
    <p:extLst>
      <p:ext uri="{BB962C8B-B14F-4D97-AF65-F5344CB8AC3E}">
        <p14:creationId xmlns:p14="http://schemas.microsoft.com/office/powerpoint/2010/main" val="19426543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54578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897139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37650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678668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22446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01401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564752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1191567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511981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98063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18713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28867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558664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628903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88534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848026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088335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404514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105713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7276785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5274343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846403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000936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5353370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7256329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877416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6787917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059769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7803078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0684481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2066416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830704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1876355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628356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532645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554005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668288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0982846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6043423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949491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829487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797660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3054967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8835420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190219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923974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816379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6621549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4369109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755861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76713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8937075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1021494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6191353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7711725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6818406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915601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614798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11605245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35478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277863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3269886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5998619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5602925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3766639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2710166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6762956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0158952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5148416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5130740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114571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6082448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9941074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8705204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34468324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30975555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5469152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1921580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92704749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754681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78943458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US" sz="1400" kern="1200" dirty="0" smtClean="0">
              <a:solidFill>
                <a:schemeClr val="dk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E9BC4E5-2BC1-4F43-85DD-A1B8F74CB7EB}" type="slidenum">
              <a:rPr lang="en-US" smtClean="0">
                <a:solidFill>
                  <a:prstClr val="black"/>
                </a:solidFill>
              </a:rPr>
              <a:pPr/>
              <a:t>83</a:t>
            </a:fld>
            <a:endParaRPr lang="en-US" dirty="0">
              <a:solidFill>
                <a:prstClr val="black"/>
              </a:solidFill>
            </a:endParaRPr>
          </a:p>
        </p:txBody>
      </p:sp>
    </p:spTree>
    <p:extLst>
      <p:ext uri="{BB962C8B-B14F-4D97-AF65-F5344CB8AC3E}">
        <p14:creationId xmlns:p14="http://schemas.microsoft.com/office/powerpoint/2010/main" val="303681101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US" sz="1400" kern="1200" dirty="0" smtClean="0">
              <a:solidFill>
                <a:schemeClr val="dk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E9BC4E5-2BC1-4F43-85DD-A1B8F74CB7EB}" type="slidenum">
              <a:rPr lang="en-US" smtClean="0">
                <a:solidFill>
                  <a:prstClr val="black"/>
                </a:solidFill>
              </a:rPr>
              <a:pPr/>
              <a:t>84</a:t>
            </a:fld>
            <a:endParaRPr lang="en-US" dirty="0">
              <a:solidFill>
                <a:prstClr val="black"/>
              </a:solidFill>
            </a:endParaRPr>
          </a:p>
        </p:txBody>
      </p:sp>
    </p:spTree>
    <p:extLst>
      <p:ext uri="{BB962C8B-B14F-4D97-AF65-F5344CB8AC3E}">
        <p14:creationId xmlns:p14="http://schemas.microsoft.com/office/powerpoint/2010/main" val="402448716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86137489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9784773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3162608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387422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3.xml"/><Relationship Id="rId7" Type="http://schemas.openxmlformats.org/officeDocument/2006/relationships/image" Target="../media/image6.png"/><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6.xml"/><Relationship Id="rId7" Type="http://schemas.openxmlformats.org/officeDocument/2006/relationships/image" Target="../media/image6.png"/><Relationship Id="rId2" Type="http://schemas.openxmlformats.org/officeDocument/2006/relationships/tags" Target="../tags/tag5.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7.xml"/><Relationship Id="rId9"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9.xml"/><Relationship Id="rId7" Type="http://schemas.openxmlformats.org/officeDocument/2006/relationships/image" Target="../media/image4.png"/><Relationship Id="rId2" Type="http://schemas.openxmlformats.org/officeDocument/2006/relationships/tags" Target="../tags/tag8.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0.xml"/><Relationship Id="rId9"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2.xml"/><Relationship Id="rId7" Type="http://schemas.openxmlformats.org/officeDocument/2006/relationships/oleObject" Target="../embeddings/oleObject4.bin"/><Relationship Id="rId2" Type="http://schemas.openxmlformats.org/officeDocument/2006/relationships/tags" Target="../tags/tag11.xml"/><Relationship Id="rId1" Type="http://schemas.openxmlformats.org/officeDocument/2006/relationships/vmlDrawing" Target="../drawings/vmlDrawing4.v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15.xml"/><Relationship Id="rId7" Type="http://schemas.openxmlformats.org/officeDocument/2006/relationships/image" Target="../media/image4.png"/><Relationship Id="rId2" Type="http://schemas.openxmlformats.org/officeDocument/2006/relationships/tags" Target="../tags/tag14.xml"/><Relationship Id="rId1" Type="http://schemas.openxmlformats.org/officeDocument/2006/relationships/vmlDrawing" Target="../drawings/vmlDrawing5.v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16.xml"/><Relationship Id="rId9"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8.xml"/><Relationship Id="rId7" Type="http://schemas.openxmlformats.org/officeDocument/2006/relationships/image" Target="../media/image3.png"/><Relationship Id="rId2" Type="http://schemas.openxmlformats.org/officeDocument/2006/relationships/tags" Target="../tags/tag17.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slideMaster" Target="../slideMasters/slideMaster1.xml"/><Relationship Id="rId4" Type="http://schemas.openxmlformats.org/officeDocument/2006/relationships/tags" Target="../tags/tag19.xml"/><Relationship Id="rId9"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21.xml"/><Relationship Id="rId7" Type="http://schemas.openxmlformats.org/officeDocument/2006/relationships/image" Target="../media/image5.png"/><Relationship Id="rId2" Type="http://schemas.openxmlformats.org/officeDocument/2006/relationships/tags" Target="../tags/tag20.xml"/><Relationship Id="rId1" Type="http://schemas.openxmlformats.org/officeDocument/2006/relationships/vmlDrawing" Target="../drawings/vmlDrawing7.vml"/><Relationship Id="rId6" Type="http://schemas.openxmlformats.org/officeDocument/2006/relationships/image" Target="../media/image4.png"/><Relationship Id="rId5" Type="http://schemas.openxmlformats.org/officeDocument/2006/relationships/slideMaster" Target="../slideMasters/slideMaster1.xml"/><Relationship Id="rId4" Type="http://schemas.openxmlformats.org/officeDocument/2006/relationships/tags" Target="../tags/tag22.xml"/><Relationship Id="rId9" Type="http://schemas.openxmlformats.org/officeDocument/2006/relationships/oleObject" Target="../embeddings/oleObject7.bin"/></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24.xml"/><Relationship Id="rId7" Type="http://schemas.openxmlformats.org/officeDocument/2006/relationships/image" Target="../media/image3.png"/><Relationship Id="rId2" Type="http://schemas.openxmlformats.org/officeDocument/2006/relationships/tags" Target="../tags/tag23.xml"/><Relationship Id="rId1" Type="http://schemas.openxmlformats.org/officeDocument/2006/relationships/vmlDrawing" Target="../drawings/vmlDrawing8.vml"/><Relationship Id="rId6" Type="http://schemas.openxmlformats.org/officeDocument/2006/relationships/oleObject" Target="../embeddings/oleObject8.bin"/><Relationship Id="rId5" Type="http://schemas.openxmlformats.org/officeDocument/2006/relationships/slideMaster" Target="../slideMasters/slideMaster1.xml"/><Relationship Id="rId4" Type="http://schemas.openxmlformats.org/officeDocument/2006/relationships/tags" Target="../tags/tag25.xml"/><Relationship Id="rId9"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27.xml"/><Relationship Id="rId7" Type="http://schemas.openxmlformats.org/officeDocument/2006/relationships/image" Target="../media/image3.png"/><Relationship Id="rId2" Type="http://schemas.openxmlformats.org/officeDocument/2006/relationships/tags" Target="../tags/tag26.xml"/><Relationship Id="rId1" Type="http://schemas.openxmlformats.org/officeDocument/2006/relationships/vmlDrawing" Target="../drawings/vmlDrawing9.vml"/><Relationship Id="rId6" Type="http://schemas.openxmlformats.org/officeDocument/2006/relationships/oleObject" Target="../embeddings/oleObject9.bin"/><Relationship Id="rId5" Type="http://schemas.openxmlformats.org/officeDocument/2006/relationships/slideMaster" Target="../slideMasters/slideMaster1.xml"/><Relationship Id="rId4" Type="http://schemas.openxmlformats.org/officeDocument/2006/relationships/tags" Target="../tags/tag28.xml"/><Relationship Id="rId9"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0.xml"/><Relationship Id="rId7" Type="http://schemas.openxmlformats.org/officeDocument/2006/relationships/image" Target="../media/image5.png"/><Relationship Id="rId2" Type="http://schemas.openxmlformats.org/officeDocument/2006/relationships/tags" Target="../tags/tag29.xml"/><Relationship Id="rId1" Type="http://schemas.openxmlformats.org/officeDocument/2006/relationships/vmlDrawing" Target="../drawings/vmlDrawing10.vml"/><Relationship Id="rId6" Type="http://schemas.openxmlformats.org/officeDocument/2006/relationships/image" Target="../media/image4.png"/><Relationship Id="rId5" Type="http://schemas.openxmlformats.org/officeDocument/2006/relationships/slideMaster" Target="../slideMasters/slideMaster1.xml"/><Relationship Id="rId4" Type="http://schemas.openxmlformats.org/officeDocument/2006/relationships/tags" Target="../tags/tag31.xml"/><Relationship Id="rId9" Type="http://schemas.openxmlformats.org/officeDocument/2006/relationships/oleObject" Target="../embeddings/oleObject10.bin"/></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3.xml"/><Relationship Id="rId7" Type="http://schemas.openxmlformats.org/officeDocument/2006/relationships/image" Target="../media/image5.png"/><Relationship Id="rId2" Type="http://schemas.openxmlformats.org/officeDocument/2006/relationships/tags" Target="../tags/tag32.xml"/><Relationship Id="rId1" Type="http://schemas.openxmlformats.org/officeDocument/2006/relationships/vmlDrawing" Target="../drawings/vmlDrawing11.vml"/><Relationship Id="rId6" Type="http://schemas.openxmlformats.org/officeDocument/2006/relationships/image" Target="../media/image4.png"/><Relationship Id="rId5" Type="http://schemas.openxmlformats.org/officeDocument/2006/relationships/slideMaster" Target="../slideMasters/slideMaster1.xml"/><Relationship Id="rId4" Type="http://schemas.openxmlformats.org/officeDocument/2006/relationships/tags" Target="../tags/tag34.xml"/><Relationship Id="rId9" Type="http://schemas.openxmlformats.org/officeDocument/2006/relationships/oleObject" Target="../embeddings/oleObject11.bin"/></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36.xml"/><Relationship Id="rId7" Type="http://schemas.openxmlformats.org/officeDocument/2006/relationships/image" Target="../media/image3.png"/><Relationship Id="rId2" Type="http://schemas.openxmlformats.org/officeDocument/2006/relationships/tags" Target="../tags/tag35.xml"/><Relationship Id="rId1" Type="http://schemas.openxmlformats.org/officeDocument/2006/relationships/vmlDrawing" Target="../drawings/vmlDrawing12.vml"/><Relationship Id="rId6" Type="http://schemas.openxmlformats.org/officeDocument/2006/relationships/oleObject" Target="../embeddings/oleObject12.bin"/><Relationship Id="rId5"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9.xml"/><Relationship Id="rId7" Type="http://schemas.openxmlformats.org/officeDocument/2006/relationships/image" Target="../media/image5.png"/><Relationship Id="rId2" Type="http://schemas.openxmlformats.org/officeDocument/2006/relationships/tags" Target="../tags/tag38.xml"/><Relationship Id="rId1" Type="http://schemas.openxmlformats.org/officeDocument/2006/relationships/vmlDrawing" Target="../drawings/vmlDrawing13.vml"/><Relationship Id="rId6" Type="http://schemas.openxmlformats.org/officeDocument/2006/relationships/image" Target="../media/image4.png"/><Relationship Id="rId5" Type="http://schemas.openxmlformats.org/officeDocument/2006/relationships/slideMaster" Target="../slideMasters/slideMaster1.xml"/><Relationship Id="rId4" Type="http://schemas.openxmlformats.org/officeDocument/2006/relationships/tags" Target="../tags/tag40.xml"/><Relationship Id="rId9" Type="http://schemas.openxmlformats.org/officeDocument/2006/relationships/oleObject" Target="../embeddings/oleObject13.bin"/></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42.xml"/><Relationship Id="rId7" Type="http://schemas.openxmlformats.org/officeDocument/2006/relationships/image" Target="../media/image3.png"/><Relationship Id="rId2" Type="http://schemas.openxmlformats.org/officeDocument/2006/relationships/tags" Target="../tags/tag41.xml"/><Relationship Id="rId1" Type="http://schemas.openxmlformats.org/officeDocument/2006/relationships/vmlDrawing" Target="../drawings/vmlDrawing14.vml"/><Relationship Id="rId6" Type="http://schemas.openxmlformats.org/officeDocument/2006/relationships/oleObject" Target="../embeddings/oleObject14.bin"/><Relationship Id="rId5" Type="http://schemas.openxmlformats.org/officeDocument/2006/relationships/slideMaster" Target="../slideMasters/slideMaster1.xml"/><Relationship Id="rId4" Type="http://schemas.openxmlformats.org/officeDocument/2006/relationships/tags" Target="../tags/tag43.xml"/><Relationship Id="rId9"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vmlDrawing" Target="../drawings/vmlDrawing15.vml"/><Relationship Id="rId4" Type="http://schemas.openxmlformats.org/officeDocument/2006/relationships/oleObject" Target="../embeddings/oleObject15.bin"/></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5.xml"/><Relationship Id="rId1" Type="http://schemas.openxmlformats.org/officeDocument/2006/relationships/vmlDrawing" Target="../drawings/vmlDrawing16.vml"/><Relationship Id="rId4" Type="http://schemas.openxmlformats.org/officeDocument/2006/relationships/oleObject" Target="../embeddings/oleObject16.bin"/></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6.xml"/><Relationship Id="rId1" Type="http://schemas.openxmlformats.org/officeDocument/2006/relationships/vmlDrawing" Target="../drawings/vmlDrawing17.vml"/><Relationship Id="rId4" Type="http://schemas.openxmlformats.org/officeDocument/2006/relationships/oleObject" Target="../embeddings/oleObject17.bin"/></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vmlDrawing" Target="../drawings/vmlDrawing18.vml"/><Relationship Id="rId4" Type="http://schemas.openxmlformats.org/officeDocument/2006/relationships/oleObject" Target="../embeddings/oleObject18.bin"/></Relationships>
</file>

<file path=ppt/slideLayouts/_rels/slideLayout2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8.xml"/><Relationship Id="rId1" Type="http://schemas.openxmlformats.org/officeDocument/2006/relationships/vmlDrawing" Target="../drawings/vmlDrawing19.vml"/><Relationship Id="rId4" Type="http://schemas.openxmlformats.org/officeDocument/2006/relationships/oleObject" Target="../embeddings/oleObject19.bin"/></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vmlDrawing" Target="../drawings/vmlDrawing20.vml"/><Relationship Id="rId4" Type="http://schemas.openxmlformats.org/officeDocument/2006/relationships/oleObject" Target="../embeddings/oleObject20.bin"/></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0.xml"/><Relationship Id="rId1" Type="http://schemas.openxmlformats.org/officeDocument/2006/relationships/vmlDrawing" Target="../drawings/vmlDrawing21.vml"/><Relationship Id="rId4" Type="http://schemas.openxmlformats.org/officeDocument/2006/relationships/oleObject" Target="../embeddings/oleObject21.bin"/></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White Signature">
    <p:bg>
      <p:bgPr>
        <a:solidFill>
          <a:schemeClr val="accent2"/>
        </a:solidFill>
        <a:effectLst/>
      </p:bgPr>
    </p:bg>
    <p:spTree>
      <p:nvGrpSpPr>
        <p:cNvPr id="1" name=""/>
        <p:cNvGrpSpPr/>
        <p:nvPr/>
      </p:nvGrpSpPr>
      <p:grpSpPr>
        <a:xfrm>
          <a:off x="0" y="0"/>
          <a:ext cx="0" cy="0"/>
          <a:chOff x="0" y="0"/>
          <a:chExt cx="0" cy="0"/>
        </a:xfrm>
      </p:grpSpPr>
      <p:pic>
        <p:nvPicPr>
          <p:cNvPr id="19" name="Picture 18" descr="VeeRF_6460589_alt1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23" name="Picture 3" descr="Z:\PROJECTS\ACCENTURE\Analytics\801973_ PPT Template Revision\BACKGROUND\Lockup_Example\AccentureAnalytics_w-02.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7200" y="3925226"/>
            <a:ext cx="2933561" cy="375869"/>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p:cNvSpPr>
            <a:spLocks noGrp="1"/>
          </p:cNvSpPr>
          <p:nvPr>
            <p:ph type="body" sz="quarter" idx="10" hasCustomPrompt="1"/>
          </p:nvPr>
        </p:nvSpPr>
        <p:spPr>
          <a:xfrm>
            <a:off x="458788" y="4301095"/>
            <a:ext cx="4024312" cy="1233311"/>
          </a:xfrm>
        </p:spPr>
        <p:txBody>
          <a:bodyPr>
            <a:noAutofit/>
          </a:bodyPr>
          <a:lstStyle>
            <a:lvl1pPr marL="0" indent="0">
              <a:lnSpc>
                <a:spcPts val="3900"/>
              </a:lnSpc>
              <a:spcBef>
                <a:spcPts val="0"/>
              </a:spcBef>
              <a:spcAft>
                <a:spcPts val="0"/>
              </a:spcAft>
              <a:buNone/>
              <a:defRPr sz="3600" baseline="0">
                <a:solidFill>
                  <a:schemeClr val="bg1"/>
                </a:solidFill>
              </a:defRPr>
            </a:lvl1pPr>
            <a:lvl2pPr marL="0" indent="0">
              <a:lnSpc>
                <a:spcPct val="100000"/>
              </a:lnSpc>
              <a:spcAft>
                <a:spcPts val="0"/>
              </a:spcAft>
              <a:buNone/>
              <a:defRPr sz="1900">
                <a:solidFill>
                  <a:schemeClr val="bg1"/>
                </a:solidFill>
              </a:defRPr>
            </a:lvl2pPr>
            <a:lvl3pPr marL="468000" indent="0">
              <a:buNone/>
              <a:defRPr/>
            </a:lvl3pPr>
          </a:lstStyle>
          <a:p>
            <a:pPr lvl="0"/>
            <a:r>
              <a:rPr lang="en-US" dirty="0" smtClean="0"/>
              <a:t>Master Title Slide Headline</a:t>
            </a:r>
          </a:p>
        </p:txBody>
      </p:sp>
      <p:grpSp>
        <p:nvGrpSpPr>
          <p:cNvPr id="14" name="Group 13"/>
          <p:cNvGrpSpPr/>
          <p:nvPr userDrawn="1"/>
        </p:nvGrpSpPr>
        <p:grpSpPr>
          <a:xfrm>
            <a:off x="5658095" y="2748391"/>
            <a:ext cx="3074395" cy="2060440"/>
            <a:chOff x="5701703" y="682760"/>
            <a:chExt cx="3074395" cy="2060440"/>
          </a:xfrm>
        </p:grpSpPr>
        <p:sp>
          <p:nvSpPr>
            <p:cNvPr id="15" name="Freeform 14"/>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6" name="Picture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grpSp>
        <p:nvGrpSpPr>
          <p:cNvPr id="17" name="Group 16"/>
          <p:cNvGrpSpPr/>
          <p:nvPr userDrawn="1"/>
        </p:nvGrpSpPr>
        <p:grpSpPr>
          <a:xfrm>
            <a:off x="458788" y="5831083"/>
            <a:ext cx="8216900" cy="737062"/>
            <a:chOff x="458788" y="5831083"/>
            <a:chExt cx="8216900" cy="737062"/>
          </a:xfrm>
        </p:grpSpPr>
        <p:pic>
          <p:nvPicPr>
            <p:cNvPr id="25"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tretch>
              <a:fillRect/>
            </a:stretch>
          </p:blipFill>
          <p:spPr bwMode="auto">
            <a:xfrm>
              <a:off x="4932363" y="6265654"/>
              <a:ext cx="3743325" cy="23770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3"/>
            <p:cNvPicPr>
              <a:picLocks noChangeAspect="1" noChangeArrowheads="1"/>
            </p:cNvPicPr>
            <p:nvPr userDrawn="1"/>
          </p:nvPicPr>
          <p:blipFill>
            <a:blip r:embed="rId6" cstate="print">
              <a:extLst>
                <a:ext uri="{28A0092B-C50C-407E-A947-70E740481C1C}">
                  <a14:useLocalDpi xmlns:a14="http://schemas.microsoft.com/office/drawing/2010/main" val="0"/>
                </a:ext>
              </a:extLst>
            </a:blip>
            <a:stretch>
              <a:fillRect/>
            </a:stretch>
          </p:blipFill>
          <p:spPr bwMode="auto">
            <a:xfrm>
              <a:off x="458788" y="5831083"/>
              <a:ext cx="3433155" cy="73706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33706819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1_Title Slide_White_Top">
    <p:bg>
      <p:bgPr>
        <a:solidFill>
          <a:schemeClr val="bg1"/>
        </a:solidFill>
        <a:effectLst/>
      </p:bgPr>
    </p:bg>
    <p:spTree>
      <p:nvGrpSpPr>
        <p:cNvPr id="1" name=""/>
        <p:cNvGrpSpPr/>
        <p:nvPr/>
      </p:nvGrpSpPr>
      <p:grpSpPr>
        <a:xfrm>
          <a:off x="0" y="0"/>
          <a:ext cx="0" cy="0"/>
          <a:chOff x="0" y="0"/>
          <a:chExt cx="0" cy="0"/>
        </a:xfrm>
      </p:grpSpPr>
      <p:graphicFrame>
        <p:nvGraphicFramePr>
          <p:cNvPr id="44" name="Objekt 43"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3198" name="think-cell Slide" r:id="rId6" imgW="0" imgH="0" progId="">
                  <p:embed/>
                </p:oleObj>
              </mc:Choice>
              <mc:Fallback>
                <p:oleObj name="think-cell Slide" r:id="rId6"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p:cNvSpPr>
            <a:spLocks noGrp="1"/>
          </p:cNvSpPr>
          <p:nvPr>
            <p:ph type="ctrTitle"/>
            <p:custDataLst>
              <p:tags r:id="rId3"/>
            </p:custDataLst>
          </p:nvPr>
        </p:nvSpPr>
        <p:spPr bwMode="auto">
          <a:xfrm>
            <a:off x="458788" y="2557997"/>
            <a:ext cx="4113212" cy="943012"/>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defRPr lang="de-DE" sz="2800" i="0" dirty="0">
                <a:solidFill>
                  <a:schemeClr val="tx1"/>
                </a:solidFill>
                <a:latin typeface="Arial"/>
              </a:defRPr>
            </a:lvl1pPr>
          </a:lstStyle>
          <a:p>
            <a:pPr marL="0" lvl="0" indent="0">
              <a:lnSpc>
                <a:spcPct val="100000"/>
              </a:lnSpc>
              <a:buNone/>
            </a:pPr>
            <a:r>
              <a:rPr lang="en-US" smtClean="0"/>
              <a:t>Click to edit Master title style</a:t>
            </a:r>
            <a:endParaRPr lang="de-DE" dirty="0"/>
          </a:p>
        </p:txBody>
      </p:sp>
      <p:sp>
        <p:nvSpPr>
          <p:cNvPr id="3" name="Untertitel 2"/>
          <p:cNvSpPr>
            <a:spLocks noGrp="1"/>
          </p:cNvSpPr>
          <p:nvPr>
            <p:ph type="subTitle" idx="1"/>
            <p:custDataLst>
              <p:tags r:id="rId4"/>
            </p:custDataLst>
          </p:nvPr>
        </p:nvSpPr>
        <p:spPr bwMode="auto">
          <a:xfrm>
            <a:off x="461963" y="3501008"/>
            <a:ext cx="4110037" cy="615553"/>
          </a:xfrm>
          <a:prstGeom prst="rect">
            <a:avLst/>
          </a:prstGeom>
          <a:ln w="9525"/>
        </p:spPr>
        <p:txBody>
          <a:bodyPr lIns="0" tIns="0" rIns="0" bIns="0">
            <a:noAutofit/>
          </a:bodyPr>
          <a:lstStyle>
            <a:lvl1pPr marL="0" indent="0" algn="l" rtl="0" eaLnBrk="1" fontAlgn="base" hangingPunct="1">
              <a:spcBef>
                <a:spcPts val="800"/>
              </a:spcBef>
              <a:spcAft>
                <a:spcPct val="0"/>
              </a:spcAft>
              <a:buClr>
                <a:schemeClr val="tx1"/>
              </a:buClr>
              <a:buFontTx/>
              <a:buNone/>
              <a:defRPr lang="de-DE" sz="2000" dirty="0">
                <a:solidFill>
                  <a:schemeClr val="tx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de-DE" dirty="0"/>
          </a:p>
        </p:txBody>
      </p:sp>
      <p:grpSp>
        <p:nvGrpSpPr>
          <p:cNvPr id="5" name="Group 4"/>
          <p:cNvGrpSpPr/>
          <p:nvPr userDrawn="1"/>
        </p:nvGrpSpPr>
        <p:grpSpPr>
          <a:xfrm>
            <a:off x="458787" y="430542"/>
            <a:ext cx="8216901" cy="741382"/>
            <a:chOff x="458787" y="430542"/>
            <a:chExt cx="8216901" cy="741382"/>
          </a:xfrm>
        </p:grpSpPr>
        <p:pic>
          <p:nvPicPr>
            <p:cNvPr id="15"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tretch>
              <a:fillRect/>
            </a:stretch>
          </p:blipFill>
          <p:spPr bwMode="auto">
            <a:xfrm>
              <a:off x="4932363" y="865517"/>
              <a:ext cx="3743325" cy="23770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p:cNvPicPr>
              <a:picLocks noChangeAspect="1" noChangeArrowheads="1"/>
            </p:cNvPicPr>
            <p:nvPr userDrawn="1"/>
          </p:nvPicPr>
          <p:blipFill>
            <a:blip r:embed="rId8" cstate="print">
              <a:extLst>
                <a:ext uri="{28A0092B-C50C-407E-A947-70E740481C1C}">
                  <a14:useLocalDpi xmlns:a14="http://schemas.microsoft.com/office/drawing/2010/main" val="0"/>
                </a:ext>
              </a:extLst>
            </a:blip>
            <a:stretch>
              <a:fillRect/>
            </a:stretch>
          </p:blipFill>
          <p:spPr bwMode="auto">
            <a:xfrm>
              <a:off x="458787" y="430542"/>
              <a:ext cx="3453283" cy="74138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oup 24"/>
          <p:cNvGrpSpPr/>
          <p:nvPr userDrawn="1"/>
        </p:nvGrpSpPr>
        <p:grpSpPr>
          <a:xfrm>
            <a:off x="5659332" y="1917675"/>
            <a:ext cx="3074395" cy="2060440"/>
            <a:chOff x="5659332" y="620688"/>
            <a:chExt cx="3074395" cy="2060440"/>
          </a:xfrm>
        </p:grpSpPr>
        <p:sp>
          <p:nvSpPr>
            <p:cNvPr id="26" name="Freeform 8"/>
            <p:cNvSpPr/>
            <p:nvPr userDrawn="1"/>
          </p:nvSpPr>
          <p:spPr>
            <a:xfrm>
              <a:off x="6121920" y="620688"/>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7" name="Picture 10"/>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5659332" y="1453505"/>
              <a:ext cx="3074395" cy="251999"/>
            </a:xfrm>
            <a:prstGeom prst="rect">
              <a:avLst/>
            </a:prstGeom>
          </p:spPr>
        </p:pic>
      </p:grpSp>
    </p:spTree>
    <p:extLst>
      <p:ext uri="{BB962C8B-B14F-4D97-AF65-F5344CB8AC3E}">
        <p14:creationId xmlns:p14="http://schemas.microsoft.com/office/powerpoint/2010/main" val="314580329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2_Title Slide_White_Bottom">
    <p:bg>
      <p:bgPr>
        <a:solidFill>
          <a:schemeClr val="bg1"/>
        </a:solidFill>
        <a:effectLst/>
      </p:bgPr>
    </p:bg>
    <p:spTree>
      <p:nvGrpSpPr>
        <p:cNvPr id="1" name=""/>
        <p:cNvGrpSpPr/>
        <p:nvPr/>
      </p:nvGrpSpPr>
      <p:grpSpPr>
        <a:xfrm>
          <a:off x="0" y="0"/>
          <a:ext cx="0" cy="0"/>
          <a:chOff x="0" y="0"/>
          <a:chExt cx="0" cy="0"/>
        </a:xfrm>
      </p:grpSpPr>
      <p:graphicFrame>
        <p:nvGraphicFramePr>
          <p:cNvPr id="44" name="Objekt 43"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4222" name="think-cell Slide" r:id="rId6" imgW="0" imgH="0" progId="">
                  <p:embed/>
                </p:oleObj>
              </mc:Choice>
              <mc:Fallback>
                <p:oleObj name="think-cell Slide" r:id="rId6"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p:cNvSpPr>
            <a:spLocks noGrp="1"/>
          </p:cNvSpPr>
          <p:nvPr>
            <p:ph type="ctrTitle"/>
            <p:custDataLst>
              <p:tags r:id="rId3"/>
            </p:custDataLst>
          </p:nvPr>
        </p:nvSpPr>
        <p:spPr bwMode="auto">
          <a:xfrm>
            <a:off x="458788" y="2557997"/>
            <a:ext cx="4113212" cy="943012"/>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defRPr lang="de-DE" sz="2800" i="0" dirty="0">
                <a:solidFill>
                  <a:schemeClr val="tx1"/>
                </a:solidFill>
                <a:latin typeface="Arial"/>
              </a:defRPr>
            </a:lvl1pPr>
          </a:lstStyle>
          <a:p>
            <a:pPr marL="0" lvl="0" indent="0">
              <a:lnSpc>
                <a:spcPct val="100000"/>
              </a:lnSpc>
              <a:buNone/>
            </a:pPr>
            <a:r>
              <a:rPr lang="en-US" smtClean="0"/>
              <a:t>Click to edit Master title style</a:t>
            </a:r>
            <a:endParaRPr lang="de-DE" dirty="0"/>
          </a:p>
        </p:txBody>
      </p:sp>
      <p:sp>
        <p:nvSpPr>
          <p:cNvPr id="3" name="Untertitel 2"/>
          <p:cNvSpPr>
            <a:spLocks noGrp="1"/>
          </p:cNvSpPr>
          <p:nvPr>
            <p:ph type="subTitle" idx="1"/>
            <p:custDataLst>
              <p:tags r:id="rId4"/>
            </p:custDataLst>
          </p:nvPr>
        </p:nvSpPr>
        <p:spPr bwMode="auto">
          <a:xfrm>
            <a:off x="461963" y="3501008"/>
            <a:ext cx="4110037" cy="615553"/>
          </a:xfrm>
          <a:prstGeom prst="rect">
            <a:avLst/>
          </a:prstGeom>
          <a:ln w="9525"/>
        </p:spPr>
        <p:txBody>
          <a:bodyPr lIns="0" tIns="0" rIns="0" bIns="0">
            <a:noAutofit/>
          </a:bodyPr>
          <a:lstStyle>
            <a:lvl1pPr marL="0" indent="0" algn="l" rtl="0" eaLnBrk="1" fontAlgn="base" hangingPunct="1">
              <a:spcBef>
                <a:spcPts val="800"/>
              </a:spcBef>
              <a:spcAft>
                <a:spcPct val="0"/>
              </a:spcAft>
              <a:buClr>
                <a:schemeClr val="tx1"/>
              </a:buClr>
              <a:buFontTx/>
              <a:buNone/>
              <a:defRPr lang="de-DE" sz="2000" dirty="0">
                <a:solidFill>
                  <a:schemeClr val="tx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de-DE" dirty="0"/>
          </a:p>
        </p:txBody>
      </p:sp>
      <p:grpSp>
        <p:nvGrpSpPr>
          <p:cNvPr id="5" name="Group 4"/>
          <p:cNvGrpSpPr/>
          <p:nvPr userDrawn="1"/>
        </p:nvGrpSpPr>
        <p:grpSpPr>
          <a:xfrm>
            <a:off x="458787" y="5830678"/>
            <a:ext cx="8216901" cy="741382"/>
            <a:chOff x="458787" y="5830678"/>
            <a:chExt cx="8216901" cy="741382"/>
          </a:xfrm>
        </p:grpSpPr>
        <p:pic>
          <p:nvPicPr>
            <p:cNvPr id="15"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tretch>
              <a:fillRect/>
            </a:stretch>
          </p:blipFill>
          <p:spPr bwMode="auto">
            <a:xfrm>
              <a:off x="4932363" y="6265653"/>
              <a:ext cx="3743325" cy="23770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p:cNvPicPr>
              <a:picLocks noChangeAspect="1" noChangeArrowheads="1"/>
            </p:cNvPicPr>
            <p:nvPr userDrawn="1"/>
          </p:nvPicPr>
          <p:blipFill>
            <a:blip r:embed="rId8" cstate="print">
              <a:extLst>
                <a:ext uri="{28A0092B-C50C-407E-A947-70E740481C1C}">
                  <a14:useLocalDpi xmlns:a14="http://schemas.microsoft.com/office/drawing/2010/main" val="0"/>
                </a:ext>
              </a:extLst>
            </a:blip>
            <a:stretch>
              <a:fillRect/>
            </a:stretch>
          </p:blipFill>
          <p:spPr bwMode="auto">
            <a:xfrm>
              <a:off x="458787" y="5830678"/>
              <a:ext cx="3453283" cy="74138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oup 24"/>
          <p:cNvGrpSpPr/>
          <p:nvPr userDrawn="1"/>
        </p:nvGrpSpPr>
        <p:grpSpPr>
          <a:xfrm>
            <a:off x="5659332" y="988385"/>
            <a:ext cx="3074395" cy="2060440"/>
            <a:chOff x="5659332" y="620688"/>
            <a:chExt cx="3074395" cy="2060440"/>
          </a:xfrm>
        </p:grpSpPr>
        <p:sp>
          <p:nvSpPr>
            <p:cNvPr id="26" name="Freeform 8"/>
            <p:cNvSpPr/>
            <p:nvPr userDrawn="1"/>
          </p:nvSpPr>
          <p:spPr>
            <a:xfrm>
              <a:off x="6121920" y="620688"/>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7" name="Picture 10"/>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5659332" y="1453505"/>
              <a:ext cx="3074395" cy="251999"/>
            </a:xfrm>
            <a:prstGeom prst="rect">
              <a:avLst/>
            </a:prstGeom>
          </p:spPr>
        </p:pic>
      </p:grpSp>
    </p:spTree>
    <p:extLst>
      <p:ext uri="{BB962C8B-B14F-4D97-AF65-F5344CB8AC3E}">
        <p14:creationId xmlns:p14="http://schemas.microsoft.com/office/powerpoint/2010/main" val="3003525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3_Title Slide_Sky Blue_Top">
    <p:bg>
      <p:bgPr>
        <a:solidFill>
          <a:srgbClr val="408FCD"/>
        </a:solidFill>
        <a:effectLst/>
      </p:bgPr>
    </p:bg>
    <p:spTree>
      <p:nvGrpSpPr>
        <p:cNvPr id="1" name=""/>
        <p:cNvGrpSpPr/>
        <p:nvPr/>
      </p:nvGrpSpPr>
      <p:grpSpPr>
        <a:xfrm>
          <a:off x="0" y="0"/>
          <a:ext cx="0" cy="0"/>
          <a:chOff x="0" y="0"/>
          <a:chExt cx="0" cy="0"/>
        </a:xfrm>
      </p:grpSpPr>
      <p:graphicFrame>
        <p:nvGraphicFramePr>
          <p:cNvPr id="44" name="Objekt 43"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5246" name="think-cell Slide" r:id="rId6" imgW="0" imgH="0" progId="">
                  <p:embed/>
                </p:oleObj>
              </mc:Choice>
              <mc:Fallback>
                <p:oleObj name="think-cell Slide" r:id="rId6"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p:cNvSpPr>
            <a:spLocks noGrp="1"/>
          </p:cNvSpPr>
          <p:nvPr>
            <p:ph type="ctrTitle"/>
            <p:custDataLst>
              <p:tags r:id="rId3"/>
            </p:custDataLst>
          </p:nvPr>
        </p:nvSpPr>
        <p:spPr bwMode="auto">
          <a:xfrm>
            <a:off x="458788" y="2557997"/>
            <a:ext cx="4113212" cy="943012"/>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defRPr lang="de-DE" sz="2800" i="0" dirty="0">
                <a:solidFill>
                  <a:schemeClr val="bg1"/>
                </a:solidFill>
                <a:latin typeface="Arial"/>
              </a:defRPr>
            </a:lvl1pPr>
          </a:lstStyle>
          <a:p>
            <a:pPr marL="0" lvl="0" indent="0">
              <a:lnSpc>
                <a:spcPct val="100000"/>
              </a:lnSpc>
              <a:buNone/>
            </a:pPr>
            <a:r>
              <a:rPr lang="en-US" smtClean="0"/>
              <a:t>Click to edit Master title style</a:t>
            </a:r>
            <a:endParaRPr lang="de-DE" dirty="0"/>
          </a:p>
        </p:txBody>
      </p:sp>
      <p:sp>
        <p:nvSpPr>
          <p:cNvPr id="3" name="Untertitel 2"/>
          <p:cNvSpPr>
            <a:spLocks noGrp="1"/>
          </p:cNvSpPr>
          <p:nvPr>
            <p:ph type="subTitle" idx="1"/>
            <p:custDataLst>
              <p:tags r:id="rId4"/>
            </p:custDataLst>
          </p:nvPr>
        </p:nvSpPr>
        <p:spPr bwMode="auto">
          <a:xfrm>
            <a:off x="461963" y="3501008"/>
            <a:ext cx="4110037" cy="615553"/>
          </a:xfrm>
          <a:prstGeom prst="rect">
            <a:avLst/>
          </a:prstGeom>
          <a:ln w="9525"/>
        </p:spPr>
        <p:txBody>
          <a:bodyPr lIns="0" tIns="0" rIns="0" bIns="0">
            <a:noAutofit/>
          </a:bodyPr>
          <a:lstStyle>
            <a:lvl1pPr marL="0" indent="0" algn="l" rtl="0" eaLnBrk="1" fontAlgn="base" hangingPunct="1">
              <a:spcBef>
                <a:spcPts val="800"/>
              </a:spcBef>
              <a:spcAft>
                <a:spcPct val="0"/>
              </a:spcAft>
              <a:buClr>
                <a:schemeClr val="tx1"/>
              </a:buClr>
              <a:buFontTx/>
              <a:buNone/>
              <a:defRPr lang="de-DE" sz="2000" dirty="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de-DE" dirty="0"/>
          </a:p>
        </p:txBody>
      </p:sp>
      <p:grpSp>
        <p:nvGrpSpPr>
          <p:cNvPr id="11" name="Group 10"/>
          <p:cNvGrpSpPr/>
          <p:nvPr userDrawn="1"/>
        </p:nvGrpSpPr>
        <p:grpSpPr>
          <a:xfrm>
            <a:off x="458788" y="430947"/>
            <a:ext cx="8216900" cy="737062"/>
            <a:chOff x="458788" y="430947"/>
            <a:chExt cx="8216900" cy="737062"/>
          </a:xfrm>
        </p:grpSpPr>
        <p:pic>
          <p:nvPicPr>
            <p:cNvPr id="12"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tretch>
              <a:fillRect/>
            </a:stretch>
          </p:blipFill>
          <p:spPr bwMode="auto">
            <a:xfrm>
              <a:off x="4932363" y="865518"/>
              <a:ext cx="3743325" cy="2377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p:cNvPicPr>
              <a:picLocks noChangeAspect="1" noChangeArrowheads="1"/>
            </p:cNvPicPr>
            <p:nvPr userDrawn="1"/>
          </p:nvPicPr>
          <p:blipFill>
            <a:blip r:embed="rId8" cstate="print">
              <a:extLst>
                <a:ext uri="{28A0092B-C50C-407E-A947-70E740481C1C}">
                  <a14:useLocalDpi xmlns:a14="http://schemas.microsoft.com/office/drawing/2010/main" val="0"/>
                </a:ext>
              </a:extLst>
            </a:blip>
            <a:stretch>
              <a:fillRect/>
            </a:stretch>
          </p:blipFill>
          <p:spPr bwMode="auto">
            <a:xfrm>
              <a:off x="458788" y="430947"/>
              <a:ext cx="3433155" cy="7370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p:cNvGrpSpPr/>
          <p:nvPr userDrawn="1"/>
        </p:nvGrpSpPr>
        <p:grpSpPr>
          <a:xfrm>
            <a:off x="5658095" y="1915366"/>
            <a:ext cx="3074395" cy="2060440"/>
            <a:chOff x="5701703" y="682760"/>
            <a:chExt cx="3074395" cy="2060440"/>
          </a:xfrm>
        </p:grpSpPr>
        <p:sp>
          <p:nvSpPr>
            <p:cNvPr id="16" name="Freeform 15"/>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7" name="Picture 1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spTree>
    <p:extLst>
      <p:ext uri="{BB962C8B-B14F-4D97-AF65-F5344CB8AC3E}">
        <p14:creationId xmlns:p14="http://schemas.microsoft.com/office/powerpoint/2010/main" val="242705438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4_Title Slide_Sky Blue_Bottom">
    <p:bg>
      <p:bgPr>
        <a:solidFill>
          <a:srgbClr val="408FCD"/>
        </a:solidFill>
        <a:effectLst/>
      </p:bgPr>
    </p:bg>
    <p:spTree>
      <p:nvGrpSpPr>
        <p:cNvPr id="1" name=""/>
        <p:cNvGrpSpPr/>
        <p:nvPr/>
      </p:nvGrpSpPr>
      <p:grpSpPr>
        <a:xfrm>
          <a:off x="0" y="0"/>
          <a:ext cx="0" cy="0"/>
          <a:chOff x="0" y="0"/>
          <a:chExt cx="0" cy="0"/>
        </a:xfrm>
      </p:grpSpPr>
      <p:grpSp>
        <p:nvGrpSpPr>
          <p:cNvPr id="22" name="Group 21"/>
          <p:cNvGrpSpPr/>
          <p:nvPr userDrawn="1"/>
        </p:nvGrpSpPr>
        <p:grpSpPr>
          <a:xfrm>
            <a:off x="5658095" y="981075"/>
            <a:ext cx="3074395" cy="2060440"/>
            <a:chOff x="5701703" y="682760"/>
            <a:chExt cx="3074395" cy="2060440"/>
          </a:xfrm>
        </p:grpSpPr>
        <p:sp>
          <p:nvSpPr>
            <p:cNvPr id="23" name="Freeform 22"/>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4" name="Picture 2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graphicFrame>
        <p:nvGraphicFramePr>
          <p:cNvPr id="44" name="Objekt 43"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9342" name="think-cell Slide" r:id="rId7" imgW="0" imgH="0" progId="">
                  <p:embed/>
                </p:oleObj>
              </mc:Choice>
              <mc:Fallback>
                <p:oleObj name="think-cell Slide" r:id="rId7"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p:cNvSpPr>
            <a:spLocks noGrp="1"/>
          </p:cNvSpPr>
          <p:nvPr>
            <p:ph type="ctrTitle"/>
            <p:custDataLst>
              <p:tags r:id="rId3"/>
            </p:custDataLst>
          </p:nvPr>
        </p:nvSpPr>
        <p:spPr bwMode="auto">
          <a:xfrm>
            <a:off x="458788" y="2557997"/>
            <a:ext cx="4113212" cy="943012"/>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defRPr lang="de-DE" sz="2800" i="0" dirty="0">
                <a:solidFill>
                  <a:schemeClr val="bg1"/>
                </a:solidFill>
                <a:latin typeface="Arial"/>
              </a:defRPr>
            </a:lvl1pPr>
          </a:lstStyle>
          <a:p>
            <a:pPr marL="0" lvl="0" indent="0">
              <a:lnSpc>
                <a:spcPct val="100000"/>
              </a:lnSpc>
              <a:buNone/>
            </a:pPr>
            <a:r>
              <a:rPr lang="en-US" smtClean="0"/>
              <a:t>Click to edit Master title style</a:t>
            </a:r>
            <a:endParaRPr lang="de-DE" dirty="0"/>
          </a:p>
        </p:txBody>
      </p:sp>
      <p:sp>
        <p:nvSpPr>
          <p:cNvPr id="3" name="Untertitel 2"/>
          <p:cNvSpPr>
            <a:spLocks noGrp="1"/>
          </p:cNvSpPr>
          <p:nvPr>
            <p:ph type="subTitle" idx="1"/>
            <p:custDataLst>
              <p:tags r:id="rId4"/>
            </p:custDataLst>
          </p:nvPr>
        </p:nvSpPr>
        <p:spPr bwMode="auto">
          <a:xfrm>
            <a:off x="461963" y="3501008"/>
            <a:ext cx="4110037" cy="615553"/>
          </a:xfrm>
          <a:prstGeom prst="rect">
            <a:avLst/>
          </a:prstGeom>
          <a:ln w="9525"/>
        </p:spPr>
        <p:txBody>
          <a:bodyPr lIns="0" tIns="0" rIns="0" bIns="0">
            <a:noAutofit/>
          </a:bodyPr>
          <a:lstStyle>
            <a:lvl1pPr marL="0" indent="0" algn="l" rtl="0" eaLnBrk="1" fontAlgn="base" hangingPunct="1">
              <a:spcBef>
                <a:spcPts val="800"/>
              </a:spcBef>
              <a:spcAft>
                <a:spcPct val="0"/>
              </a:spcAft>
              <a:buClr>
                <a:schemeClr val="tx1"/>
              </a:buClr>
              <a:buFontTx/>
              <a:buNone/>
              <a:defRPr lang="de-DE" sz="2000" dirty="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de-DE" dirty="0"/>
          </a:p>
        </p:txBody>
      </p:sp>
      <p:grpSp>
        <p:nvGrpSpPr>
          <p:cNvPr id="5" name="Group 4"/>
          <p:cNvGrpSpPr/>
          <p:nvPr userDrawn="1"/>
        </p:nvGrpSpPr>
        <p:grpSpPr>
          <a:xfrm>
            <a:off x="458788" y="5831083"/>
            <a:ext cx="8216900" cy="737062"/>
            <a:chOff x="458788" y="5831083"/>
            <a:chExt cx="8216900" cy="737062"/>
          </a:xfrm>
        </p:grpSpPr>
        <p:pic>
          <p:nvPicPr>
            <p:cNvPr id="15" name="Picture 2"/>
            <p:cNvPicPr>
              <a:picLocks noChangeAspect="1" noChangeArrowheads="1"/>
            </p:cNvPicPr>
            <p:nvPr userDrawn="1"/>
          </p:nvPicPr>
          <p:blipFill>
            <a:blip r:embed="rId8" cstate="print">
              <a:extLst>
                <a:ext uri="{28A0092B-C50C-407E-A947-70E740481C1C}">
                  <a14:useLocalDpi xmlns:a14="http://schemas.microsoft.com/office/drawing/2010/main" val="0"/>
                </a:ext>
              </a:extLst>
            </a:blip>
            <a:stretch>
              <a:fillRect/>
            </a:stretch>
          </p:blipFill>
          <p:spPr bwMode="auto">
            <a:xfrm>
              <a:off x="4932363" y="6265654"/>
              <a:ext cx="3743325" cy="23770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p:cNvPicPr>
              <a:picLocks noChangeAspect="1" noChangeArrowheads="1"/>
            </p:cNvPicPr>
            <p:nvPr userDrawn="1"/>
          </p:nvPicPr>
          <p:blipFill>
            <a:blip r:embed="rId9" cstate="print">
              <a:extLst>
                <a:ext uri="{28A0092B-C50C-407E-A947-70E740481C1C}">
                  <a14:useLocalDpi xmlns:a14="http://schemas.microsoft.com/office/drawing/2010/main" val="0"/>
                </a:ext>
              </a:extLst>
            </a:blip>
            <a:stretch>
              <a:fillRect/>
            </a:stretch>
          </p:blipFill>
          <p:spPr bwMode="auto">
            <a:xfrm>
              <a:off x="458788" y="5831083"/>
              <a:ext cx="3433155" cy="73706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13634735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5_Title Slide_Sea Green_Top">
    <p:bg>
      <p:bgPr>
        <a:solidFill>
          <a:srgbClr val="008899"/>
        </a:solidFill>
        <a:effectLst/>
      </p:bgPr>
    </p:bg>
    <p:spTree>
      <p:nvGrpSpPr>
        <p:cNvPr id="1" name=""/>
        <p:cNvGrpSpPr/>
        <p:nvPr/>
      </p:nvGrpSpPr>
      <p:grpSpPr>
        <a:xfrm>
          <a:off x="0" y="0"/>
          <a:ext cx="0" cy="0"/>
          <a:chOff x="0" y="0"/>
          <a:chExt cx="0" cy="0"/>
        </a:xfrm>
      </p:grpSpPr>
      <p:graphicFrame>
        <p:nvGraphicFramePr>
          <p:cNvPr id="44" name="Objekt 43"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0366" name="think-cell Slide" r:id="rId6" imgW="0" imgH="0" progId="">
                  <p:embed/>
                </p:oleObj>
              </mc:Choice>
              <mc:Fallback>
                <p:oleObj name="think-cell Slide" r:id="rId6"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p:cNvSpPr>
            <a:spLocks noGrp="1"/>
          </p:cNvSpPr>
          <p:nvPr>
            <p:ph type="ctrTitle"/>
            <p:custDataLst>
              <p:tags r:id="rId3"/>
            </p:custDataLst>
          </p:nvPr>
        </p:nvSpPr>
        <p:spPr bwMode="auto">
          <a:xfrm>
            <a:off x="458788" y="2557997"/>
            <a:ext cx="4113212" cy="943012"/>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defRPr lang="de-DE" sz="2800" i="0" dirty="0">
                <a:solidFill>
                  <a:schemeClr val="bg1"/>
                </a:solidFill>
                <a:latin typeface="Arial"/>
              </a:defRPr>
            </a:lvl1pPr>
          </a:lstStyle>
          <a:p>
            <a:pPr marL="0" lvl="0" indent="0">
              <a:lnSpc>
                <a:spcPct val="100000"/>
              </a:lnSpc>
              <a:buNone/>
            </a:pPr>
            <a:r>
              <a:rPr lang="en-US" smtClean="0"/>
              <a:t>Click to edit Master title style</a:t>
            </a:r>
            <a:endParaRPr lang="de-DE" dirty="0"/>
          </a:p>
        </p:txBody>
      </p:sp>
      <p:sp>
        <p:nvSpPr>
          <p:cNvPr id="3" name="Untertitel 2"/>
          <p:cNvSpPr>
            <a:spLocks noGrp="1"/>
          </p:cNvSpPr>
          <p:nvPr>
            <p:ph type="subTitle" idx="1"/>
            <p:custDataLst>
              <p:tags r:id="rId4"/>
            </p:custDataLst>
          </p:nvPr>
        </p:nvSpPr>
        <p:spPr bwMode="auto">
          <a:xfrm>
            <a:off x="461963" y="3501008"/>
            <a:ext cx="4110037" cy="615553"/>
          </a:xfrm>
          <a:prstGeom prst="rect">
            <a:avLst/>
          </a:prstGeom>
          <a:ln w="9525"/>
        </p:spPr>
        <p:txBody>
          <a:bodyPr lIns="0" tIns="0" rIns="0" bIns="0">
            <a:noAutofit/>
          </a:bodyPr>
          <a:lstStyle>
            <a:lvl1pPr marL="0" indent="0" algn="l" rtl="0" eaLnBrk="1" fontAlgn="base" hangingPunct="1">
              <a:spcBef>
                <a:spcPts val="800"/>
              </a:spcBef>
              <a:spcAft>
                <a:spcPct val="0"/>
              </a:spcAft>
              <a:buClr>
                <a:schemeClr val="tx1"/>
              </a:buClr>
              <a:buFontTx/>
              <a:buNone/>
              <a:defRPr lang="de-DE" sz="2000" dirty="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de-DE" dirty="0"/>
          </a:p>
        </p:txBody>
      </p:sp>
      <p:grpSp>
        <p:nvGrpSpPr>
          <p:cNvPr id="14" name="Group 13"/>
          <p:cNvGrpSpPr/>
          <p:nvPr userDrawn="1"/>
        </p:nvGrpSpPr>
        <p:grpSpPr>
          <a:xfrm>
            <a:off x="458788" y="430947"/>
            <a:ext cx="8216900" cy="737062"/>
            <a:chOff x="458788" y="430947"/>
            <a:chExt cx="8216900" cy="737062"/>
          </a:xfrm>
        </p:grpSpPr>
        <p:pic>
          <p:nvPicPr>
            <p:cNvPr id="15"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tretch>
              <a:fillRect/>
            </a:stretch>
          </p:blipFill>
          <p:spPr bwMode="auto">
            <a:xfrm>
              <a:off x="4932363" y="865518"/>
              <a:ext cx="3743325" cy="23770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p:cNvPicPr>
              <a:picLocks noChangeAspect="1" noChangeArrowheads="1"/>
            </p:cNvPicPr>
            <p:nvPr userDrawn="1"/>
          </p:nvPicPr>
          <p:blipFill>
            <a:blip r:embed="rId8" cstate="print">
              <a:extLst>
                <a:ext uri="{28A0092B-C50C-407E-A947-70E740481C1C}">
                  <a14:useLocalDpi xmlns:a14="http://schemas.microsoft.com/office/drawing/2010/main" val="0"/>
                </a:ext>
              </a:extLst>
            </a:blip>
            <a:stretch>
              <a:fillRect/>
            </a:stretch>
          </p:blipFill>
          <p:spPr bwMode="auto">
            <a:xfrm>
              <a:off x="458788" y="430947"/>
              <a:ext cx="3433155" cy="7370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7" name="Group 16"/>
          <p:cNvGrpSpPr/>
          <p:nvPr userDrawn="1"/>
        </p:nvGrpSpPr>
        <p:grpSpPr>
          <a:xfrm>
            <a:off x="5658095" y="1915366"/>
            <a:ext cx="3074395" cy="2060440"/>
            <a:chOff x="5701703" y="682760"/>
            <a:chExt cx="3074395" cy="2060440"/>
          </a:xfrm>
        </p:grpSpPr>
        <p:sp>
          <p:nvSpPr>
            <p:cNvPr id="18" name="Freeform 17"/>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9" name="Picture 1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spTree>
    <p:extLst>
      <p:ext uri="{BB962C8B-B14F-4D97-AF65-F5344CB8AC3E}">
        <p14:creationId xmlns:p14="http://schemas.microsoft.com/office/powerpoint/2010/main" val="2163247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6_Title Slide_Sea Green_Bottom">
    <p:bg>
      <p:bgPr>
        <a:solidFill>
          <a:srgbClr val="008899"/>
        </a:solidFill>
        <a:effectLst/>
      </p:bgPr>
    </p:bg>
    <p:spTree>
      <p:nvGrpSpPr>
        <p:cNvPr id="1" name=""/>
        <p:cNvGrpSpPr/>
        <p:nvPr/>
      </p:nvGrpSpPr>
      <p:grpSpPr>
        <a:xfrm>
          <a:off x="0" y="0"/>
          <a:ext cx="0" cy="0"/>
          <a:chOff x="0" y="0"/>
          <a:chExt cx="0" cy="0"/>
        </a:xfrm>
      </p:grpSpPr>
      <p:graphicFrame>
        <p:nvGraphicFramePr>
          <p:cNvPr id="44" name="Objekt 43"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1390" name="think-cell Slide" r:id="rId6" imgW="0" imgH="0" progId="">
                  <p:embed/>
                </p:oleObj>
              </mc:Choice>
              <mc:Fallback>
                <p:oleObj name="think-cell Slide" r:id="rId6"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p:cNvSpPr>
            <a:spLocks noGrp="1"/>
          </p:cNvSpPr>
          <p:nvPr>
            <p:ph type="ctrTitle"/>
            <p:custDataLst>
              <p:tags r:id="rId3"/>
            </p:custDataLst>
          </p:nvPr>
        </p:nvSpPr>
        <p:spPr bwMode="auto">
          <a:xfrm>
            <a:off x="458788" y="2557997"/>
            <a:ext cx="4113212" cy="943012"/>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defRPr lang="de-DE" sz="2800" i="0" dirty="0">
                <a:solidFill>
                  <a:schemeClr val="bg1"/>
                </a:solidFill>
                <a:latin typeface="Arial"/>
              </a:defRPr>
            </a:lvl1pPr>
          </a:lstStyle>
          <a:p>
            <a:pPr marL="0" lvl="0" indent="0">
              <a:lnSpc>
                <a:spcPct val="100000"/>
              </a:lnSpc>
              <a:buNone/>
            </a:pPr>
            <a:r>
              <a:rPr lang="en-US" smtClean="0"/>
              <a:t>Click to edit Master title style</a:t>
            </a:r>
            <a:endParaRPr lang="de-DE" dirty="0"/>
          </a:p>
        </p:txBody>
      </p:sp>
      <p:sp>
        <p:nvSpPr>
          <p:cNvPr id="3" name="Untertitel 2"/>
          <p:cNvSpPr>
            <a:spLocks noGrp="1"/>
          </p:cNvSpPr>
          <p:nvPr>
            <p:ph type="subTitle" idx="1"/>
            <p:custDataLst>
              <p:tags r:id="rId4"/>
            </p:custDataLst>
          </p:nvPr>
        </p:nvSpPr>
        <p:spPr bwMode="auto">
          <a:xfrm>
            <a:off x="461963" y="3501008"/>
            <a:ext cx="4110037" cy="615553"/>
          </a:xfrm>
          <a:prstGeom prst="rect">
            <a:avLst/>
          </a:prstGeom>
          <a:ln w="9525"/>
        </p:spPr>
        <p:txBody>
          <a:bodyPr lIns="0" tIns="0" rIns="0" bIns="0">
            <a:noAutofit/>
          </a:bodyPr>
          <a:lstStyle>
            <a:lvl1pPr marL="0" indent="0" algn="l" rtl="0" eaLnBrk="1" fontAlgn="base" hangingPunct="1">
              <a:spcBef>
                <a:spcPts val="800"/>
              </a:spcBef>
              <a:spcAft>
                <a:spcPct val="0"/>
              </a:spcAft>
              <a:buClr>
                <a:schemeClr val="tx1"/>
              </a:buClr>
              <a:buFontTx/>
              <a:buNone/>
              <a:defRPr lang="de-DE" sz="2000" dirty="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de-DE" dirty="0"/>
          </a:p>
        </p:txBody>
      </p:sp>
      <p:grpSp>
        <p:nvGrpSpPr>
          <p:cNvPr id="11" name="Group 10"/>
          <p:cNvGrpSpPr/>
          <p:nvPr userDrawn="1"/>
        </p:nvGrpSpPr>
        <p:grpSpPr>
          <a:xfrm>
            <a:off x="5658095" y="981075"/>
            <a:ext cx="3074395" cy="2060440"/>
            <a:chOff x="5701703" y="682760"/>
            <a:chExt cx="3074395" cy="2060440"/>
          </a:xfrm>
        </p:grpSpPr>
        <p:sp>
          <p:nvSpPr>
            <p:cNvPr id="12" name="Freeform 11"/>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3" name="Picture 1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grpSp>
        <p:nvGrpSpPr>
          <p:cNvPr id="17" name="Group 16"/>
          <p:cNvGrpSpPr/>
          <p:nvPr userDrawn="1"/>
        </p:nvGrpSpPr>
        <p:grpSpPr>
          <a:xfrm>
            <a:off x="458788" y="5831083"/>
            <a:ext cx="8216900" cy="737062"/>
            <a:chOff x="458788" y="5831083"/>
            <a:chExt cx="8216900" cy="737062"/>
          </a:xfrm>
        </p:grpSpPr>
        <p:pic>
          <p:nvPicPr>
            <p:cNvPr id="18" name="Picture 2"/>
            <p:cNvPicPr>
              <a:picLocks noChangeAspect="1" noChangeArrowheads="1"/>
            </p:cNvPicPr>
            <p:nvPr userDrawn="1"/>
          </p:nvPicPr>
          <p:blipFill>
            <a:blip r:embed="rId8" cstate="print">
              <a:extLst>
                <a:ext uri="{28A0092B-C50C-407E-A947-70E740481C1C}">
                  <a14:useLocalDpi xmlns:a14="http://schemas.microsoft.com/office/drawing/2010/main" val="0"/>
                </a:ext>
              </a:extLst>
            </a:blip>
            <a:stretch>
              <a:fillRect/>
            </a:stretch>
          </p:blipFill>
          <p:spPr bwMode="auto">
            <a:xfrm>
              <a:off x="4932363" y="6265654"/>
              <a:ext cx="3743325" cy="23770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
            <p:cNvPicPr>
              <a:picLocks noChangeAspect="1" noChangeArrowheads="1"/>
            </p:cNvPicPr>
            <p:nvPr userDrawn="1"/>
          </p:nvPicPr>
          <p:blipFill>
            <a:blip r:embed="rId9" cstate="print">
              <a:extLst>
                <a:ext uri="{28A0092B-C50C-407E-A947-70E740481C1C}">
                  <a14:useLocalDpi xmlns:a14="http://schemas.microsoft.com/office/drawing/2010/main" val="0"/>
                </a:ext>
              </a:extLst>
            </a:blip>
            <a:stretch>
              <a:fillRect/>
            </a:stretch>
          </p:blipFill>
          <p:spPr bwMode="auto">
            <a:xfrm>
              <a:off x="458788" y="5831083"/>
              <a:ext cx="3433155" cy="73706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45015541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7_Title Slide_Dark Gray_Top">
    <p:bg>
      <p:bgPr>
        <a:solidFill>
          <a:srgbClr val="666666"/>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458788" y="430947"/>
            <a:ext cx="8216900" cy="737062"/>
            <a:chOff x="458788" y="430947"/>
            <a:chExt cx="8216900" cy="737062"/>
          </a:xfrm>
        </p:grpSpPr>
        <p:pic>
          <p:nvPicPr>
            <p:cNvPr id="12" name="Picture 2"/>
            <p:cNvPicPr>
              <a:picLocks noChangeAspect="1" noChangeArrowheads="1"/>
            </p:cNvPicPr>
            <p:nvPr userDrawn="1"/>
          </p:nvPicPr>
          <p:blipFill>
            <a:blip r:embed="rId6" cstate="print">
              <a:extLst>
                <a:ext uri="{28A0092B-C50C-407E-A947-70E740481C1C}">
                  <a14:useLocalDpi xmlns:a14="http://schemas.microsoft.com/office/drawing/2010/main" val="0"/>
                </a:ext>
              </a:extLst>
            </a:blip>
            <a:stretch>
              <a:fillRect/>
            </a:stretch>
          </p:blipFill>
          <p:spPr bwMode="auto">
            <a:xfrm>
              <a:off x="4932363" y="865518"/>
              <a:ext cx="3743325" cy="2377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p:cNvPicPr>
              <a:picLocks noChangeAspect="1" noChangeArrowheads="1"/>
            </p:cNvPicPr>
            <p:nvPr userDrawn="1"/>
          </p:nvPicPr>
          <p:blipFill>
            <a:blip r:embed="rId7" cstate="print">
              <a:extLst>
                <a:ext uri="{28A0092B-C50C-407E-A947-70E740481C1C}">
                  <a14:useLocalDpi xmlns:a14="http://schemas.microsoft.com/office/drawing/2010/main" val="0"/>
                </a:ext>
              </a:extLst>
            </a:blip>
            <a:stretch>
              <a:fillRect/>
            </a:stretch>
          </p:blipFill>
          <p:spPr bwMode="auto">
            <a:xfrm>
              <a:off x="458788" y="430947"/>
              <a:ext cx="3433155" cy="7370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p:cNvGrpSpPr/>
          <p:nvPr userDrawn="1"/>
        </p:nvGrpSpPr>
        <p:grpSpPr>
          <a:xfrm>
            <a:off x="5658095" y="1915366"/>
            <a:ext cx="3074395" cy="2060440"/>
            <a:chOff x="5701703" y="682760"/>
            <a:chExt cx="3074395" cy="2060440"/>
          </a:xfrm>
        </p:grpSpPr>
        <p:sp>
          <p:nvSpPr>
            <p:cNvPr id="23" name="Freeform 22"/>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4" name="Picture 2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graphicFrame>
        <p:nvGraphicFramePr>
          <p:cNvPr id="44" name="Objekt 43" hidden="1"/>
          <p:cNvGraphicFramePr>
            <a:graphicFrameLocks/>
          </p:cNvGraphicFramePr>
          <p:nvPr userDrawn="1">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2414" name="think-cell Slide" r:id="rId9" imgW="0" imgH="0" progId="">
                  <p:embed/>
                </p:oleObj>
              </mc:Choice>
              <mc:Fallback>
                <p:oleObj name="think-cell Slide" r:id="rId9"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p:cNvSpPr>
            <a:spLocks noGrp="1"/>
          </p:cNvSpPr>
          <p:nvPr userDrawn="1">
            <p:ph type="ctrTitle"/>
            <p:custDataLst>
              <p:tags r:id="rId3"/>
            </p:custDataLst>
          </p:nvPr>
        </p:nvSpPr>
        <p:spPr bwMode="auto">
          <a:xfrm>
            <a:off x="458788" y="2557997"/>
            <a:ext cx="4113212" cy="943012"/>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defRPr lang="de-DE" sz="2800" i="0" dirty="0">
                <a:solidFill>
                  <a:schemeClr val="bg1"/>
                </a:solidFill>
                <a:latin typeface="Arial"/>
              </a:defRPr>
            </a:lvl1pPr>
          </a:lstStyle>
          <a:p>
            <a:pPr marL="0" lvl="0" indent="0">
              <a:lnSpc>
                <a:spcPct val="100000"/>
              </a:lnSpc>
              <a:buNone/>
            </a:pPr>
            <a:r>
              <a:rPr lang="en-US" smtClean="0"/>
              <a:t>Click to edit Master title style</a:t>
            </a:r>
            <a:endParaRPr lang="de-DE" dirty="0"/>
          </a:p>
        </p:txBody>
      </p:sp>
      <p:sp>
        <p:nvSpPr>
          <p:cNvPr id="3" name="Untertitel 2"/>
          <p:cNvSpPr>
            <a:spLocks noGrp="1"/>
          </p:cNvSpPr>
          <p:nvPr userDrawn="1">
            <p:ph type="subTitle" idx="1"/>
            <p:custDataLst>
              <p:tags r:id="rId4"/>
            </p:custDataLst>
          </p:nvPr>
        </p:nvSpPr>
        <p:spPr bwMode="auto">
          <a:xfrm>
            <a:off x="461963" y="3501008"/>
            <a:ext cx="4110037" cy="615553"/>
          </a:xfrm>
          <a:prstGeom prst="rect">
            <a:avLst/>
          </a:prstGeom>
          <a:ln w="9525"/>
        </p:spPr>
        <p:txBody>
          <a:bodyPr lIns="0" tIns="0" rIns="0" bIns="0">
            <a:noAutofit/>
          </a:bodyPr>
          <a:lstStyle>
            <a:lvl1pPr marL="0" indent="0" algn="l" rtl="0" eaLnBrk="1" fontAlgn="base" hangingPunct="1">
              <a:spcBef>
                <a:spcPts val="800"/>
              </a:spcBef>
              <a:spcAft>
                <a:spcPct val="0"/>
              </a:spcAft>
              <a:buClr>
                <a:schemeClr val="tx1"/>
              </a:buClr>
              <a:buFontTx/>
              <a:buNone/>
              <a:defRPr lang="de-DE" sz="2000" dirty="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de-DE" dirty="0"/>
          </a:p>
        </p:txBody>
      </p:sp>
    </p:spTree>
    <p:extLst>
      <p:ext uri="{BB962C8B-B14F-4D97-AF65-F5344CB8AC3E}">
        <p14:creationId xmlns:p14="http://schemas.microsoft.com/office/powerpoint/2010/main" val="398860251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8_Title Slide_Dark Gray_Bottom">
    <p:bg>
      <p:bgPr>
        <a:solidFill>
          <a:srgbClr val="666666"/>
        </a:solidFill>
        <a:effectLst/>
      </p:bgPr>
    </p:bg>
    <p:spTree>
      <p:nvGrpSpPr>
        <p:cNvPr id="1" name=""/>
        <p:cNvGrpSpPr/>
        <p:nvPr/>
      </p:nvGrpSpPr>
      <p:grpSpPr>
        <a:xfrm>
          <a:off x="0" y="0"/>
          <a:ext cx="0" cy="0"/>
          <a:chOff x="0" y="0"/>
          <a:chExt cx="0" cy="0"/>
        </a:xfrm>
      </p:grpSpPr>
      <p:graphicFrame>
        <p:nvGraphicFramePr>
          <p:cNvPr id="44" name="Objekt 43"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3438" name="think-cell Slide" r:id="rId6" imgW="0" imgH="0" progId="">
                  <p:embed/>
                </p:oleObj>
              </mc:Choice>
              <mc:Fallback>
                <p:oleObj name="think-cell Slide" r:id="rId6"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p:cNvSpPr>
            <a:spLocks noGrp="1"/>
          </p:cNvSpPr>
          <p:nvPr>
            <p:ph type="ctrTitle"/>
            <p:custDataLst>
              <p:tags r:id="rId3"/>
            </p:custDataLst>
          </p:nvPr>
        </p:nvSpPr>
        <p:spPr bwMode="auto">
          <a:xfrm>
            <a:off x="458788" y="2557997"/>
            <a:ext cx="4113212" cy="943012"/>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defRPr lang="de-DE" sz="2800" i="0" dirty="0">
                <a:solidFill>
                  <a:schemeClr val="bg1"/>
                </a:solidFill>
                <a:latin typeface="Arial"/>
              </a:defRPr>
            </a:lvl1pPr>
          </a:lstStyle>
          <a:p>
            <a:pPr marL="0" lvl="0" indent="0">
              <a:lnSpc>
                <a:spcPct val="100000"/>
              </a:lnSpc>
              <a:buNone/>
            </a:pPr>
            <a:r>
              <a:rPr lang="en-US" smtClean="0"/>
              <a:t>Click to edit Master title style</a:t>
            </a:r>
            <a:endParaRPr lang="de-DE" dirty="0"/>
          </a:p>
        </p:txBody>
      </p:sp>
      <p:sp>
        <p:nvSpPr>
          <p:cNvPr id="3" name="Untertitel 2"/>
          <p:cNvSpPr>
            <a:spLocks noGrp="1"/>
          </p:cNvSpPr>
          <p:nvPr>
            <p:ph type="subTitle" idx="1"/>
            <p:custDataLst>
              <p:tags r:id="rId4"/>
            </p:custDataLst>
          </p:nvPr>
        </p:nvSpPr>
        <p:spPr bwMode="auto">
          <a:xfrm>
            <a:off x="461963" y="3501008"/>
            <a:ext cx="4110037" cy="615553"/>
          </a:xfrm>
          <a:prstGeom prst="rect">
            <a:avLst/>
          </a:prstGeom>
          <a:ln w="9525"/>
        </p:spPr>
        <p:txBody>
          <a:bodyPr lIns="0" tIns="0" rIns="0" bIns="0">
            <a:noAutofit/>
          </a:bodyPr>
          <a:lstStyle>
            <a:lvl1pPr marL="0" indent="0" algn="l" rtl="0" eaLnBrk="1" fontAlgn="base" hangingPunct="1">
              <a:spcBef>
                <a:spcPts val="800"/>
              </a:spcBef>
              <a:spcAft>
                <a:spcPct val="0"/>
              </a:spcAft>
              <a:buClr>
                <a:schemeClr val="tx1"/>
              </a:buClr>
              <a:buFontTx/>
              <a:buNone/>
              <a:defRPr lang="de-DE" sz="2000" dirty="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de-DE" dirty="0"/>
          </a:p>
        </p:txBody>
      </p:sp>
      <p:grpSp>
        <p:nvGrpSpPr>
          <p:cNvPr id="11" name="Group 10"/>
          <p:cNvGrpSpPr/>
          <p:nvPr userDrawn="1"/>
        </p:nvGrpSpPr>
        <p:grpSpPr>
          <a:xfrm>
            <a:off x="5658095" y="981075"/>
            <a:ext cx="3074395" cy="2060440"/>
            <a:chOff x="5701703" y="682760"/>
            <a:chExt cx="3074395" cy="2060440"/>
          </a:xfrm>
        </p:grpSpPr>
        <p:sp>
          <p:nvSpPr>
            <p:cNvPr id="12" name="Freeform 11"/>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3" name="Picture 1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grpSp>
        <p:nvGrpSpPr>
          <p:cNvPr id="17" name="Group 16"/>
          <p:cNvGrpSpPr/>
          <p:nvPr userDrawn="1"/>
        </p:nvGrpSpPr>
        <p:grpSpPr>
          <a:xfrm>
            <a:off x="458788" y="5831083"/>
            <a:ext cx="8216900" cy="737062"/>
            <a:chOff x="458788" y="5831083"/>
            <a:chExt cx="8216900" cy="737062"/>
          </a:xfrm>
        </p:grpSpPr>
        <p:pic>
          <p:nvPicPr>
            <p:cNvPr id="18" name="Picture 2"/>
            <p:cNvPicPr>
              <a:picLocks noChangeAspect="1" noChangeArrowheads="1"/>
            </p:cNvPicPr>
            <p:nvPr userDrawn="1"/>
          </p:nvPicPr>
          <p:blipFill>
            <a:blip r:embed="rId8" cstate="print">
              <a:extLst>
                <a:ext uri="{28A0092B-C50C-407E-A947-70E740481C1C}">
                  <a14:useLocalDpi xmlns:a14="http://schemas.microsoft.com/office/drawing/2010/main" val="0"/>
                </a:ext>
              </a:extLst>
            </a:blip>
            <a:stretch>
              <a:fillRect/>
            </a:stretch>
          </p:blipFill>
          <p:spPr bwMode="auto">
            <a:xfrm>
              <a:off x="4932363" y="6265654"/>
              <a:ext cx="3743325" cy="23770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
            <p:cNvPicPr>
              <a:picLocks noChangeAspect="1" noChangeArrowheads="1"/>
            </p:cNvPicPr>
            <p:nvPr userDrawn="1"/>
          </p:nvPicPr>
          <p:blipFill>
            <a:blip r:embed="rId9" cstate="print">
              <a:extLst>
                <a:ext uri="{28A0092B-C50C-407E-A947-70E740481C1C}">
                  <a14:useLocalDpi xmlns:a14="http://schemas.microsoft.com/office/drawing/2010/main" val="0"/>
                </a:ext>
              </a:extLst>
            </a:blip>
            <a:stretch>
              <a:fillRect/>
            </a:stretch>
          </p:blipFill>
          <p:spPr bwMode="auto">
            <a:xfrm>
              <a:off x="458788" y="5831083"/>
              <a:ext cx="3433155" cy="73706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673768640"/>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10_Title Slide_Ink Blue_Bottom">
    <p:bg>
      <p:bgPr>
        <a:solidFill>
          <a:srgbClr val="003344"/>
        </a:solidFill>
        <a:effectLst/>
      </p:bgPr>
    </p:bg>
    <p:spTree>
      <p:nvGrpSpPr>
        <p:cNvPr id="1" name=""/>
        <p:cNvGrpSpPr/>
        <p:nvPr/>
      </p:nvGrpSpPr>
      <p:grpSpPr>
        <a:xfrm>
          <a:off x="0" y="0"/>
          <a:ext cx="0" cy="0"/>
          <a:chOff x="0" y="0"/>
          <a:chExt cx="0" cy="0"/>
        </a:xfrm>
      </p:grpSpPr>
      <p:graphicFrame>
        <p:nvGraphicFramePr>
          <p:cNvPr id="44" name="Objekt 43"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5486" name="think-cell Slide" r:id="rId6" imgW="0" imgH="0" progId="">
                  <p:embed/>
                </p:oleObj>
              </mc:Choice>
              <mc:Fallback>
                <p:oleObj name="think-cell Slide" r:id="rId6"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p:cNvSpPr>
            <a:spLocks noGrp="1"/>
          </p:cNvSpPr>
          <p:nvPr>
            <p:ph type="ctrTitle"/>
            <p:custDataLst>
              <p:tags r:id="rId3"/>
            </p:custDataLst>
          </p:nvPr>
        </p:nvSpPr>
        <p:spPr bwMode="auto">
          <a:xfrm>
            <a:off x="458788" y="2557997"/>
            <a:ext cx="4113212" cy="943012"/>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defRPr lang="de-DE" sz="2800" i="0" dirty="0">
                <a:solidFill>
                  <a:schemeClr val="bg1"/>
                </a:solidFill>
                <a:latin typeface="Arial"/>
              </a:defRPr>
            </a:lvl1pPr>
          </a:lstStyle>
          <a:p>
            <a:pPr marL="0" lvl="0" indent="0">
              <a:lnSpc>
                <a:spcPct val="100000"/>
              </a:lnSpc>
              <a:buNone/>
            </a:pPr>
            <a:r>
              <a:rPr lang="en-US" smtClean="0"/>
              <a:t>Click to edit Master title style</a:t>
            </a:r>
            <a:endParaRPr lang="de-DE" dirty="0"/>
          </a:p>
        </p:txBody>
      </p:sp>
      <p:sp>
        <p:nvSpPr>
          <p:cNvPr id="3" name="Untertitel 2"/>
          <p:cNvSpPr>
            <a:spLocks noGrp="1"/>
          </p:cNvSpPr>
          <p:nvPr>
            <p:ph type="subTitle" idx="1"/>
            <p:custDataLst>
              <p:tags r:id="rId4"/>
            </p:custDataLst>
          </p:nvPr>
        </p:nvSpPr>
        <p:spPr bwMode="auto">
          <a:xfrm>
            <a:off x="461963" y="3501008"/>
            <a:ext cx="4110037" cy="615553"/>
          </a:xfrm>
          <a:prstGeom prst="rect">
            <a:avLst/>
          </a:prstGeom>
          <a:ln w="9525"/>
        </p:spPr>
        <p:txBody>
          <a:bodyPr lIns="0" tIns="0" rIns="0" bIns="0">
            <a:noAutofit/>
          </a:bodyPr>
          <a:lstStyle>
            <a:lvl1pPr marL="0" indent="0" algn="l" rtl="0" eaLnBrk="1" fontAlgn="base" hangingPunct="1">
              <a:spcBef>
                <a:spcPts val="800"/>
              </a:spcBef>
              <a:spcAft>
                <a:spcPct val="0"/>
              </a:spcAft>
              <a:buClr>
                <a:schemeClr val="tx1"/>
              </a:buClr>
              <a:buFontTx/>
              <a:buNone/>
              <a:defRPr lang="de-DE" sz="2000" dirty="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de-DE" dirty="0"/>
          </a:p>
        </p:txBody>
      </p:sp>
      <p:grpSp>
        <p:nvGrpSpPr>
          <p:cNvPr id="11" name="Group 10"/>
          <p:cNvGrpSpPr/>
          <p:nvPr userDrawn="1"/>
        </p:nvGrpSpPr>
        <p:grpSpPr>
          <a:xfrm>
            <a:off x="5658095" y="981075"/>
            <a:ext cx="3074395" cy="2060440"/>
            <a:chOff x="5701703" y="682760"/>
            <a:chExt cx="3074395" cy="2060440"/>
          </a:xfrm>
        </p:grpSpPr>
        <p:sp>
          <p:nvSpPr>
            <p:cNvPr id="12" name="Freeform 11"/>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3" name="Picture 1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grpSp>
        <p:nvGrpSpPr>
          <p:cNvPr id="17" name="Group 16"/>
          <p:cNvGrpSpPr/>
          <p:nvPr userDrawn="1"/>
        </p:nvGrpSpPr>
        <p:grpSpPr>
          <a:xfrm>
            <a:off x="458788" y="5831083"/>
            <a:ext cx="8216900" cy="737062"/>
            <a:chOff x="458788" y="5831083"/>
            <a:chExt cx="8216900" cy="737062"/>
          </a:xfrm>
        </p:grpSpPr>
        <p:pic>
          <p:nvPicPr>
            <p:cNvPr id="18" name="Picture 2"/>
            <p:cNvPicPr>
              <a:picLocks noChangeAspect="1" noChangeArrowheads="1"/>
            </p:cNvPicPr>
            <p:nvPr userDrawn="1"/>
          </p:nvPicPr>
          <p:blipFill>
            <a:blip r:embed="rId8" cstate="print">
              <a:extLst>
                <a:ext uri="{28A0092B-C50C-407E-A947-70E740481C1C}">
                  <a14:useLocalDpi xmlns:a14="http://schemas.microsoft.com/office/drawing/2010/main" val="0"/>
                </a:ext>
              </a:extLst>
            </a:blip>
            <a:stretch>
              <a:fillRect/>
            </a:stretch>
          </p:blipFill>
          <p:spPr bwMode="auto">
            <a:xfrm>
              <a:off x="4932363" y="6265654"/>
              <a:ext cx="3743325" cy="23770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
            <p:cNvPicPr>
              <a:picLocks noChangeAspect="1" noChangeArrowheads="1"/>
            </p:cNvPicPr>
            <p:nvPr userDrawn="1"/>
          </p:nvPicPr>
          <p:blipFill>
            <a:blip r:embed="rId9" cstate="print">
              <a:extLst>
                <a:ext uri="{28A0092B-C50C-407E-A947-70E740481C1C}">
                  <a14:useLocalDpi xmlns:a14="http://schemas.microsoft.com/office/drawing/2010/main" val="0"/>
                </a:ext>
              </a:extLst>
            </a:blip>
            <a:stretch>
              <a:fillRect/>
            </a:stretch>
          </p:blipFill>
          <p:spPr bwMode="auto">
            <a:xfrm>
              <a:off x="458788" y="5831083"/>
              <a:ext cx="3433155" cy="73706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54134349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10_Title Slide_Ink Blue_Top">
    <p:bg>
      <p:bgPr>
        <a:solidFill>
          <a:srgbClr val="003344"/>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458788" y="430947"/>
            <a:ext cx="8216900" cy="737062"/>
            <a:chOff x="458788" y="430947"/>
            <a:chExt cx="8216900" cy="737062"/>
          </a:xfrm>
        </p:grpSpPr>
        <p:pic>
          <p:nvPicPr>
            <p:cNvPr id="12" name="Picture 2"/>
            <p:cNvPicPr>
              <a:picLocks noChangeAspect="1" noChangeArrowheads="1"/>
            </p:cNvPicPr>
            <p:nvPr userDrawn="1"/>
          </p:nvPicPr>
          <p:blipFill>
            <a:blip r:embed="rId6" cstate="print">
              <a:extLst>
                <a:ext uri="{28A0092B-C50C-407E-A947-70E740481C1C}">
                  <a14:useLocalDpi xmlns:a14="http://schemas.microsoft.com/office/drawing/2010/main" val="0"/>
                </a:ext>
              </a:extLst>
            </a:blip>
            <a:stretch>
              <a:fillRect/>
            </a:stretch>
          </p:blipFill>
          <p:spPr bwMode="auto">
            <a:xfrm>
              <a:off x="4932363" y="865518"/>
              <a:ext cx="3743325" cy="2377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p:cNvPicPr>
              <a:picLocks noChangeAspect="1" noChangeArrowheads="1"/>
            </p:cNvPicPr>
            <p:nvPr userDrawn="1"/>
          </p:nvPicPr>
          <p:blipFill>
            <a:blip r:embed="rId7" cstate="print">
              <a:extLst>
                <a:ext uri="{28A0092B-C50C-407E-A947-70E740481C1C}">
                  <a14:useLocalDpi xmlns:a14="http://schemas.microsoft.com/office/drawing/2010/main" val="0"/>
                </a:ext>
              </a:extLst>
            </a:blip>
            <a:stretch>
              <a:fillRect/>
            </a:stretch>
          </p:blipFill>
          <p:spPr bwMode="auto">
            <a:xfrm>
              <a:off x="458788" y="430947"/>
              <a:ext cx="3433155" cy="7370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p:cNvGrpSpPr/>
          <p:nvPr userDrawn="1"/>
        </p:nvGrpSpPr>
        <p:grpSpPr>
          <a:xfrm>
            <a:off x="5658095" y="1915366"/>
            <a:ext cx="3074395" cy="2060440"/>
            <a:chOff x="5701703" y="682760"/>
            <a:chExt cx="3074395" cy="2060440"/>
          </a:xfrm>
        </p:grpSpPr>
        <p:sp>
          <p:nvSpPr>
            <p:cNvPr id="23" name="Freeform 22"/>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4" name="Picture 2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graphicFrame>
        <p:nvGraphicFramePr>
          <p:cNvPr id="44" name="Objekt 43" hidden="1"/>
          <p:cNvGraphicFramePr>
            <a:graphicFrameLocks/>
          </p:cNvGraphicFramePr>
          <p:nvPr userDrawn="1">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8558" name="think-cell Slide" r:id="rId9" imgW="0" imgH="0" progId="">
                  <p:embed/>
                </p:oleObj>
              </mc:Choice>
              <mc:Fallback>
                <p:oleObj name="think-cell Slide" r:id="rId9"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p:cNvSpPr>
            <a:spLocks noGrp="1"/>
          </p:cNvSpPr>
          <p:nvPr userDrawn="1">
            <p:ph type="ctrTitle"/>
            <p:custDataLst>
              <p:tags r:id="rId3"/>
            </p:custDataLst>
          </p:nvPr>
        </p:nvSpPr>
        <p:spPr bwMode="auto">
          <a:xfrm>
            <a:off x="458788" y="2557997"/>
            <a:ext cx="4113212" cy="943012"/>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defRPr lang="de-DE" sz="2800" i="0" dirty="0">
                <a:solidFill>
                  <a:schemeClr val="bg1"/>
                </a:solidFill>
                <a:latin typeface="Arial"/>
              </a:defRPr>
            </a:lvl1pPr>
          </a:lstStyle>
          <a:p>
            <a:pPr marL="0" lvl="0" indent="0">
              <a:lnSpc>
                <a:spcPct val="100000"/>
              </a:lnSpc>
              <a:buNone/>
            </a:pPr>
            <a:r>
              <a:rPr lang="en-US" smtClean="0"/>
              <a:t>Click to edit Master title style</a:t>
            </a:r>
            <a:endParaRPr lang="de-DE" dirty="0"/>
          </a:p>
        </p:txBody>
      </p:sp>
      <p:sp>
        <p:nvSpPr>
          <p:cNvPr id="3" name="Untertitel 2"/>
          <p:cNvSpPr>
            <a:spLocks noGrp="1"/>
          </p:cNvSpPr>
          <p:nvPr userDrawn="1">
            <p:ph type="subTitle" idx="1"/>
            <p:custDataLst>
              <p:tags r:id="rId4"/>
            </p:custDataLst>
          </p:nvPr>
        </p:nvSpPr>
        <p:spPr bwMode="auto">
          <a:xfrm>
            <a:off x="461963" y="3501008"/>
            <a:ext cx="4110037" cy="615553"/>
          </a:xfrm>
          <a:prstGeom prst="rect">
            <a:avLst/>
          </a:prstGeom>
          <a:ln w="9525"/>
        </p:spPr>
        <p:txBody>
          <a:bodyPr lIns="0" tIns="0" rIns="0" bIns="0">
            <a:noAutofit/>
          </a:bodyPr>
          <a:lstStyle>
            <a:lvl1pPr marL="0" indent="0" algn="l" rtl="0" eaLnBrk="1" fontAlgn="base" hangingPunct="1">
              <a:spcBef>
                <a:spcPts val="800"/>
              </a:spcBef>
              <a:spcAft>
                <a:spcPct val="0"/>
              </a:spcAft>
              <a:buClr>
                <a:schemeClr val="tx1"/>
              </a:buClr>
              <a:buFontTx/>
              <a:buNone/>
              <a:defRPr lang="de-DE" sz="2000" dirty="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de-DE" dirty="0"/>
          </a:p>
        </p:txBody>
      </p:sp>
    </p:spTree>
    <p:extLst>
      <p:ext uri="{BB962C8B-B14F-4D97-AF65-F5344CB8AC3E}">
        <p14:creationId xmlns:p14="http://schemas.microsoft.com/office/powerpoint/2010/main" val="155145656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11_Title Slide_Deep Violet_Top">
    <p:bg>
      <p:bgPr>
        <a:solidFill>
          <a:srgbClr val="2F539C"/>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458788" y="430947"/>
            <a:ext cx="8216900" cy="737062"/>
            <a:chOff x="458788" y="430947"/>
            <a:chExt cx="8216900" cy="737062"/>
          </a:xfrm>
        </p:grpSpPr>
        <p:pic>
          <p:nvPicPr>
            <p:cNvPr id="12" name="Picture 2"/>
            <p:cNvPicPr>
              <a:picLocks noChangeAspect="1" noChangeArrowheads="1"/>
            </p:cNvPicPr>
            <p:nvPr userDrawn="1"/>
          </p:nvPicPr>
          <p:blipFill>
            <a:blip r:embed="rId6" cstate="print">
              <a:extLst>
                <a:ext uri="{28A0092B-C50C-407E-A947-70E740481C1C}">
                  <a14:useLocalDpi xmlns:a14="http://schemas.microsoft.com/office/drawing/2010/main" val="0"/>
                </a:ext>
              </a:extLst>
            </a:blip>
            <a:stretch>
              <a:fillRect/>
            </a:stretch>
          </p:blipFill>
          <p:spPr bwMode="auto">
            <a:xfrm>
              <a:off x="4932363" y="865518"/>
              <a:ext cx="3743325" cy="2377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p:cNvPicPr>
              <a:picLocks noChangeAspect="1" noChangeArrowheads="1"/>
            </p:cNvPicPr>
            <p:nvPr userDrawn="1"/>
          </p:nvPicPr>
          <p:blipFill>
            <a:blip r:embed="rId7" cstate="print">
              <a:extLst>
                <a:ext uri="{28A0092B-C50C-407E-A947-70E740481C1C}">
                  <a14:useLocalDpi xmlns:a14="http://schemas.microsoft.com/office/drawing/2010/main" val="0"/>
                </a:ext>
              </a:extLst>
            </a:blip>
            <a:stretch>
              <a:fillRect/>
            </a:stretch>
          </p:blipFill>
          <p:spPr bwMode="auto">
            <a:xfrm>
              <a:off x="458788" y="430947"/>
              <a:ext cx="3433155" cy="7370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p:cNvGrpSpPr/>
          <p:nvPr userDrawn="1"/>
        </p:nvGrpSpPr>
        <p:grpSpPr>
          <a:xfrm>
            <a:off x="5658095" y="1915366"/>
            <a:ext cx="3074395" cy="2060440"/>
            <a:chOff x="5701703" y="682760"/>
            <a:chExt cx="3074395" cy="2060440"/>
          </a:xfrm>
        </p:grpSpPr>
        <p:sp>
          <p:nvSpPr>
            <p:cNvPr id="23" name="Freeform 22"/>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4" name="Picture 2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graphicFrame>
        <p:nvGraphicFramePr>
          <p:cNvPr id="44" name="Objekt 43" hidden="1"/>
          <p:cNvGraphicFramePr>
            <a:graphicFrameLocks/>
          </p:cNvGraphicFramePr>
          <p:nvPr userDrawn="1">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0606" name="think-cell Slide" r:id="rId9" imgW="0" imgH="0" progId="">
                  <p:embed/>
                </p:oleObj>
              </mc:Choice>
              <mc:Fallback>
                <p:oleObj name="think-cell Slide" r:id="rId9"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p:cNvSpPr>
            <a:spLocks noGrp="1"/>
          </p:cNvSpPr>
          <p:nvPr userDrawn="1">
            <p:ph type="ctrTitle"/>
            <p:custDataLst>
              <p:tags r:id="rId3"/>
            </p:custDataLst>
          </p:nvPr>
        </p:nvSpPr>
        <p:spPr bwMode="auto">
          <a:xfrm>
            <a:off x="458788" y="2557997"/>
            <a:ext cx="4113212" cy="943012"/>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defRPr lang="de-DE" sz="2800" i="0" dirty="0">
                <a:solidFill>
                  <a:schemeClr val="bg1"/>
                </a:solidFill>
                <a:latin typeface="Arial"/>
              </a:defRPr>
            </a:lvl1pPr>
          </a:lstStyle>
          <a:p>
            <a:pPr marL="0" lvl="0" indent="0">
              <a:lnSpc>
                <a:spcPct val="100000"/>
              </a:lnSpc>
              <a:buNone/>
            </a:pPr>
            <a:r>
              <a:rPr lang="en-US" smtClean="0"/>
              <a:t>Click to edit Master title style</a:t>
            </a:r>
            <a:endParaRPr lang="de-DE" dirty="0"/>
          </a:p>
        </p:txBody>
      </p:sp>
      <p:sp>
        <p:nvSpPr>
          <p:cNvPr id="3" name="Untertitel 2"/>
          <p:cNvSpPr>
            <a:spLocks noGrp="1"/>
          </p:cNvSpPr>
          <p:nvPr userDrawn="1">
            <p:ph type="subTitle" idx="1"/>
            <p:custDataLst>
              <p:tags r:id="rId4"/>
            </p:custDataLst>
          </p:nvPr>
        </p:nvSpPr>
        <p:spPr bwMode="auto">
          <a:xfrm>
            <a:off x="461963" y="3501008"/>
            <a:ext cx="4110037" cy="615553"/>
          </a:xfrm>
          <a:prstGeom prst="rect">
            <a:avLst/>
          </a:prstGeom>
          <a:ln w="9525"/>
        </p:spPr>
        <p:txBody>
          <a:bodyPr lIns="0" tIns="0" rIns="0" bIns="0">
            <a:noAutofit/>
          </a:bodyPr>
          <a:lstStyle>
            <a:lvl1pPr marL="0" indent="0" algn="l" rtl="0" eaLnBrk="1" fontAlgn="base" hangingPunct="1">
              <a:spcBef>
                <a:spcPts val="800"/>
              </a:spcBef>
              <a:spcAft>
                <a:spcPct val="0"/>
              </a:spcAft>
              <a:buClr>
                <a:schemeClr val="tx1"/>
              </a:buClr>
              <a:buFontTx/>
              <a:buNone/>
              <a:defRPr lang="de-DE" sz="2000" dirty="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de-DE" dirty="0"/>
          </a:p>
        </p:txBody>
      </p:sp>
    </p:spTree>
    <p:extLst>
      <p:ext uri="{BB962C8B-B14F-4D97-AF65-F5344CB8AC3E}">
        <p14:creationId xmlns:p14="http://schemas.microsoft.com/office/powerpoint/2010/main" val="425421489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12_Title Slide_Deep Violet_Bottom">
    <p:bg>
      <p:bgPr>
        <a:solidFill>
          <a:srgbClr val="2F539C"/>
        </a:solidFill>
        <a:effectLst/>
      </p:bgPr>
    </p:bg>
    <p:spTree>
      <p:nvGrpSpPr>
        <p:cNvPr id="1" name=""/>
        <p:cNvGrpSpPr/>
        <p:nvPr/>
      </p:nvGrpSpPr>
      <p:grpSpPr>
        <a:xfrm>
          <a:off x="0" y="0"/>
          <a:ext cx="0" cy="0"/>
          <a:chOff x="0" y="0"/>
          <a:chExt cx="0" cy="0"/>
        </a:xfrm>
      </p:grpSpPr>
      <p:graphicFrame>
        <p:nvGraphicFramePr>
          <p:cNvPr id="44" name="Objekt 43"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1630" name="think-cell Slide" r:id="rId6" imgW="0" imgH="0" progId="">
                  <p:embed/>
                </p:oleObj>
              </mc:Choice>
              <mc:Fallback>
                <p:oleObj name="think-cell Slide" r:id="rId6"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p:cNvSpPr>
            <a:spLocks noGrp="1"/>
          </p:cNvSpPr>
          <p:nvPr>
            <p:ph type="ctrTitle"/>
            <p:custDataLst>
              <p:tags r:id="rId3"/>
            </p:custDataLst>
          </p:nvPr>
        </p:nvSpPr>
        <p:spPr bwMode="auto">
          <a:xfrm>
            <a:off x="458788" y="2557997"/>
            <a:ext cx="4113212" cy="943012"/>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defRPr lang="de-DE" sz="2800" i="0" dirty="0">
                <a:solidFill>
                  <a:schemeClr val="bg1"/>
                </a:solidFill>
                <a:latin typeface="Arial"/>
              </a:defRPr>
            </a:lvl1pPr>
          </a:lstStyle>
          <a:p>
            <a:pPr marL="0" lvl="0" indent="0">
              <a:lnSpc>
                <a:spcPct val="100000"/>
              </a:lnSpc>
              <a:buNone/>
            </a:pPr>
            <a:r>
              <a:rPr lang="en-US" smtClean="0"/>
              <a:t>Click to edit Master title style</a:t>
            </a:r>
            <a:endParaRPr lang="de-DE" dirty="0"/>
          </a:p>
        </p:txBody>
      </p:sp>
      <p:sp>
        <p:nvSpPr>
          <p:cNvPr id="3" name="Untertitel 2"/>
          <p:cNvSpPr>
            <a:spLocks noGrp="1"/>
          </p:cNvSpPr>
          <p:nvPr>
            <p:ph type="subTitle" idx="1"/>
            <p:custDataLst>
              <p:tags r:id="rId4"/>
            </p:custDataLst>
          </p:nvPr>
        </p:nvSpPr>
        <p:spPr bwMode="auto">
          <a:xfrm>
            <a:off x="461963" y="3501008"/>
            <a:ext cx="4110037" cy="615553"/>
          </a:xfrm>
          <a:prstGeom prst="rect">
            <a:avLst/>
          </a:prstGeom>
          <a:ln w="9525"/>
        </p:spPr>
        <p:txBody>
          <a:bodyPr lIns="0" tIns="0" rIns="0" bIns="0">
            <a:noAutofit/>
          </a:bodyPr>
          <a:lstStyle>
            <a:lvl1pPr marL="0" indent="0" algn="l" rtl="0" eaLnBrk="1" fontAlgn="base" hangingPunct="1">
              <a:spcBef>
                <a:spcPts val="800"/>
              </a:spcBef>
              <a:spcAft>
                <a:spcPct val="0"/>
              </a:spcAft>
              <a:buClr>
                <a:schemeClr val="tx1"/>
              </a:buClr>
              <a:buFontTx/>
              <a:buNone/>
              <a:defRPr lang="de-DE" sz="2000" dirty="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de-DE" dirty="0"/>
          </a:p>
        </p:txBody>
      </p:sp>
      <p:grpSp>
        <p:nvGrpSpPr>
          <p:cNvPr id="11" name="Group 10"/>
          <p:cNvGrpSpPr/>
          <p:nvPr userDrawn="1"/>
        </p:nvGrpSpPr>
        <p:grpSpPr>
          <a:xfrm>
            <a:off x="5658095" y="981075"/>
            <a:ext cx="3074395" cy="2060440"/>
            <a:chOff x="5701703" y="682760"/>
            <a:chExt cx="3074395" cy="2060440"/>
          </a:xfrm>
        </p:grpSpPr>
        <p:sp>
          <p:nvSpPr>
            <p:cNvPr id="12" name="Freeform 11"/>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3" name="Picture 1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grpSp>
        <p:nvGrpSpPr>
          <p:cNvPr id="17" name="Group 16"/>
          <p:cNvGrpSpPr/>
          <p:nvPr userDrawn="1"/>
        </p:nvGrpSpPr>
        <p:grpSpPr>
          <a:xfrm>
            <a:off x="458788" y="5831083"/>
            <a:ext cx="8216900" cy="737062"/>
            <a:chOff x="458788" y="5831083"/>
            <a:chExt cx="8216900" cy="737062"/>
          </a:xfrm>
        </p:grpSpPr>
        <p:pic>
          <p:nvPicPr>
            <p:cNvPr id="18" name="Picture 2"/>
            <p:cNvPicPr>
              <a:picLocks noChangeAspect="1" noChangeArrowheads="1"/>
            </p:cNvPicPr>
            <p:nvPr userDrawn="1"/>
          </p:nvPicPr>
          <p:blipFill>
            <a:blip r:embed="rId8" cstate="print">
              <a:extLst>
                <a:ext uri="{28A0092B-C50C-407E-A947-70E740481C1C}">
                  <a14:useLocalDpi xmlns:a14="http://schemas.microsoft.com/office/drawing/2010/main" val="0"/>
                </a:ext>
              </a:extLst>
            </a:blip>
            <a:stretch>
              <a:fillRect/>
            </a:stretch>
          </p:blipFill>
          <p:spPr bwMode="auto">
            <a:xfrm>
              <a:off x="4932363" y="6265654"/>
              <a:ext cx="3743325" cy="23770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
            <p:cNvPicPr>
              <a:picLocks noChangeAspect="1" noChangeArrowheads="1"/>
            </p:cNvPicPr>
            <p:nvPr userDrawn="1"/>
          </p:nvPicPr>
          <p:blipFill>
            <a:blip r:embed="rId9" cstate="print">
              <a:extLst>
                <a:ext uri="{28A0092B-C50C-407E-A947-70E740481C1C}">
                  <a14:useLocalDpi xmlns:a14="http://schemas.microsoft.com/office/drawing/2010/main" val="0"/>
                </a:ext>
              </a:extLst>
            </a:blip>
            <a:stretch>
              <a:fillRect/>
            </a:stretch>
          </p:blipFill>
          <p:spPr bwMode="auto">
            <a:xfrm>
              <a:off x="458788" y="5831083"/>
              <a:ext cx="3433155" cy="73706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355178734"/>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13_Title Slide_Red Violet_Top">
    <p:bg>
      <p:bgPr>
        <a:solidFill>
          <a:srgbClr val="551155"/>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458788" y="430947"/>
            <a:ext cx="8216900" cy="737062"/>
            <a:chOff x="458788" y="430947"/>
            <a:chExt cx="8216900" cy="737062"/>
          </a:xfrm>
        </p:grpSpPr>
        <p:pic>
          <p:nvPicPr>
            <p:cNvPr id="12" name="Picture 2"/>
            <p:cNvPicPr>
              <a:picLocks noChangeAspect="1" noChangeArrowheads="1"/>
            </p:cNvPicPr>
            <p:nvPr userDrawn="1"/>
          </p:nvPicPr>
          <p:blipFill>
            <a:blip r:embed="rId6" cstate="print">
              <a:extLst>
                <a:ext uri="{28A0092B-C50C-407E-A947-70E740481C1C}">
                  <a14:useLocalDpi xmlns:a14="http://schemas.microsoft.com/office/drawing/2010/main" val="0"/>
                </a:ext>
              </a:extLst>
            </a:blip>
            <a:stretch>
              <a:fillRect/>
            </a:stretch>
          </p:blipFill>
          <p:spPr bwMode="auto">
            <a:xfrm>
              <a:off x="4932363" y="865518"/>
              <a:ext cx="3743325" cy="2377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p:cNvPicPr>
              <a:picLocks noChangeAspect="1" noChangeArrowheads="1"/>
            </p:cNvPicPr>
            <p:nvPr userDrawn="1"/>
          </p:nvPicPr>
          <p:blipFill>
            <a:blip r:embed="rId7" cstate="print">
              <a:extLst>
                <a:ext uri="{28A0092B-C50C-407E-A947-70E740481C1C}">
                  <a14:useLocalDpi xmlns:a14="http://schemas.microsoft.com/office/drawing/2010/main" val="0"/>
                </a:ext>
              </a:extLst>
            </a:blip>
            <a:stretch>
              <a:fillRect/>
            </a:stretch>
          </p:blipFill>
          <p:spPr bwMode="auto">
            <a:xfrm>
              <a:off x="458788" y="430947"/>
              <a:ext cx="3433155" cy="7370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p:cNvGrpSpPr/>
          <p:nvPr userDrawn="1"/>
        </p:nvGrpSpPr>
        <p:grpSpPr>
          <a:xfrm>
            <a:off x="5658095" y="1915366"/>
            <a:ext cx="3074395" cy="2060440"/>
            <a:chOff x="5701703" y="682760"/>
            <a:chExt cx="3074395" cy="2060440"/>
          </a:xfrm>
        </p:grpSpPr>
        <p:sp>
          <p:nvSpPr>
            <p:cNvPr id="23" name="Freeform 22"/>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4" name="Picture 2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graphicFrame>
        <p:nvGraphicFramePr>
          <p:cNvPr id="44" name="Objekt 43" hidden="1"/>
          <p:cNvGraphicFramePr>
            <a:graphicFrameLocks/>
          </p:cNvGraphicFramePr>
          <p:nvPr userDrawn="1">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2654" name="think-cell Slide" r:id="rId9" imgW="0" imgH="0" progId="">
                  <p:embed/>
                </p:oleObj>
              </mc:Choice>
              <mc:Fallback>
                <p:oleObj name="think-cell Slide" r:id="rId9"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p:cNvSpPr>
            <a:spLocks noGrp="1"/>
          </p:cNvSpPr>
          <p:nvPr userDrawn="1">
            <p:ph type="ctrTitle"/>
            <p:custDataLst>
              <p:tags r:id="rId3"/>
            </p:custDataLst>
          </p:nvPr>
        </p:nvSpPr>
        <p:spPr bwMode="auto">
          <a:xfrm>
            <a:off x="458788" y="2557997"/>
            <a:ext cx="4113212" cy="943012"/>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defRPr lang="de-DE" sz="2800" i="0" dirty="0">
                <a:solidFill>
                  <a:schemeClr val="bg1"/>
                </a:solidFill>
                <a:latin typeface="Arial"/>
              </a:defRPr>
            </a:lvl1pPr>
          </a:lstStyle>
          <a:p>
            <a:pPr marL="0" lvl="0" indent="0">
              <a:lnSpc>
                <a:spcPct val="100000"/>
              </a:lnSpc>
              <a:buNone/>
            </a:pPr>
            <a:r>
              <a:rPr lang="en-US" smtClean="0"/>
              <a:t>Click to edit Master title style</a:t>
            </a:r>
            <a:endParaRPr lang="de-DE" dirty="0"/>
          </a:p>
        </p:txBody>
      </p:sp>
      <p:sp>
        <p:nvSpPr>
          <p:cNvPr id="3" name="Untertitel 2"/>
          <p:cNvSpPr>
            <a:spLocks noGrp="1"/>
          </p:cNvSpPr>
          <p:nvPr userDrawn="1">
            <p:ph type="subTitle" idx="1"/>
            <p:custDataLst>
              <p:tags r:id="rId4"/>
            </p:custDataLst>
          </p:nvPr>
        </p:nvSpPr>
        <p:spPr bwMode="auto">
          <a:xfrm>
            <a:off x="461963" y="3501008"/>
            <a:ext cx="4110037" cy="615553"/>
          </a:xfrm>
          <a:prstGeom prst="rect">
            <a:avLst/>
          </a:prstGeom>
          <a:ln w="9525"/>
        </p:spPr>
        <p:txBody>
          <a:bodyPr lIns="0" tIns="0" rIns="0" bIns="0">
            <a:noAutofit/>
          </a:bodyPr>
          <a:lstStyle>
            <a:lvl1pPr marL="0" indent="0" algn="l" rtl="0" eaLnBrk="1" fontAlgn="base" hangingPunct="1">
              <a:spcBef>
                <a:spcPts val="800"/>
              </a:spcBef>
              <a:spcAft>
                <a:spcPct val="0"/>
              </a:spcAft>
              <a:buClr>
                <a:schemeClr val="tx1"/>
              </a:buClr>
              <a:buFontTx/>
              <a:buNone/>
              <a:defRPr lang="de-DE" sz="2000" dirty="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de-DE" dirty="0"/>
          </a:p>
        </p:txBody>
      </p:sp>
    </p:spTree>
    <p:extLst>
      <p:ext uri="{BB962C8B-B14F-4D97-AF65-F5344CB8AC3E}">
        <p14:creationId xmlns:p14="http://schemas.microsoft.com/office/powerpoint/2010/main" val="2762692861"/>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15_Title Slide_Red Violet_Bottom">
    <p:bg>
      <p:bgPr>
        <a:solidFill>
          <a:srgbClr val="551155"/>
        </a:solidFill>
        <a:effectLst/>
      </p:bgPr>
    </p:bg>
    <p:spTree>
      <p:nvGrpSpPr>
        <p:cNvPr id="1" name=""/>
        <p:cNvGrpSpPr/>
        <p:nvPr/>
      </p:nvGrpSpPr>
      <p:grpSpPr>
        <a:xfrm>
          <a:off x="0" y="0"/>
          <a:ext cx="0" cy="0"/>
          <a:chOff x="0" y="0"/>
          <a:chExt cx="0" cy="0"/>
        </a:xfrm>
      </p:grpSpPr>
      <p:graphicFrame>
        <p:nvGraphicFramePr>
          <p:cNvPr id="44" name="Objekt 43"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3678" name="think-cell Slide" r:id="rId6" imgW="0" imgH="0" progId="">
                  <p:embed/>
                </p:oleObj>
              </mc:Choice>
              <mc:Fallback>
                <p:oleObj name="think-cell Slide" r:id="rId6"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itel 1"/>
          <p:cNvSpPr>
            <a:spLocks noGrp="1"/>
          </p:cNvSpPr>
          <p:nvPr>
            <p:ph type="ctrTitle"/>
            <p:custDataLst>
              <p:tags r:id="rId3"/>
            </p:custDataLst>
          </p:nvPr>
        </p:nvSpPr>
        <p:spPr bwMode="auto">
          <a:xfrm>
            <a:off x="458788" y="2557997"/>
            <a:ext cx="4113212" cy="943012"/>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defRPr lang="de-DE" sz="2800" i="0" dirty="0">
                <a:solidFill>
                  <a:schemeClr val="bg1"/>
                </a:solidFill>
                <a:latin typeface="Arial"/>
              </a:defRPr>
            </a:lvl1pPr>
          </a:lstStyle>
          <a:p>
            <a:pPr marL="0" lvl="0" indent="0">
              <a:lnSpc>
                <a:spcPct val="100000"/>
              </a:lnSpc>
              <a:buNone/>
            </a:pPr>
            <a:r>
              <a:rPr lang="en-US" smtClean="0"/>
              <a:t>Click to edit Master title style</a:t>
            </a:r>
            <a:endParaRPr lang="de-DE" dirty="0"/>
          </a:p>
        </p:txBody>
      </p:sp>
      <p:sp>
        <p:nvSpPr>
          <p:cNvPr id="3" name="Untertitel 2"/>
          <p:cNvSpPr>
            <a:spLocks noGrp="1"/>
          </p:cNvSpPr>
          <p:nvPr>
            <p:ph type="subTitle" idx="1"/>
            <p:custDataLst>
              <p:tags r:id="rId4"/>
            </p:custDataLst>
          </p:nvPr>
        </p:nvSpPr>
        <p:spPr bwMode="auto">
          <a:xfrm>
            <a:off x="461963" y="3501008"/>
            <a:ext cx="4110037" cy="615553"/>
          </a:xfrm>
          <a:prstGeom prst="rect">
            <a:avLst/>
          </a:prstGeom>
          <a:ln w="9525"/>
        </p:spPr>
        <p:txBody>
          <a:bodyPr lIns="0" tIns="0" rIns="0" bIns="0">
            <a:noAutofit/>
          </a:bodyPr>
          <a:lstStyle>
            <a:lvl1pPr marL="0" indent="0" algn="l" rtl="0" eaLnBrk="1" fontAlgn="base" hangingPunct="1">
              <a:spcBef>
                <a:spcPts val="800"/>
              </a:spcBef>
              <a:spcAft>
                <a:spcPct val="0"/>
              </a:spcAft>
              <a:buClr>
                <a:schemeClr val="tx1"/>
              </a:buClr>
              <a:buFontTx/>
              <a:buNone/>
              <a:defRPr lang="de-DE" sz="2000" dirty="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de-DE" dirty="0"/>
          </a:p>
        </p:txBody>
      </p:sp>
      <p:grpSp>
        <p:nvGrpSpPr>
          <p:cNvPr id="11" name="Group 10"/>
          <p:cNvGrpSpPr/>
          <p:nvPr userDrawn="1"/>
        </p:nvGrpSpPr>
        <p:grpSpPr>
          <a:xfrm>
            <a:off x="5658095" y="981075"/>
            <a:ext cx="3074395" cy="2060440"/>
            <a:chOff x="5701703" y="682760"/>
            <a:chExt cx="3074395" cy="2060440"/>
          </a:xfrm>
        </p:grpSpPr>
        <p:sp>
          <p:nvSpPr>
            <p:cNvPr id="12" name="Freeform 11"/>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3" name="Picture 1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grpSp>
        <p:nvGrpSpPr>
          <p:cNvPr id="17" name="Group 16"/>
          <p:cNvGrpSpPr/>
          <p:nvPr userDrawn="1"/>
        </p:nvGrpSpPr>
        <p:grpSpPr>
          <a:xfrm>
            <a:off x="458788" y="5831083"/>
            <a:ext cx="8216900" cy="737062"/>
            <a:chOff x="458788" y="5831083"/>
            <a:chExt cx="8216900" cy="737062"/>
          </a:xfrm>
        </p:grpSpPr>
        <p:pic>
          <p:nvPicPr>
            <p:cNvPr id="18" name="Picture 2"/>
            <p:cNvPicPr>
              <a:picLocks noChangeAspect="1" noChangeArrowheads="1"/>
            </p:cNvPicPr>
            <p:nvPr userDrawn="1"/>
          </p:nvPicPr>
          <p:blipFill>
            <a:blip r:embed="rId8" cstate="print">
              <a:extLst>
                <a:ext uri="{28A0092B-C50C-407E-A947-70E740481C1C}">
                  <a14:useLocalDpi xmlns:a14="http://schemas.microsoft.com/office/drawing/2010/main" val="0"/>
                </a:ext>
              </a:extLst>
            </a:blip>
            <a:stretch>
              <a:fillRect/>
            </a:stretch>
          </p:blipFill>
          <p:spPr bwMode="auto">
            <a:xfrm>
              <a:off x="4932363" y="6265654"/>
              <a:ext cx="3743325" cy="23770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
            <p:cNvPicPr>
              <a:picLocks noChangeAspect="1" noChangeArrowheads="1"/>
            </p:cNvPicPr>
            <p:nvPr userDrawn="1"/>
          </p:nvPicPr>
          <p:blipFill>
            <a:blip r:embed="rId9" cstate="print">
              <a:extLst>
                <a:ext uri="{28A0092B-C50C-407E-A947-70E740481C1C}">
                  <a14:useLocalDpi xmlns:a14="http://schemas.microsoft.com/office/drawing/2010/main" val="0"/>
                </a:ext>
              </a:extLst>
            </a:blip>
            <a:stretch>
              <a:fillRect/>
            </a:stretch>
          </p:blipFill>
          <p:spPr bwMode="auto">
            <a:xfrm>
              <a:off x="458788" y="5831083"/>
              <a:ext cx="3433155" cy="73706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036105128"/>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a:defRPr/>
            </a:pPr>
            <a:fld id="{90CBDC3A-D49F-4631-A8C7-55D59B33E5FA}" type="slidenum">
              <a:rPr lang="en-US" smtClean="0"/>
              <a:pPr>
                <a:defRPr/>
              </a:pPr>
              <a:t>‹#›</a:t>
            </a:fld>
            <a:endParaRPr lang="en-US" dirty="0"/>
          </a:p>
        </p:txBody>
      </p:sp>
      <p:sp>
        <p:nvSpPr>
          <p:cNvPr id="6" name="Title 5"/>
          <p:cNvSpPr>
            <a:spLocks noGrp="1"/>
          </p:cNvSpPr>
          <p:nvPr>
            <p:ph type="title"/>
          </p:nvPr>
        </p:nvSpPr>
        <p:spPr/>
        <p:txBody>
          <a:bodyPr/>
          <a:lstStyle/>
          <a:p>
            <a:r>
              <a:rPr lang="en-US" smtClean="0"/>
              <a:t>Click to edit Master title style</a:t>
            </a:r>
            <a:endParaRPr lang="en-AU"/>
          </a:p>
        </p:txBody>
      </p:sp>
      <p:sp>
        <p:nvSpPr>
          <p:cNvPr id="10" name="Content Placeholder 9"/>
          <p:cNvSpPr>
            <a:spLocks noGrp="1"/>
          </p:cNvSpPr>
          <p:nvPr>
            <p:ph sz="quarter" idx="14"/>
          </p:nvPr>
        </p:nvSpPr>
        <p:spPr>
          <a:xfrm>
            <a:off x="455613" y="1157725"/>
            <a:ext cx="8232775" cy="53351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dirty="0"/>
          </a:p>
        </p:txBody>
      </p:sp>
      <p:sp>
        <p:nvSpPr>
          <p:cNvPr id="3" name="Footer Placeholder 2"/>
          <p:cNvSpPr>
            <a:spLocks noGrp="1"/>
          </p:cNvSpPr>
          <p:nvPr>
            <p:ph type="ftr" sz="quarter" idx="15"/>
          </p:nvPr>
        </p:nvSpPr>
        <p:spPr/>
        <p:txBody>
          <a:bodyPr/>
          <a:lstStyle/>
          <a:p>
            <a:r>
              <a:rPr lang="en-US" smtClean="0"/>
              <a:t>Copyright © 2015 Accenture  All rights reserved.</a:t>
            </a:r>
            <a:endParaRPr lang="en-AU" dirty="0"/>
          </a:p>
        </p:txBody>
      </p:sp>
    </p:spTree>
    <p:extLst>
      <p:ext uri="{BB962C8B-B14F-4D97-AF65-F5344CB8AC3E}">
        <p14:creationId xmlns:p14="http://schemas.microsoft.com/office/powerpoint/2010/main" val="188803778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Paragraphs">
    <p:spTree>
      <p:nvGrpSpPr>
        <p:cNvPr id="1" name=""/>
        <p:cNvGrpSpPr/>
        <p:nvPr/>
      </p:nvGrpSpPr>
      <p:grpSpPr>
        <a:xfrm>
          <a:off x="0" y="0"/>
          <a:ext cx="0" cy="0"/>
          <a:chOff x="0" y="0"/>
          <a:chExt cx="0" cy="0"/>
        </a:xfrm>
      </p:grpSpPr>
      <p:sp>
        <p:nvSpPr>
          <p:cNvPr id="8" name="Content Placeholder 7"/>
          <p:cNvSpPr>
            <a:spLocks noGrp="1"/>
          </p:cNvSpPr>
          <p:nvPr>
            <p:ph sz="quarter" idx="11" hasCustomPrompt="1"/>
          </p:nvPr>
        </p:nvSpPr>
        <p:spPr>
          <a:xfrm>
            <a:off x="455613" y="1162050"/>
            <a:ext cx="8232775" cy="5329056"/>
          </a:xfrm>
        </p:spPr>
        <p:txBody>
          <a:bodyPr/>
          <a:lstStyle>
            <a:lvl1pPr marL="0" indent="0">
              <a:buNone/>
              <a:defRPr sz="2400" b="1">
                <a:solidFill>
                  <a:schemeClr val="accent1"/>
                </a:solidFill>
              </a:defRPr>
            </a:lvl1pPr>
            <a:lvl2pPr marL="0" indent="-230400">
              <a:buFont typeface="Arial" pitchFamily="34" charset="0"/>
              <a:buChar char="•"/>
              <a:defRPr/>
            </a:lvl2pPr>
            <a:lvl3pPr marL="457200" indent="-230400">
              <a:buFont typeface="Arial" pitchFamily="34" charset="0"/>
              <a:buChar char="–"/>
              <a:defRPr/>
            </a:lvl3pPr>
            <a:lvl4pPr marL="687600" indent="-226800">
              <a:buFont typeface="Arial" pitchFamily="34" charset="0"/>
              <a:buChar char="•"/>
              <a:defRPr/>
            </a:lvl4pPr>
            <a:lvl5pPr marL="914400" indent="-230400">
              <a:buFont typeface="Arial" pitchFamily="34" charset="0"/>
              <a:buChar char="–"/>
              <a:defRPr/>
            </a:lvl5pPr>
          </a:lstStyle>
          <a:p>
            <a:pPr lvl="0"/>
            <a:r>
              <a:rPr lang="en-US"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AU" dirty="0"/>
          </a:p>
        </p:txBody>
      </p:sp>
      <p:sp>
        <p:nvSpPr>
          <p:cNvPr id="2" name="Title 1"/>
          <p:cNvSpPr>
            <a:spLocks noGrp="1"/>
          </p:cNvSpPr>
          <p:nvPr>
            <p:ph type="title"/>
          </p:nvPr>
        </p:nvSpPr>
        <p:spPr/>
        <p:txBody>
          <a:bodyPr/>
          <a:lstStyle/>
          <a:p>
            <a:r>
              <a:rPr lang="en-US" smtClean="0"/>
              <a:t>Click to edit Master title style</a:t>
            </a:r>
            <a:endParaRPr lang="en-AU" dirty="0"/>
          </a:p>
        </p:txBody>
      </p:sp>
      <p:sp>
        <p:nvSpPr>
          <p:cNvPr id="5" name="Footer Placeholder 4"/>
          <p:cNvSpPr>
            <a:spLocks noGrp="1"/>
          </p:cNvSpPr>
          <p:nvPr>
            <p:ph type="ftr" sz="quarter" idx="12"/>
          </p:nvPr>
        </p:nvSpPr>
        <p:spPr/>
        <p:txBody>
          <a:bodyPr/>
          <a:lstStyle/>
          <a:p>
            <a:r>
              <a:rPr lang="en-US" smtClean="0"/>
              <a:t>Copyright © 2015 Accenture  All rights reserved.</a:t>
            </a:r>
            <a:endParaRPr lang="en-AU" dirty="0"/>
          </a:p>
        </p:txBody>
      </p:sp>
      <p:sp>
        <p:nvSpPr>
          <p:cNvPr id="6" name="Slide Number Placeholder 5"/>
          <p:cNvSpPr>
            <a:spLocks noGrp="1"/>
          </p:cNvSpPr>
          <p:nvPr>
            <p:ph type="sldNum" sz="quarter" idx="13"/>
          </p:nvPr>
        </p:nvSpPr>
        <p:spPr/>
        <p:txBody>
          <a:body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88268895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2-Content">
    <p:spTree>
      <p:nvGrpSpPr>
        <p:cNvPr id="1" name=""/>
        <p:cNvGrpSpPr/>
        <p:nvPr/>
      </p:nvGrpSpPr>
      <p:grpSpPr>
        <a:xfrm>
          <a:off x="0" y="0"/>
          <a:ext cx="0" cy="0"/>
          <a:chOff x="0" y="0"/>
          <a:chExt cx="0" cy="0"/>
        </a:xfrm>
      </p:grpSpPr>
      <p:sp>
        <p:nvSpPr>
          <p:cNvPr id="6" name="Slide Number Placeholder 5"/>
          <p:cNvSpPr>
            <a:spLocks noGrp="1"/>
          </p:cNvSpPr>
          <p:nvPr>
            <p:ph type="sldNum" sz="quarter" idx="15"/>
          </p:nvPr>
        </p:nvSpPr>
        <p:spPr/>
        <p:txBody>
          <a:bodyPr/>
          <a:lstStyle/>
          <a:p>
            <a:pPr>
              <a:defRPr/>
            </a:pPr>
            <a:fld id="{90CBDC3A-D49F-4631-A8C7-55D59B33E5FA}" type="slidenum">
              <a:rPr lang="en-US" smtClean="0"/>
              <a:pPr>
                <a:defRPr/>
              </a:pPr>
              <a:t>‹#›</a:t>
            </a:fld>
            <a:endParaRPr lang="en-US" dirty="0"/>
          </a:p>
        </p:txBody>
      </p:sp>
      <p:sp>
        <p:nvSpPr>
          <p:cNvPr id="7" name="Title 6"/>
          <p:cNvSpPr>
            <a:spLocks noGrp="1"/>
          </p:cNvSpPr>
          <p:nvPr>
            <p:ph type="title"/>
          </p:nvPr>
        </p:nvSpPr>
        <p:spPr/>
        <p:txBody>
          <a:bodyPr/>
          <a:lstStyle/>
          <a:p>
            <a:r>
              <a:rPr lang="en-US" smtClean="0"/>
              <a:t>Click to edit Master title style</a:t>
            </a:r>
            <a:endParaRPr lang="en-AU"/>
          </a:p>
        </p:txBody>
      </p:sp>
      <p:sp>
        <p:nvSpPr>
          <p:cNvPr id="4" name="Content Placeholder 3"/>
          <p:cNvSpPr>
            <a:spLocks noGrp="1"/>
          </p:cNvSpPr>
          <p:nvPr>
            <p:ph sz="quarter" idx="16"/>
          </p:nvPr>
        </p:nvSpPr>
        <p:spPr>
          <a:xfrm>
            <a:off x="455613" y="1180210"/>
            <a:ext cx="4010025" cy="5292000"/>
          </a:xfrm>
        </p:spPr>
        <p:txBody>
          <a:bodyPr/>
          <a:lstStyle>
            <a:lvl1pPr>
              <a:defRPr sz="2000"/>
            </a:lvl1pPr>
            <a:lvl2pPr>
              <a:defRPr sz="1800"/>
            </a:lvl2pPr>
            <a:lvl3pP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dirty="0"/>
          </a:p>
        </p:txBody>
      </p:sp>
      <p:sp>
        <p:nvSpPr>
          <p:cNvPr id="13" name="Content Placeholder 3"/>
          <p:cNvSpPr>
            <a:spLocks noGrp="1"/>
          </p:cNvSpPr>
          <p:nvPr>
            <p:ph sz="quarter" idx="17"/>
          </p:nvPr>
        </p:nvSpPr>
        <p:spPr>
          <a:xfrm>
            <a:off x="4679950" y="1180210"/>
            <a:ext cx="4008437" cy="5292000"/>
          </a:xfrm>
        </p:spPr>
        <p:txBody>
          <a:bodyPr/>
          <a:lstStyle>
            <a:lvl1pPr>
              <a:defRPr sz="2000"/>
            </a:lvl1pPr>
            <a:lvl2pPr>
              <a:defRPr sz="1800"/>
            </a:lvl2pPr>
            <a:lvl3pP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dirty="0"/>
          </a:p>
        </p:txBody>
      </p:sp>
      <p:sp>
        <p:nvSpPr>
          <p:cNvPr id="2" name="Footer Placeholder 1"/>
          <p:cNvSpPr>
            <a:spLocks noGrp="1"/>
          </p:cNvSpPr>
          <p:nvPr>
            <p:ph type="ftr" sz="quarter" idx="18"/>
          </p:nvPr>
        </p:nvSpPr>
        <p:spPr/>
        <p:txBody>
          <a:bodyPr/>
          <a:lstStyle/>
          <a:p>
            <a:r>
              <a:rPr lang="en-US" smtClean="0"/>
              <a:t>Copyright © 2015 Accenture  All rights reserved.</a:t>
            </a:r>
            <a:endParaRPr lang="en-AU" dirty="0"/>
          </a:p>
        </p:txBody>
      </p:sp>
    </p:spTree>
    <p:extLst>
      <p:ext uri="{BB962C8B-B14F-4D97-AF65-F5344CB8AC3E}">
        <p14:creationId xmlns:p14="http://schemas.microsoft.com/office/powerpoint/2010/main" val="409597556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2-content Paragraphs">
    <p:spTree>
      <p:nvGrpSpPr>
        <p:cNvPr id="1" name=""/>
        <p:cNvGrpSpPr/>
        <p:nvPr/>
      </p:nvGrpSpPr>
      <p:grpSpPr>
        <a:xfrm>
          <a:off x="0" y="0"/>
          <a:ext cx="0" cy="0"/>
          <a:chOff x="0" y="0"/>
          <a:chExt cx="0" cy="0"/>
        </a:xfrm>
      </p:grpSpPr>
      <p:sp>
        <p:nvSpPr>
          <p:cNvPr id="6" name="Slide Number Placeholder 5"/>
          <p:cNvSpPr>
            <a:spLocks noGrp="1"/>
          </p:cNvSpPr>
          <p:nvPr>
            <p:ph type="sldNum" sz="quarter" idx="15"/>
          </p:nvPr>
        </p:nvSpPr>
        <p:spPr/>
        <p:txBody>
          <a:bodyPr/>
          <a:lstStyle/>
          <a:p>
            <a:pPr>
              <a:defRPr/>
            </a:pPr>
            <a:fld id="{90CBDC3A-D49F-4631-A8C7-55D59B33E5FA}" type="slidenum">
              <a:rPr lang="en-US" smtClean="0"/>
              <a:pPr>
                <a:defRPr/>
              </a:pPr>
              <a:t>‹#›</a:t>
            </a:fld>
            <a:endParaRPr lang="en-US" dirty="0"/>
          </a:p>
        </p:txBody>
      </p:sp>
      <p:sp>
        <p:nvSpPr>
          <p:cNvPr id="7" name="Title 6"/>
          <p:cNvSpPr>
            <a:spLocks noGrp="1"/>
          </p:cNvSpPr>
          <p:nvPr>
            <p:ph type="title"/>
          </p:nvPr>
        </p:nvSpPr>
        <p:spPr/>
        <p:txBody>
          <a:bodyPr/>
          <a:lstStyle/>
          <a:p>
            <a:r>
              <a:rPr lang="en-US" smtClean="0"/>
              <a:t>Click to edit Master title style</a:t>
            </a:r>
            <a:endParaRPr lang="en-AU" dirty="0"/>
          </a:p>
        </p:txBody>
      </p:sp>
      <p:sp>
        <p:nvSpPr>
          <p:cNvPr id="2" name="Footer Placeholder 1"/>
          <p:cNvSpPr>
            <a:spLocks noGrp="1"/>
          </p:cNvSpPr>
          <p:nvPr>
            <p:ph type="ftr" sz="quarter" idx="18"/>
          </p:nvPr>
        </p:nvSpPr>
        <p:spPr/>
        <p:txBody>
          <a:bodyPr/>
          <a:lstStyle/>
          <a:p>
            <a:r>
              <a:rPr lang="en-US" smtClean="0"/>
              <a:t>Copyright © 2015 Accenture  All rights reserved.</a:t>
            </a:r>
            <a:endParaRPr lang="en-AU" dirty="0"/>
          </a:p>
        </p:txBody>
      </p:sp>
      <p:sp>
        <p:nvSpPr>
          <p:cNvPr id="9" name="Content Placeholder 3"/>
          <p:cNvSpPr>
            <a:spLocks noGrp="1"/>
          </p:cNvSpPr>
          <p:nvPr>
            <p:ph sz="quarter" idx="16"/>
          </p:nvPr>
        </p:nvSpPr>
        <p:spPr>
          <a:xfrm>
            <a:off x="455613" y="1180210"/>
            <a:ext cx="4010025" cy="5292000"/>
          </a:xfrm>
        </p:spPr>
        <p:txBody>
          <a:bodyPr/>
          <a:lstStyle>
            <a:lvl1pPr marL="0" indent="0">
              <a:buNone/>
              <a:defRPr sz="2000" b="1">
                <a:solidFill>
                  <a:srgbClr val="00AA99"/>
                </a:solidFill>
              </a:defRPr>
            </a:lvl1pPr>
            <a:lvl2pPr marL="0" indent="-230400">
              <a:buFont typeface="Arial" pitchFamily="34" charset="0"/>
              <a:buChar char="•"/>
              <a:defRPr sz="2000"/>
            </a:lvl2pPr>
            <a:lvl3pPr marL="457200" indent="-230400">
              <a:buFont typeface="Arial" pitchFamily="34" charset="0"/>
              <a:buChar char="–"/>
              <a:defRPr sz="1800"/>
            </a:lvl3pPr>
            <a:lvl4pPr marL="687600" indent="-226800">
              <a:buFont typeface="Arial" pitchFamily="34" charset="0"/>
              <a:buChar char="•"/>
              <a:defRPr sz="1600"/>
            </a:lvl4pPr>
            <a:lvl5pPr marL="914400" indent="-230400">
              <a:buFont typeface="Arial" pitchFamily="34" charset="0"/>
              <a:buChar cha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AU" dirty="0"/>
          </a:p>
        </p:txBody>
      </p:sp>
      <p:sp>
        <p:nvSpPr>
          <p:cNvPr id="15" name="Content Placeholder 3"/>
          <p:cNvSpPr>
            <a:spLocks noGrp="1"/>
          </p:cNvSpPr>
          <p:nvPr>
            <p:ph sz="quarter" idx="19"/>
          </p:nvPr>
        </p:nvSpPr>
        <p:spPr>
          <a:xfrm>
            <a:off x="4678363" y="1180210"/>
            <a:ext cx="4010025" cy="5292000"/>
          </a:xfrm>
        </p:spPr>
        <p:txBody>
          <a:bodyPr/>
          <a:lstStyle>
            <a:lvl1pPr marL="0" indent="0">
              <a:buNone/>
              <a:defRPr sz="2000" b="1">
                <a:solidFill>
                  <a:srgbClr val="00AA99"/>
                </a:solidFill>
              </a:defRPr>
            </a:lvl1pPr>
            <a:lvl2pPr marL="0" indent="-230400">
              <a:buFont typeface="Arial" pitchFamily="34" charset="0"/>
              <a:buChar char="•"/>
              <a:defRPr sz="2000"/>
            </a:lvl2pPr>
            <a:lvl3pPr marL="457200" indent="-230400">
              <a:buFont typeface="Arial" pitchFamily="34" charset="0"/>
              <a:buChar char="–"/>
              <a:defRPr sz="1800"/>
            </a:lvl3pPr>
            <a:lvl4pPr marL="687600" indent="-226800">
              <a:buFont typeface="Arial" pitchFamily="34" charset="0"/>
              <a:buChar char="•"/>
              <a:defRPr sz="1600"/>
            </a:lvl4pPr>
            <a:lvl5pPr marL="914400" indent="-230400">
              <a:buFont typeface="Arial" pitchFamily="34" charset="0"/>
              <a:buChar char="–"/>
              <a:defRPr sz="1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AU" dirty="0"/>
          </a:p>
        </p:txBody>
      </p:sp>
    </p:spTree>
    <p:extLst>
      <p:ext uri="{BB962C8B-B14F-4D97-AF65-F5344CB8AC3E}">
        <p14:creationId xmlns:p14="http://schemas.microsoft.com/office/powerpoint/2010/main" val="348216874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pPr>
              <a:defRPr/>
            </a:pPr>
            <a:fld id="{90CBDC3A-D49F-4631-A8C7-55D59B33E5FA}" type="slidenum">
              <a:rPr lang="en-US" smtClean="0"/>
              <a:pPr>
                <a:defRPr/>
              </a:pPr>
              <a:t>‹#›</a:t>
            </a:fld>
            <a:endParaRPr lang="en-US" dirty="0"/>
          </a:p>
        </p:txBody>
      </p:sp>
      <p:sp>
        <p:nvSpPr>
          <p:cNvPr id="5" name="Title 4"/>
          <p:cNvSpPr>
            <a:spLocks noGrp="1"/>
          </p:cNvSpPr>
          <p:nvPr>
            <p:ph type="title"/>
          </p:nvPr>
        </p:nvSpPr>
        <p:spPr/>
        <p:txBody>
          <a:bodyPr/>
          <a:lstStyle/>
          <a:p>
            <a:r>
              <a:rPr lang="en-US" smtClean="0"/>
              <a:t>Click to edit Master title style</a:t>
            </a:r>
            <a:endParaRPr lang="en-AU"/>
          </a:p>
        </p:txBody>
      </p:sp>
      <p:sp>
        <p:nvSpPr>
          <p:cNvPr id="2" name="Footer Placeholder 1"/>
          <p:cNvSpPr>
            <a:spLocks noGrp="1"/>
          </p:cNvSpPr>
          <p:nvPr>
            <p:ph type="ftr" sz="quarter" idx="12"/>
          </p:nvPr>
        </p:nvSpPr>
        <p:spPr/>
        <p:txBody>
          <a:bodyPr/>
          <a:lstStyle/>
          <a:p>
            <a:r>
              <a:rPr lang="en-US" smtClean="0"/>
              <a:t>Copyright © 2015 Accenture  All rights reserved.</a:t>
            </a:r>
            <a:endParaRPr lang="en-AU" dirty="0"/>
          </a:p>
        </p:txBody>
      </p:sp>
    </p:spTree>
    <p:extLst>
      <p:ext uri="{BB962C8B-B14F-4D97-AF65-F5344CB8AC3E}">
        <p14:creationId xmlns:p14="http://schemas.microsoft.com/office/powerpoint/2010/main" val="395704069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4" name="Slide Number Placeholder 4"/>
          <p:cNvSpPr>
            <a:spLocks noGrp="1"/>
          </p:cNvSpPr>
          <p:nvPr>
            <p:ph type="sldNum" sz="quarter" idx="4"/>
          </p:nvPr>
        </p:nvSpPr>
        <p:spPr>
          <a:xfrm>
            <a:off x="8140355" y="6575425"/>
            <a:ext cx="548033"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tx2"/>
                </a:solidFill>
                <a:latin typeface="+mn-lt"/>
              </a:defRPr>
            </a:lvl1pPr>
          </a:lstStyle>
          <a:p>
            <a:pPr>
              <a:defRPr/>
            </a:pPr>
            <a:fld id="{90CBDC3A-D49F-4631-A8C7-55D59B33E5FA}" type="slidenum">
              <a:rPr lang="en-US" smtClean="0"/>
              <a:pPr>
                <a:defRPr/>
              </a:pPr>
              <a:t>‹#›</a:t>
            </a:fld>
            <a:endParaRPr lang="en-US" dirty="0"/>
          </a:p>
        </p:txBody>
      </p:sp>
      <p:grpSp>
        <p:nvGrpSpPr>
          <p:cNvPr id="6" name="Group 5" hidden="1"/>
          <p:cNvGrpSpPr/>
          <p:nvPr userDrawn="1"/>
        </p:nvGrpSpPr>
        <p:grpSpPr>
          <a:xfrm>
            <a:off x="0" y="0"/>
            <a:ext cx="9144000" cy="6858000"/>
            <a:chOff x="0" y="0"/>
            <a:chExt cx="9144000" cy="6858000"/>
          </a:xfrm>
        </p:grpSpPr>
        <p:cxnSp>
          <p:nvCxnSpPr>
            <p:cNvPr id="7" name="Straight Connector 6"/>
            <p:cNvCxnSpPr/>
            <p:nvPr/>
          </p:nvCxnSpPr>
          <p:spPr>
            <a:xfrm>
              <a:off x="455613"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688388"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1284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2364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907088"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016625"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180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6260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0" y="388938"/>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0" y="1055688"/>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0" y="1162050"/>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0" y="1278439"/>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0" y="3427413"/>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0" y="3890963"/>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0" y="6492875"/>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0" y="6575425"/>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0" y="6704013"/>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87376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grpSp>
      <p:sp>
        <p:nvSpPr>
          <p:cNvPr id="26" name="Footer Placeholder 1"/>
          <p:cNvSpPr>
            <a:spLocks noGrp="1"/>
          </p:cNvSpPr>
          <p:nvPr>
            <p:ph type="ftr" sz="quarter" idx="3"/>
          </p:nvPr>
        </p:nvSpPr>
        <p:spPr>
          <a:xfrm>
            <a:off x="455613" y="6575425"/>
            <a:ext cx="4060825" cy="128588"/>
          </a:xfrm>
        </p:spPr>
        <p:txBody>
          <a:bodyPr/>
          <a:lstStyle/>
          <a:p>
            <a:r>
              <a:rPr lang="en-US" dirty="0" smtClean="0"/>
              <a:t>Copyright © 2015 Accenture  All rights reserved.</a:t>
            </a:r>
            <a:endParaRPr lang="en-AU" dirty="0"/>
          </a:p>
        </p:txBody>
      </p:sp>
    </p:spTree>
    <p:extLst>
      <p:ext uri="{BB962C8B-B14F-4D97-AF65-F5344CB8AC3E}">
        <p14:creationId xmlns:p14="http://schemas.microsoft.com/office/powerpoint/2010/main" val="438085227"/>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Divider Slide Option 1_Chrome Yellow">
    <p:bg bwMode="auto">
      <p:bgPr>
        <a:solidFill>
          <a:srgbClr val="FFB500"/>
        </a:solidFill>
        <a:effectLst/>
      </p:bgPr>
    </p:bg>
    <p:spTree>
      <p:nvGrpSpPr>
        <p:cNvPr id="1" name=""/>
        <p:cNvGrpSpPr/>
        <p:nvPr/>
      </p:nvGrpSpPr>
      <p:grpSpPr>
        <a:xfrm>
          <a:off x="0" y="0"/>
          <a:ext cx="0" cy="0"/>
          <a:chOff x="0" y="0"/>
          <a:chExt cx="0" cy="0"/>
        </a:xfrm>
      </p:grpSpPr>
      <p:sp>
        <p:nvSpPr>
          <p:cNvPr id="19" name="Inhaltsplatzhalter 13"/>
          <p:cNvSpPr txBox="1">
            <a:spLocks/>
          </p:cNvSpPr>
          <p:nvPr userDrawn="1"/>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B578BD5-E3A8-4354-91BC-79CE4598B8D1}" type="slidenum">
              <a:rPr kumimoji="0" lang="en-US" sz="800" b="0" i="0" u="none" strike="noStrike" kern="1200" cap="none" spc="0" normalizeH="0" baseline="0" noProof="0" smtClean="0">
                <a:ln>
                  <a:noFill/>
                </a:ln>
                <a:solidFill>
                  <a:srgbClr val="666666"/>
                </a:solidFill>
                <a:effectLst/>
                <a:uLnTx/>
                <a:uFillTx/>
                <a:latin typeface="+mn-lt"/>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graphicFrame>
        <p:nvGraphicFramePr>
          <p:cNvPr id="14" name="Objekt 13"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4702" name="think-cell Slide" r:id="rId4" imgW="0" imgH="0" progId="">
                  <p:embed/>
                </p:oleObj>
              </mc:Choice>
              <mc:Fallback>
                <p:oleObj name="think-cell Slide" r:id="rId4"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itel 17"/>
          <p:cNvSpPr>
            <a:spLocks noGrp="1"/>
          </p:cNvSpPr>
          <p:nvPr>
            <p:ph type="title"/>
          </p:nvPr>
        </p:nvSpPr>
        <p:spPr>
          <a:xfrm>
            <a:off x="468313" y="1443037"/>
            <a:ext cx="8207375" cy="1323975"/>
          </a:xfrm>
        </p:spPr>
        <p:txBody>
          <a:bodyPr wrap="square" lIns="0" tIns="0" rIns="0" bIns="72000" anchor="t" anchorCtr="0">
            <a:noAutofit/>
          </a:bodyPr>
          <a:lstStyle>
            <a:lvl1pPr marL="0" indent="0" algn="l" rtl="0" eaLnBrk="1" fontAlgn="base" hangingPunct="1">
              <a:lnSpc>
                <a:spcPct val="100000"/>
              </a:lnSpc>
              <a:spcBef>
                <a:spcPts val="800"/>
              </a:spcBef>
              <a:spcAft>
                <a:spcPct val="0"/>
              </a:spcAft>
              <a:buNone/>
              <a:defRPr sz="3600" b="1" i="0">
                <a:solidFill>
                  <a:schemeClr val="tx1"/>
                </a:solidFill>
                <a:latin typeface="Arial"/>
              </a:defRPr>
            </a:lvl1pPr>
          </a:lstStyle>
          <a:p>
            <a:r>
              <a:rPr lang="en-US" noProof="0" smtClean="0"/>
              <a:t>Click to edit Master title style</a:t>
            </a:r>
            <a:endParaRPr lang="en-US" noProof="0" dirty="0"/>
          </a:p>
        </p:txBody>
      </p:sp>
      <p:sp>
        <p:nvSpPr>
          <p:cNvPr id="6" name="AMC_Footer"/>
          <p:cNvSpPr txBox="1">
            <a:spLocks/>
          </p:cNvSpPr>
          <p:nvPr userDrawn="1"/>
        </p:nvSpPr>
        <p:spPr>
          <a:xfrm>
            <a:off x="468313" y="6569075"/>
            <a:ext cx="619191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800" b="0" i="0" u="none" strike="noStrike" kern="1200" cap="none" spc="0" normalizeH="0" baseline="0" noProof="0" dirty="0" smtClean="0">
                <a:ln>
                  <a:noFill/>
                </a:ln>
                <a:solidFill>
                  <a:srgbClr val="666666"/>
                </a:solidFill>
                <a:effectLst/>
                <a:uLnTx/>
                <a:uFillTx/>
                <a:latin typeface="+mn-lt"/>
                <a:ea typeface="+mn-ea"/>
                <a:cs typeface="Arial" pitchFamily="34" charset="0"/>
              </a:rPr>
              <a:t>Copyright © 2014 Accenture. All rights reserved</a:t>
            </a:r>
            <a:r>
              <a:rPr kumimoji="0" lang="en-ZA" sz="800" b="0" i="0" u="none" strike="noStrike" kern="1200" cap="none" spc="0" normalizeH="0" baseline="0" noProof="0" smtClean="0">
                <a:ln>
                  <a:noFill/>
                </a:ln>
                <a:solidFill>
                  <a:srgbClr val="666666"/>
                </a:solidFill>
                <a:effectLst/>
                <a:uLnTx/>
                <a:uFillTx/>
                <a:latin typeface="+mn-lt"/>
                <a:ea typeface="+mn-ea"/>
                <a:cs typeface="Arial" pitchFamily="34" charset="0"/>
              </a:rPr>
              <a:t>. </a:t>
            </a:r>
            <a:endParaRPr kumimoji="0" lang="en-US"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2351085494"/>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Slide Option 2_Sky Blue">
    <p:bg bwMode="auto">
      <p:bgPr>
        <a:solidFill>
          <a:srgbClr val="408FCD"/>
        </a:solidFill>
        <a:effectLst/>
      </p:bgPr>
    </p:bg>
    <p:spTree>
      <p:nvGrpSpPr>
        <p:cNvPr id="1" name=""/>
        <p:cNvGrpSpPr/>
        <p:nvPr/>
      </p:nvGrpSpPr>
      <p:grpSpPr>
        <a:xfrm>
          <a:off x="0" y="0"/>
          <a:ext cx="0" cy="0"/>
          <a:chOff x="0" y="0"/>
          <a:chExt cx="0" cy="0"/>
        </a:xfrm>
      </p:grpSpPr>
      <p:sp>
        <p:nvSpPr>
          <p:cNvPr id="19" name="Inhaltsplatzhalter 13"/>
          <p:cNvSpPr txBox="1">
            <a:spLocks/>
          </p:cNvSpPr>
          <p:nvPr userDrawn="1"/>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B578BD5-E3A8-4354-91BC-79CE4598B8D1}" type="slidenum">
              <a:rPr kumimoji="0" lang="en-US" sz="800" b="0" i="0" u="none" strike="noStrike" kern="1200" cap="none" spc="0" normalizeH="0" baseline="0" noProof="0" smtClean="0">
                <a:ln>
                  <a:noFill/>
                </a:ln>
                <a:solidFill>
                  <a:schemeClr val="bg1"/>
                </a:solidFill>
                <a:effectLst/>
                <a:uLnTx/>
                <a:uFillTx/>
                <a:latin typeface="+mn-lt"/>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de-DE" sz="800" b="0" i="0" u="none" strike="noStrike" kern="1200" cap="none" spc="0" normalizeH="0" baseline="0" noProof="0" dirty="0">
              <a:ln>
                <a:noFill/>
              </a:ln>
              <a:solidFill>
                <a:schemeClr val="bg1"/>
              </a:solidFill>
              <a:effectLst/>
              <a:uLnTx/>
              <a:uFillTx/>
              <a:latin typeface="+mn-lt"/>
              <a:ea typeface="+mn-ea"/>
              <a:cs typeface="Arial" pitchFamily="34" charset="0"/>
            </a:endParaRPr>
          </a:p>
        </p:txBody>
      </p:sp>
      <p:graphicFrame>
        <p:nvGraphicFramePr>
          <p:cNvPr id="14" name="Objekt 13"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5726" name="think-cell Slide" r:id="rId4" imgW="0" imgH="0" progId="">
                  <p:embed/>
                </p:oleObj>
              </mc:Choice>
              <mc:Fallback>
                <p:oleObj name="think-cell Slide" r:id="rId4"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itel 17"/>
          <p:cNvSpPr>
            <a:spLocks noGrp="1"/>
          </p:cNvSpPr>
          <p:nvPr>
            <p:ph type="title"/>
          </p:nvPr>
        </p:nvSpPr>
        <p:spPr>
          <a:xfrm>
            <a:off x="468313" y="1443037"/>
            <a:ext cx="8207375" cy="1323975"/>
          </a:xfrm>
        </p:spPr>
        <p:txBody>
          <a:bodyPr wrap="square" lIns="0" tIns="0" rIns="0" bIns="72000" anchor="t" anchorCtr="0">
            <a:noAutofit/>
          </a:bodyPr>
          <a:lstStyle>
            <a:lvl1pPr marL="0" indent="0" algn="l" rtl="0" eaLnBrk="1" fontAlgn="base" hangingPunct="1">
              <a:lnSpc>
                <a:spcPct val="100000"/>
              </a:lnSpc>
              <a:spcBef>
                <a:spcPts val="800"/>
              </a:spcBef>
              <a:spcAft>
                <a:spcPct val="0"/>
              </a:spcAft>
              <a:buNone/>
              <a:defRPr sz="3600" b="1" i="0">
                <a:solidFill>
                  <a:srgbClr val="FFB500"/>
                </a:solidFill>
                <a:latin typeface="Arial"/>
              </a:defRPr>
            </a:lvl1pPr>
          </a:lstStyle>
          <a:p>
            <a:r>
              <a:rPr lang="en-US" noProof="0" smtClean="0"/>
              <a:t>Click to edit Master title style</a:t>
            </a:r>
            <a:endParaRPr lang="en-US" noProof="0" dirty="0"/>
          </a:p>
        </p:txBody>
      </p:sp>
      <p:sp>
        <p:nvSpPr>
          <p:cNvPr id="6" name="AMC_Footer"/>
          <p:cNvSpPr txBox="1">
            <a:spLocks/>
          </p:cNvSpPr>
          <p:nvPr userDrawn="1"/>
        </p:nvSpPr>
        <p:spPr>
          <a:xfrm>
            <a:off x="468313" y="6569075"/>
            <a:ext cx="619191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800" b="0" i="0" u="none" strike="noStrike" kern="1200" cap="none" spc="0" normalizeH="0" baseline="0" noProof="0" dirty="0" smtClean="0">
                <a:ln>
                  <a:noFill/>
                </a:ln>
                <a:solidFill>
                  <a:schemeClr val="bg1"/>
                </a:solidFill>
                <a:effectLst/>
                <a:uLnTx/>
                <a:uFillTx/>
                <a:latin typeface="+mn-lt"/>
                <a:ea typeface="+mn-ea"/>
                <a:cs typeface="Arial" pitchFamily="34" charset="0"/>
              </a:rPr>
              <a:t>Copyright © 2014 Accenture. All rights reserved</a:t>
            </a:r>
            <a:r>
              <a:rPr kumimoji="0" lang="en-ZA" sz="800" b="0" i="0" u="none" strike="noStrike" kern="1200" cap="none" spc="0" normalizeH="0" baseline="0" noProof="0" smtClean="0">
                <a:ln>
                  <a:noFill/>
                </a:ln>
                <a:solidFill>
                  <a:schemeClr val="bg1"/>
                </a:solidFill>
                <a:effectLst/>
                <a:uLnTx/>
                <a:uFillTx/>
                <a:latin typeface="+mn-lt"/>
                <a:ea typeface="+mn-ea"/>
                <a:cs typeface="Arial" pitchFamily="34" charset="0"/>
              </a:rPr>
              <a:t>. </a:t>
            </a:r>
            <a:endParaRPr kumimoji="0" lang="en-US" sz="800" b="0" i="0" u="none" strike="noStrike" kern="1200" cap="none" spc="0" normalizeH="0" baseline="0" noProof="0" dirty="0">
              <a:ln>
                <a:noFill/>
              </a:ln>
              <a:solidFill>
                <a:schemeClr val="bg1"/>
              </a:solidFill>
              <a:effectLst/>
              <a:uLnTx/>
              <a:uFillTx/>
              <a:latin typeface="+mn-lt"/>
              <a:ea typeface="+mn-ea"/>
              <a:cs typeface="Arial" pitchFamily="34" charset="0"/>
            </a:endParaRPr>
          </a:p>
        </p:txBody>
      </p:sp>
    </p:spTree>
    <p:extLst>
      <p:ext uri="{BB962C8B-B14F-4D97-AF65-F5344CB8AC3E}">
        <p14:creationId xmlns:p14="http://schemas.microsoft.com/office/powerpoint/2010/main" val="3155350506"/>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Slide Option 3_Sea Green">
    <p:bg bwMode="auto">
      <p:bgPr>
        <a:solidFill>
          <a:srgbClr val="008899"/>
        </a:solidFill>
        <a:effectLst/>
      </p:bgPr>
    </p:bg>
    <p:spTree>
      <p:nvGrpSpPr>
        <p:cNvPr id="1" name=""/>
        <p:cNvGrpSpPr/>
        <p:nvPr/>
      </p:nvGrpSpPr>
      <p:grpSpPr>
        <a:xfrm>
          <a:off x="0" y="0"/>
          <a:ext cx="0" cy="0"/>
          <a:chOff x="0" y="0"/>
          <a:chExt cx="0" cy="0"/>
        </a:xfrm>
      </p:grpSpPr>
      <p:sp>
        <p:nvSpPr>
          <p:cNvPr id="19" name="Inhaltsplatzhalter 13"/>
          <p:cNvSpPr txBox="1">
            <a:spLocks/>
          </p:cNvSpPr>
          <p:nvPr userDrawn="1"/>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B578BD5-E3A8-4354-91BC-79CE4598B8D1}" type="slidenum">
              <a:rPr kumimoji="0" lang="en-US" sz="800" b="0" i="0" u="none" strike="noStrike" kern="1200" cap="none" spc="0" normalizeH="0" baseline="0" noProof="0" smtClean="0">
                <a:ln>
                  <a:noFill/>
                </a:ln>
                <a:solidFill>
                  <a:schemeClr val="bg1"/>
                </a:solidFill>
                <a:effectLst/>
                <a:uLnTx/>
                <a:uFillTx/>
                <a:latin typeface="+mn-lt"/>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de-DE" sz="800" b="0" i="0" u="none" strike="noStrike" kern="1200" cap="none" spc="0" normalizeH="0" baseline="0" noProof="0" dirty="0">
              <a:ln>
                <a:noFill/>
              </a:ln>
              <a:solidFill>
                <a:schemeClr val="bg1"/>
              </a:solidFill>
              <a:effectLst/>
              <a:uLnTx/>
              <a:uFillTx/>
              <a:latin typeface="+mn-lt"/>
              <a:ea typeface="+mn-ea"/>
              <a:cs typeface="Arial" pitchFamily="34" charset="0"/>
            </a:endParaRPr>
          </a:p>
        </p:txBody>
      </p:sp>
      <p:graphicFrame>
        <p:nvGraphicFramePr>
          <p:cNvPr id="14" name="Objekt 13"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6750" name="think-cell Slide" r:id="rId4" imgW="0" imgH="0" progId="">
                  <p:embed/>
                </p:oleObj>
              </mc:Choice>
              <mc:Fallback>
                <p:oleObj name="think-cell Slide" r:id="rId4"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itel 17"/>
          <p:cNvSpPr>
            <a:spLocks noGrp="1"/>
          </p:cNvSpPr>
          <p:nvPr>
            <p:ph type="title"/>
          </p:nvPr>
        </p:nvSpPr>
        <p:spPr>
          <a:xfrm>
            <a:off x="468313" y="1443037"/>
            <a:ext cx="8207375" cy="1323975"/>
          </a:xfrm>
        </p:spPr>
        <p:txBody>
          <a:bodyPr wrap="square" lIns="0" tIns="0" rIns="0" bIns="72000" anchor="t" anchorCtr="0">
            <a:noAutofit/>
          </a:bodyPr>
          <a:lstStyle>
            <a:lvl1pPr marL="0" indent="0" algn="l" rtl="0" eaLnBrk="1" fontAlgn="base" hangingPunct="1">
              <a:lnSpc>
                <a:spcPct val="100000"/>
              </a:lnSpc>
              <a:spcBef>
                <a:spcPts val="800"/>
              </a:spcBef>
              <a:spcAft>
                <a:spcPct val="0"/>
              </a:spcAft>
              <a:buNone/>
              <a:defRPr sz="3600" b="1" i="0">
                <a:solidFill>
                  <a:srgbClr val="FFB500"/>
                </a:solidFill>
                <a:latin typeface="Arial"/>
              </a:defRPr>
            </a:lvl1pPr>
          </a:lstStyle>
          <a:p>
            <a:r>
              <a:rPr lang="en-US" noProof="0" smtClean="0"/>
              <a:t>Click to edit Master title style</a:t>
            </a:r>
            <a:endParaRPr lang="en-US" noProof="0" dirty="0"/>
          </a:p>
        </p:txBody>
      </p:sp>
      <p:sp>
        <p:nvSpPr>
          <p:cNvPr id="6" name="AMC_Footer"/>
          <p:cNvSpPr txBox="1">
            <a:spLocks/>
          </p:cNvSpPr>
          <p:nvPr userDrawn="1"/>
        </p:nvSpPr>
        <p:spPr>
          <a:xfrm>
            <a:off x="468313" y="6569075"/>
            <a:ext cx="619191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800" b="0" i="0" u="none" strike="noStrike" kern="1200" cap="none" spc="0" normalizeH="0" baseline="0" noProof="0" dirty="0" smtClean="0">
                <a:ln>
                  <a:noFill/>
                </a:ln>
                <a:solidFill>
                  <a:schemeClr val="bg1"/>
                </a:solidFill>
                <a:effectLst/>
                <a:uLnTx/>
                <a:uFillTx/>
                <a:latin typeface="+mn-lt"/>
                <a:ea typeface="+mn-ea"/>
                <a:cs typeface="Arial" pitchFamily="34" charset="0"/>
              </a:rPr>
              <a:t>Copyright © 2014 Accenture. All rights reserved</a:t>
            </a:r>
            <a:r>
              <a:rPr kumimoji="0" lang="en-ZA" sz="800" b="0" i="0" u="none" strike="noStrike" kern="1200" cap="none" spc="0" normalizeH="0" baseline="0" noProof="0" smtClean="0">
                <a:ln>
                  <a:noFill/>
                </a:ln>
                <a:solidFill>
                  <a:schemeClr val="bg1"/>
                </a:solidFill>
                <a:effectLst/>
                <a:uLnTx/>
                <a:uFillTx/>
                <a:latin typeface="+mn-lt"/>
                <a:ea typeface="+mn-ea"/>
                <a:cs typeface="Arial" pitchFamily="34" charset="0"/>
              </a:rPr>
              <a:t>. </a:t>
            </a:r>
            <a:endParaRPr kumimoji="0" lang="en-US" sz="800" b="0" i="0" u="none" strike="noStrike" kern="1200" cap="none" spc="0" normalizeH="0" baseline="0" noProof="0" dirty="0">
              <a:ln>
                <a:noFill/>
              </a:ln>
              <a:solidFill>
                <a:schemeClr val="bg1"/>
              </a:solidFill>
              <a:effectLst/>
              <a:uLnTx/>
              <a:uFillTx/>
              <a:latin typeface="+mn-lt"/>
              <a:ea typeface="+mn-ea"/>
              <a:cs typeface="Arial" pitchFamily="34" charset="0"/>
            </a:endParaRPr>
          </a:p>
        </p:txBody>
      </p:sp>
    </p:spTree>
    <p:extLst>
      <p:ext uri="{BB962C8B-B14F-4D97-AF65-F5344CB8AC3E}">
        <p14:creationId xmlns:p14="http://schemas.microsoft.com/office/powerpoint/2010/main" val="1821298056"/>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Slide Option 4_Dark Gray">
    <p:bg bwMode="auto">
      <p:bgPr>
        <a:solidFill>
          <a:srgbClr val="666666"/>
        </a:solidFill>
        <a:effectLst/>
      </p:bgPr>
    </p:bg>
    <p:spTree>
      <p:nvGrpSpPr>
        <p:cNvPr id="1" name=""/>
        <p:cNvGrpSpPr/>
        <p:nvPr/>
      </p:nvGrpSpPr>
      <p:grpSpPr>
        <a:xfrm>
          <a:off x="0" y="0"/>
          <a:ext cx="0" cy="0"/>
          <a:chOff x="0" y="0"/>
          <a:chExt cx="0" cy="0"/>
        </a:xfrm>
      </p:grpSpPr>
      <p:sp>
        <p:nvSpPr>
          <p:cNvPr id="19" name="Inhaltsplatzhalter 13"/>
          <p:cNvSpPr txBox="1">
            <a:spLocks/>
          </p:cNvSpPr>
          <p:nvPr userDrawn="1"/>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B578BD5-E3A8-4354-91BC-79CE4598B8D1}" type="slidenum">
              <a:rPr kumimoji="0" lang="en-US" sz="800" b="0" i="0" u="none" strike="noStrike" kern="1200" cap="none" spc="0" normalizeH="0" baseline="0" noProof="0" smtClean="0">
                <a:ln>
                  <a:noFill/>
                </a:ln>
                <a:solidFill>
                  <a:schemeClr val="bg1"/>
                </a:solidFill>
                <a:effectLst/>
                <a:uLnTx/>
                <a:uFillTx/>
                <a:latin typeface="+mn-lt"/>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de-DE" sz="800" b="0" i="0" u="none" strike="noStrike" kern="1200" cap="none" spc="0" normalizeH="0" baseline="0" noProof="0" dirty="0">
              <a:ln>
                <a:noFill/>
              </a:ln>
              <a:solidFill>
                <a:schemeClr val="bg1"/>
              </a:solidFill>
              <a:effectLst/>
              <a:uLnTx/>
              <a:uFillTx/>
              <a:latin typeface="+mn-lt"/>
              <a:ea typeface="+mn-ea"/>
              <a:cs typeface="Arial" pitchFamily="34" charset="0"/>
            </a:endParaRPr>
          </a:p>
        </p:txBody>
      </p:sp>
      <p:graphicFrame>
        <p:nvGraphicFramePr>
          <p:cNvPr id="14" name="Objekt 13"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7774" name="think-cell Slide" r:id="rId4" imgW="0" imgH="0" progId="">
                  <p:embed/>
                </p:oleObj>
              </mc:Choice>
              <mc:Fallback>
                <p:oleObj name="think-cell Slide" r:id="rId4"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itel 17"/>
          <p:cNvSpPr>
            <a:spLocks noGrp="1"/>
          </p:cNvSpPr>
          <p:nvPr>
            <p:ph type="title"/>
          </p:nvPr>
        </p:nvSpPr>
        <p:spPr>
          <a:xfrm>
            <a:off x="468313" y="1443037"/>
            <a:ext cx="8207375" cy="1323975"/>
          </a:xfrm>
        </p:spPr>
        <p:txBody>
          <a:bodyPr wrap="square" lIns="0" tIns="0" rIns="0" bIns="72000" anchor="t" anchorCtr="0">
            <a:noAutofit/>
          </a:bodyPr>
          <a:lstStyle>
            <a:lvl1pPr marL="0" indent="0" algn="l" rtl="0" eaLnBrk="1" fontAlgn="base" hangingPunct="1">
              <a:lnSpc>
                <a:spcPct val="100000"/>
              </a:lnSpc>
              <a:spcBef>
                <a:spcPts val="800"/>
              </a:spcBef>
              <a:spcAft>
                <a:spcPct val="0"/>
              </a:spcAft>
              <a:buNone/>
              <a:defRPr sz="3600" b="1" i="0">
                <a:solidFill>
                  <a:srgbClr val="FFB500"/>
                </a:solidFill>
                <a:latin typeface="Arial"/>
              </a:defRPr>
            </a:lvl1pPr>
          </a:lstStyle>
          <a:p>
            <a:r>
              <a:rPr lang="en-US" noProof="0" smtClean="0"/>
              <a:t>Click to edit Master title style</a:t>
            </a:r>
            <a:endParaRPr lang="en-US" noProof="0" dirty="0"/>
          </a:p>
        </p:txBody>
      </p:sp>
      <p:sp>
        <p:nvSpPr>
          <p:cNvPr id="6" name="AMC_Footer"/>
          <p:cNvSpPr txBox="1">
            <a:spLocks/>
          </p:cNvSpPr>
          <p:nvPr userDrawn="1"/>
        </p:nvSpPr>
        <p:spPr>
          <a:xfrm>
            <a:off x="468313" y="6569075"/>
            <a:ext cx="619191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800" b="0" i="0" u="none" strike="noStrike" kern="1200" cap="none" spc="0" normalizeH="0" baseline="0" noProof="0" dirty="0" smtClean="0">
                <a:ln>
                  <a:noFill/>
                </a:ln>
                <a:solidFill>
                  <a:schemeClr val="bg1"/>
                </a:solidFill>
                <a:effectLst/>
                <a:uLnTx/>
                <a:uFillTx/>
                <a:latin typeface="+mn-lt"/>
                <a:ea typeface="+mn-ea"/>
                <a:cs typeface="Arial" pitchFamily="34" charset="0"/>
              </a:rPr>
              <a:t>Copyright © 2014 Accenture. All rights reserved</a:t>
            </a:r>
            <a:r>
              <a:rPr kumimoji="0" lang="en-ZA" sz="800" b="0" i="0" u="none" strike="noStrike" kern="1200" cap="none" spc="0" normalizeH="0" baseline="0" noProof="0" smtClean="0">
                <a:ln>
                  <a:noFill/>
                </a:ln>
                <a:solidFill>
                  <a:schemeClr val="bg1"/>
                </a:solidFill>
                <a:effectLst/>
                <a:uLnTx/>
                <a:uFillTx/>
                <a:latin typeface="+mn-lt"/>
                <a:ea typeface="+mn-ea"/>
                <a:cs typeface="Arial" pitchFamily="34" charset="0"/>
              </a:rPr>
              <a:t>. </a:t>
            </a:r>
            <a:endParaRPr kumimoji="0" lang="en-US" sz="800" b="0" i="0" u="none" strike="noStrike" kern="1200" cap="none" spc="0" normalizeH="0" baseline="0" noProof="0" dirty="0">
              <a:ln>
                <a:noFill/>
              </a:ln>
              <a:solidFill>
                <a:schemeClr val="bg1"/>
              </a:solidFill>
              <a:effectLst/>
              <a:uLnTx/>
              <a:uFillTx/>
              <a:latin typeface="+mn-lt"/>
              <a:ea typeface="+mn-ea"/>
              <a:cs typeface="Arial" pitchFamily="34" charset="0"/>
            </a:endParaRPr>
          </a:p>
        </p:txBody>
      </p:sp>
    </p:spTree>
    <p:extLst>
      <p:ext uri="{BB962C8B-B14F-4D97-AF65-F5344CB8AC3E}">
        <p14:creationId xmlns:p14="http://schemas.microsoft.com/office/powerpoint/2010/main" val="1896086085"/>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Slide Option 5_Ink Blue">
    <p:bg bwMode="auto">
      <p:bgPr>
        <a:solidFill>
          <a:srgbClr val="003344"/>
        </a:solidFill>
        <a:effectLst/>
      </p:bgPr>
    </p:bg>
    <p:spTree>
      <p:nvGrpSpPr>
        <p:cNvPr id="1" name=""/>
        <p:cNvGrpSpPr/>
        <p:nvPr/>
      </p:nvGrpSpPr>
      <p:grpSpPr>
        <a:xfrm>
          <a:off x="0" y="0"/>
          <a:ext cx="0" cy="0"/>
          <a:chOff x="0" y="0"/>
          <a:chExt cx="0" cy="0"/>
        </a:xfrm>
      </p:grpSpPr>
      <p:sp>
        <p:nvSpPr>
          <p:cNvPr id="19" name="Inhaltsplatzhalter 13"/>
          <p:cNvSpPr txBox="1">
            <a:spLocks/>
          </p:cNvSpPr>
          <p:nvPr userDrawn="1"/>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B578BD5-E3A8-4354-91BC-79CE4598B8D1}" type="slidenum">
              <a:rPr kumimoji="0" lang="en-US" sz="800" b="0" i="0" u="none" strike="noStrike" kern="1200" cap="none" spc="0" normalizeH="0" baseline="0" noProof="0" smtClean="0">
                <a:ln>
                  <a:noFill/>
                </a:ln>
                <a:solidFill>
                  <a:srgbClr val="666666"/>
                </a:solidFill>
                <a:effectLst/>
                <a:uLnTx/>
                <a:uFillTx/>
                <a:latin typeface="+mn-lt"/>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graphicFrame>
        <p:nvGraphicFramePr>
          <p:cNvPr id="14" name="Objekt 13"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8799" name="think-cell Slide" r:id="rId4" imgW="0" imgH="0" progId="">
                  <p:embed/>
                </p:oleObj>
              </mc:Choice>
              <mc:Fallback>
                <p:oleObj name="think-cell Slide" r:id="rId4"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itel 17"/>
          <p:cNvSpPr>
            <a:spLocks noGrp="1"/>
          </p:cNvSpPr>
          <p:nvPr>
            <p:ph type="title"/>
          </p:nvPr>
        </p:nvSpPr>
        <p:spPr>
          <a:xfrm>
            <a:off x="468313" y="1443037"/>
            <a:ext cx="8207375" cy="1323975"/>
          </a:xfrm>
        </p:spPr>
        <p:txBody>
          <a:bodyPr wrap="square" lIns="0" tIns="0" rIns="0" bIns="72000" anchor="t" anchorCtr="0">
            <a:noAutofit/>
          </a:bodyPr>
          <a:lstStyle>
            <a:lvl1pPr marL="0" indent="0" algn="l" rtl="0" eaLnBrk="1" fontAlgn="base" hangingPunct="1">
              <a:lnSpc>
                <a:spcPct val="100000"/>
              </a:lnSpc>
              <a:spcBef>
                <a:spcPts val="800"/>
              </a:spcBef>
              <a:spcAft>
                <a:spcPct val="0"/>
              </a:spcAft>
              <a:buNone/>
              <a:defRPr sz="3600" b="1" i="0">
                <a:solidFill>
                  <a:srgbClr val="FFB500"/>
                </a:solidFill>
                <a:latin typeface="Arial"/>
              </a:defRPr>
            </a:lvl1pPr>
          </a:lstStyle>
          <a:p>
            <a:r>
              <a:rPr lang="en-US" noProof="0" smtClean="0"/>
              <a:t>Click to edit Master title style</a:t>
            </a:r>
            <a:endParaRPr lang="en-US" noProof="0" dirty="0"/>
          </a:p>
        </p:txBody>
      </p:sp>
      <p:sp>
        <p:nvSpPr>
          <p:cNvPr id="6" name="AMC_Footer"/>
          <p:cNvSpPr txBox="1">
            <a:spLocks/>
          </p:cNvSpPr>
          <p:nvPr userDrawn="1"/>
        </p:nvSpPr>
        <p:spPr>
          <a:xfrm>
            <a:off x="468313" y="6569075"/>
            <a:ext cx="619191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800" b="0" i="0" u="none" strike="noStrike" kern="1200" cap="none" spc="0" normalizeH="0" baseline="0" noProof="0" dirty="0" smtClean="0">
                <a:ln>
                  <a:noFill/>
                </a:ln>
                <a:solidFill>
                  <a:srgbClr val="666666"/>
                </a:solidFill>
                <a:effectLst/>
                <a:uLnTx/>
                <a:uFillTx/>
                <a:latin typeface="+mn-lt"/>
                <a:ea typeface="+mn-ea"/>
                <a:cs typeface="Arial" pitchFamily="34" charset="0"/>
              </a:rPr>
              <a:t>Copyright © 2015 Accenture. All rights reserved. </a:t>
            </a:r>
            <a:endParaRPr kumimoji="0" lang="en-US"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5815331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vider Slide Option 6_Deep Violet">
    <p:bg bwMode="auto">
      <p:bgPr>
        <a:solidFill>
          <a:srgbClr val="2F539C"/>
        </a:solidFill>
        <a:effectLst/>
      </p:bgPr>
    </p:bg>
    <p:spTree>
      <p:nvGrpSpPr>
        <p:cNvPr id="1" name=""/>
        <p:cNvGrpSpPr/>
        <p:nvPr/>
      </p:nvGrpSpPr>
      <p:grpSpPr>
        <a:xfrm>
          <a:off x="0" y="0"/>
          <a:ext cx="0" cy="0"/>
          <a:chOff x="0" y="0"/>
          <a:chExt cx="0" cy="0"/>
        </a:xfrm>
      </p:grpSpPr>
      <p:sp>
        <p:nvSpPr>
          <p:cNvPr id="19" name="Inhaltsplatzhalter 13"/>
          <p:cNvSpPr txBox="1">
            <a:spLocks/>
          </p:cNvSpPr>
          <p:nvPr userDrawn="1"/>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B578BD5-E3A8-4354-91BC-79CE4598B8D1}" type="slidenum">
              <a:rPr kumimoji="0" lang="en-US" sz="800" b="0" i="0" u="none" strike="noStrike" kern="1200" cap="none" spc="0" normalizeH="0" baseline="0" noProof="0" smtClean="0">
                <a:ln>
                  <a:noFill/>
                </a:ln>
                <a:solidFill>
                  <a:schemeClr val="bg1"/>
                </a:solidFill>
                <a:effectLst/>
                <a:uLnTx/>
                <a:uFillTx/>
                <a:latin typeface="+mn-lt"/>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de-DE" sz="800" b="0" i="0" u="none" strike="noStrike" kern="1200" cap="none" spc="0" normalizeH="0" baseline="0" noProof="0" dirty="0">
              <a:ln>
                <a:noFill/>
              </a:ln>
              <a:solidFill>
                <a:schemeClr val="bg1"/>
              </a:solidFill>
              <a:effectLst/>
              <a:uLnTx/>
              <a:uFillTx/>
              <a:latin typeface="+mn-lt"/>
              <a:ea typeface="+mn-ea"/>
              <a:cs typeface="Arial" pitchFamily="34" charset="0"/>
            </a:endParaRPr>
          </a:p>
        </p:txBody>
      </p:sp>
      <p:graphicFrame>
        <p:nvGraphicFramePr>
          <p:cNvPr id="14" name="Objekt 13"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9822" name="think-cell Slide" r:id="rId4" imgW="0" imgH="0" progId="">
                  <p:embed/>
                </p:oleObj>
              </mc:Choice>
              <mc:Fallback>
                <p:oleObj name="think-cell Slide" r:id="rId4"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itel 17"/>
          <p:cNvSpPr>
            <a:spLocks noGrp="1"/>
          </p:cNvSpPr>
          <p:nvPr>
            <p:ph type="title"/>
          </p:nvPr>
        </p:nvSpPr>
        <p:spPr>
          <a:xfrm>
            <a:off x="468313" y="1443037"/>
            <a:ext cx="8207375" cy="1323975"/>
          </a:xfrm>
        </p:spPr>
        <p:txBody>
          <a:bodyPr wrap="square" lIns="0" tIns="0" rIns="0" bIns="72000" anchor="t" anchorCtr="0">
            <a:noAutofit/>
          </a:bodyPr>
          <a:lstStyle>
            <a:lvl1pPr marL="0" indent="0" algn="l" rtl="0" eaLnBrk="1" fontAlgn="base" hangingPunct="1">
              <a:lnSpc>
                <a:spcPct val="100000"/>
              </a:lnSpc>
              <a:spcBef>
                <a:spcPts val="800"/>
              </a:spcBef>
              <a:spcAft>
                <a:spcPct val="0"/>
              </a:spcAft>
              <a:buNone/>
              <a:defRPr sz="3600" b="1" i="0">
                <a:solidFill>
                  <a:srgbClr val="FFB500"/>
                </a:solidFill>
                <a:latin typeface="Arial"/>
              </a:defRPr>
            </a:lvl1pPr>
          </a:lstStyle>
          <a:p>
            <a:r>
              <a:rPr lang="en-US" noProof="0" smtClean="0"/>
              <a:t>Click to edit Master title style</a:t>
            </a:r>
            <a:endParaRPr lang="en-US" noProof="0" dirty="0"/>
          </a:p>
        </p:txBody>
      </p:sp>
      <p:sp>
        <p:nvSpPr>
          <p:cNvPr id="6" name="AMC_Footer"/>
          <p:cNvSpPr txBox="1">
            <a:spLocks/>
          </p:cNvSpPr>
          <p:nvPr userDrawn="1"/>
        </p:nvSpPr>
        <p:spPr>
          <a:xfrm>
            <a:off x="468313" y="6569075"/>
            <a:ext cx="619191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800" b="0" i="0" u="none" strike="noStrike" kern="1200" cap="none" spc="0" normalizeH="0" baseline="0" noProof="0" dirty="0" smtClean="0">
                <a:ln>
                  <a:noFill/>
                </a:ln>
                <a:solidFill>
                  <a:schemeClr val="bg1"/>
                </a:solidFill>
                <a:effectLst/>
                <a:uLnTx/>
                <a:uFillTx/>
                <a:latin typeface="+mn-lt"/>
                <a:ea typeface="+mn-ea"/>
                <a:cs typeface="Arial" pitchFamily="34" charset="0"/>
              </a:rPr>
              <a:t>Copyright © 2014 Accenture. All rights reserved</a:t>
            </a:r>
            <a:r>
              <a:rPr kumimoji="0" lang="en-ZA" sz="800" b="0" i="0" u="none" strike="noStrike" kern="1200" cap="none" spc="0" normalizeH="0" baseline="0" noProof="0" smtClean="0">
                <a:ln>
                  <a:noFill/>
                </a:ln>
                <a:solidFill>
                  <a:schemeClr val="bg1"/>
                </a:solidFill>
                <a:effectLst/>
                <a:uLnTx/>
                <a:uFillTx/>
                <a:latin typeface="+mn-lt"/>
                <a:ea typeface="+mn-ea"/>
                <a:cs typeface="Arial" pitchFamily="34" charset="0"/>
              </a:rPr>
              <a:t>. </a:t>
            </a:r>
            <a:endParaRPr kumimoji="0" lang="en-US" sz="800" b="0" i="0" u="none" strike="noStrike" kern="1200" cap="none" spc="0" normalizeH="0" baseline="0" noProof="0" dirty="0">
              <a:ln>
                <a:noFill/>
              </a:ln>
              <a:solidFill>
                <a:schemeClr val="bg1"/>
              </a:solidFill>
              <a:effectLst/>
              <a:uLnTx/>
              <a:uFillTx/>
              <a:latin typeface="+mn-lt"/>
              <a:ea typeface="+mn-ea"/>
              <a:cs typeface="Arial" pitchFamily="34" charset="0"/>
            </a:endParaRPr>
          </a:p>
        </p:txBody>
      </p:sp>
    </p:spTree>
    <p:extLst>
      <p:ext uri="{BB962C8B-B14F-4D97-AF65-F5344CB8AC3E}">
        <p14:creationId xmlns:p14="http://schemas.microsoft.com/office/powerpoint/2010/main" val="3071628560"/>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Divider Slide Option 7_Red Violet">
    <p:bg bwMode="auto">
      <p:bgPr>
        <a:solidFill>
          <a:srgbClr val="551155"/>
        </a:solidFill>
        <a:effectLst/>
      </p:bgPr>
    </p:bg>
    <p:spTree>
      <p:nvGrpSpPr>
        <p:cNvPr id="1" name=""/>
        <p:cNvGrpSpPr/>
        <p:nvPr/>
      </p:nvGrpSpPr>
      <p:grpSpPr>
        <a:xfrm>
          <a:off x="0" y="0"/>
          <a:ext cx="0" cy="0"/>
          <a:chOff x="0" y="0"/>
          <a:chExt cx="0" cy="0"/>
        </a:xfrm>
      </p:grpSpPr>
      <p:sp>
        <p:nvSpPr>
          <p:cNvPr id="19" name="Inhaltsplatzhalter 13"/>
          <p:cNvSpPr txBox="1">
            <a:spLocks/>
          </p:cNvSpPr>
          <p:nvPr userDrawn="1"/>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B578BD5-E3A8-4354-91BC-79CE4598B8D1}" type="slidenum">
              <a:rPr kumimoji="0" lang="en-US" sz="800" b="0" i="0" u="none" strike="noStrike" kern="1200" cap="none" spc="0" normalizeH="0" baseline="0" noProof="0" smtClean="0">
                <a:ln>
                  <a:noFill/>
                </a:ln>
                <a:solidFill>
                  <a:srgbClr val="666666"/>
                </a:solidFill>
                <a:effectLst/>
                <a:uLnTx/>
                <a:uFillTx/>
                <a:latin typeface="+mn-lt"/>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graphicFrame>
        <p:nvGraphicFramePr>
          <p:cNvPr id="14" name="Objekt 13" hidden="1"/>
          <p:cNvGraphicFramePr>
            <a:graphicFrameLocks/>
          </p:cNvGraphicFramePr>
          <p:nvPr>
            <p:custDataLst>
              <p:tags r:id="rId2"/>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30846" name="think-cell Slide" r:id="rId4" imgW="0" imgH="0" progId="">
                  <p:embed/>
                </p:oleObj>
              </mc:Choice>
              <mc:Fallback>
                <p:oleObj name="think-cell Slide" r:id="rId4" imgW="0" imgH="0" progId="">
                  <p:embed/>
                  <p:pic>
                    <p:nvPicPr>
                      <p:cNvPr id="0" name=""/>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158750"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itel 17"/>
          <p:cNvSpPr>
            <a:spLocks noGrp="1"/>
          </p:cNvSpPr>
          <p:nvPr>
            <p:ph type="title"/>
          </p:nvPr>
        </p:nvSpPr>
        <p:spPr>
          <a:xfrm>
            <a:off x="468313" y="1443037"/>
            <a:ext cx="8207375" cy="1323975"/>
          </a:xfrm>
        </p:spPr>
        <p:txBody>
          <a:bodyPr wrap="square" lIns="0" tIns="0" rIns="0" bIns="72000" anchor="t" anchorCtr="0">
            <a:noAutofit/>
          </a:bodyPr>
          <a:lstStyle>
            <a:lvl1pPr marL="0" indent="0" algn="l" rtl="0" eaLnBrk="1" fontAlgn="base" hangingPunct="1">
              <a:lnSpc>
                <a:spcPct val="100000"/>
              </a:lnSpc>
              <a:spcBef>
                <a:spcPts val="800"/>
              </a:spcBef>
              <a:spcAft>
                <a:spcPct val="0"/>
              </a:spcAft>
              <a:buNone/>
              <a:defRPr sz="3600" b="1" i="0">
                <a:solidFill>
                  <a:srgbClr val="FFB500"/>
                </a:solidFill>
                <a:latin typeface="Arial"/>
              </a:defRPr>
            </a:lvl1pPr>
          </a:lstStyle>
          <a:p>
            <a:r>
              <a:rPr lang="en-US" noProof="0" smtClean="0"/>
              <a:t>Click to edit Master title style</a:t>
            </a:r>
            <a:endParaRPr lang="en-US" noProof="0" dirty="0"/>
          </a:p>
        </p:txBody>
      </p:sp>
      <p:sp>
        <p:nvSpPr>
          <p:cNvPr id="6" name="AMC_Footer"/>
          <p:cNvSpPr txBox="1">
            <a:spLocks/>
          </p:cNvSpPr>
          <p:nvPr userDrawn="1"/>
        </p:nvSpPr>
        <p:spPr>
          <a:xfrm>
            <a:off x="468313" y="6569075"/>
            <a:ext cx="619191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800" b="0" i="0" u="none" strike="noStrike" kern="1200" cap="none" spc="0" normalizeH="0" baseline="0" noProof="0" dirty="0" smtClean="0">
                <a:ln>
                  <a:noFill/>
                </a:ln>
                <a:solidFill>
                  <a:srgbClr val="666666"/>
                </a:solidFill>
                <a:effectLst/>
                <a:uLnTx/>
                <a:uFillTx/>
                <a:latin typeface="+mn-lt"/>
                <a:ea typeface="+mn-ea"/>
                <a:cs typeface="Arial" pitchFamily="34" charset="0"/>
              </a:rPr>
              <a:t>Copyright © 2014 Accenture. All rights reserved</a:t>
            </a:r>
            <a:r>
              <a:rPr kumimoji="0" lang="en-ZA" sz="800" b="0" i="0" u="none" strike="noStrike" kern="1200" cap="none" spc="0" normalizeH="0" baseline="0" noProof="0" smtClean="0">
                <a:ln>
                  <a:noFill/>
                </a:ln>
                <a:solidFill>
                  <a:srgbClr val="666666"/>
                </a:solidFill>
                <a:effectLst/>
                <a:uLnTx/>
                <a:uFillTx/>
                <a:latin typeface="+mn-lt"/>
                <a:ea typeface="+mn-ea"/>
                <a:cs typeface="Arial" pitchFamily="34" charset="0"/>
              </a:rPr>
              <a:t>. </a:t>
            </a:r>
            <a:endParaRPr kumimoji="0" lang="en-US"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821960723"/>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ivider Slide 2">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5613" y="4260146"/>
            <a:ext cx="8232775" cy="1162800"/>
          </a:xfrm>
          <a:prstGeom prst="rect">
            <a:avLst/>
          </a:prstGeom>
        </p:spPr>
        <p:txBody>
          <a:bodyPr lIns="0" tIns="0" anchor="b" anchorCtr="0">
            <a:noAutofit/>
          </a:bodyPr>
          <a:lstStyle>
            <a:lvl1pPr algn="l">
              <a:lnSpc>
                <a:spcPct val="100000"/>
              </a:lnSpc>
              <a:defRPr sz="3600" b="0" spc="0" baseline="0">
                <a:solidFill>
                  <a:schemeClr val="bg1"/>
                </a:solidFill>
                <a:latin typeface="+mj-lt"/>
                <a:cs typeface="Arial" pitchFamily="34" charset="0"/>
              </a:defRPr>
            </a:lvl1pPr>
          </a:lstStyle>
          <a:p>
            <a:r>
              <a:rPr lang="en-US" dirty="0" smtClean="0"/>
              <a:t>Master Divider Slide Headline</a:t>
            </a:r>
            <a:endParaRPr lang="en-GB" dirty="0"/>
          </a:p>
        </p:txBody>
      </p:sp>
      <p:sp>
        <p:nvSpPr>
          <p:cNvPr id="6" name="Slide Number Placeholder 4"/>
          <p:cNvSpPr>
            <a:spLocks noGrp="1"/>
          </p:cNvSpPr>
          <p:nvPr>
            <p:ph type="sldNum" sz="quarter" idx="4"/>
          </p:nvPr>
        </p:nvSpPr>
        <p:spPr>
          <a:xfrm>
            <a:off x="8140355" y="6575425"/>
            <a:ext cx="548033"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bg1"/>
                </a:solidFill>
                <a:latin typeface="+mn-lt"/>
              </a:defRPr>
            </a:lvl1p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2107183073"/>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_Divider Slide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5613" y="4260146"/>
            <a:ext cx="8232775" cy="1162800"/>
          </a:xfrm>
          <a:prstGeom prst="rect">
            <a:avLst/>
          </a:prstGeom>
        </p:spPr>
        <p:txBody>
          <a:bodyPr lIns="0" tIns="0" anchor="b" anchorCtr="0">
            <a:noAutofit/>
          </a:bodyPr>
          <a:lstStyle>
            <a:lvl1pPr algn="l">
              <a:lnSpc>
                <a:spcPct val="100000"/>
              </a:lnSpc>
              <a:defRPr sz="3600" b="0" spc="0" baseline="0">
                <a:solidFill>
                  <a:schemeClr val="bg1"/>
                </a:solidFill>
                <a:latin typeface="+mj-lt"/>
                <a:cs typeface="Arial" pitchFamily="34" charset="0"/>
              </a:defRPr>
            </a:lvl1pPr>
          </a:lstStyle>
          <a:p>
            <a:r>
              <a:rPr lang="en-US" dirty="0" smtClean="0"/>
              <a:t>Master Divider Slide Headline</a:t>
            </a:r>
            <a:endParaRPr lang="en-GB" dirty="0"/>
          </a:p>
        </p:txBody>
      </p:sp>
      <p:sp>
        <p:nvSpPr>
          <p:cNvPr id="6" name="Slide Number Placeholder 4"/>
          <p:cNvSpPr>
            <a:spLocks noGrp="1"/>
          </p:cNvSpPr>
          <p:nvPr>
            <p:ph type="sldNum" sz="quarter" idx="4"/>
          </p:nvPr>
        </p:nvSpPr>
        <p:spPr>
          <a:xfrm>
            <a:off x="8140355" y="6575425"/>
            <a:ext cx="548033"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bg1"/>
                </a:solidFill>
                <a:latin typeface="+mn-lt"/>
              </a:defRPr>
            </a:lvl1p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1063309404"/>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Divider Slide 2">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5613" y="4260146"/>
            <a:ext cx="8232775" cy="1162800"/>
          </a:xfrm>
          <a:prstGeom prst="rect">
            <a:avLst/>
          </a:prstGeom>
        </p:spPr>
        <p:txBody>
          <a:bodyPr lIns="0" tIns="0" anchor="b" anchorCtr="0">
            <a:noAutofit/>
          </a:bodyPr>
          <a:lstStyle>
            <a:lvl1pPr algn="l">
              <a:lnSpc>
                <a:spcPct val="100000"/>
              </a:lnSpc>
              <a:defRPr sz="3600" b="0" spc="0" baseline="0">
                <a:solidFill>
                  <a:schemeClr val="bg1"/>
                </a:solidFill>
                <a:latin typeface="+mj-lt"/>
                <a:cs typeface="Arial" pitchFamily="34" charset="0"/>
              </a:defRPr>
            </a:lvl1pPr>
          </a:lstStyle>
          <a:p>
            <a:r>
              <a:rPr lang="en-US" dirty="0" smtClean="0"/>
              <a:t>Master Divider Slide Headline</a:t>
            </a:r>
            <a:endParaRPr lang="en-GB" dirty="0"/>
          </a:p>
        </p:txBody>
      </p:sp>
      <p:sp>
        <p:nvSpPr>
          <p:cNvPr id="6" name="Slide Number Placeholder 4"/>
          <p:cNvSpPr>
            <a:spLocks noGrp="1"/>
          </p:cNvSpPr>
          <p:nvPr>
            <p:ph type="sldNum" sz="quarter" idx="4"/>
          </p:nvPr>
        </p:nvSpPr>
        <p:spPr>
          <a:xfrm>
            <a:off x="8140355" y="6575425"/>
            <a:ext cx="548033"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bg1"/>
                </a:solidFill>
                <a:latin typeface="+mn-lt"/>
              </a:defRPr>
            </a:lvl1p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160322762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5613" y="1157318"/>
            <a:ext cx="8232775" cy="5335557"/>
          </a:xfrm>
          <a:prstGeom prst="rect">
            <a:avLst/>
          </a:prstGeom>
        </p:spPr>
        <p:txBody>
          <a:bodyPr vert="horz" lIns="0" tIns="4572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dirty="0"/>
          </a:p>
        </p:txBody>
      </p:sp>
      <p:sp>
        <p:nvSpPr>
          <p:cNvPr id="2" name="Title Placeholder 1"/>
          <p:cNvSpPr>
            <a:spLocks noGrp="1"/>
          </p:cNvSpPr>
          <p:nvPr>
            <p:ph type="title"/>
          </p:nvPr>
        </p:nvSpPr>
        <p:spPr>
          <a:xfrm>
            <a:off x="455613" y="123700"/>
            <a:ext cx="8232775" cy="1002979"/>
          </a:xfrm>
          <a:prstGeom prst="rect">
            <a:avLst/>
          </a:prstGeom>
        </p:spPr>
        <p:txBody>
          <a:bodyPr vert="horz" lIns="0" tIns="45720" rIns="0" bIns="0" rtlCol="0" anchor="b" anchorCtr="0">
            <a:noAutofit/>
          </a:bodyPr>
          <a:lstStyle/>
          <a:p>
            <a:pPr lvl="0"/>
            <a:r>
              <a:rPr lang="en-US" dirty="0" smtClean="0"/>
              <a:t>Click to edit Master title style</a:t>
            </a:r>
            <a:endParaRPr lang="en-AU" dirty="0"/>
          </a:p>
        </p:txBody>
      </p:sp>
      <p:sp>
        <p:nvSpPr>
          <p:cNvPr id="5" name="Slide Number Placeholder 4"/>
          <p:cNvSpPr>
            <a:spLocks noGrp="1"/>
          </p:cNvSpPr>
          <p:nvPr>
            <p:ph type="sldNum" sz="quarter" idx="4"/>
          </p:nvPr>
        </p:nvSpPr>
        <p:spPr>
          <a:xfrm>
            <a:off x="8140355" y="6575425"/>
            <a:ext cx="548033"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tx2"/>
                </a:solidFill>
                <a:latin typeface="+mn-lt"/>
              </a:defRPr>
            </a:lvl1pPr>
          </a:lstStyle>
          <a:p>
            <a:pPr>
              <a:defRPr/>
            </a:pPr>
            <a:fld id="{90CBDC3A-D49F-4631-A8C7-55D59B33E5FA}" type="slidenum">
              <a:rPr lang="en-US" smtClean="0"/>
              <a:pPr>
                <a:defRPr/>
              </a:pPr>
              <a:t>‹#›</a:t>
            </a:fld>
            <a:endParaRPr lang="en-US" dirty="0"/>
          </a:p>
        </p:txBody>
      </p:sp>
      <p:sp>
        <p:nvSpPr>
          <p:cNvPr id="4" name="Footer Placeholder 3"/>
          <p:cNvSpPr>
            <a:spLocks noGrp="1"/>
          </p:cNvSpPr>
          <p:nvPr>
            <p:ph type="ftr" sz="quarter" idx="3"/>
          </p:nvPr>
        </p:nvSpPr>
        <p:spPr>
          <a:xfrm>
            <a:off x="455613" y="6575425"/>
            <a:ext cx="4060825" cy="128588"/>
          </a:xfrm>
          <a:prstGeom prst="rect">
            <a:avLst/>
          </a:prstGeom>
          <a:noFill/>
        </p:spPr>
        <p:txBody>
          <a:bodyPr wrap="square" lIns="0" anchor="ctr" anchorCtr="0">
            <a:noAutofit/>
          </a:bodyPr>
          <a:lstStyle>
            <a:lvl1pPr>
              <a:defRPr lang="en-AU" sz="900">
                <a:solidFill>
                  <a:schemeClr val="tx2"/>
                </a:solidFill>
                <a:latin typeface="+mn-lt"/>
              </a:defRPr>
            </a:lvl1pPr>
          </a:lstStyle>
          <a:p>
            <a:r>
              <a:rPr lang="en-US" smtClean="0"/>
              <a:t>Copyright © 2015 Accenture  All rights reserved.</a:t>
            </a:r>
            <a:endParaRPr lang="en-AU" dirty="0"/>
          </a:p>
        </p:txBody>
      </p:sp>
      <p:cxnSp>
        <p:nvCxnSpPr>
          <p:cNvPr id="8" name="Straight Connector 7"/>
          <p:cNvCxnSpPr/>
          <p:nvPr/>
        </p:nvCxnSpPr>
        <p:spPr>
          <a:xfrm>
            <a:off x="455613" y="1159234"/>
            <a:ext cx="8688387"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34"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7" r:id="rId10"/>
    <p:sldLayoutId id="2147483750" r:id="rId11"/>
    <p:sldLayoutId id="2147483752" r:id="rId12"/>
    <p:sldLayoutId id="2147483753" r:id="rId13"/>
    <p:sldLayoutId id="2147483754" r:id="rId14"/>
    <p:sldLayoutId id="2147483755" r:id="rId15"/>
    <p:sldLayoutId id="2147483721" r:id="rId16"/>
    <p:sldLayoutId id="2147483720" r:id="rId17"/>
    <p:sldLayoutId id="2147483725" r:id="rId18"/>
    <p:sldLayoutId id="2147483728" r:id="rId19"/>
    <p:sldLayoutId id="2147483727" r:id="rId20"/>
    <p:sldLayoutId id="2147483729" r:id="rId21"/>
    <p:sldLayoutId id="2147483756" r:id="rId22"/>
    <p:sldLayoutId id="2147483757" r:id="rId23"/>
    <p:sldLayoutId id="2147483758" r:id="rId24"/>
    <p:sldLayoutId id="2147483759" r:id="rId25"/>
    <p:sldLayoutId id="2147483760" r:id="rId26"/>
    <p:sldLayoutId id="2147483761" r:id="rId27"/>
    <p:sldLayoutId id="2147483762" r:id="rId28"/>
    <p:sldLayoutId id="2147483724" r:id="rId29"/>
    <p:sldLayoutId id="2147483736" r:id="rId30"/>
    <p:sldLayoutId id="2147483735" r:id="rId31"/>
  </p:sldLayoutIdLst>
  <p:timing>
    <p:tnLst>
      <p:par>
        <p:cTn id="1" dur="indefinite" restart="never" nodeType="tmRoot"/>
      </p:par>
    </p:tnLst>
  </p:timing>
  <p:hf sldNum="0" hdr="0" dt="0"/>
  <p:txStyles>
    <p:titleStyle>
      <a:lvl1pPr algn="l" rtl="0" eaLnBrk="1" fontAlgn="base" hangingPunct="1">
        <a:lnSpc>
          <a:spcPct val="100000"/>
        </a:lnSpc>
        <a:spcBef>
          <a:spcPct val="0"/>
        </a:spcBef>
        <a:spcAft>
          <a:spcPct val="0"/>
        </a:spcAft>
        <a:buFont typeface="Arial" charset="0"/>
        <a:defRPr lang="en-AU" sz="2600" b="1" kern="1200" spc="0" baseline="0" dirty="0" smtClean="0">
          <a:solidFill>
            <a:schemeClr val="accent2"/>
          </a:solidFill>
          <a:latin typeface="+mj-lt"/>
          <a:ea typeface="Arial" pitchFamily="-105" charset="-52"/>
          <a:cs typeface="Arial" pitchFamily="34" charset="0"/>
        </a:defRPr>
      </a:lvl1pPr>
      <a:lvl2pPr algn="l" rtl="0" eaLnBrk="1" fontAlgn="base" hangingPunct="1">
        <a:lnSpc>
          <a:spcPts val="2600"/>
        </a:lnSpc>
        <a:spcBef>
          <a:spcPct val="0"/>
        </a:spcBef>
        <a:spcAft>
          <a:spcPct val="0"/>
        </a:spcAft>
        <a:buFont typeface="Arial" charset="0"/>
        <a:defRPr sz="2400">
          <a:solidFill>
            <a:schemeClr val="tx1"/>
          </a:solidFill>
          <a:latin typeface="Arial" pitchFamily="-105" charset="-52"/>
          <a:ea typeface="Arial" pitchFamily="-105" charset="-52"/>
          <a:cs typeface="Arial" pitchFamily="-105" charset="-52"/>
        </a:defRPr>
      </a:lvl2pPr>
      <a:lvl3pPr algn="l" rtl="0" eaLnBrk="1" fontAlgn="base" hangingPunct="1">
        <a:lnSpc>
          <a:spcPts val="2600"/>
        </a:lnSpc>
        <a:spcBef>
          <a:spcPct val="0"/>
        </a:spcBef>
        <a:spcAft>
          <a:spcPct val="0"/>
        </a:spcAft>
        <a:buFont typeface="Arial" charset="0"/>
        <a:defRPr sz="2400">
          <a:solidFill>
            <a:schemeClr val="tx1"/>
          </a:solidFill>
          <a:latin typeface="Arial" pitchFamily="-105" charset="-52"/>
          <a:ea typeface="Arial" pitchFamily="-105" charset="-52"/>
          <a:cs typeface="Arial" pitchFamily="-105" charset="-52"/>
        </a:defRPr>
      </a:lvl3pPr>
      <a:lvl4pPr algn="l" rtl="0" eaLnBrk="1" fontAlgn="base" hangingPunct="1">
        <a:lnSpc>
          <a:spcPts val="2600"/>
        </a:lnSpc>
        <a:spcBef>
          <a:spcPct val="0"/>
        </a:spcBef>
        <a:spcAft>
          <a:spcPct val="0"/>
        </a:spcAft>
        <a:buFont typeface="Arial" charset="0"/>
        <a:defRPr sz="2400">
          <a:solidFill>
            <a:schemeClr val="tx1"/>
          </a:solidFill>
          <a:latin typeface="Arial" pitchFamily="-105" charset="-52"/>
          <a:ea typeface="Arial" pitchFamily="-105" charset="-52"/>
          <a:cs typeface="Arial" pitchFamily="-105" charset="-52"/>
        </a:defRPr>
      </a:lvl4pPr>
      <a:lvl5pPr algn="l" rtl="0" eaLnBrk="1" fontAlgn="base" hangingPunct="1">
        <a:lnSpc>
          <a:spcPts val="2600"/>
        </a:lnSpc>
        <a:spcBef>
          <a:spcPct val="0"/>
        </a:spcBef>
        <a:spcAft>
          <a:spcPct val="0"/>
        </a:spcAft>
        <a:buFont typeface="Arial" charset="0"/>
        <a:defRPr sz="2400">
          <a:solidFill>
            <a:schemeClr val="tx1"/>
          </a:solidFill>
          <a:latin typeface="Arial" pitchFamily="-105" charset="-52"/>
          <a:ea typeface="Arial" pitchFamily="-105" charset="-52"/>
          <a:cs typeface="Arial" pitchFamily="-105" charset="-52"/>
        </a:defRPr>
      </a:lvl5pPr>
      <a:lvl6pPr marL="457200" algn="l" rtl="0" eaLnBrk="1" fontAlgn="base" hangingPunct="1">
        <a:spcBef>
          <a:spcPct val="0"/>
        </a:spcBef>
        <a:spcAft>
          <a:spcPct val="0"/>
        </a:spcAft>
        <a:buFont typeface="Arial" pitchFamily="-105" charset="-52"/>
        <a:defRPr sz="2600">
          <a:solidFill>
            <a:schemeClr val="tx1"/>
          </a:solidFill>
          <a:latin typeface="Arial" pitchFamily="-105" charset="-52"/>
          <a:ea typeface="Arial" pitchFamily="-105" charset="-52"/>
          <a:cs typeface="Arial" pitchFamily="-105" charset="-52"/>
        </a:defRPr>
      </a:lvl6pPr>
      <a:lvl7pPr marL="914400" algn="l" rtl="0" eaLnBrk="1" fontAlgn="base" hangingPunct="1">
        <a:spcBef>
          <a:spcPct val="0"/>
        </a:spcBef>
        <a:spcAft>
          <a:spcPct val="0"/>
        </a:spcAft>
        <a:buFont typeface="Arial" pitchFamily="-105" charset="-52"/>
        <a:defRPr sz="2600">
          <a:solidFill>
            <a:schemeClr val="tx1"/>
          </a:solidFill>
          <a:latin typeface="Arial" pitchFamily="-105" charset="-52"/>
          <a:ea typeface="Arial" pitchFamily="-105" charset="-52"/>
          <a:cs typeface="Arial" pitchFamily="-105" charset="-52"/>
        </a:defRPr>
      </a:lvl7pPr>
      <a:lvl8pPr marL="1371600" algn="l" rtl="0" eaLnBrk="1" fontAlgn="base" hangingPunct="1">
        <a:spcBef>
          <a:spcPct val="0"/>
        </a:spcBef>
        <a:spcAft>
          <a:spcPct val="0"/>
        </a:spcAft>
        <a:buFont typeface="Arial" pitchFamily="-105" charset="-52"/>
        <a:defRPr sz="2600">
          <a:solidFill>
            <a:schemeClr val="tx1"/>
          </a:solidFill>
          <a:latin typeface="Arial" pitchFamily="-105" charset="-52"/>
          <a:ea typeface="Arial" pitchFamily="-105" charset="-52"/>
          <a:cs typeface="Arial" pitchFamily="-105" charset="-52"/>
        </a:defRPr>
      </a:lvl8pPr>
      <a:lvl9pPr marL="1828800" algn="l" rtl="0" eaLnBrk="1" fontAlgn="base" hangingPunct="1">
        <a:spcBef>
          <a:spcPct val="0"/>
        </a:spcBef>
        <a:spcAft>
          <a:spcPct val="0"/>
        </a:spcAft>
        <a:buFont typeface="Arial" pitchFamily="-105" charset="-52"/>
        <a:defRPr sz="2600">
          <a:solidFill>
            <a:schemeClr val="tx1"/>
          </a:solidFill>
          <a:latin typeface="Arial" pitchFamily="-105" charset="-52"/>
          <a:ea typeface="Arial" pitchFamily="-105" charset="-52"/>
          <a:cs typeface="Arial" pitchFamily="-105" charset="-52"/>
        </a:defRPr>
      </a:lvl9pPr>
    </p:titleStyle>
    <p:bodyStyle>
      <a:lvl1pPr marL="230400" indent="-230400" algn="l" rtl="0" eaLnBrk="1" fontAlgn="base" hangingPunct="1">
        <a:spcBef>
          <a:spcPts val="1200"/>
        </a:spcBef>
        <a:spcAft>
          <a:spcPct val="0"/>
        </a:spcAft>
        <a:buSzPct val="80000"/>
        <a:buFont typeface="Arial" pitchFamily="34" charset="0"/>
        <a:buChar char="•"/>
        <a:defRPr sz="2600" kern="1200">
          <a:solidFill>
            <a:schemeClr val="tx1"/>
          </a:solidFill>
          <a:latin typeface="+mn-lt"/>
          <a:ea typeface="Arial" pitchFamily="-105" charset="-52"/>
          <a:cs typeface="Arial" pitchFamily="34" charset="0"/>
        </a:defRPr>
      </a:lvl1pPr>
      <a:lvl2pPr marL="457200" indent="-230400" algn="l" rtl="0" eaLnBrk="1" fontAlgn="base" hangingPunct="1">
        <a:spcBef>
          <a:spcPts val="624"/>
        </a:spcBef>
        <a:spcAft>
          <a:spcPct val="0"/>
        </a:spcAft>
        <a:buSzPct val="80000"/>
        <a:buFont typeface="Arial" pitchFamily="34" charset="0"/>
        <a:buChar char="–"/>
        <a:defRPr sz="2400" kern="1200">
          <a:solidFill>
            <a:schemeClr val="tx1"/>
          </a:solidFill>
          <a:latin typeface="+mn-lt"/>
          <a:ea typeface="Arial" pitchFamily="-105" charset="-52"/>
          <a:cs typeface="Arial" pitchFamily="34" charset="0"/>
        </a:defRPr>
      </a:lvl2pPr>
      <a:lvl3pPr marL="687600" indent="-230400" algn="l" rtl="0" eaLnBrk="1" fontAlgn="base" hangingPunct="1">
        <a:spcBef>
          <a:spcPts val="576"/>
        </a:spcBef>
        <a:spcAft>
          <a:spcPct val="0"/>
        </a:spcAft>
        <a:buSzPct val="80000"/>
        <a:buFont typeface="Arial" pitchFamily="34" charset="0"/>
        <a:buChar char="•"/>
        <a:defRPr sz="2000" kern="1200">
          <a:solidFill>
            <a:schemeClr val="tx1"/>
          </a:solidFill>
          <a:latin typeface="+mn-lt"/>
          <a:ea typeface="Arial" pitchFamily="-105" charset="-52"/>
          <a:cs typeface="Arial" pitchFamily="34" charset="0"/>
        </a:defRPr>
      </a:lvl3pPr>
      <a:lvl4pPr marL="910800" indent="-226800" algn="l" rtl="0" eaLnBrk="1" fontAlgn="base" hangingPunct="1">
        <a:spcBef>
          <a:spcPts val="528"/>
        </a:spcBef>
        <a:spcAft>
          <a:spcPct val="0"/>
        </a:spcAft>
        <a:buSzPct val="80000"/>
        <a:buFont typeface="Arial" pitchFamily="34" charset="0"/>
        <a:buChar char="–"/>
        <a:defRPr sz="1800" kern="1200">
          <a:solidFill>
            <a:schemeClr val="tx1"/>
          </a:solidFill>
          <a:latin typeface="+mn-lt"/>
          <a:ea typeface="Arial" pitchFamily="-105" charset="-52"/>
          <a:cs typeface="Arial" pitchFamily="34" charset="0"/>
        </a:defRPr>
      </a:lvl4pPr>
      <a:lvl5pPr marL="1144800" indent="-230400" algn="l" rtl="0" eaLnBrk="1" fontAlgn="base" hangingPunct="1">
        <a:spcBef>
          <a:spcPts val="480"/>
        </a:spcBef>
        <a:spcAft>
          <a:spcPct val="0"/>
        </a:spcAft>
        <a:buSzPct val="80000"/>
        <a:buFont typeface="Arial" pitchFamily="34" charset="0"/>
        <a:buChar char="•"/>
        <a:defRPr sz="1600" kern="1200">
          <a:solidFill>
            <a:schemeClr val="tx1"/>
          </a:solidFill>
          <a:latin typeface="+mn-lt"/>
          <a:ea typeface="Arial" pitchFamily="-105" charset="-52"/>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20.jpg"/></Relationships>
</file>

<file path=ppt/slides/_rels/slide1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7.xml"/><Relationship Id="rId1" Type="http://schemas.openxmlformats.org/officeDocument/2006/relationships/slideLayout" Target="../slideLayouts/slideLayout16.xml"/><Relationship Id="rId5" Type="http://schemas.openxmlformats.org/officeDocument/2006/relationships/image" Target="../media/image24.jpg"/><Relationship Id="rId4" Type="http://schemas.openxmlformats.org/officeDocument/2006/relationships/image" Target="../media/image23.jpg"/></Relationships>
</file>

<file path=ppt/slides/_rels/slide18.xml.rels><?xml version="1.0" encoding="UTF-8" standalone="yes"?>
<Relationships xmlns="http://schemas.openxmlformats.org/package/2006/relationships"><Relationship Id="rId8" Type="http://schemas.openxmlformats.org/officeDocument/2006/relationships/image" Target="../media/image30.jpg"/><Relationship Id="rId3" Type="http://schemas.openxmlformats.org/officeDocument/2006/relationships/image" Target="../media/image25.jpg"/><Relationship Id="rId7" Type="http://schemas.openxmlformats.org/officeDocument/2006/relationships/image" Target="../media/image29.jpg"/><Relationship Id="rId2" Type="http://schemas.openxmlformats.org/officeDocument/2006/relationships/notesSlide" Target="../notesSlides/notesSlide18.xml"/><Relationship Id="rId1" Type="http://schemas.openxmlformats.org/officeDocument/2006/relationships/slideLayout" Target="../slideLayouts/slideLayout16.xml"/><Relationship Id="rId6" Type="http://schemas.openxmlformats.org/officeDocument/2006/relationships/image" Target="../media/image28.jpg"/><Relationship Id="rId5" Type="http://schemas.openxmlformats.org/officeDocument/2006/relationships/image" Target="../media/image27.jpg"/><Relationship Id="rId4" Type="http://schemas.openxmlformats.org/officeDocument/2006/relationships/image" Target="../media/image26.jpg"/></Relationships>
</file>

<file path=ppt/slides/_rels/slide19.xml.rels><?xml version="1.0" encoding="UTF-8" standalone="yes"?>
<Relationships xmlns="http://schemas.openxmlformats.org/package/2006/relationships"><Relationship Id="rId3" Type="http://schemas.openxmlformats.org/officeDocument/2006/relationships/hyperlink" Target="http://techcrunch.com/2012/11/25/the-big-data-fallacy-data-&#8800;-information-&#8800;-insights/" TargetMode="External"/><Relationship Id="rId2" Type="http://schemas.openxmlformats.org/officeDocument/2006/relationships/notesSlide" Target="../notesSlides/notesSlide19.xml"/><Relationship Id="rId1" Type="http://schemas.openxmlformats.org/officeDocument/2006/relationships/slideLayout" Target="../slideLayouts/slideLayout16.xml"/><Relationship Id="rId4" Type="http://schemas.openxmlformats.org/officeDocument/2006/relationships/image" Target="../media/image31.jpg"/></Relationships>
</file>

<file path=ppt/slides/_rels/slide2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40.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notesSlide" Target="../notesSlides/notesSlide42.xml"/><Relationship Id="rId1" Type="http://schemas.openxmlformats.org/officeDocument/2006/relationships/slideLayout" Target="../slideLayouts/slideLayout16.xml"/><Relationship Id="rId4" Type="http://schemas.openxmlformats.org/officeDocument/2006/relationships/image" Target="../media/image39.gi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46.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50.xml"/><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53.xml"/><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55.xml"/><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6.xml"/></Relationships>
</file>

<file path=ppt/slides/_rels/slide61.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notesSlide" Target="../notesSlides/notesSlide61.xml"/><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64.xml"/><Relationship Id="rId1" Type="http://schemas.openxmlformats.org/officeDocument/2006/relationships/slideLayout" Target="../slideLayouts/slideLayout16.xml"/><Relationship Id="rId6" Type="http://schemas.openxmlformats.org/officeDocument/2006/relationships/image" Target="../media/image46.jpg"/><Relationship Id="rId5" Type="http://schemas.openxmlformats.org/officeDocument/2006/relationships/image" Target="../media/image45.jpg"/><Relationship Id="rId4" Type="http://schemas.openxmlformats.org/officeDocument/2006/relationships/image" Target="../media/image44.jp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6.xml"/></Relationships>
</file>

<file path=ppt/slides/_rels/slide6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69.xml"/><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6.xml"/></Relationships>
</file>

<file path=ppt/slides/_rels/slide7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71.xml"/><Relationship Id="rId1" Type="http://schemas.openxmlformats.org/officeDocument/2006/relationships/slideLayout" Target="../slideLayouts/slideLayout16.xml"/></Relationships>
</file>

<file path=ppt/slides/_rels/slide72.xml.rels><?xml version="1.0" encoding="UTF-8" standalone="yes"?>
<Relationships xmlns="http://schemas.openxmlformats.org/package/2006/relationships"><Relationship Id="rId3" Type="http://schemas.openxmlformats.org/officeDocument/2006/relationships/image" Target="../media/image47.gif"/><Relationship Id="rId2" Type="http://schemas.openxmlformats.org/officeDocument/2006/relationships/notesSlide" Target="../notesSlides/notesSlide72.xml"/><Relationship Id="rId1" Type="http://schemas.openxmlformats.org/officeDocument/2006/relationships/slideLayout" Target="../slideLayouts/slideLayout16.xml"/></Relationships>
</file>

<file path=ppt/slides/_rels/slide7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73.xml"/><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74.xml"/><Relationship Id="rId1" Type="http://schemas.openxmlformats.org/officeDocument/2006/relationships/slideLayout" Target="../slideLayouts/slideLayout16.xml"/><Relationship Id="rId4" Type="http://schemas.openxmlformats.org/officeDocument/2006/relationships/hyperlink" Target="https://kxsites.accenture.com/groups/Bigdata/Pages/TopicPages/Training.aspx?lftTitle=Big+Data+Academy+Training" TargetMode="External"/></Relationships>
</file>

<file path=ppt/slides/_rels/slide75.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75.xml"/><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76.xml"/><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6.xml"/></Relationships>
</file>

<file path=ppt/slides/_rels/slide78.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78.xml"/><Relationship Id="rId1" Type="http://schemas.openxmlformats.org/officeDocument/2006/relationships/slideLayout" Target="../slideLayouts/slideLayout16.xml"/></Relationships>
</file>

<file path=ppt/slides/_rels/slide79.xml.rels><?xml version="1.0" encoding="UTF-8" standalone="yes"?>
<Relationships xmlns="http://schemas.openxmlformats.org/package/2006/relationships"><Relationship Id="rId8" Type="http://schemas.openxmlformats.org/officeDocument/2006/relationships/hyperlink" Target="https://www.accenture.com/cn-en/insight-outlook-masters-of-the-digital-universe-information-technology" TargetMode="External"/><Relationship Id="rId3" Type="http://schemas.openxmlformats.org/officeDocument/2006/relationships/hyperlink" Target="http://www.npr.org/blogs/money/2010/08/19/129298095/with-satellite-images-wall-street-analysts-spy-on-wal-mart" TargetMode="External"/><Relationship Id="rId7" Type="http://schemas.openxmlformats.org/officeDocument/2006/relationships/hyperlink" Target="https://www.accenture.com/cn-en/insight-why-big-data-needs-visualization-succeed-summary" TargetMode="External"/><Relationship Id="rId2" Type="http://schemas.openxmlformats.org/officeDocument/2006/relationships/notesSlide" Target="../notesSlides/notesSlide79.xml"/><Relationship Id="rId1" Type="http://schemas.openxmlformats.org/officeDocument/2006/relationships/slideLayout" Target="../slideLayouts/slideLayout16.xml"/><Relationship Id="rId6" Type="http://schemas.openxmlformats.org/officeDocument/2006/relationships/hyperlink" Target="http://www.ncbi.nlm.nih.gov/pubmed/20703703" TargetMode="External"/><Relationship Id="rId5" Type="http://schemas.openxmlformats.org/officeDocument/2006/relationships/hyperlink" Target="http://www.forbes.com/sites/jeffbercovici/2012/03/22/twitter-chatter-can-predict-stock-prices-study-finds/" TargetMode="External"/><Relationship Id="rId10" Type="http://schemas.openxmlformats.org/officeDocument/2006/relationships/hyperlink" Target="https://www.accenture.com/cn-en/service-federal-analytics-big-data" TargetMode="External"/><Relationship Id="rId4" Type="http://schemas.openxmlformats.org/officeDocument/2006/relationships/hyperlink" Target="http://www.airport-technology.com/contractors/consult/ibm-it-systems/ibm-it-systems3.html" TargetMode="External"/><Relationship Id="rId9" Type="http://schemas.openxmlformats.org/officeDocument/2006/relationships/hyperlink" Target="https://www.accenture.com/cn-en/success-large-entertainment-company-application-outsourcing" TargetMode="Externa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6.xml"/></Relationships>
</file>

<file path=ppt/slides/_rels/slide81.xml.rels><?xml version="1.0" encoding="UTF-8" standalone="yes"?>
<Relationships xmlns="http://schemas.openxmlformats.org/package/2006/relationships"><Relationship Id="rId3" Type="http://schemas.openxmlformats.org/officeDocument/2006/relationships/image" Target="../media/image52.gif"/><Relationship Id="rId2" Type="http://schemas.openxmlformats.org/officeDocument/2006/relationships/notesSlide" Target="../notesSlides/notesSlide81.xml"/><Relationship Id="rId1" Type="http://schemas.openxmlformats.org/officeDocument/2006/relationships/slideLayout" Target="../slideLayouts/slideLayout16.xml"/></Relationships>
</file>

<file path=ppt/slides/_rels/slide82.xml.rels><?xml version="1.0" encoding="UTF-8" standalone="yes"?>
<Relationships xmlns="http://schemas.openxmlformats.org/package/2006/relationships"><Relationship Id="rId3" Type="http://schemas.openxmlformats.org/officeDocument/2006/relationships/image" Target="../media/image53.gif"/><Relationship Id="rId2" Type="http://schemas.openxmlformats.org/officeDocument/2006/relationships/notesSlide" Target="../notesSlides/notesSlide82.xml"/><Relationship Id="rId1" Type="http://schemas.openxmlformats.org/officeDocument/2006/relationships/slideLayout" Target="../slideLayouts/slideLayout1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6.xml"/></Relationships>
</file>

<file path=ppt/slides/_rels/slide85.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85.xml"/><Relationship Id="rId1" Type="http://schemas.openxmlformats.org/officeDocument/2006/relationships/slideLayout" Target="../slideLayouts/slideLayout16.xml"/></Relationships>
</file>

<file path=ppt/slides/_rels/slide86.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86.xml"/><Relationship Id="rId1" Type="http://schemas.openxmlformats.org/officeDocument/2006/relationships/slideLayout" Target="../slideLayouts/slideLayout16.xml"/></Relationships>
</file>

<file path=ppt/slides/_rels/slide87.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87.xml"/><Relationship Id="rId1" Type="http://schemas.openxmlformats.org/officeDocument/2006/relationships/slideLayout" Target="../slideLayouts/slideLayout16.xml"/></Relationships>
</file>

<file path=ppt/slides/_rels/slide88.xml.rels><?xml version="1.0" encoding="UTF-8" standalone="yes"?>
<Relationships xmlns="http://schemas.openxmlformats.org/package/2006/relationships"><Relationship Id="rId3" Type="http://schemas.openxmlformats.org/officeDocument/2006/relationships/image" Target="../media/image57.gif"/><Relationship Id="rId2" Type="http://schemas.openxmlformats.org/officeDocument/2006/relationships/notesSlide" Target="../notesSlides/notesSlide88.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r>
              <a:rPr lang="en-US" dirty="0" smtClean="0"/>
              <a:t>Introduction to Big Data</a:t>
            </a:r>
            <a:endParaRPr lang="en-US" dirty="0"/>
          </a:p>
        </p:txBody>
      </p:sp>
    </p:spTree>
    <p:extLst>
      <p:ext uri="{BB962C8B-B14F-4D97-AF65-F5344CB8AC3E}">
        <p14:creationId xmlns:p14="http://schemas.microsoft.com/office/powerpoint/2010/main" val="2469917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Module 1: Course Introduction</a:t>
            </a:r>
            <a:endParaRPr lang="en-US" dirty="0"/>
          </a:p>
        </p:txBody>
      </p:sp>
    </p:spTree>
    <p:extLst>
      <p:ext uri="{BB962C8B-B14F-4D97-AF65-F5344CB8AC3E}">
        <p14:creationId xmlns:p14="http://schemas.microsoft.com/office/powerpoint/2010/main" val="35590108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sz="quarter" idx="11"/>
          </p:nvPr>
        </p:nvPicPr>
        <p:blipFill>
          <a:blip r:embed="rId3">
            <a:extLst>
              <a:ext uri="{28A0092B-C50C-407E-A947-70E740481C1C}">
                <a14:useLocalDpi xmlns:a14="http://schemas.microsoft.com/office/drawing/2010/main" val="0"/>
              </a:ext>
            </a:extLst>
          </a:blip>
          <a:stretch>
            <a:fillRect/>
          </a:stretch>
        </p:blipFill>
        <p:spPr>
          <a:xfrm>
            <a:off x="455613" y="2168745"/>
            <a:ext cx="8232775" cy="3315847"/>
          </a:xfrm>
        </p:spPr>
      </p:pic>
      <p:sp>
        <p:nvSpPr>
          <p:cNvPr id="4" name="Title 3"/>
          <p:cNvSpPr>
            <a:spLocks noGrp="1"/>
          </p:cNvSpPr>
          <p:nvPr>
            <p:ph type="title"/>
          </p:nvPr>
        </p:nvSpPr>
        <p:spPr/>
        <p:txBody>
          <a:bodyPr/>
          <a:lstStyle/>
          <a:p>
            <a:r>
              <a:rPr lang="en-US" smtClean="0"/>
              <a:t>1.1 Course Welcome</a:t>
            </a:r>
            <a:endParaRPr lang="en-US" dirty="0"/>
          </a:p>
        </p:txBody>
      </p:sp>
      <p:sp>
        <p:nvSpPr>
          <p:cNvPr id="13" name="Footer Placeholder 3"/>
          <p:cNvSpPr>
            <a:spLocks noGrp="1"/>
          </p:cNvSpPr>
          <p:nvPr>
            <p:ph type="ftr" sz="quarter" idx="4294967295"/>
          </p:nvPr>
        </p:nvSpPr>
        <p:spPr>
          <a:xfrm>
            <a:off x="455613" y="6575425"/>
            <a:ext cx="4060825" cy="128588"/>
          </a:xfrm>
          <a:prstGeom prst="rect">
            <a:avLst/>
          </a:prstGeom>
        </p:spPr>
        <p:txBody>
          <a:bodyPr/>
          <a:lstStyle/>
          <a:p>
            <a:r>
              <a:rPr lang="en-US" sz="900" dirty="0" smtClean="0">
                <a:solidFill>
                  <a:schemeClr val="bg2"/>
                </a:solidFill>
              </a:rPr>
              <a:t>Copyright © 2015 Accenture  All rights reserved.</a:t>
            </a:r>
            <a:endParaRPr lang="en-AU" sz="900" dirty="0">
              <a:solidFill>
                <a:schemeClr val="bg2"/>
              </a:solidFill>
            </a:endParaRPr>
          </a:p>
        </p:txBody>
      </p:sp>
      <p:sp>
        <p:nvSpPr>
          <p:cNvPr id="15"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3</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649225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387" y="1762125"/>
            <a:ext cx="8277225" cy="3333750"/>
          </a:xfrm>
          <a:prstGeom prst="rect">
            <a:avLst/>
          </a:prstGeom>
        </p:spPr>
      </p:pic>
      <p:sp>
        <p:nvSpPr>
          <p:cNvPr id="5" name="Footer Placeholder 3"/>
          <p:cNvSpPr>
            <a:spLocks noGrp="1"/>
          </p:cNvSpPr>
          <p:nvPr>
            <p:ph type="ftr" sz="quarter" idx="4294967295"/>
          </p:nvPr>
        </p:nvSpPr>
        <p:spPr>
          <a:xfrm>
            <a:off x="455613" y="6575425"/>
            <a:ext cx="4060825" cy="128588"/>
          </a:xfrm>
          <a:prstGeom prst="rect">
            <a:avLst/>
          </a:prstGeom>
        </p:spPr>
        <p:txBody>
          <a:bodyPr/>
          <a:lstStyle/>
          <a:p>
            <a:r>
              <a:rPr lang="en-US" sz="900" dirty="0" smtClean="0">
                <a:solidFill>
                  <a:schemeClr val="bg2"/>
                </a:solidFill>
              </a:rPr>
              <a:t>Copyright © 2015 Accenture  All rights reserved.</a:t>
            </a:r>
            <a:endParaRPr lang="en-AU" sz="900" dirty="0">
              <a:solidFill>
                <a:schemeClr val="bg2"/>
              </a:solidFill>
            </a:endParaRPr>
          </a:p>
        </p:txBody>
      </p:sp>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4</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7553282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387" y="1762125"/>
            <a:ext cx="8277225" cy="3333750"/>
          </a:xfrm>
          <a:prstGeom prst="rect">
            <a:avLst/>
          </a:prstGeom>
        </p:spPr>
      </p:pic>
      <p:sp>
        <p:nvSpPr>
          <p:cNvPr id="4" name="Footer Placeholder 3"/>
          <p:cNvSpPr>
            <a:spLocks noGrp="1"/>
          </p:cNvSpPr>
          <p:nvPr>
            <p:ph type="ftr" sz="quarter" idx="4294967295"/>
          </p:nvPr>
        </p:nvSpPr>
        <p:spPr>
          <a:xfrm>
            <a:off x="455613" y="6575425"/>
            <a:ext cx="4060825" cy="128588"/>
          </a:xfrm>
          <a:prstGeom prst="rect">
            <a:avLst/>
          </a:prstGeom>
        </p:spPr>
        <p:txBody>
          <a:bodyPr/>
          <a:lstStyle/>
          <a:p>
            <a:r>
              <a:rPr lang="en-US" sz="900" dirty="0" smtClean="0">
                <a:solidFill>
                  <a:schemeClr val="bg2"/>
                </a:solidFill>
              </a:rPr>
              <a:t>Copyright © 2015 Accenture  All rights reserved.</a:t>
            </a:r>
            <a:endParaRPr lang="en-AU" sz="900" dirty="0">
              <a:solidFill>
                <a:schemeClr val="bg2"/>
              </a:solidFill>
            </a:endParaRPr>
          </a:p>
        </p:txBody>
      </p:sp>
      <p:sp>
        <p:nvSpPr>
          <p:cNvPr id="5"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5</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9094827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387" y="1762125"/>
            <a:ext cx="8277225" cy="3333750"/>
          </a:xfrm>
          <a:prstGeom prst="rect">
            <a:avLst/>
          </a:prstGeom>
        </p:spPr>
      </p:pic>
      <p:sp>
        <p:nvSpPr>
          <p:cNvPr id="5" name="Footer Placeholder 3"/>
          <p:cNvSpPr>
            <a:spLocks noGrp="1"/>
          </p:cNvSpPr>
          <p:nvPr>
            <p:ph type="ftr" sz="quarter" idx="4294967295"/>
          </p:nvPr>
        </p:nvSpPr>
        <p:spPr>
          <a:xfrm>
            <a:off x="455613" y="6575425"/>
            <a:ext cx="4060825" cy="128588"/>
          </a:xfrm>
          <a:prstGeom prst="rect">
            <a:avLst/>
          </a:prstGeom>
        </p:spPr>
        <p:txBody>
          <a:bodyPr/>
          <a:lstStyle/>
          <a:p>
            <a:r>
              <a:rPr lang="en-US" sz="900" dirty="0" smtClean="0">
                <a:solidFill>
                  <a:schemeClr val="bg2"/>
                </a:solidFill>
              </a:rPr>
              <a:t>Copyright © 2015 Accenture  All rights reserved.</a:t>
            </a:r>
            <a:endParaRPr lang="en-AU" sz="900" dirty="0">
              <a:solidFill>
                <a:schemeClr val="bg2"/>
              </a:solidFill>
            </a:endParaRPr>
          </a:p>
        </p:txBody>
      </p:sp>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6</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9182288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387" y="1762125"/>
            <a:ext cx="8277225" cy="3333750"/>
          </a:xfrm>
          <a:prstGeom prst="rect">
            <a:avLst/>
          </a:prstGeom>
        </p:spPr>
      </p:pic>
      <p:sp>
        <p:nvSpPr>
          <p:cNvPr id="5" name="Footer Placeholder 3"/>
          <p:cNvSpPr>
            <a:spLocks noGrp="1"/>
          </p:cNvSpPr>
          <p:nvPr>
            <p:ph type="ftr" sz="quarter" idx="4294967295"/>
          </p:nvPr>
        </p:nvSpPr>
        <p:spPr>
          <a:xfrm>
            <a:off x="455613" y="6575425"/>
            <a:ext cx="4060825" cy="128588"/>
          </a:xfrm>
          <a:prstGeom prst="rect">
            <a:avLst/>
          </a:prstGeom>
        </p:spPr>
        <p:txBody>
          <a:bodyPr/>
          <a:lstStyle/>
          <a:p>
            <a:r>
              <a:rPr lang="en-US" sz="900" dirty="0" smtClean="0">
                <a:solidFill>
                  <a:schemeClr val="bg2"/>
                </a:solidFill>
              </a:rPr>
              <a:t>Copyright © 2015 Accenture  All rights reserved.</a:t>
            </a:r>
            <a:endParaRPr lang="en-AU" sz="900" dirty="0">
              <a:solidFill>
                <a:schemeClr val="bg2"/>
              </a:solidFill>
            </a:endParaRPr>
          </a:p>
        </p:txBody>
      </p:sp>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7</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7621816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387" y="1762125"/>
            <a:ext cx="8277225" cy="3333750"/>
          </a:xfrm>
          <a:prstGeom prst="rect">
            <a:avLst/>
          </a:prstGeom>
        </p:spPr>
      </p:pic>
      <p:sp>
        <p:nvSpPr>
          <p:cNvPr id="5" name="Footer Placeholder 3"/>
          <p:cNvSpPr>
            <a:spLocks noGrp="1"/>
          </p:cNvSpPr>
          <p:nvPr>
            <p:ph type="ftr" sz="quarter" idx="4294967295"/>
          </p:nvPr>
        </p:nvSpPr>
        <p:spPr>
          <a:xfrm>
            <a:off x="455613" y="6575425"/>
            <a:ext cx="4060825" cy="128588"/>
          </a:xfrm>
          <a:prstGeom prst="rect">
            <a:avLst/>
          </a:prstGeom>
        </p:spPr>
        <p:txBody>
          <a:bodyPr/>
          <a:lstStyle/>
          <a:p>
            <a:r>
              <a:rPr lang="en-US" sz="900" dirty="0" smtClean="0">
                <a:solidFill>
                  <a:schemeClr val="bg2"/>
                </a:solidFill>
              </a:rPr>
              <a:t>Copyright © 2015 Accenture  All rights reserved.</a:t>
            </a:r>
            <a:endParaRPr lang="en-AU" sz="900" dirty="0">
              <a:solidFill>
                <a:schemeClr val="bg2"/>
              </a:solidFill>
            </a:endParaRPr>
          </a:p>
        </p:txBody>
      </p:sp>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8</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40117138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387" y="1762125"/>
            <a:ext cx="8277225" cy="3333750"/>
          </a:xfrm>
          <a:prstGeom prst="rect">
            <a:avLst/>
          </a:prstGeom>
        </p:spPr>
      </p:pic>
      <p:sp>
        <p:nvSpPr>
          <p:cNvPr id="5" name="Footer Placeholder 3"/>
          <p:cNvSpPr>
            <a:spLocks noGrp="1"/>
          </p:cNvSpPr>
          <p:nvPr>
            <p:ph type="ftr" sz="quarter" idx="4294967295"/>
          </p:nvPr>
        </p:nvSpPr>
        <p:spPr>
          <a:xfrm>
            <a:off x="455613" y="6575425"/>
            <a:ext cx="4060825" cy="128588"/>
          </a:xfrm>
          <a:prstGeom prst="rect">
            <a:avLst/>
          </a:prstGeom>
        </p:spPr>
        <p:txBody>
          <a:bodyPr/>
          <a:lstStyle/>
          <a:p>
            <a:r>
              <a:rPr lang="en-US" sz="900" dirty="0" smtClean="0">
                <a:solidFill>
                  <a:schemeClr val="bg2"/>
                </a:solidFill>
              </a:rPr>
              <a:t>Copyright © 2015 Accenture  All rights reserved.</a:t>
            </a:r>
            <a:endParaRPr lang="en-AU" sz="900" dirty="0">
              <a:solidFill>
                <a:schemeClr val="bg2"/>
              </a:solidFill>
            </a:endParaRPr>
          </a:p>
        </p:txBody>
      </p:sp>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9</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7830267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387" y="1762125"/>
            <a:ext cx="8277225" cy="3333750"/>
          </a:xfrm>
          <a:prstGeom prst="rect">
            <a:avLst/>
          </a:prstGeom>
        </p:spPr>
      </p:pic>
      <p:sp>
        <p:nvSpPr>
          <p:cNvPr id="5" name="Footer Placeholder 3"/>
          <p:cNvSpPr>
            <a:spLocks noGrp="1"/>
          </p:cNvSpPr>
          <p:nvPr>
            <p:ph type="ftr" sz="quarter" idx="4294967295"/>
          </p:nvPr>
        </p:nvSpPr>
        <p:spPr>
          <a:xfrm>
            <a:off x="455613" y="6575425"/>
            <a:ext cx="4060825" cy="128588"/>
          </a:xfrm>
          <a:prstGeom prst="rect">
            <a:avLst/>
          </a:prstGeom>
        </p:spPr>
        <p:txBody>
          <a:bodyPr/>
          <a:lstStyle/>
          <a:p>
            <a:r>
              <a:rPr lang="en-US" sz="900" dirty="0" smtClean="0">
                <a:solidFill>
                  <a:schemeClr val="bg2"/>
                </a:solidFill>
              </a:rPr>
              <a:t>Copyright © 2015 Accenture  All rights reserved.</a:t>
            </a:r>
            <a:endParaRPr lang="en-AU" sz="900" dirty="0">
              <a:solidFill>
                <a:schemeClr val="bg2"/>
              </a:solidFill>
            </a:endParaRPr>
          </a:p>
        </p:txBody>
      </p:sp>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10</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27406826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1.2 Course Overview</a:t>
            </a:r>
            <a:endParaRPr lang="en-US" dirty="0"/>
          </a:p>
        </p:txBody>
      </p:sp>
      <p:sp>
        <p:nvSpPr>
          <p:cNvPr id="4" name="Content Placeholder 3"/>
          <p:cNvSpPr>
            <a:spLocks noGrp="1"/>
          </p:cNvSpPr>
          <p:nvPr>
            <p:ph sz="quarter" idx="14"/>
          </p:nvPr>
        </p:nvSpPr>
        <p:spPr>
          <a:xfrm>
            <a:off x="455614" y="1371600"/>
            <a:ext cx="4060824" cy="5335150"/>
          </a:xfrm>
        </p:spPr>
        <p:txBody>
          <a:bodyPr/>
          <a:lstStyle/>
          <a:p>
            <a:pPr marL="0" indent="0">
              <a:buNone/>
            </a:pPr>
            <a:r>
              <a:rPr lang="en-US" sz="1200" b="1" dirty="0">
                <a:solidFill>
                  <a:schemeClr val="accent6"/>
                </a:solidFill>
              </a:rPr>
              <a:t>By the end of this course, you will be able to:</a:t>
            </a:r>
            <a:endParaRPr lang="en-US" sz="1200" dirty="0">
              <a:solidFill>
                <a:schemeClr val="accent6"/>
              </a:solidFill>
            </a:endParaRPr>
          </a:p>
          <a:p>
            <a:pPr>
              <a:spcBef>
                <a:spcPts val="600"/>
              </a:spcBef>
              <a:buSzPct val="100000"/>
            </a:pPr>
            <a:r>
              <a:rPr lang="en-US" sz="1200" dirty="0"/>
              <a:t>Describe the concept of Big Data and the value it can bring to clients</a:t>
            </a:r>
          </a:p>
          <a:p>
            <a:pPr>
              <a:spcBef>
                <a:spcPts val="600"/>
              </a:spcBef>
              <a:buSzPct val="100000"/>
            </a:pPr>
            <a:r>
              <a:rPr lang="en-US" sz="1200" dirty="0"/>
              <a:t>Give examples of how Big Data is applied across various industries</a:t>
            </a:r>
          </a:p>
          <a:p>
            <a:pPr>
              <a:spcBef>
                <a:spcPts val="600"/>
              </a:spcBef>
              <a:buSzPct val="100000"/>
            </a:pPr>
            <a:r>
              <a:rPr lang="en-US" sz="1200" dirty="0"/>
              <a:t>Describe the various types of technologies that support Big Data</a:t>
            </a:r>
          </a:p>
          <a:p>
            <a:pPr>
              <a:spcBef>
                <a:spcPts val="600"/>
              </a:spcBef>
              <a:buSzPct val="100000"/>
            </a:pPr>
            <a:r>
              <a:rPr lang="en-US" sz="1200" dirty="0"/>
              <a:t>Articulate how managing and generating insights from Big Data differs from traditional data and analytics approaches</a:t>
            </a:r>
          </a:p>
          <a:p>
            <a:pPr>
              <a:spcBef>
                <a:spcPts val="600"/>
              </a:spcBef>
              <a:buSzPct val="100000"/>
            </a:pPr>
            <a:r>
              <a:rPr lang="en-US" sz="1200" dirty="0"/>
              <a:t>Discuss Accenture’s approach to Big Data </a:t>
            </a:r>
          </a:p>
          <a:p>
            <a:pPr marL="0" indent="0">
              <a:buNone/>
            </a:pPr>
            <a:endParaRPr lang="en-US" sz="1200" dirty="0"/>
          </a:p>
          <a:p>
            <a:pPr marL="0" indent="0">
              <a:buNone/>
            </a:pPr>
            <a:r>
              <a:rPr lang="en-US" sz="1200" b="1" dirty="0" smtClean="0">
                <a:solidFill>
                  <a:schemeClr val="accent6"/>
                </a:solidFill>
              </a:rPr>
              <a:t>This </a:t>
            </a:r>
            <a:r>
              <a:rPr lang="en-US" sz="1200" b="1" dirty="0">
                <a:solidFill>
                  <a:schemeClr val="accent6"/>
                </a:solidFill>
              </a:rPr>
              <a:t>course is divided into six modules:</a:t>
            </a:r>
          </a:p>
          <a:p>
            <a:pPr>
              <a:spcBef>
                <a:spcPts val="600"/>
              </a:spcBef>
              <a:buSzPct val="100000"/>
            </a:pPr>
            <a:r>
              <a:rPr lang="en-US" sz="1200" dirty="0"/>
              <a:t>Module 1: Course Introduction</a:t>
            </a:r>
          </a:p>
          <a:p>
            <a:pPr>
              <a:spcBef>
                <a:spcPts val="600"/>
              </a:spcBef>
              <a:buSzPct val="100000"/>
            </a:pPr>
            <a:r>
              <a:rPr lang="en-US" sz="1200" dirty="0"/>
              <a:t>Module 2: Understanding Big Data and its Applications</a:t>
            </a:r>
          </a:p>
          <a:p>
            <a:pPr>
              <a:spcBef>
                <a:spcPts val="600"/>
              </a:spcBef>
              <a:buSzPct val="100000"/>
            </a:pPr>
            <a:r>
              <a:rPr lang="en-US" sz="1200" dirty="0"/>
              <a:t>Module 3: Big Data Technologies</a:t>
            </a:r>
          </a:p>
          <a:p>
            <a:pPr>
              <a:spcBef>
                <a:spcPts val="600"/>
              </a:spcBef>
              <a:buSzPct val="100000"/>
            </a:pPr>
            <a:r>
              <a:rPr lang="en-US" sz="1200" dirty="0"/>
              <a:t>Module 4: Working with Big Data</a:t>
            </a:r>
          </a:p>
          <a:p>
            <a:pPr>
              <a:spcBef>
                <a:spcPts val="600"/>
              </a:spcBef>
              <a:buSzPct val="100000"/>
            </a:pPr>
            <a:r>
              <a:rPr lang="en-US" sz="1200" dirty="0"/>
              <a:t>Module 5: Accenture's Approach to Big Data</a:t>
            </a:r>
          </a:p>
          <a:p>
            <a:pPr>
              <a:spcBef>
                <a:spcPts val="600"/>
              </a:spcBef>
              <a:buSzPct val="100000"/>
            </a:pPr>
            <a:r>
              <a:rPr lang="en-US" sz="1200" dirty="0"/>
              <a:t>Module 6: Course Conclusion</a:t>
            </a:r>
          </a:p>
          <a:p>
            <a:pPr marL="0" indent="0">
              <a:buNone/>
            </a:pPr>
            <a:endParaRPr lang="en-US" sz="12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0" y="1371600"/>
            <a:ext cx="3403601" cy="5105402"/>
          </a:xfrm>
          <a:prstGeom prst="rect">
            <a:avLst/>
          </a:prstGeom>
        </p:spPr>
      </p:pic>
      <p:sp>
        <p:nvSpPr>
          <p:cNvPr id="6"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11</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6063298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Module 2: Understanding Big Data and its Applications</a:t>
            </a:r>
            <a:endParaRPr lang="en-US" dirty="0"/>
          </a:p>
        </p:txBody>
      </p:sp>
    </p:spTree>
    <p:extLst>
      <p:ext uri="{BB962C8B-B14F-4D97-AF65-F5344CB8AC3E}">
        <p14:creationId xmlns:p14="http://schemas.microsoft.com/office/powerpoint/2010/main" val="16750204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2663" y="1371600"/>
            <a:ext cx="3571875" cy="2381250"/>
          </a:xfrm>
          <a:prstGeom prst="rect">
            <a:avLst/>
          </a:prstGeom>
        </p:spPr>
      </p:pic>
      <p:sp>
        <p:nvSpPr>
          <p:cNvPr id="3" name="Title 2"/>
          <p:cNvSpPr>
            <a:spLocks noGrp="1"/>
          </p:cNvSpPr>
          <p:nvPr>
            <p:ph type="title"/>
          </p:nvPr>
        </p:nvSpPr>
        <p:spPr/>
        <p:txBody>
          <a:bodyPr/>
          <a:lstStyle/>
          <a:p>
            <a:r>
              <a:rPr lang="en-US" dirty="0" smtClean="0"/>
              <a:t>2.1 Module Introduction</a:t>
            </a:r>
            <a:endParaRPr lang="en-US" dirty="0"/>
          </a:p>
        </p:txBody>
      </p:sp>
      <p:sp>
        <p:nvSpPr>
          <p:cNvPr id="4" name="Content Placeholder 3"/>
          <p:cNvSpPr>
            <a:spLocks noGrp="1"/>
          </p:cNvSpPr>
          <p:nvPr>
            <p:ph sz="quarter" idx="14"/>
          </p:nvPr>
        </p:nvSpPr>
        <p:spPr>
          <a:xfrm>
            <a:off x="455614" y="1371600"/>
            <a:ext cx="4060824" cy="5335150"/>
          </a:xfrm>
        </p:spPr>
        <p:txBody>
          <a:bodyPr/>
          <a:lstStyle/>
          <a:p>
            <a:pPr marL="0" indent="0">
              <a:buNone/>
            </a:pPr>
            <a:r>
              <a:rPr lang="en-US" sz="1200" dirty="0"/>
              <a:t>Big Data are data sets so large or so complex that traditional methods of storing, accessing, and analyzing their </a:t>
            </a:r>
            <a:r>
              <a:rPr lang="en-US" sz="1200" dirty="0" smtClean="0"/>
              <a:t>breakdown </a:t>
            </a:r>
            <a:r>
              <a:rPr lang="en-US" sz="1200" dirty="0"/>
              <a:t>are too expensive. However, there is a lot of potential value hidden in this data, so organizations are eager to harness it to drive innovation and competitive advantage.</a:t>
            </a:r>
            <a:br>
              <a:rPr lang="en-US" sz="1200" dirty="0"/>
            </a:br>
            <a:r>
              <a:rPr lang="en-US" sz="1200" dirty="0"/>
              <a:t> </a:t>
            </a:r>
            <a:br>
              <a:rPr lang="en-US" sz="1200" dirty="0"/>
            </a:br>
            <a:r>
              <a:rPr lang="en-US" sz="1200" dirty="0"/>
              <a:t>Big Data technologies and approaches are used to drive value out of data rich environments in ways that traditional analytics tools and methods cannot.</a:t>
            </a:r>
            <a:br>
              <a:rPr lang="en-US" sz="1200" dirty="0"/>
            </a:br>
            <a:r>
              <a:rPr lang="en-US" sz="1200" dirty="0"/>
              <a:t> </a:t>
            </a:r>
            <a:br>
              <a:rPr lang="en-US" sz="1200" dirty="0"/>
            </a:br>
            <a:r>
              <a:rPr lang="en-US" sz="1200" b="1" dirty="0">
                <a:solidFill>
                  <a:schemeClr val="accent6"/>
                </a:solidFill>
              </a:rPr>
              <a:t>By the end of this module, participants will be able to:</a:t>
            </a:r>
            <a:endParaRPr lang="en-US" sz="1200" dirty="0">
              <a:solidFill>
                <a:schemeClr val="accent6"/>
              </a:solidFill>
            </a:endParaRPr>
          </a:p>
          <a:p>
            <a:pPr>
              <a:spcBef>
                <a:spcPts val="600"/>
              </a:spcBef>
              <a:buSzPct val="100000"/>
            </a:pPr>
            <a:r>
              <a:rPr lang="en-US" sz="1200" dirty="0"/>
              <a:t>Define Big Data by its differentiating characteristics</a:t>
            </a:r>
          </a:p>
          <a:p>
            <a:pPr>
              <a:spcBef>
                <a:spcPts val="600"/>
              </a:spcBef>
              <a:buSzPct val="100000"/>
            </a:pPr>
            <a:r>
              <a:rPr lang="en-US" sz="1200" dirty="0"/>
              <a:t>Provide several examples of Big Data</a:t>
            </a:r>
          </a:p>
          <a:p>
            <a:pPr>
              <a:spcBef>
                <a:spcPts val="600"/>
              </a:spcBef>
              <a:buSzPct val="100000"/>
            </a:pPr>
            <a:r>
              <a:rPr lang="en-US" sz="1200" dirty="0"/>
              <a:t>Articulate the value organizations can achieve by harnessing Big Data</a:t>
            </a:r>
          </a:p>
          <a:p>
            <a:pPr>
              <a:spcBef>
                <a:spcPts val="600"/>
              </a:spcBef>
              <a:buSzPct val="100000"/>
            </a:pPr>
            <a:r>
              <a:rPr lang="en-US" sz="1200" dirty="0"/>
              <a:t>Identify industry trends and examples relevant to Big Data</a:t>
            </a:r>
          </a:p>
          <a:p>
            <a:pPr>
              <a:spcBef>
                <a:spcPts val="600"/>
              </a:spcBef>
              <a:buSzPct val="100000"/>
            </a:pPr>
            <a:r>
              <a:rPr lang="en-US" sz="1200" dirty="0"/>
              <a:t>Recognize common challenges organizations face in working with Big Data</a:t>
            </a:r>
          </a:p>
          <a:p>
            <a:pPr marL="0" indent="0">
              <a:buNone/>
            </a:pPr>
            <a:endParaRPr lang="en-US" sz="1200" dirty="0"/>
          </a:p>
        </p:txBody>
      </p:sp>
      <p:sp>
        <p:nvSpPr>
          <p:cNvPr id="7"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8"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13</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8473858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2.2 The Changing World of Data</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Organizations carry out business based on insights gained from data analysis, but there has been a shift in the size, type, and form of data and in the way that data is analyzed. Let’s begin by looking at the drivers that are causing this shift. </a:t>
            </a:r>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graphicFrame>
        <p:nvGraphicFramePr>
          <p:cNvPr id="5" name="Table 4"/>
          <p:cNvGraphicFramePr>
            <a:graphicFrameLocks noGrp="1"/>
          </p:cNvGraphicFramePr>
          <p:nvPr>
            <p:extLst>
              <p:ext uri="{D42A27DB-BD31-4B8C-83A1-F6EECF244321}">
                <p14:modId xmlns:p14="http://schemas.microsoft.com/office/powerpoint/2010/main" val="3451865692"/>
              </p:ext>
            </p:extLst>
          </p:nvPr>
        </p:nvGraphicFramePr>
        <p:xfrm>
          <a:off x="455613" y="1832767"/>
          <a:ext cx="8305210" cy="4937760"/>
        </p:xfrm>
        <a:graphic>
          <a:graphicData uri="http://schemas.openxmlformats.org/drawingml/2006/table">
            <a:tbl>
              <a:tblPr firstRow="1" bandRow="1">
                <a:tableStyleId>{21E4AEA4-8DFA-4A89-87EB-49C32662AFE0}</a:tableStyleId>
              </a:tblPr>
              <a:tblGrid>
                <a:gridCol w="1216776"/>
                <a:gridCol w="7088434"/>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solidFill>
                            <a:schemeClr val="bg1"/>
                          </a:solidFill>
                        </a:rPr>
                        <a:t>Data Explosion</a:t>
                      </a:r>
                    </a:p>
                  </a:txBody>
                  <a:tcPr>
                    <a:lnB w="12700" cap="flat" cmpd="sng" algn="ctr">
                      <a:solidFill>
                        <a:schemeClr val="bg1"/>
                      </a:solidFill>
                      <a:prstDash val="solid"/>
                      <a:round/>
                      <a:headEnd type="none" w="med" len="med"/>
                      <a:tailEnd type="none" w="med" len="med"/>
                    </a:lnB>
                  </a:tcPr>
                </a:tc>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Unstructured data is doubling every three months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In 2014, the digital universe equaled 1.7 megabytes per minute for every person on Earth</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By 2015, the number of networked devices was twice the global population</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In 2016, the level of connectivity related to products, assets, and processes will increase 50% for all industry value chains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Ongoing digital transformation:</a:t>
                      </a:r>
                    </a:p>
                    <a:p>
                      <a:pPr marL="574675" lvl="1" indent="-234950">
                        <a:buFont typeface="Courier New" panose="02070309020205020404" pitchFamily="49" charset="0"/>
                        <a:buChar char="o"/>
                      </a:pPr>
                      <a:r>
                        <a:rPr lang="en-US" sz="1200" b="0" i="0" kern="1200" dirty="0" smtClean="0">
                          <a:solidFill>
                            <a:schemeClr val="dk1"/>
                          </a:solidFill>
                          <a:effectLst/>
                          <a:latin typeface="+mn-lt"/>
                          <a:ea typeface="+mn-ea"/>
                          <a:cs typeface="+mn-cs"/>
                        </a:rPr>
                        <a:t>Successful digital transformation must include solutions for warehousing all accumulated Big Data</a:t>
                      </a:r>
                    </a:p>
                    <a:p>
                      <a:pPr marL="574675" lvl="1" indent="-234950">
                        <a:buFont typeface="Courier New" panose="02070309020205020404" pitchFamily="49" charset="0"/>
                        <a:buChar char="o"/>
                      </a:pPr>
                      <a:r>
                        <a:rPr lang="en-US" sz="1200" b="0" i="0" kern="1200" dirty="0" smtClean="0">
                          <a:solidFill>
                            <a:schemeClr val="dk1"/>
                          </a:solidFill>
                          <a:effectLst/>
                          <a:latin typeface="+mn-lt"/>
                          <a:ea typeface="+mn-ea"/>
                          <a:cs typeface="+mn-cs"/>
                        </a:rPr>
                        <a:t>By the end of 2017, two thirds of the CEOs of the G2000 enterprises will have digital transformation (DX) at the center of their corporate strategy</a:t>
                      </a:r>
                    </a:p>
                    <a:p>
                      <a:pPr marL="574675" lvl="1" indent="-234950">
                        <a:buFont typeface="Courier New" panose="02070309020205020404" pitchFamily="49" charset="0"/>
                        <a:buChar char="o"/>
                      </a:pPr>
                      <a:r>
                        <a:rPr lang="en-US" sz="1200" b="0" i="0" kern="1200" dirty="0" smtClean="0">
                          <a:solidFill>
                            <a:schemeClr val="dk1"/>
                          </a:solidFill>
                          <a:effectLst/>
                          <a:latin typeface="+mn-lt"/>
                          <a:ea typeface="+mn-ea"/>
                          <a:cs typeface="+mn-cs"/>
                        </a:rPr>
                        <a:t>By 2020, data from embedded systems (the signals from which are a major component of the Internet of Things) will grow from 2% of the digital universe (as of 2013) to 10%</a:t>
                      </a:r>
                    </a:p>
                  </a:txBody>
                  <a:tcPr>
                    <a:lnB w="12700" cap="flat" cmpd="sng" algn="ctr">
                      <a:solidFill>
                        <a:schemeClr val="bg1"/>
                      </a:solidFill>
                      <a:prstDash val="solid"/>
                      <a:round/>
                      <a:headEnd type="none" w="med" len="med"/>
                      <a:tailEnd type="none" w="med" len="med"/>
                    </a:lnB>
                    <a:solidFill>
                      <a:schemeClr val="bg1">
                        <a:lumMod val="95000"/>
                      </a:schemeClr>
                    </a:solidFill>
                  </a:tcPr>
                </a:tc>
              </a:tr>
              <a:tr h="44486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solidFill>
                            <a:schemeClr val="bg1"/>
                          </a:solidFill>
                        </a:rPr>
                        <a:t>Monetization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smtClean="0">
                        <a:solidFill>
                          <a:schemeClr val="bg1"/>
                        </a:solidFill>
                      </a:endParaRPr>
                    </a:p>
                  </a:txBody>
                  <a:tcPr>
                    <a:lnT w="12700" cap="flat" cmpd="sng" algn="ctr">
                      <a:solidFill>
                        <a:schemeClr val="bg1"/>
                      </a:solidFill>
                      <a:prstDash val="solid"/>
                      <a:round/>
                      <a:headEnd type="none" w="med" len="med"/>
                      <a:tailEnd type="none" w="med" len="med"/>
                    </a:lnT>
                    <a:solidFill>
                      <a:schemeClr val="accent2"/>
                    </a:solidFill>
                  </a:tcPr>
                </a:tc>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Enterprise data monetization services continue to grow</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Large retailers are monetizing their own data to provide insights to suppliers</a:t>
                      </a:r>
                    </a:p>
                  </a:txBody>
                  <a:tcPr>
                    <a:lnT w="12700" cap="flat" cmpd="sng" algn="ctr">
                      <a:solidFill>
                        <a:schemeClr val="bg1"/>
                      </a:solidFill>
                      <a:prstDash val="solid"/>
                      <a:round/>
                      <a:headEnd type="none" w="med" len="med"/>
                      <a:tailEnd type="none" w="med" len="med"/>
                    </a:lnT>
                  </a:tcPr>
                </a:tc>
              </a:tr>
              <a:tr h="370840">
                <a:tc>
                  <a:txBody>
                    <a:bodyPr/>
                    <a:lstStyle/>
                    <a:p>
                      <a:r>
                        <a:rPr lang="en-US" sz="1200" b="1" dirty="0" smtClean="0">
                          <a:solidFill>
                            <a:schemeClr val="bg1"/>
                          </a:solidFill>
                        </a:rPr>
                        <a:t>Data Mobilization</a:t>
                      </a:r>
                      <a:endParaRPr lang="en-US" sz="1200" b="1" dirty="0">
                        <a:solidFill>
                          <a:schemeClr val="bg1"/>
                        </a:solidFill>
                      </a:endParaRPr>
                    </a:p>
                  </a:txBody>
                  <a:tcPr>
                    <a:solidFill>
                      <a:schemeClr val="accent2"/>
                    </a:solidFill>
                  </a:tcPr>
                </a:tc>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Novel approaches to analyze unstructured data are shortening the time to move from data to insight</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Shift toward data consumption in multiple environments (business applications, mobile, social)</a:t>
                      </a:r>
                    </a:p>
                  </a:txBody>
                  <a:tcPr>
                    <a:solidFill>
                      <a:schemeClr val="bg1">
                        <a:lumMod val="95000"/>
                      </a:schemeClr>
                    </a:solidFill>
                  </a:tcPr>
                </a:tc>
              </a:tr>
              <a:tr h="370840">
                <a:tc>
                  <a:txBody>
                    <a:bodyPr/>
                    <a:lstStyle/>
                    <a:p>
                      <a:r>
                        <a:rPr lang="en-US" sz="1200" b="1" dirty="0" smtClean="0">
                          <a:solidFill>
                            <a:schemeClr val="bg1"/>
                          </a:solidFill>
                        </a:rPr>
                        <a:t>Social Media</a:t>
                      </a:r>
                      <a:endParaRPr lang="en-US" sz="1200" b="1" dirty="0">
                        <a:solidFill>
                          <a:schemeClr val="bg1"/>
                        </a:solidFill>
                      </a:endParaRPr>
                    </a:p>
                  </a:txBody>
                  <a:tcPr>
                    <a:solidFill>
                      <a:schemeClr val="accent2"/>
                    </a:solidFill>
                  </a:tcPr>
                </a:tc>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Emergence of companies that scrub and aggregate data from social media and blogs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Greater focus on data that provides insight into a customer’s digital persona</a:t>
                      </a:r>
                    </a:p>
                  </a:txBody>
                  <a:tcPr/>
                </a:tc>
              </a:tr>
              <a:tr h="370840">
                <a:tc>
                  <a:txBody>
                    <a:bodyPr/>
                    <a:lstStyle/>
                    <a:p>
                      <a:r>
                        <a:rPr lang="en-US" sz="1200" b="1" dirty="0" smtClean="0">
                          <a:solidFill>
                            <a:schemeClr val="bg1"/>
                          </a:solidFill>
                        </a:rPr>
                        <a:t>Technology Advancement</a:t>
                      </a:r>
                      <a:endParaRPr lang="en-US" sz="1200" b="1" dirty="0">
                        <a:solidFill>
                          <a:schemeClr val="bg1"/>
                        </a:solidFill>
                      </a:endParaRPr>
                    </a:p>
                  </a:txBody>
                  <a:tcPr>
                    <a:solidFill>
                      <a:schemeClr val="accent2"/>
                    </a:solidFill>
                  </a:tcPr>
                </a:tc>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Commodity priced storage and compute</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Emergence of open source and Big Data technologies to solve production problems at scale</a:t>
                      </a:r>
                    </a:p>
                  </a:txBody>
                  <a:tcPr>
                    <a:solidFill>
                      <a:schemeClr val="bg1">
                        <a:lumMod val="95000"/>
                      </a:schemeClr>
                    </a:solidFill>
                  </a:tcPr>
                </a:tc>
              </a:tr>
              <a:tr h="370840">
                <a:tc>
                  <a:txBody>
                    <a:bodyPr/>
                    <a:lstStyle/>
                    <a:p>
                      <a:r>
                        <a:rPr lang="en-US" sz="1200" b="1" dirty="0" smtClean="0">
                          <a:solidFill>
                            <a:schemeClr val="bg1"/>
                          </a:solidFill>
                        </a:rPr>
                        <a:t>Data-Led</a:t>
                      </a:r>
                      <a:r>
                        <a:rPr lang="en-US" sz="1200" b="1" baseline="0" dirty="0" smtClean="0">
                          <a:solidFill>
                            <a:schemeClr val="bg1"/>
                          </a:solidFill>
                        </a:rPr>
                        <a:t> Innovation</a:t>
                      </a:r>
                      <a:endParaRPr lang="en-US" sz="1200" b="1" dirty="0">
                        <a:solidFill>
                          <a:schemeClr val="bg1"/>
                        </a:solidFill>
                      </a:endParaRPr>
                    </a:p>
                  </a:txBody>
                  <a:tcPr>
                    <a:solidFill>
                      <a:schemeClr val="accent2"/>
                    </a:solidFill>
                  </a:tcPr>
                </a:tc>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De-coupling data from applications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Disparate external data is shaping context</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Cost effective mobilization of massive scale data</a:t>
                      </a:r>
                    </a:p>
                  </a:txBody>
                  <a:tcPr>
                    <a:solidFill>
                      <a:schemeClr val="bg1">
                        <a:lumMod val="95000"/>
                      </a:schemeClr>
                    </a:solidFill>
                  </a:tcPr>
                </a:tc>
              </a:tr>
            </a:tbl>
          </a:graphicData>
        </a:graphic>
      </p:graphicFrame>
    </p:spTree>
    <p:extLst>
      <p:ext uri="{BB962C8B-B14F-4D97-AF65-F5344CB8AC3E}">
        <p14:creationId xmlns:p14="http://schemas.microsoft.com/office/powerpoint/2010/main" val="17178364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2.3 Big Data Characteristics (1/2)</a:t>
            </a:r>
            <a:endParaRPr lang="en-US" dirty="0"/>
          </a:p>
        </p:txBody>
      </p:sp>
      <p:sp>
        <p:nvSpPr>
          <p:cNvPr id="6" name="Content Placeholder 5"/>
          <p:cNvSpPr>
            <a:spLocks noGrp="1"/>
          </p:cNvSpPr>
          <p:nvPr>
            <p:ph sz="quarter" idx="14"/>
          </p:nvPr>
        </p:nvSpPr>
        <p:spPr>
          <a:xfrm>
            <a:off x="455613" y="1371600"/>
            <a:ext cx="8232775" cy="5335150"/>
          </a:xfrm>
        </p:spPr>
        <p:txBody>
          <a:bodyPr/>
          <a:lstStyle/>
          <a:p>
            <a:pPr marL="0" indent="0">
              <a:buNone/>
            </a:pPr>
            <a:r>
              <a:rPr lang="en-US" sz="1200" dirty="0"/>
              <a:t>The majority of data generated today, an estimated 85% in fact, is unstructured. This includes email, video, blogs, call center logs, and social media. This amount of data requires fluid frameworks and a flexible architecture that can increase computing capacity and lead to easier data modeling, exploration, and maintenance. Understanding the types of data that you are working with is important to conquering the challenges it presents. We differentiate Big Data from traditional data by one or more of the three V’s: Volume, Velocity, and Variety.</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613" y="2481264"/>
            <a:ext cx="2222696" cy="228600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5613" y="5070667"/>
            <a:ext cx="2934653" cy="1002983"/>
          </a:xfrm>
          <a:prstGeom prst="rect">
            <a:avLst/>
          </a:prstGeom>
        </p:spPr>
      </p:pic>
      <p:sp>
        <p:nvSpPr>
          <p:cNvPr id="10" name="Rectangle 9"/>
          <p:cNvSpPr/>
          <p:nvPr/>
        </p:nvSpPr>
        <p:spPr>
          <a:xfrm>
            <a:off x="3945052" y="3301099"/>
            <a:ext cx="4743335" cy="646331"/>
          </a:xfrm>
          <a:prstGeom prst="rect">
            <a:avLst/>
          </a:prstGeom>
        </p:spPr>
        <p:txBody>
          <a:bodyPr wrap="square">
            <a:spAutoFit/>
          </a:bodyPr>
          <a:lstStyle/>
          <a:p>
            <a:r>
              <a:rPr lang="en-US" sz="1200" dirty="0">
                <a:latin typeface="Arial" panose="020B0604020202020204" pitchFamily="34" charset="0"/>
              </a:rPr>
              <a:t>Volume is the sheer amount of data generated that must be understood to make data-based decisions. These decisions are driven by increasing data sources and higher resolution devices.</a:t>
            </a:r>
            <a:endParaRPr lang="en-US" sz="1200" dirty="0"/>
          </a:p>
        </p:txBody>
      </p:sp>
      <p:sp>
        <p:nvSpPr>
          <p:cNvPr id="11" name="Rectangle 10"/>
          <p:cNvSpPr/>
          <p:nvPr/>
        </p:nvSpPr>
        <p:spPr>
          <a:xfrm>
            <a:off x="3945051" y="5156660"/>
            <a:ext cx="4743335" cy="830997"/>
          </a:xfrm>
          <a:prstGeom prst="rect">
            <a:avLst/>
          </a:prstGeom>
        </p:spPr>
        <p:txBody>
          <a:bodyPr wrap="square">
            <a:spAutoFit/>
          </a:bodyPr>
          <a:lstStyle/>
          <a:p>
            <a:r>
              <a:rPr lang="en-US" sz="1200" dirty="0" smtClean="0">
                <a:latin typeface="Arial" panose="020B0604020202020204" pitchFamily="34" charset="0"/>
              </a:rPr>
              <a:t>Velocity </a:t>
            </a:r>
            <a:r>
              <a:rPr lang="en-US" sz="1200" dirty="0">
                <a:latin typeface="Arial" panose="020B0604020202020204" pitchFamily="34" charset="0"/>
              </a:rPr>
              <a:t>measures how fast data is produced and modified and the speed with which it needs to be processed. An increased number of data sources, improved connectivity, and the enhanced power of data generating devices drives velocity.</a:t>
            </a:r>
            <a:endParaRPr lang="en-US" sz="1200" dirty="0"/>
          </a:p>
        </p:txBody>
      </p:sp>
      <p:sp>
        <p:nvSpPr>
          <p:cNvPr id="9"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12"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15</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9394603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2.3 Big Data Characteristics (2/2)</a:t>
            </a:r>
            <a:endParaRPr lang="en-US"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2314575"/>
            <a:ext cx="2708910" cy="2228850"/>
          </a:xfrm>
          <a:prstGeom prst="rect">
            <a:avLst/>
          </a:prstGeom>
        </p:spPr>
      </p:pic>
      <p:sp>
        <p:nvSpPr>
          <p:cNvPr id="12" name="Rectangle 11"/>
          <p:cNvSpPr/>
          <p:nvPr/>
        </p:nvSpPr>
        <p:spPr>
          <a:xfrm>
            <a:off x="3941064" y="1844967"/>
            <a:ext cx="4747324" cy="4339650"/>
          </a:xfrm>
          <a:prstGeom prst="rect">
            <a:avLst/>
          </a:prstGeom>
        </p:spPr>
        <p:txBody>
          <a:bodyPr wrap="square">
            <a:spAutoFit/>
          </a:bodyPr>
          <a:lstStyle/>
          <a:p>
            <a:r>
              <a:rPr lang="en-US" sz="1200" dirty="0">
                <a:latin typeface="Arial" panose="020B0604020202020204" pitchFamily="34" charset="0"/>
              </a:rPr>
              <a:t>Variety defines data coming from new sources—both inside and outside of an enterprise—creating integration, management, governance, and architectural pressures on Information Technology</a:t>
            </a:r>
            <a:r>
              <a:rPr lang="en-US" sz="1200" dirty="0" smtClean="0">
                <a:latin typeface="Arial" panose="020B0604020202020204" pitchFamily="34" charset="0"/>
              </a:rPr>
              <a:t>.</a:t>
            </a:r>
          </a:p>
          <a:p>
            <a:endParaRPr lang="en-US" sz="1200" dirty="0">
              <a:latin typeface="Arial" panose="020B0604020202020204" pitchFamily="34" charset="0"/>
            </a:endParaRPr>
          </a:p>
          <a:p>
            <a:r>
              <a:rPr lang="en-US" sz="1200" dirty="0"/>
              <a:t>Structured data is typically found in tables with columns and rows of data. The intersection of the row and the column in a cell has a value and is given a “key,” which it can be referred to in queries. Because there is a direct relationship between the column and the row, these databases are commonly referred to as relational databases. A retail outlet that stores their sales data (name of person, product sold, amount) in an Excel spreadsheet or CSV file are examples of structured data.</a:t>
            </a:r>
          </a:p>
          <a:p>
            <a:r>
              <a:rPr lang="en-US" sz="1200" dirty="0"/>
              <a:t> </a:t>
            </a:r>
          </a:p>
          <a:p>
            <a:r>
              <a:rPr lang="en-US" sz="1200" dirty="0"/>
              <a:t>Semi-structured data also has an organization, but the table structure is removed so the data can be more easily read and manipulated. XML files or an RSS feed for a webpage are examples of semi-structured data.</a:t>
            </a:r>
          </a:p>
          <a:p>
            <a:r>
              <a:rPr lang="en-US" sz="1200" dirty="0"/>
              <a:t> </a:t>
            </a:r>
          </a:p>
          <a:p>
            <a:r>
              <a:rPr lang="en-US" sz="1200" dirty="0"/>
              <a:t>Unstructured data is found everywhere: text messages, emails, and social media for example. Unstructured data generally has no organizing structure, and Big Data technologies use different ways to add structure to this data.</a:t>
            </a:r>
          </a:p>
          <a:p>
            <a:endParaRPr lang="en-US" sz="1200" dirty="0"/>
          </a:p>
        </p:txBody>
      </p:sp>
      <p:sp>
        <p:nvSpPr>
          <p:cNvPr id="6"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16</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21250547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2.4 Sources of Big Data</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So where is all of this Big Data coming from? Data typically originates from one of three primary sources: the internet/social networks, traditional business systems, and increasingly from the Internet of Things. The data from these sources can be structured, semi-structured, or unstructured, or any combination of these varieties. For example, data produced as a result of business activities can be recorded in structured or unstructured databases, while electronic files generally refer to unstructured documents which are stored or published as electronic files, like Internet pages, videos, or PDF files. </a:t>
            </a:r>
          </a:p>
        </p:txBody>
      </p:sp>
      <p:sp>
        <p:nvSpPr>
          <p:cNvPr id="7" name="Rectangle 6"/>
          <p:cNvSpPr/>
          <p:nvPr/>
        </p:nvSpPr>
        <p:spPr>
          <a:xfrm>
            <a:off x="409569" y="2625728"/>
            <a:ext cx="2743200" cy="3946960"/>
          </a:xfrm>
          <a:prstGeom prst="rect">
            <a:avLst/>
          </a:prstGeom>
          <a:solidFill>
            <a:schemeClr val="bg1"/>
          </a:solidFill>
          <a:ln>
            <a:solidFill>
              <a:schemeClr val="accent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45260" tIns="99060" rIns="99060" bIns="99060" numCol="1" spcCol="1270" anchor="t" anchorCtr="0">
            <a:noAutofit/>
          </a:bodyPr>
          <a:lstStyle/>
          <a:p>
            <a:endParaRPr lang="en-US" sz="1200" b="1" dirty="0" smtClean="0">
              <a:solidFill>
                <a:srgbClr val="557799"/>
              </a:solidFill>
              <a:latin typeface="Arial" panose="020B0604020202020204" pitchFamily="34" charset="0"/>
            </a:endParaRPr>
          </a:p>
          <a:p>
            <a:endParaRPr lang="en-US" sz="1200" b="1" dirty="0">
              <a:solidFill>
                <a:srgbClr val="557799"/>
              </a:solidFill>
              <a:latin typeface="Arial" panose="020B0604020202020204" pitchFamily="34" charset="0"/>
            </a:endParaRPr>
          </a:p>
          <a:p>
            <a:r>
              <a:rPr lang="en-US" sz="1200" b="1" dirty="0" smtClean="0">
                <a:solidFill>
                  <a:srgbClr val="557799"/>
                </a:solidFill>
                <a:latin typeface="Arial" panose="020B0604020202020204" pitchFamily="34" charset="0"/>
              </a:rPr>
              <a:t>Social </a:t>
            </a:r>
            <a:r>
              <a:rPr lang="en-US" sz="1200" b="1" dirty="0">
                <a:solidFill>
                  <a:srgbClr val="557799"/>
                </a:solidFill>
                <a:latin typeface="Arial" panose="020B0604020202020204" pitchFamily="34" charset="0"/>
              </a:rPr>
              <a:t>Networks </a:t>
            </a:r>
          </a:p>
        </p:txBody>
      </p:sp>
      <p:sp>
        <p:nvSpPr>
          <p:cNvPr id="14" name="Rectangle 13"/>
          <p:cNvSpPr/>
          <p:nvPr/>
        </p:nvSpPr>
        <p:spPr>
          <a:xfrm>
            <a:off x="409569" y="3851278"/>
            <a:ext cx="2747969" cy="2677656"/>
          </a:xfrm>
          <a:prstGeom prst="rect">
            <a:avLst/>
          </a:prstGeom>
        </p:spPr>
        <p:txBody>
          <a:bodyPr wrap="square">
            <a:spAutoFit/>
          </a:bodyPr>
          <a:lstStyle/>
          <a:p>
            <a:r>
              <a:rPr lang="en-US" sz="1200" b="1" dirty="0" smtClean="0">
                <a:solidFill>
                  <a:srgbClr val="557799"/>
                </a:solidFill>
                <a:latin typeface="Arial" panose="020B0604020202020204" pitchFamily="34" charset="0"/>
              </a:rPr>
              <a:t>Social Networks provide </a:t>
            </a:r>
            <a:r>
              <a:rPr lang="en-US" sz="1200" b="1" dirty="0">
                <a:solidFill>
                  <a:srgbClr val="557799"/>
                </a:solidFill>
                <a:latin typeface="Arial" panose="020B0604020202020204" pitchFamily="34" charset="0"/>
              </a:rPr>
              <a:t>human-sourced information from:</a:t>
            </a:r>
            <a:endParaRPr lang="en-US" sz="1200" dirty="0">
              <a:solidFill>
                <a:srgbClr val="666666"/>
              </a:solidFill>
              <a:latin typeface="Arial" panose="020B0604020202020204" pitchFamily="34" charset="0"/>
            </a:endParaRPr>
          </a:p>
          <a:p>
            <a:pPr marL="228600" indent="-228600">
              <a:buFont typeface="Arial" panose="020B0604020202020204" pitchFamily="34" charset="0"/>
              <a:buChar char="•"/>
            </a:pPr>
            <a:r>
              <a:rPr lang="en-US" sz="1200" dirty="0">
                <a:latin typeface="Arial" panose="020B0604020202020204" pitchFamily="34" charset="0"/>
              </a:rPr>
              <a:t>Social Networks: Facebook®, Twitter®, Tumblr®, etc.</a:t>
            </a:r>
          </a:p>
          <a:p>
            <a:pPr marL="228600" indent="-228600">
              <a:buFont typeface="Arial" panose="020B0604020202020204" pitchFamily="34" charset="0"/>
              <a:buChar char="•"/>
            </a:pPr>
            <a:r>
              <a:rPr lang="en-US" sz="1200" dirty="0">
                <a:latin typeface="Arial" panose="020B0604020202020204" pitchFamily="34" charset="0"/>
              </a:rPr>
              <a:t>Blogs and comments</a:t>
            </a:r>
          </a:p>
          <a:p>
            <a:pPr marL="228600" indent="-228600">
              <a:buFont typeface="Arial" panose="020B0604020202020204" pitchFamily="34" charset="0"/>
              <a:buChar char="•"/>
            </a:pPr>
            <a:r>
              <a:rPr lang="en-US" sz="1200" dirty="0">
                <a:latin typeface="Arial" panose="020B0604020202020204" pitchFamily="34" charset="0"/>
              </a:rPr>
              <a:t>Personal documents</a:t>
            </a:r>
          </a:p>
          <a:p>
            <a:pPr marL="228600" indent="-228600">
              <a:buFont typeface="Arial" panose="020B0604020202020204" pitchFamily="34" charset="0"/>
              <a:buChar char="•"/>
            </a:pPr>
            <a:r>
              <a:rPr lang="en-US" sz="1200" dirty="0">
                <a:latin typeface="Arial" panose="020B0604020202020204" pitchFamily="34" charset="0"/>
              </a:rPr>
              <a:t>Pictures: Instagram®, Flickr™, Picasa™, etc.</a:t>
            </a:r>
          </a:p>
          <a:p>
            <a:pPr marL="228600" indent="-228600">
              <a:buFont typeface="Arial" panose="020B0604020202020204" pitchFamily="34" charset="0"/>
              <a:buChar char="•"/>
            </a:pPr>
            <a:r>
              <a:rPr lang="en-US" sz="1200" dirty="0">
                <a:latin typeface="Arial" panose="020B0604020202020204" pitchFamily="34" charset="0"/>
              </a:rPr>
              <a:t>Videos: YouTube™, etc.</a:t>
            </a:r>
          </a:p>
          <a:p>
            <a:pPr marL="228600" indent="-228600">
              <a:buFont typeface="Arial" panose="020B0604020202020204" pitchFamily="34" charset="0"/>
              <a:buChar char="•"/>
            </a:pPr>
            <a:r>
              <a:rPr lang="en-US" sz="1200" dirty="0">
                <a:latin typeface="Arial" panose="020B0604020202020204" pitchFamily="34" charset="0"/>
              </a:rPr>
              <a:t>Internet searches</a:t>
            </a:r>
          </a:p>
          <a:p>
            <a:pPr marL="228600" indent="-228600">
              <a:buFont typeface="Arial" panose="020B0604020202020204" pitchFamily="34" charset="0"/>
              <a:buChar char="•"/>
            </a:pPr>
            <a:r>
              <a:rPr lang="en-US" sz="1200" dirty="0">
                <a:latin typeface="Arial" panose="020B0604020202020204" pitchFamily="34" charset="0"/>
              </a:rPr>
              <a:t>Mobile data content (text messages)</a:t>
            </a:r>
          </a:p>
          <a:p>
            <a:pPr marL="228600" indent="-228600">
              <a:buFont typeface="Arial" panose="020B0604020202020204" pitchFamily="34" charset="0"/>
              <a:buChar char="•"/>
            </a:pPr>
            <a:r>
              <a:rPr lang="en-US" sz="1200" dirty="0">
                <a:latin typeface="Arial" panose="020B0604020202020204" pitchFamily="34" charset="0"/>
              </a:rPr>
              <a:t>User-generated </a:t>
            </a:r>
            <a:r>
              <a:rPr lang="en-US" sz="1200" dirty="0" smtClean="0">
                <a:latin typeface="Arial" panose="020B0604020202020204" pitchFamily="34" charset="0"/>
              </a:rPr>
              <a:t>maps</a:t>
            </a:r>
          </a:p>
          <a:p>
            <a:pPr marL="228600" indent="-228600">
              <a:buFont typeface="Arial" panose="020B0604020202020204" pitchFamily="34" charset="0"/>
              <a:buChar char="•"/>
            </a:pPr>
            <a:r>
              <a:rPr lang="en-US" sz="1200" dirty="0" smtClean="0">
                <a:latin typeface="Arial" panose="020B0604020202020204" pitchFamily="34" charset="0"/>
              </a:rPr>
              <a:t>E-Mail</a:t>
            </a:r>
            <a:endParaRPr lang="en-US" sz="1200" b="0" i="0" dirty="0">
              <a:effectLst/>
              <a:latin typeface="Arial" panose="020B0604020202020204" pitchFamily="34" charset="0"/>
            </a:endParaRPr>
          </a:p>
        </p:txBody>
      </p:sp>
      <p:sp>
        <p:nvSpPr>
          <p:cNvPr id="15" name="Rectangle 14"/>
          <p:cNvSpPr/>
          <p:nvPr/>
        </p:nvSpPr>
        <p:spPr>
          <a:xfrm>
            <a:off x="3297239" y="2625728"/>
            <a:ext cx="2743200" cy="3946960"/>
          </a:xfrm>
          <a:prstGeom prst="rect">
            <a:avLst/>
          </a:prstGeom>
          <a:solidFill>
            <a:schemeClr val="bg1"/>
          </a:solidFill>
          <a:ln>
            <a:solidFill>
              <a:schemeClr val="accent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45260" tIns="99060" rIns="99060" bIns="99060" numCol="1" spcCol="1270" anchor="t" anchorCtr="0">
            <a:noAutofit/>
          </a:bodyPr>
          <a:lstStyle/>
          <a:p>
            <a:endParaRPr lang="en-US" sz="1200" b="1" dirty="0">
              <a:solidFill>
                <a:srgbClr val="557799"/>
              </a:solidFill>
              <a:latin typeface="Arial" panose="020B0604020202020204" pitchFamily="34" charset="0"/>
            </a:endParaRPr>
          </a:p>
          <a:p>
            <a:r>
              <a:rPr lang="en-US" sz="1200" b="1" dirty="0" smtClean="0">
                <a:solidFill>
                  <a:srgbClr val="557799"/>
                </a:solidFill>
                <a:latin typeface="Arial" panose="020B0604020202020204" pitchFamily="34" charset="0"/>
              </a:rPr>
              <a:t>Traditional Business Systems</a:t>
            </a:r>
            <a:endParaRPr lang="en-US" sz="1200" b="1" dirty="0">
              <a:solidFill>
                <a:srgbClr val="557799"/>
              </a:solidFill>
              <a:latin typeface="Arial" panose="020B0604020202020204" pitchFamily="34" charset="0"/>
            </a:endParaRPr>
          </a:p>
        </p:txBody>
      </p:sp>
      <p:sp>
        <p:nvSpPr>
          <p:cNvPr id="17" name="Rectangle 16"/>
          <p:cNvSpPr/>
          <p:nvPr/>
        </p:nvSpPr>
        <p:spPr>
          <a:xfrm>
            <a:off x="3297240" y="3851278"/>
            <a:ext cx="2743200" cy="1015663"/>
          </a:xfrm>
          <a:prstGeom prst="rect">
            <a:avLst/>
          </a:prstGeom>
        </p:spPr>
        <p:txBody>
          <a:bodyPr wrap="square">
            <a:spAutoFit/>
          </a:bodyPr>
          <a:lstStyle/>
          <a:p>
            <a:pPr marL="228600" indent="-228600">
              <a:buFont typeface="Arial" panose="020B0604020202020204" pitchFamily="34" charset="0"/>
              <a:buChar char="•"/>
            </a:pPr>
            <a:r>
              <a:rPr lang="en-US" sz="1200" dirty="0" smtClean="0"/>
              <a:t>Commercial </a:t>
            </a:r>
            <a:r>
              <a:rPr lang="en-US" sz="1200" dirty="0"/>
              <a:t>transactions</a:t>
            </a:r>
          </a:p>
          <a:p>
            <a:pPr marL="228600" indent="-228600">
              <a:buFont typeface="Arial" panose="020B0604020202020204" pitchFamily="34" charset="0"/>
              <a:buChar char="•"/>
            </a:pPr>
            <a:r>
              <a:rPr lang="en-US" sz="1200" dirty="0"/>
              <a:t>Banking/stock records</a:t>
            </a:r>
          </a:p>
          <a:p>
            <a:pPr marL="228600" indent="-228600">
              <a:buFont typeface="Arial" panose="020B0604020202020204" pitchFamily="34" charset="0"/>
              <a:buChar char="•"/>
            </a:pPr>
            <a:r>
              <a:rPr lang="en-US" sz="1200" dirty="0"/>
              <a:t>E-commerce</a:t>
            </a:r>
          </a:p>
          <a:p>
            <a:pPr marL="228600" indent="-228600">
              <a:buFont typeface="Arial" panose="020B0604020202020204" pitchFamily="34" charset="0"/>
              <a:buChar char="•"/>
            </a:pPr>
            <a:r>
              <a:rPr lang="en-US" sz="1200" dirty="0"/>
              <a:t>Credit </a:t>
            </a:r>
            <a:r>
              <a:rPr lang="en-US" sz="1200" dirty="0" smtClean="0"/>
              <a:t>cards</a:t>
            </a:r>
          </a:p>
          <a:p>
            <a:pPr marL="228600" indent="-228600">
              <a:buFont typeface="Arial" panose="020B0604020202020204" pitchFamily="34" charset="0"/>
              <a:buChar char="•"/>
            </a:pPr>
            <a:r>
              <a:rPr lang="en-US" sz="1200" dirty="0" smtClean="0"/>
              <a:t>Medical </a:t>
            </a:r>
            <a:r>
              <a:rPr lang="en-US" sz="1200" dirty="0"/>
              <a:t>records</a:t>
            </a:r>
          </a:p>
        </p:txBody>
      </p:sp>
      <p:sp>
        <p:nvSpPr>
          <p:cNvPr id="18" name="Rectangle 17"/>
          <p:cNvSpPr/>
          <p:nvPr/>
        </p:nvSpPr>
        <p:spPr>
          <a:xfrm>
            <a:off x="6180142" y="2625727"/>
            <a:ext cx="2743200" cy="3949697"/>
          </a:xfrm>
          <a:prstGeom prst="rect">
            <a:avLst/>
          </a:prstGeom>
          <a:solidFill>
            <a:schemeClr val="bg1"/>
          </a:solidFill>
          <a:ln>
            <a:solidFill>
              <a:schemeClr val="accent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45260" tIns="99060" rIns="99060" bIns="99060" numCol="1" spcCol="1270" anchor="t" anchorCtr="0">
            <a:noAutofit/>
          </a:bodyPr>
          <a:lstStyle/>
          <a:p>
            <a:endParaRPr lang="en-US" sz="1200" b="1" dirty="0" smtClean="0">
              <a:solidFill>
                <a:srgbClr val="557799"/>
              </a:solidFill>
              <a:latin typeface="Arial" panose="020B0604020202020204" pitchFamily="34" charset="0"/>
            </a:endParaRPr>
          </a:p>
          <a:p>
            <a:endParaRPr lang="en-US" sz="1200" b="1" dirty="0">
              <a:solidFill>
                <a:srgbClr val="557799"/>
              </a:solidFill>
              <a:latin typeface="Arial" panose="020B0604020202020204" pitchFamily="34" charset="0"/>
            </a:endParaRPr>
          </a:p>
          <a:p>
            <a:r>
              <a:rPr lang="en-US" sz="1200" b="1" dirty="0" smtClean="0">
                <a:solidFill>
                  <a:srgbClr val="557799"/>
                </a:solidFill>
                <a:latin typeface="Arial" panose="020B0604020202020204" pitchFamily="34" charset="0"/>
              </a:rPr>
              <a:t>Internet of Things</a:t>
            </a:r>
            <a:endParaRPr lang="en-US" sz="1200" b="1" dirty="0">
              <a:solidFill>
                <a:srgbClr val="557799"/>
              </a:solidFill>
              <a:latin typeface="Arial" panose="020B0604020202020204" pitchFamily="34" charset="0"/>
            </a:endParaRPr>
          </a:p>
        </p:txBody>
      </p:sp>
      <p:sp>
        <p:nvSpPr>
          <p:cNvPr id="20" name="Rectangle 19"/>
          <p:cNvSpPr/>
          <p:nvPr/>
        </p:nvSpPr>
        <p:spPr>
          <a:xfrm>
            <a:off x="6180143" y="3851278"/>
            <a:ext cx="2743200" cy="1754326"/>
          </a:xfrm>
          <a:prstGeom prst="rect">
            <a:avLst/>
          </a:prstGeom>
        </p:spPr>
        <p:txBody>
          <a:bodyPr wrap="square">
            <a:spAutoFit/>
          </a:bodyPr>
          <a:lstStyle/>
          <a:p>
            <a:pPr marL="228600" indent="-228600">
              <a:buFont typeface="Arial" panose="020B0604020202020204" pitchFamily="34" charset="0"/>
              <a:buChar char="•"/>
            </a:pPr>
            <a:r>
              <a:rPr lang="en-US" sz="1200" dirty="0" smtClean="0"/>
              <a:t>Sensors: traffic, weather, mobile phone location, etc.</a:t>
            </a:r>
            <a:endParaRPr lang="en-US" sz="1200" dirty="0"/>
          </a:p>
          <a:p>
            <a:pPr marL="228600" indent="-228600">
              <a:buFont typeface="Arial" panose="020B0604020202020204" pitchFamily="34" charset="0"/>
              <a:buChar char="•"/>
            </a:pPr>
            <a:r>
              <a:rPr lang="en-US" sz="1200" dirty="0" smtClean="0"/>
              <a:t>Security, surveillance videos, and images</a:t>
            </a:r>
          </a:p>
          <a:p>
            <a:pPr marL="228600" indent="-228600">
              <a:buFont typeface="Arial" panose="020B0604020202020204" pitchFamily="34" charset="0"/>
              <a:buChar char="•"/>
            </a:pPr>
            <a:r>
              <a:rPr lang="en-US" sz="1200" dirty="0" smtClean="0"/>
              <a:t>Satellite images</a:t>
            </a:r>
            <a:endParaRPr lang="en-US" sz="1200" dirty="0"/>
          </a:p>
          <a:p>
            <a:pPr marL="228600" indent="-228600">
              <a:buFont typeface="Arial" panose="020B0604020202020204" pitchFamily="34" charset="0"/>
              <a:buChar char="•"/>
            </a:pPr>
            <a:r>
              <a:rPr lang="en-US" sz="1200" dirty="0" smtClean="0"/>
              <a:t>Credit </a:t>
            </a:r>
            <a:r>
              <a:rPr lang="en-US" sz="1200" dirty="0"/>
              <a:t>cards</a:t>
            </a:r>
          </a:p>
          <a:p>
            <a:pPr marL="228600" indent="-228600">
              <a:buFont typeface="Arial" panose="020B0604020202020204" pitchFamily="34" charset="0"/>
              <a:buChar char="•"/>
            </a:pPr>
            <a:r>
              <a:rPr lang="en-US" sz="1200" dirty="0"/>
              <a:t>Medical records</a:t>
            </a:r>
          </a:p>
          <a:p>
            <a:pPr marL="228600" indent="-228600">
              <a:buFont typeface="Arial" panose="020B0604020202020204" pitchFamily="34" charset="0"/>
              <a:buChar char="•"/>
            </a:pPr>
            <a:r>
              <a:rPr lang="en-US" sz="1200" dirty="0"/>
              <a:t>Data from computer systems (logs, web logs, etc.) </a:t>
            </a:r>
          </a:p>
        </p:txBody>
      </p:sp>
      <p:pic>
        <p:nvPicPr>
          <p:cNvPr id="22" name="Picture 21"/>
          <p:cNvPicPr>
            <a:picLocks noChangeAspect="1"/>
          </p:cNvPicPr>
          <p:nvPr/>
        </p:nvPicPr>
        <p:blipFill rotWithShape="1">
          <a:blip r:embed="rId3">
            <a:extLst>
              <a:ext uri="{28A0092B-C50C-407E-A947-70E740481C1C}">
                <a14:useLocalDpi xmlns:a14="http://schemas.microsoft.com/office/drawing/2010/main" val="0"/>
              </a:ext>
            </a:extLst>
          </a:blip>
          <a:srcRect l="21611" r="1"/>
          <a:stretch/>
        </p:blipFill>
        <p:spPr>
          <a:xfrm>
            <a:off x="6319835" y="2734621"/>
            <a:ext cx="1226501" cy="1005840"/>
          </a:xfrm>
          <a:prstGeom prst="rect">
            <a:avLst/>
          </a:prstGeom>
        </p:spPr>
      </p:pic>
      <p:pic>
        <p:nvPicPr>
          <p:cNvPr id="5" name="Picture 4"/>
          <p:cNvPicPr>
            <a:picLocks noChangeAspect="1"/>
          </p:cNvPicPr>
          <p:nvPr/>
        </p:nvPicPr>
        <p:blipFill rotWithShape="1">
          <a:blip r:embed="rId4">
            <a:extLst>
              <a:ext uri="{28A0092B-C50C-407E-A947-70E740481C1C}">
                <a14:useLocalDpi xmlns:a14="http://schemas.microsoft.com/office/drawing/2010/main" val="0"/>
              </a:ext>
            </a:extLst>
          </a:blip>
          <a:srcRect l="10277" r="11800"/>
          <a:stretch/>
        </p:blipFill>
        <p:spPr>
          <a:xfrm>
            <a:off x="536568" y="2731884"/>
            <a:ext cx="1219200" cy="1005840"/>
          </a:xfrm>
          <a:prstGeom prst="rect">
            <a:avLst/>
          </a:prstGeom>
        </p:spPr>
      </p:pic>
      <p:pic>
        <p:nvPicPr>
          <p:cNvPr id="6" name="Picture 5"/>
          <p:cNvPicPr>
            <a:picLocks noChangeAspect="1"/>
          </p:cNvPicPr>
          <p:nvPr/>
        </p:nvPicPr>
        <p:blipFill rotWithShape="1">
          <a:blip r:embed="rId5">
            <a:extLst>
              <a:ext uri="{28A0092B-C50C-407E-A947-70E740481C1C}">
                <a14:useLocalDpi xmlns:a14="http://schemas.microsoft.com/office/drawing/2010/main" val="0"/>
              </a:ext>
            </a:extLst>
          </a:blip>
          <a:srcRect l="23054"/>
          <a:stretch/>
        </p:blipFill>
        <p:spPr>
          <a:xfrm>
            <a:off x="3438103" y="2736937"/>
            <a:ext cx="1214859" cy="1014984"/>
          </a:xfrm>
          <a:prstGeom prst="rect">
            <a:avLst/>
          </a:prstGeom>
        </p:spPr>
      </p:pic>
      <p:sp>
        <p:nvSpPr>
          <p:cNvPr id="16"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19"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17</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21923928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2.5 Big Data Examples by Data Type</a:t>
            </a:r>
            <a:endParaRPr lang="en-US" dirty="0"/>
          </a:p>
        </p:txBody>
      </p:sp>
      <p:sp>
        <p:nvSpPr>
          <p:cNvPr id="3" name="Content Placeholder 2"/>
          <p:cNvSpPr>
            <a:spLocks noGrp="1"/>
          </p:cNvSpPr>
          <p:nvPr>
            <p:ph sz="quarter" idx="14"/>
          </p:nvPr>
        </p:nvSpPr>
        <p:spPr>
          <a:xfrm>
            <a:off x="455613" y="1371600"/>
            <a:ext cx="8232775" cy="508574"/>
          </a:xfrm>
        </p:spPr>
        <p:txBody>
          <a:bodyPr/>
          <a:lstStyle/>
          <a:p>
            <a:pPr marL="0" indent="0">
              <a:buNone/>
            </a:pPr>
            <a:r>
              <a:rPr lang="en-US" sz="1200" dirty="0"/>
              <a:t>Big Data has applications for various data types. Visit the resources page in this course for links to additional Big Data application examples.</a:t>
            </a:r>
          </a:p>
        </p:txBody>
      </p:sp>
      <p:grpSp>
        <p:nvGrpSpPr>
          <p:cNvPr id="22" name="Group 21"/>
          <p:cNvGrpSpPr/>
          <p:nvPr/>
        </p:nvGrpSpPr>
        <p:grpSpPr>
          <a:xfrm>
            <a:off x="466732" y="2002409"/>
            <a:ext cx="4162425" cy="1269999"/>
            <a:chOff x="466732" y="2007175"/>
            <a:chExt cx="4162425" cy="1269999"/>
          </a:xfrm>
        </p:grpSpPr>
        <p:sp>
          <p:nvSpPr>
            <p:cNvPr id="7" name="Freeform 6"/>
            <p:cNvSpPr/>
            <p:nvPr/>
          </p:nvSpPr>
          <p:spPr>
            <a:xfrm>
              <a:off x="466732" y="2007175"/>
              <a:ext cx="4162425" cy="1269999"/>
            </a:xfrm>
            <a:custGeom>
              <a:avLst/>
              <a:gdLst>
                <a:gd name="connsiteX0" fmla="*/ 0 w 5662611"/>
                <a:gd name="connsiteY0" fmla="*/ 0 h 1269999"/>
                <a:gd name="connsiteX1" fmla="*/ 5662611 w 5662611"/>
                <a:gd name="connsiteY1" fmla="*/ 0 h 1269999"/>
                <a:gd name="connsiteX2" fmla="*/ 5662611 w 5662611"/>
                <a:gd name="connsiteY2" fmla="*/ 1269999 h 1269999"/>
                <a:gd name="connsiteX3" fmla="*/ 0 w 5662611"/>
                <a:gd name="connsiteY3" fmla="*/ 1269999 h 1269999"/>
                <a:gd name="connsiteX4" fmla="*/ 0 w 5662611"/>
                <a:gd name="connsiteY4" fmla="*/ 0 h 126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62611" h="1269999">
                  <a:moveTo>
                    <a:pt x="0" y="0"/>
                  </a:moveTo>
                  <a:lnTo>
                    <a:pt x="5662611" y="0"/>
                  </a:lnTo>
                  <a:lnTo>
                    <a:pt x="5662611" y="1269999"/>
                  </a:lnTo>
                  <a:lnTo>
                    <a:pt x="0" y="1269999"/>
                  </a:lnTo>
                  <a:lnTo>
                    <a:pt x="0" y="0"/>
                  </a:lnTo>
                  <a:close/>
                </a:path>
              </a:pathLst>
            </a:custGeom>
            <a:solidFill>
              <a:schemeClr val="bg1"/>
            </a:solidFill>
            <a:ln>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305242" tIns="45720" rIns="45720" bIns="45720" numCol="1" spcCol="1270" anchor="ctr" anchorCtr="0">
              <a:noAutofit/>
            </a:bodyPr>
            <a:lstStyle/>
            <a:p>
              <a:pPr lvl="0" algn="l" defTabSz="533400">
                <a:lnSpc>
                  <a:spcPct val="90000"/>
                </a:lnSpc>
                <a:spcBef>
                  <a:spcPct val="0"/>
                </a:spcBef>
                <a:spcAft>
                  <a:spcPct val="35000"/>
                </a:spcAft>
              </a:pPr>
              <a:r>
                <a:rPr lang="en-US" sz="1200" b="0" i="0" kern="1200" dirty="0" smtClean="0">
                  <a:solidFill>
                    <a:schemeClr val="tx1"/>
                  </a:solidFill>
                </a:rPr>
                <a:t>By counting the cars in a parking lot, analysts are able to predict a company’s customer flow.</a:t>
              </a:r>
              <a:endParaRPr lang="en-US" sz="1200" kern="1200" dirty="0">
                <a:solidFill>
                  <a:schemeClr val="tx1"/>
                </a:solidFill>
              </a:endParaRPr>
            </a:p>
          </p:txBody>
        </p:sp>
        <p:sp>
          <p:nvSpPr>
            <p:cNvPr id="8" name="Rectangle 7"/>
            <p:cNvSpPr/>
            <p:nvPr/>
          </p:nvSpPr>
          <p:spPr>
            <a:xfrm>
              <a:off x="593731" y="2125095"/>
              <a:ext cx="1132522" cy="1015999"/>
            </a:xfrm>
            <a:prstGeom prst="rect">
              <a:avLst/>
            </a:prstGeom>
            <a:blipFill>
              <a:blip r:embed="rId3">
                <a:extLst>
                  <a:ext uri="{28A0092B-C50C-407E-A947-70E740481C1C}">
                    <a14:useLocalDpi xmlns:a14="http://schemas.microsoft.com/office/drawing/2010/main" val="0"/>
                  </a:ext>
                </a:extLst>
              </a:blip>
              <a:srcRect/>
              <a:stretch>
                <a:fillRect l="-4000" r="-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25" name="Group 24"/>
          <p:cNvGrpSpPr/>
          <p:nvPr/>
        </p:nvGrpSpPr>
        <p:grpSpPr>
          <a:xfrm>
            <a:off x="466732" y="3399408"/>
            <a:ext cx="4162425" cy="1269999"/>
            <a:chOff x="466732" y="3404174"/>
            <a:chExt cx="4162425" cy="1269999"/>
          </a:xfrm>
        </p:grpSpPr>
        <p:sp>
          <p:nvSpPr>
            <p:cNvPr id="9" name="Freeform 8"/>
            <p:cNvSpPr/>
            <p:nvPr/>
          </p:nvSpPr>
          <p:spPr>
            <a:xfrm>
              <a:off x="466732" y="3404174"/>
              <a:ext cx="4162425" cy="1269999"/>
            </a:xfrm>
            <a:custGeom>
              <a:avLst/>
              <a:gdLst>
                <a:gd name="connsiteX0" fmla="*/ 0 w 5662611"/>
                <a:gd name="connsiteY0" fmla="*/ 0 h 1269999"/>
                <a:gd name="connsiteX1" fmla="*/ 5662611 w 5662611"/>
                <a:gd name="connsiteY1" fmla="*/ 0 h 1269999"/>
                <a:gd name="connsiteX2" fmla="*/ 5662611 w 5662611"/>
                <a:gd name="connsiteY2" fmla="*/ 1269999 h 1269999"/>
                <a:gd name="connsiteX3" fmla="*/ 0 w 5662611"/>
                <a:gd name="connsiteY3" fmla="*/ 1269999 h 1269999"/>
                <a:gd name="connsiteX4" fmla="*/ 0 w 5662611"/>
                <a:gd name="connsiteY4" fmla="*/ 0 h 126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62611" h="1269999">
                  <a:moveTo>
                    <a:pt x="0" y="0"/>
                  </a:moveTo>
                  <a:lnTo>
                    <a:pt x="5662611" y="0"/>
                  </a:lnTo>
                  <a:lnTo>
                    <a:pt x="5662611" y="1269999"/>
                  </a:lnTo>
                  <a:lnTo>
                    <a:pt x="0" y="1269999"/>
                  </a:lnTo>
                  <a:lnTo>
                    <a:pt x="0" y="0"/>
                  </a:lnTo>
                  <a:close/>
                </a:path>
              </a:pathLst>
            </a:custGeom>
            <a:solidFill>
              <a:schemeClr val="bg1"/>
            </a:solidFill>
            <a:ln>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305242" tIns="45720" rIns="45720" bIns="45720" numCol="1" spcCol="1270" anchor="ctr" anchorCtr="0">
              <a:noAutofit/>
            </a:bodyPr>
            <a:lstStyle/>
            <a:p>
              <a:pPr lvl="0" algn="l" defTabSz="533400">
                <a:lnSpc>
                  <a:spcPct val="90000"/>
                </a:lnSpc>
                <a:spcBef>
                  <a:spcPct val="0"/>
                </a:spcBef>
                <a:spcAft>
                  <a:spcPct val="35000"/>
                </a:spcAft>
              </a:pPr>
              <a:r>
                <a:rPr lang="en-US" sz="1200" kern="1200" dirty="0" smtClean="0">
                  <a:solidFill>
                    <a:schemeClr val="tx1"/>
                  </a:solidFill>
                </a:rPr>
                <a:t>Infrared images capture chlorophyll in plants, and microwave images pick up the degree of moisture in the crops.</a:t>
              </a:r>
              <a:endParaRPr lang="en-US" sz="1200" kern="1200" dirty="0">
                <a:solidFill>
                  <a:schemeClr val="tx1"/>
                </a:solidFill>
              </a:endParaRPr>
            </a:p>
          </p:txBody>
        </p:sp>
        <p:sp>
          <p:nvSpPr>
            <p:cNvPr id="10" name="Rectangle 9"/>
            <p:cNvSpPr/>
            <p:nvPr/>
          </p:nvSpPr>
          <p:spPr>
            <a:xfrm>
              <a:off x="593731" y="3531174"/>
              <a:ext cx="1132522" cy="1015999"/>
            </a:xfrm>
            <a:prstGeom prst="rect">
              <a:avLst/>
            </a:prstGeom>
            <a:blipFill>
              <a:blip r:embed="rId4">
                <a:extLst>
                  <a:ext uri="{28A0092B-C50C-407E-A947-70E740481C1C}">
                    <a14:useLocalDpi xmlns:a14="http://schemas.microsoft.com/office/drawing/2010/main" val="0"/>
                  </a:ext>
                </a:extLst>
              </a:blip>
              <a:srcRect/>
              <a:stretch>
                <a:fillRect l="-4000" r="-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27" name="Group 26"/>
          <p:cNvGrpSpPr/>
          <p:nvPr/>
        </p:nvGrpSpPr>
        <p:grpSpPr>
          <a:xfrm>
            <a:off x="466732" y="4796408"/>
            <a:ext cx="4162425" cy="1269999"/>
            <a:chOff x="466732" y="4801174"/>
            <a:chExt cx="4162425" cy="1269999"/>
          </a:xfrm>
        </p:grpSpPr>
        <p:sp>
          <p:nvSpPr>
            <p:cNvPr id="11" name="Freeform 10"/>
            <p:cNvSpPr/>
            <p:nvPr/>
          </p:nvSpPr>
          <p:spPr>
            <a:xfrm>
              <a:off x="466732" y="4801174"/>
              <a:ext cx="4162425" cy="1269999"/>
            </a:xfrm>
            <a:custGeom>
              <a:avLst/>
              <a:gdLst>
                <a:gd name="connsiteX0" fmla="*/ 0 w 5662611"/>
                <a:gd name="connsiteY0" fmla="*/ 0 h 1269999"/>
                <a:gd name="connsiteX1" fmla="*/ 5662611 w 5662611"/>
                <a:gd name="connsiteY1" fmla="*/ 0 h 1269999"/>
                <a:gd name="connsiteX2" fmla="*/ 5662611 w 5662611"/>
                <a:gd name="connsiteY2" fmla="*/ 1269999 h 1269999"/>
                <a:gd name="connsiteX3" fmla="*/ 0 w 5662611"/>
                <a:gd name="connsiteY3" fmla="*/ 1269999 h 1269999"/>
                <a:gd name="connsiteX4" fmla="*/ 0 w 5662611"/>
                <a:gd name="connsiteY4" fmla="*/ 0 h 126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62611" h="1269999">
                  <a:moveTo>
                    <a:pt x="0" y="0"/>
                  </a:moveTo>
                  <a:lnTo>
                    <a:pt x="5662611" y="0"/>
                  </a:lnTo>
                  <a:lnTo>
                    <a:pt x="5662611" y="1269999"/>
                  </a:lnTo>
                  <a:lnTo>
                    <a:pt x="0" y="1269999"/>
                  </a:lnTo>
                  <a:lnTo>
                    <a:pt x="0" y="0"/>
                  </a:lnTo>
                  <a:close/>
                </a:path>
              </a:pathLst>
            </a:custGeom>
            <a:solidFill>
              <a:schemeClr val="bg1"/>
            </a:solidFill>
            <a:ln>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305242" tIns="45720" rIns="45720" bIns="45720" numCol="1" spcCol="1270" anchor="ctr" anchorCtr="0">
              <a:noAutofit/>
            </a:bodyPr>
            <a:lstStyle/>
            <a:p>
              <a:pPr lvl="0" algn="l" defTabSz="533400">
                <a:lnSpc>
                  <a:spcPct val="90000"/>
                </a:lnSpc>
                <a:spcBef>
                  <a:spcPct val="0"/>
                </a:spcBef>
                <a:spcAft>
                  <a:spcPct val="35000"/>
                </a:spcAft>
              </a:pPr>
              <a:r>
                <a:rPr lang="en-US" sz="1200" kern="1200" dirty="0" smtClean="0">
                  <a:solidFill>
                    <a:schemeClr val="tx1"/>
                  </a:solidFill>
                </a:rPr>
                <a:t>Speech analytics methods are used to identity unsatisfied customers</a:t>
              </a:r>
              <a:r>
                <a:rPr lang="en-US" sz="1200" kern="1200" smtClean="0">
                  <a:solidFill>
                    <a:schemeClr val="tx1"/>
                  </a:solidFill>
                </a:rPr>
                <a:t>. </a:t>
              </a:r>
              <a:endParaRPr lang="en-US" sz="1200" kern="1200" dirty="0" smtClean="0">
                <a:solidFill>
                  <a:schemeClr val="tx1"/>
                </a:solidFill>
              </a:endParaRPr>
            </a:p>
          </p:txBody>
        </p:sp>
        <p:sp>
          <p:nvSpPr>
            <p:cNvPr id="12" name="Rectangle 11"/>
            <p:cNvSpPr/>
            <p:nvPr/>
          </p:nvSpPr>
          <p:spPr>
            <a:xfrm>
              <a:off x="593731" y="4928174"/>
              <a:ext cx="1132522" cy="1015999"/>
            </a:xfrm>
            <a:prstGeom prst="rect">
              <a:avLst/>
            </a:prstGeom>
            <a:blipFill>
              <a:blip r:embed="rId5">
                <a:extLst>
                  <a:ext uri="{28A0092B-C50C-407E-A947-70E740481C1C}">
                    <a14:useLocalDpi xmlns:a14="http://schemas.microsoft.com/office/drawing/2010/main" val="0"/>
                  </a:ext>
                </a:extLst>
              </a:blip>
              <a:srcRect/>
              <a:stretch>
                <a:fillRect l="-4000" r="-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grpSp>
      <p:grpSp>
        <p:nvGrpSpPr>
          <p:cNvPr id="23" name="Group 22"/>
          <p:cNvGrpSpPr/>
          <p:nvPr/>
        </p:nvGrpSpPr>
        <p:grpSpPr>
          <a:xfrm>
            <a:off x="4733946" y="2002409"/>
            <a:ext cx="4162425" cy="1269999"/>
            <a:chOff x="4733946" y="2002409"/>
            <a:chExt cx="4162425" cy="1269999"/>
          </a:xfrm>
        </p:grpSpPr>
        <p:sp>
          <p:nvSpPr>
            <p:cNvPr id="13" name="Freeform 12"/>
            <p:cNvSpPr/>
            <p:nvPr/>
          </p:nvSpPr>
          <p:spPr>
            <a:xfrm>
              <a:off x="4733946" y="2002409"/>
              <a:ext cx="4162425" cy="1269999"/>
            </a:xfrm>
            <a:custGeom>
              <a:avLst/>
              <a:gdLst>
                <a:gd name="connsiteX0" fmla="*/ 0 w 5662611"/>
                <a:gd name="connsiteY0" fmla="*/ 0 h 1269999"/>
                <a:gd name="connsiteX1" fmla="*/ 5662611 w 5662611"/>
                <a:gd name="connsiteY1" fmla="*/ 0 h 1269999"/>
                <a:gd name="connsiteX2" fmla="*/ 5662611 w 5662611"/>
                <a:gd name="connsiteY2" fmla="*/ 1269999 h 1269999"/>
                <a:gd name="connsiteX3" fmla="*/ 0 w 5662611"/>
                <a:gd name="connsiteY3" fmla="*/ 1269999 h 1269999"/>
                <a:gd name="connsiteX4" fmla="*/ 0 w 5662611"/>
                <a:gd name="connsiteY4" fmla="*/ 0 h 126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62611" h="1269999">
                  <a:moveTo>
                    <a:pt x="0" y="0"/>
                  </a:moveTo>
                  <a:lnTo>
                    <a:pt x="5662611" y="0"/>
                  </a:lnTo>
                  <a:lnTo>
                    <a:pt x="5662611" y="1269999"/>
                  </a:lnTo>
                  <a:lnTo>
                    <a:pt x="0" y="1269999"/>
                  </a:lnTo>
                  <a:lnTo>
                    <a:pt x="0" y="0"/>
                  </a:lnTo>
                  <a:close/>
                </a:path>
              </a:pathLst>
            </a:custGeom>
            <a:solidFill>
              <a:schemeClr val="bg1"/>
            </a:solidFill>
            <a:ln>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305242" tIns="45720" rIns="45720" bIns="45720" numCol="1" spcCol="1270" anchor="ctr" anchorCtr="0">
              <a:noAutofit/>
            </a:bodyPr>
            <a:lstStyle/>
            <a:p>
              <a:pPr lvl="0" defTabSz="533400">
                <a:lnSpc>
                  <a:spcPct val="90000"/>
                </a:lnSpc>
                <a:spcAft>
                  <a:spcPct val="35000"/>
                </a:spcAft>
              </a:pPr>
              <a:r>
                <a:rPr lang="en-US" sz="1200" dirty="0">
                  <a:solidFill>
                    <a:schemeClr val="tx1"/>
                  </a:solidFill>
                </a:rPr>
                <a:t>Video data analysis identifies risks and provides real-time alerts</a:t>
              </a:r>
              <a:r>
                <a:rPr lang="en-US" sz="1200" dirty="0" smtClean="0">
                  <a:solidFill>
                    <a:schemeClr val="tx1"/>
                  </a:solidFill>
                </a:rPr>
                <a:t>.</a:t>
              </a:r>
              <a:endParaRPr lang="en-US" sz="1200" kern="1200" dirty="0">
                <a:solidFill>
                  <a:schemeClr val="tx1"/>
                </a:solidFill>
              </a:endParaRPr>
            </a:p>
          </p:txBody>
        </p:sp>
        <p:pic>
          <p:nvPicPr>
            <p:cNvPr id="19" name="Picture 18"/>
            <p:cNvPicPr preferRelativeResize="0">
              <a:picLocks noChangeAspect="1"/>
            </p:cNvPicPr>
            <p:nvPr/>
          </p:nvPicPr>
          <p:blipFill rotWithShape="1">
            <a:blip r:embed="rId6">
              <a:extLst>
                <a:ext uri="{28A0092B-C50C-407E-A947-70E740481C1C}">
                  <a14:useLocalDpi xmlns:a14="http://schemas.microsoft.com/office/drawing/2010/main" val="0"/>
                </a:ext>
              </a:extLst>
            </a:blip>
            <a:srcRect l="5653"/>
            <a:stretch/>
          </p:blipFill>
          <p:spPr>
            <a:xfrm>
              <a:off x="4860945" y="2125095"/>
              <a:ext cx="1138766" cy="1005840"/>
            </a:xfrm>
            <a:prstGeom prst="rect">
              <a:avLst/>
            </a:prstGeom>
          </p:spPr>
        </p:pic>
      </p:grpSp>
      <p:grpSp>
        <p:nvGrpSpPr>
          <p:cNvPr id="24" name="Group 23"/>
          <p:cNvGrpSpPr/>
          <p:nvPr/>
        </p:nvGrpSpPr>
        <p:grpSpPr>
          <a:xfrm>
            <a:off x="4733946" y="3399408"/>
            <a:ext cx="4162425" cy="1269999"/>
            <a:chOff x="4733946" y="3399408"/>
            <a:chExt cx="4162425" cy="1269999"/>
          </a:xfrm>
        </p:grpSpPr>
        <p:sp>
          <p:nvSpPr>
            <p:cNvPr id="15" name="Freeform 14"/>
            <p:cNvSpPr/>
            <p:nvPr/>
          </p:nvSpPr>
          <p:spPr>
            <a:xfrm>
              <a:off x="4733946" y="3399408"/>
              <a:ext cx="4162425" cy="1269999"/>
            </a:xfrm>
            <a:custGeom>
              <a:avLst/>
              <a:gdLst>
                <a:gd name="connsiteX0" fmla="*/ 0 w 5662611"/>
                <a:gd name="connsiteY0" fmla="*/ 0 h 1269999"/>
                <a:gd name="connsiteX1" fmla="*/ 5662611 w 5662611"/>
                <a:gd name="connsiteY1" fmla="*/ 0 h 1269999"/>
                <a:gd name="connsiteX2" fmla="*/ 5662611 w 5662611"/>
                <a:gd name="connsiteY2" fmla="*/ 1269999 h 1269999"/>
                <a:gd name="connsiteX3" fmla="*/ 0 w 5662611"/>
                <a:gd name="connsiteY3" fmla="*/ 1269999 h 1269999"/>
                <a:gd name="connsiteX4" fmla="*/ 0 w 5662611"/>
                <a:gd name="connsiteY4" fmla="*/ 0 h 126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62611" h="1269999">
                  <a:moveTo>
                    <a:pt x="0" y="0"/>
                  </a:moveTo>
                  <a:lnTo>
                    <a:pt x="5662611" y="0"/>
                  </a:lnTo>
                  <a:lnTo>
                    <a:pt x="5662611" y="1269999"/>
                  </a:lnTo>
                  <a:lnTo>
                    <a:pt x="0" y="1269999"/>
                  </a:lnTo>
                  <a:lnTo>
                    <a:pt x="0" y="0"/>
                  </a:lnTo>
                  <a:close/>
                </a:path>
              </a:pathLst>
            </a:custGeom>
            <a:solidFill>
              <a:schemeClr val="bg1"/>
            </a:solidFill>
            <a:ln>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305242" tIns="45720" rIns="45720" bIns="45720" numCol="1" spcCol="1270" anchor="ctr" anchorCtr="0">
              <a:noAutofit/>
            </a:bodyPr>
            <a:lstStyle/>
            <a:p>
              <a:pPr lvl="0" defTabSz="533400">
                <a:lnSpc>
                  <a:spcPct val="90000"/>
                </a:lnSpc>
                <a:spcAft>
                  <a:spcPct val="35000"/>
                </a:spcAft>
              </a:pPr>
              <a:r>
                <a:rPr lang="en-US" sz="1200" dirty="0">
                  <a:solidFill>
                    <a:schemeClr val="tx1"/>
                  </a:solidFill>
                </a:rPr>
                <a:t>Twitter® feeds can foretell changes to the Dow Jones with 86.7% accuracy.</a:t>
              </a:r>
              <a:endParaRPr lang="en-US" sz="1200" kern="1200" dirty="0">
                <a:solidFill>
                  <a:schemeClr val="tx1"/>
                </a:solidFill>
              </a:endParaRPr>
            </a:p>
          </p:txBody>
        </p:sp>
        <p:pic>
          <p:nvPicPr>
            <p:cNvPr id="20" name="Picture 19"/>
            <p:cNvPicPr>
              <a:picLocks noChangeAspect="1"/>
            </p:cNvPicPr>
            <p:nvPr/>
          </p:nvPicPr>
          <p:blipFill rotWithShape="1">
            <a:blip r:embed="rId7">
              <a:extLst>
                <a:ext uri="{28A0092B-C50C-407E-A947-70E740481C1C}">
                  <a14:useLocalDpi xmlns:a14="http://schemas.microsoft.com/office/drawing/2010/main" val="0"/>
                </a:ext>
              </a:extLst>
            </a:blip>
            <a:srcRect l="1184" r="4119"/>
            <a:stretch/>
          </p:blipFill>
          <p:spPr>
            <a:xfrm>
              <a:off x="4856711" y="3541333"/>
              <a:ext cx="1143000" cy="1005840"/>
            </a:xfrm>
            <a:prstGeom prst="rect">
              <a:avLst/>
            </a:prstGeom>
          </p:spPr>
        </p:pic>
      </p:grpSp>
      <p:grpSp>
        <p:nvGrpSpPr>
          <p:cNvPr id="26" name="Group 25"/>
          <p:cNvGrpSpPr/>
          <p:nvPr/>
        </p:nvGrpSpPr>
        <p:grpSpPr>
          <a:xfrm>
            <a:off x="4733946" y="4796408"/>
            <a:ext cx="4162425" cy="1269999"/>
            <a:chOff x="4733946" y="4796408"/>
            <a:chExt cx="4162425" cy="1269999"/>
          </a:xfrm>
        </p:grpSpPr>
        <p:sp>
          <p:nvSpPr>
            <p:cNvPr id="17" name="Freeform 16"/>
            <p:cNvSpPr/>
            <p:nvPr/>
          </p:nvSpPr>
          <p:spPr>
            <a:xfrm>
              <a:off x="4733946" y="4796408"/>
              <a:ext cx="4162425" cy="1269999"/>
            </a:xfrm>
            <a:custGeom>
              <a:avLst/>
              <a:gdLst>
                <a:gd name="connsiteX0" fmla="*/ 0 w 5662611"/>
                <a:gd name="connsiteY0" fmla="*/ 0 h 1269999"/>
                <a:gd name="connsiteX1" fmla="*/ 5662611 w 5662611"/>
                <a:gd name="connsiteY1" fmla="*/ 0 h 1269999"/>
                <a:gd name="connsiteX2" fmla="*/ 5662611 w 5662611"/>
                <a:gd name="connsiteY2" fmla="*/ 1269999 h 1269999"/>
                <a:gd name="connsiteX3" fmla="*/ 0 w 5662611"/>
                <a:gd name="connsiteY3" fmla="*/ 1269999 h 1269999"/>
                <a:gd name="connsiteX4" fmla="*/ 0 w 5662611"/>
                <a:gd name="connsiteY4" fmla="*/ 0 h 126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62611" h="1269999">
                  <a:moveTo>
                    <a:pt x="0" y="0"/>
                  </a:moveTo>
                  <a:lnTo>
                    <a:pt x="5662611" y="0"/>
                  </a:lnTo>
                  <a:lnTo>
                    <a:pt x="5662611" y="1269999"/>
                  </a:lnTo>
                  <a:lnTo>
                    <a:pt x="0" y="1269999"/>
                  </a:lnTo>
                  <a:lnTo>
                    <a:pt x="0" y="0"/>
                  </a:lnTo>
                  <a:close/>
                </a:path>
              </a:pathLst>
            </a:custGeom>
            <a:solidFill>
              <a:schemeClr val="bg1"/>
            </a:solidFill>
            <a:ln>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305242" tIns="45720" rIns="45720" bIns="45720" numCol="1" spcCol="1270" anchor="ctr" anchorCtr="0">
              <a:noAutofit/>
            </a:bodyPr>
            <a:lstStyle/>
            <a:p>
              <a:pPr defTabSz="533400">
                <a:lnSpc>
                  <a:spcPct val="90000"/>
                </a:lnSpc>
                <a:spcAft>
                  <a:spcPct val="35000"/>
                </a:spcAft>
              </a:pPr>
              <a:r>
                <a:rPr lang="en-US" sz="1200" dirty="0" smtClean="0">
                  <a:solidFill>
                    <a:schemeClr val="tx1"/>
                  </a:solidFill>
                </a:rPr>
                <a:t>Tracking newspaper clippings for injury </a:t>
              </a:r>
              <a:r>
                <a:rPr lang="en-US" sz="1200" dirty="0">
                  <a:solidFill>
                    <a:schemeClr val="tx1"/>
                  </a:solidFill>
                </a:rPr>
                <a:t>surveillance </a:t>
              </a:r>
              <a:r>
                <a:rPr lang="en-US" sz="1200" dirty="0" smtClean="0">
                  <a:solidFill>
                    <a:schemeClr val="tx1"/>
                  </a:solidFill>
                </a:rPr>
                <a:t>provides </a:t>
              </a:r>
              <a:r>
                <a:rPr lang="en-US" sz="1200" dirty="0">
                  <a:solidFill>
                    <a:schemeClr val="tx1"/>
                  </a:solidFill>
                </a:rPr>
                <a:t>early alerting </a:t>
              </a:r>
              <a:r>
                <a:rPr lang="en-US" sz="1200" dirty="0" smtClean="0">
                  <a:solidFill>
                    <a:schemeClr val="tx1"/>
                  </a:solidFill>
                </a:rPr>
                <a:t>to </a:t>
              </a:r>
              <a:r>
                <a:rPr lang="en-US" sz="1200" dirty="0">
                  <a:solidFill>
                    <a:schemeClr val="tx1"/>
                  </a:solidFill>
                </a:rPr>
                <a:t>insurance </a:t>
              </a:r>
              <a:r>
                <a:rPr lang="en-US" sz="1200" dirty="0" smtClean="0">
                  <a:solidFill>
                    <a:schemeClr val="tx1"/>
                  </a:solidFill>
                </a:rPr>
                <a:t>companies.</a:t>
              </a:r>
              <a:endParaRPr lang="en-US" sz="1200" kern="1200" dirty="0" smtClean="0">
                <a:solidFill>
                  <a:schemeClr val="tx1"/>
                </a:solidFill>
              </a:endParaRPr>
            </a:p>
          </p:txBody>
        </p:sp>
        <p:pic>
          <p:nvPicPr>
            <p:cNvPr id="21" name="Picture 20"/>
            <p:cNvPicPr>
              <a:picLocks noChangeAspect="1"/>
            </p:cNvPicPr>
            <p:nvPr/>
          </p:nvPicPr>
          <p:blipFill rotWithShape="1">
            <a:blip r:embed="rId8">
              <a:extLst>
                <a:ext uri="{28A0092B-C50C-407E-A947-70E740481C1C}">
                  <a14:useLocalDpi xmlns:a14="http://schemas.microsoft.com/office/drawing/2010/main" val="0"/>
                </a:ext>
              </a:extLst>
            </a:blip>
            <a:srcRect l="2977" r="2936"/>
            <a:stretch/>
          </p:blipFill>
          <p:spPr>
            <a:xfrm>
              <a:off x="4864086" y="4938333"/>
              <a:ext cx="1135625" cy="1005840"/>
            </a:xfrm>
            <a:prstGeom prst="rect">
              <a:avLst/>
            </a:prstGeom>
          </p:spPr>
        </p:pic>
      </p:grpSp>
      <p:sp>
        <p:nvSpPr>
          <p:cNvPr id="28"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29"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18</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5308041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2.6 From Data to Insights</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smtClean="0"/>
              <a:t>When the data you capture and crunch is large and disorderly, </a:t>
            </a:r>
            <a:r>
              <a:rPr lang="en-US" sz="1200" dirty="0" smtClean="0"/>
              <a:t>irrelevant bits </a:t>
            </a:r>
            <a:r>
              <a:rPr lang="en-US" sz="1200" dirty="0" smtClean="0"/>
              <a:t>(often called “noise”) may come along for the ride. The IDC estimates that 5% of useful data is “target rich,” and that percentage should nearly double by 2020 as organizations take advantage of new tools and data sources. Curious scientists and data analysts are tasked with determining what this "noise" means and if it is significant. Now, imagine the data in question has come as a result of capturing data for a business. What useful noise might it contain? What opportunities for business development, loss prevention, cost reduction, and especially supply chain planning might exist? </a:t>
            </a:r>
          </a:p>
          <a:p>
            <a:pPr marL="0" indent="0">
              <a:buNone/>
            </a:pPr>
            <a:endParaRPr lang="en-US" sz="1200" dirty="0"/>
          </a:p>
          <a:p>
            <a:pPr marL="0" indent="0">
              <a:buNone/>
            </a:pPr>
            <a:endParaRPr lang="en-US" sz="1200" dirty="0" smtClean="0"/>
          </a:p>
          <a:p>
            <a:pPr marL="0" indent="0">
              <a:buNone/>
            </a:pPr>
            <a:endParaRPr lang="en-US" sz="1200" dirty="0"/>
          </a:p>
          <a:p>
            <a:pPr marL="0" indent="0">
              <a:buNone/>
            </a:pPr>
            <a:endParaRPr lang="en-US" sz="1200" dirty="0" smtClean="0"/>
          </a:p>
          <a:p>
            <a:pPr marL="0" indent="0">
              <a:buNone/>
            </a:pPr>
            <a:endParaRPr lang="en-US" sz="1200" dirty="0"/>
          </a:p>
          <a:p>
            <a:pPr marL="0" indent="0">
              <a:buNone/>
            </a:pPr>
            <a:endParaRPr lang="en-US" sz="1200" dirty="0" smtClean="0"/>
          </a:p>
          <a:p>
            <a:pPr marL="0" indent="0">
              <a:buNone/>
            </a:pPr>
            <a:endParaRPr lang="en-US" sz="1200" dirty="0"/>
          </a:p>
          <a:p>
            <a:pPr marL="0" indent="0">
              <a:buNone/>
            </a:pPr>
            <a:endParaRPr lang="en-US" sz="1200" dirty="0" smtClean="0"/>
          </a:p>
          <a:p>
            <a:pPr marL="0" indent="0">
              <a:buNone/>
            </a:pPr>
            <a:endParaRPr lang="en-US" sz="1200" dirty="0"/>
          </a:p>
          <a:p>
            <a:pPr marL="0" indent="0">
              <a:buNone/>
            </a:pPr>
            <a:endParaRPr lang="en-US" sz="1200" dirty="0"/>
          </a:p>
          <a:p>
            <a:pPr marL="0" indent="0">
              <a:buNone/>
            </a:pPr>
            <a:r>
              <a:rPr lang="fr-FR" sz="1200" dirty="0" smtClean="0"/>
              <a:t>Image </a:t>
            </a:r>
            <a:r>
              <a:rPr lang="fr-FR" sz="1200" dirty="0"/>
              <a:t>from: </a:t>
            </a:r>
            <a:r>
              <a:rPr lang="fr-FR" sz="1200" dirty="0">
                <a:hlinkClick r:id="rId3"/>
              </a:rPr>
              <a:t>http://techcrunch.com/2012/11/25/the-</a:t>
            </a:r>
            <a:r>
              <a:rPr lang="fr-FR" sz="1200" dirty="0" err="1">
                <a:hlinkClick r:id="rId3"/>
              </a:rPr>
              <a:t>big</a:t>
            </a:r>
            <a:r>
              <a:rPr lang="fr-FR" sz="1200" dirty="0">
                <a:hlinkClick r:id="rId3"/>
              </a:rPr>
              <a:t>-data-</a:t>
            </a:r>
            <a:r>
              <a:rPr lang="fr-FR" sz="1200" dirty="0" err="1">
                <a:hlinkClick r:id="rId3"/>
              </a:rPr>
              <a:t>fallacy</a:t>
            </a:r>
            <a:r>
              <a:rPr lang="fr-FR" sz="1200" dirty="0">
                <a:hlinkClick r:id="rId3"/>
              </a:rPr>
              <a:t>-data-≠-information-≠-insights/</a:t>
            </a:r>
            <a:endParaRPr lang="en-US" sz="1200" dirty="0" smtClean="0"/>
          </a:p>
          <a:p>
            <a:pPr marL="0" indent="0">
              <a:buNone/>
            </a:pPr>
            <a:endParaRPr lang="en-US" sz="1200"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5863" y="2833439"/>
            <a:ext cx="6772275" cy="2971800"/>
          </a:xfrm>
          <a:prstGeom prst="rect">
            <a:avLst/>
          </a:prstGeom>
        </p:spPr>
      </p:pic>
      <p:sp>
        <p:nvSpPr>
          <p:cNvPr id="6"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19</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40504215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2.7 Challenges Adopting Big Data</a:t>
            </a:r>
            <a:endParaRPr lang="en-US" dirty="0"/>
          </a:p>
        </p:txBody>
      </p:sp>
      <p:sp>
        <p:nvSpPr>
          <p:cNvPr id="4" name="Content Placeholder 3"/>
          <p:cNvSpPr>
            <a:spLocks noGrp="1"/>
          </p:cNvSpPr>
          <p:nvPr>
            <p:ph sz="quarter" idx="14"/>
          </p:nvPr>
        </p:nvSpPr>
        <p:spPr>
          <a:xfrm>
            <a:off x="455614" y="1371600"/>
            <a:ext cx="4060824" cy="2767263"/>
          </a:xfrm>
        </p:spPr>
        <p:txBody>
          <a:bodyPr/>
          <a:lstStyle/>
          <a:p>
            <a:pPr marL="0" indent="0">
              <a:buNone/>
            </a:pPr>
            <a:r>
              <a:rPr lang="en-US" sz="1200" dirty="0"/>
              <a:t>This rapid shift in the data world has left organizations struggling with traditional infrastructure, technologies, and information management. </a:t>
            </a:r>
            <a:r>
              <a:rPr lang="en-US" sz="1200" dirty="0" smtClean="0"/>
              <a:t>Information </a:t>
            </a:r>
            <a:r>
              <a:rPr lang="en-US" sz="1200" dirty="0"/>
              <a:t>producing devices such as sensors, tablets, and mobile phones continue to multiply, and such information sharing options represent a tremendous challenge to organizations looking to benefit by using traditional processing techniques. As a result, traditional approaches have come under </a:t>
            </a:r>
            <a:r>
              <a:rPr lang="en-US" sz="1200" dirty="0" smtClean="0"/>
              <a:t>pressure.</a:t>
            </a:r>
            <a:endParaRPr lang="en-US" sz="1200" dirty="0"/>
          </a:p>
          <a:p>
            <a:pPr marL="0" indent="0">
              <a:buNone/>
            </a:pPr>
            <a:r>
              <a:rPr lang="en-US" sz="1200" b="1" dirty="0">
                <a:solidFill>
                  <a:schemeClr val="accent6"/>
                </a:solidFill>
              </a:rPr>
              <a:t>C</a:t>
            </a:r>
            <a:r>
              <a:rPr lang="en-US" sz="1200" b="1" dirty="0" smtClean="0">
                <a:solidFill>
                  <a:schemeClr val="accent6"/>
                </a:solidFill>
              </a:rPr>
              <a:t>hallenges </a:t>
            </a:r>
            <a:r>
              <a:rPr lang="en-US" sz="1200" b="1" dirty="0">
                <a:solidFill>
                  <a:schemeClr val="accent6"/>
                </a:solidFill>
              </a:rPr>
              <a:t>adopting Big Data include:</a:t>
            </a:r>
            <a:endParaRPr lang="en-US" sz="1200" dirty="0">
              <a:solidFill>
                <a:schemeClr val="accent6"/>
              </a:solidFill>
            </a:endParaRPr>
          </a:p>
          <a:p>
            <a:pPr>
              <a:spcBef>
                <a:spcPts val="600"/>
              </a:spcBef>
              <a:buSzPct val="100000"/>
            </a:pPr>
            <a:r>
              <a:rPr lang="en-US" sz="1200" dirty="0"/>
              <a:t>Relational approaches are not optimum when dealing with a lack of structure, speed of processing at scale, and associated cost.</a:t>
            </a:r>
          </a:p>
          <a:p>
            <a:pPr marL="0" indent="0">
              <a:buNone/>
            </a:pPr>
            <a:r>
              <a:rPr lang="en-US" sz="1200" dirty="0"/>
              <a:t/>
            </a:r>
            <a:br>
              <a:rPr lang="en-US" sz="1200" dirty="0"/>
            </a:br>
            <a:r>
              <a:rPr lang="en-US" sz="1200" dirty="0"/>
              <a:t> </a:t>
            </a:r>
            <a:br>
              <a:rPr lang="en-US" sz="1200" dirty="0"/>
            </a:br>
            <a:endParaRPr lang="en-US" sz="1200"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2664" y="1371600"/>
            <a:ext cx="3571875" cy="2381250"/>
          </a:xfrm>
          <a:prstGeom prst="rect">
            <a:avLst/>
          </a:prstGeom>
        </p:spPr>
      </p:pic>
      <p:sp>
        <p:nvSpPr>
          <p:cNvPr id="8" name="Rectangle 7"/>
          <p:cNvSpPr/>
          <p:nvPr/>
        </p:nvSpPr>
        <p:spPr>
          <a:xfrm>
            <a:off x="381793" y="3860103"/>
            <a:ext cx="8489252" cy="2354491"/>
          </a:xfrm>
          <a:prstGeom prst="rect">
            <a:avLst/>
          </a:prstGeom>
        </p:spPr>
        <p:txBody>
          <a:bodyPr wrap="square">
            <a:spAutoFit/>
          </a:bodyPr>
          <a:lstStyle/>
          <a:p>
            <a:pPr marL="171450" indent="-171450">
              <a:spcBef>
                <a:spcPts val="600"/>
              </a:spcBef>
              <a:buFont typeface="Arial" panose="020B0604020202020204" pitchFamily="34" charset="0"/>
              <a:buChar char="•"/>
            </a:pPr>
            <a:r>
              <a:rPr lang="en-US" sz="1200" dirty="0"/>
              <a:t>Data visualization and analytics resources are not able to deal with the right representations and insights that users can efficiently discover from Big Data.</a:t>
            </a:r>
          </a:p>
          <a:p>
            <a:pPr marL="171450" indent="-171450">
              <a:spcBef>
                <a:spcPts val="600"/>
              </a:spcBef>
              <a:buFont typeface="Arial" panose="020B0604020202020204" pitchFamily="34" charset="0"/>
              <a:buChar char="•"/>
            </a:pPr>
            <a:r>
              <a:rPr lang="en-US" sz="1200" dirty="0"/>
              <a:t>Traditional information governance and management practices cannot cope with the characteristics of Big Data.</a:t>
            </a:r>
          </a:p>
          <a:p>
            <a:pPr marL="171450" indent="-171450">
              <a:spcBef>
                <a:spcPts val="600"/>
              </a:spcBef>
              <a:buFont typeface="Arial" panose="020B0604020202020204" pitchFamily="34" charset="0"/>
              <a:buChar char="•"/>
            </a:pPr>
            <a:r>
              <a:rPr lang="en-US" sz="1200" dirty="0"/>
              <a:t>Many organizations lack the necessary architecture, analytics skills, and talents to benefit from the shift.</a:t>
            </a:r>
          </a:p>
          <a:p>
            <a:pPr marL="171450" indent="-171450">
              <a:spcBef>
                <a:spcPts val="600"/>
              </a:spcBef>
              <a:buFont typeface="Arial" panose="020B0604020202020204" pitchFamily="34" charset="0"/>
              <a:buChar char="•"/>
            </a:pPr>
            <a:r>
              <a:rPr lang="en-US" sz="1200" dirty="0"/>
              <a:t>Application silos create a handicap in effectively enabling business with comprehensive information. </a:t>
            </a:r>
          </a:p>
          <a:p>
            <a:pPr marL="0" indent="0">
              <a:buNone/>
            </a:pPr>
            <a:r>
              <a:rPr lang="en-US" sz="1200" dirty="0"/>
              <a:t/>
            </a:r>
            <a:br>
              <a:rPr lang="en-US" sz="1200" dirty="0"/>
            </a:br>
            <a:r>
              <a:rPr lang="en-US" sz="1200" dirty="0"/>
              <a:t>The economics of data are based on the idea that value can be extracted through analytics. Big Data is changing the way analytics were commonly viewed, from data mining to Advanced Analytics. It is also important to note that Big Data Analytics and Business Intelligence are related, but they aren’t the same. Big Data Analytics is not another BI initiative, rather it builds upon existing BI. Big Data Analytics is about extracting valuable insight from data, not about transforming data into information through dashboards and reports.</a:t>
            </a:r>
          </a:p>
        </p:txBody>
      </p:sp>
      <p:sp>
        <p:nvSpPr>
          <p:cNvPr id="9"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10"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20</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1516580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2.8 Big Data Barriers (1/3)</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As more and more organizations leverage Big Data, we need to understand the barriers that potentially inhibit adoption when not addressed properly. All of the terms below are indications for why a company needs to be data-driven. Large doesn't have to mean </a:t>
            </a:r>
            <a:r>
              <a:rPr lang="en-US" sz="1200" dirty="0" smtClean="0"/>
              <a:t>size, it </a:t>
            </a:r>
            <a:r>
              <a:rPr lang="en-US" sz="1200" dirty="0"/>
              <a:t>doesn't need to just be unstructured </a:t>
            </a:r>
            <a:r>
              <a:rPr lang="en-US" sz="1200" dirty="0" smtClean="0"/>
              <a:t>data, and value </a:t>
            </a:r>
            <a:r>
              <a:rPr lang="en-US" sz="1200" dirty="0"/>
              <a:t>isn't only in social media data. The value is in the data itself and how it can be combined with other data to drive insights in everything from customer experience to improved supply chain operations.</a:t>
            </a:r>
          </a:p>
        </p:txBody>
      </p:sp>
      <p:graphicFrame>
        <p:nvGraphicFramePr>
          <p:cNvPr id="6" name="Table 5"/>
          <p:cNvGraphicFramePr>
            <a:graphicFrameLocks noGrp="1"/>
          </p:cNvGraphicFramePr>
          <p:nvPr>
            <p:extLst>
              <p:ext uri="{D42A27DB-BD31-4B8C-83A1-F6EECF244321}">
                <p14:modId xmlns:p14="http://schemas.microsoft.com/office/powerpoint/2010/main" val="111774628"/>
              </p:ext>
            </p:extLst>
          </p:nvPr>
        </p:nvGraphicFramePr>
        <p:xfrm>
          <a:off x="455611" y="2560064"/>
          <a:ext cx="8232776" cy="3657600"/>
        </p:xfrm>
        <a:graphic>
          <a:graphicData uri="http://schemas.openxmlformats.org/drawingml/2006/table">
            <a:tbl>
              <a:tblPr firstRow="1" bandRow="1">
                <a:tableStyleId>{21E4AEA4-8DFA-4A89-87EB-49C32662AFE0}</a:tableStyleId>
              </a:tblPr>
              <a:tblGrid>
                <a:gridCol w="1925639"/>
                <a:gridCol w="6307137"/>
              </a:tblGrid>
              <a:tr h="370840">
                <a:tc>
                  <a:txBody>
                    <a:bodyPr/>
                    <a:lstStyle/>
                    <a:p>
                      <a:pPr algn="l"/>
                      <a:r>
                        <a:rPr lang="en-US" dirty="0" smtClean="0"/>
                        <a:t>Data Policies</a:t>
                      </a:r>
                      <a:endParaRPr lang="en-US" dirty="0"/>
                    </a:p>
                  </a:txBody>
                  <a:tcPr/>
                </a:tc>
                <a:tc>
                  <a:txBody>
                    <a:bodyPr/>
                    <a:lstStyle/>
                    <a:p>
                      <a:r>
                        <a:rPr lang="en-US" sz="1200" b="0" dirty="0" smtClean="0">
                          <a:solidFill>
                            <a:schemeClr val="tx1"/>
                          </a:solidFill>
                        </a:rPr>
                        <a:t>Data policy barriers are caused by concerns around privacy, liability, sensitivity, and intellectual</a:t>
                      </a:r>
                      <a:r>
                        <a:rPr lang="en-US" sz="1200" b="0" baseline="0" dirty="0" smtClean="0">
                          <a:solidFill>
                            <a:schemeClr val="tx1"/>
                          </a:solidFill>
                        </a:rPr>
                        <a:t> property</a:t>
                      </a:r>
                      <a:r>
                        <a:rPr lang="en-US" sz="1200" b="0" dirty="0" smtClean="0">
                          <a:solidFill>
                            <a:schemeClr val="tx1"/>
                          </a:solidFill>
                        </a:rPr>
                        <a:t>.</a:t>
                      </a:r>
                    </a:p>
                    <a:p>
                      <a:r>
                        <a:rPr lang="en-US" sz="1200" b="0" dirty="0" smtClean="0">
                          <a:solidFill>
                            <a:schemeClr val="tx1"/>
                          </a:solidFill>
                        </a:rPr>
                        <a:t> </a:t>
                      </a:r>
                    </a:p>
                    <a:p>
                      <a:r>
                        <a:rPr lang="en-US" sz="1200" b="0" dirty="0" smtClean="0">
                          <a:solidFill>
                            <a:schemeClr val="tx1"/>
                          </a:solidFill>
                        </a:rPr>
                        <a:t>Data privacy is an ever-growing issue—particularly with consumers—as more and more contextual data becomes available for use. Unless privacy issues are understood and compliance policies are established and ratified, organizations may remain conservative in leveraging the full potential of Big Data.</a:t>
                      </a:r>
                    </a:p>
                    <a:p>
                      <a:r>
                        <a:rPr lang="en-US" sz="1200" b="0" dirty="0" smtClean="0">
                          <a:solidFill>
                            <a:schemeClr val="tx1"/>
                          </a:solidFill>
                        </a:rPr>
                        <a:t> </a:t>
                      </a:r>
                    </a:p>
                    <a:p>
                      <a:r>
                        <a:rPr lang="en-US" sz="1200" b="0" dirty="0" smtClean="0">
                          <a:solidFill>
                            <a:schemeClr val="tx1"/>
                          </a:solidFill>
                        </a:rPr>
                        <a:t>There are also security concerns at this scale driven by the need to protect sensitive information hidden in Big Data. Intellectual properties associated with data, ownership issues, and consequences due to data inaccuracies and associated liabilities all need to be thought through before mainstream adoption.</a:t>
                      </a:r>
                      <a:endParaRPr lang="en-US" sz="1200" b="0" dirty="0">
                        <a:solidFill>
                          <a:schemeClr val="tx1"/>
                        </a:solidFill>
                      </a:endParaRPr>
                    </a:p>
                  </a:txBody>
                  <a:tcPr>
                    <a:solidFill>
                      <a:schemeClr val="bg1">
                        <a:lumMod val="95000"/>
                      </a:schemeClr>
                    </a:solidFill>
                  </a:tcPr>
                </a:tc>
              </a:tr>
              <a:tr h="370840">
                <a:tc>
                  <a:txBody>
                    <a:bodyPr/>
                    <a:lstStyle/>
                    <a:p>
                      <a:pPr algn="l"/>
                      <a:r>
                        <a:rPr lang="en-US" b="1" dirty="0" smtClean="0">
                          <a:solidFill>
                            <a:schemeClr val="bg1"/>
                          </a:solidFill>
                        </a:rPr>
                        <a:t>Skills</a:t>
                      </a:r>
                      <a:endParaRPr lang="en-US" b="1" dirty="0">
                        <a:solidFill>
                          <a:schemeClr val="bg1"/>
                        </a:solidFill>
                      </a:endParaRPr>
                    </a:p>
                  </a:txBody>
                  <a:tcPr>
                    <a:solidFill>
                      <a:schemeClr val="accent2"/>
                    </a:solidFill>
                  </a:tcPr>
                </a:tc>
                <a:tc>
                  <a:txBody>
                    <a:bodyPr/>
                    <a:lstStyle/>
                    <a:p>
                      <a:r>
                        <a:rPr lang="en-US" sz="1200" dirty="0" smtClean="0">
                          <a:solidFill>
                            <a:schemeClr val="tx1"/>
                          </a:solidFill>
                        </a:rPr>
                        <a:t>A lack of skills to support data science, visualization, and solution development create a significant barrier to the adoption of Big Data.</a:t>
                      </a:r>
                    </a:p>
                    <a:p>
                      <a:r>
                        <a:rPr lang="en-US" sz="1200" dirty="0" smtClean="0">
                          <a:solidFill>
                            <a:schemeClr val="tx1"/>
                          </a:solidFill>
                        </a:rPr>
                        <a:t> </a:t>
                      </a:r>
                    </a:p>
                    <a:p>
                      <a:r>
                        <a:rPr lang="en-US" sz="1200" dirty="0" smtClean="0">
                          <a:solidFill>
                            <a:schemeClr val="tx1"/>
                          </a:solidFill>
                        </a:rPr>
                        <a:t>Growing innovation and computing efficiencies lead to the introduction of new analytical techniques and solutions; however, many organizations do not have the talent to drive this innovation, the ability to architect solutions, or the resources to analyze data to produce actionable insights. </a:t>
                      </a:r>
                      <a:endParaRPr lang="en-US" sz="1200" dirty="0">
                        <a:solidFill>
                          <a:schemeClr val="tx1"/>
                        </a:solidFill>
                      </a:endParaRPr>
                    </a:p>
                  </a:txBody>
                  <a:tcPr>
                    <a:solidFill>
                      <a:schemeClr val="bg1">
                        <a:lumMod val="95000"/>
                      </a:schemeClr>
                    </a:solidFill>
                  </a:tcPr>
                </a:tc>
              </a:tr>
            </a:tbl>
          </a:graphicData>
        </a:graphic>
      </p:graphicFrame>
      <p:sp>
        <p:nvSpPr>
          <p:cNvPr id="7"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8"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21</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91401086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2.8 Big Data Barriers (2/3)</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88848848"/>
              </p:ext>
            </p:extLst>
          </p:nvPr>
        </p:nvGraphicFramePr>
        <p:xfrm>
          <a:off x="457200" y="1371600"/>
          <a:ext cx="8232776" cy="4937760"/>
        </p:xfrm>
        <a:graphic>
          <a:graphicData uri="http://schemas.openxmlformats.org/drawingml/2006/table">
            <a:tbl>
              <a:tblPr firstRow="1" bandRow="1">
                <a:tableStyleId>{21E4AEA4-8DFA-4A89-87EB-49C32662AFE0}</a:tableStyleId>
              </a:tblPr>
              <a:tblGrid>
                <a:gridCol w="1925639"/>
                <a:gridCol w="6307137"/>
              </a:tblGrid>
              <a:tr h="370840">
                <a:tc>
                  <a:txBody>
                    <a:bodyPr/>
                    <a:lstStyle/>
                    <a:p>
                      <a:pPr algn="l"/>
                      <a:r>
                        <a:rPr lang="en-US" b="1" dirty="0" smtClean="0">
                          <a:solidFill>
                            <a:schemeClr val="bg1"/>
                          </a:solidFill>
                        </a:rPr>
                        <a:t>Tools and Technologies</a:t>
                      </a:r>
                      <a:endParaRPr lang="en-US" b="1" dirty="0">
                        <a:solidFill>
                          <a:schemeClr val="bg1"/>
                        </a:solidFill>
                      </a:endParaRPr>
                    </a:p>
                  </a:txBody>
                  <a:tcPr>
                    <a:solidFill>
                      <a:schemeClr val="accent2"/>
                    </a:solidFill>
                  </a:tcPr>
                </a:tc>
                <a:tc>
                  <a:txBody>
                    <a:bodyPr/>
                    <a:lstStyle/>
                    <a:p>
                      <a:r>
                        <a:rPr lang="en-US" sz="1200" b="0" i="0" kern="1200" dirty="0" smtClean="0">
                          <a:solidFill>
                            <a:schemeClr val="dk1"/>
                          </a:solidFill>
                          <a:effectLst/>
                          <a:latin typeface="+mn-lt"/>
                          <a:ea typeface="+mn-ea"/>
                          <a:cs typeface="+mn-cs"/>
                        </a:rPr>
                        <a:t>Big Data requires the right tools and technologies to converge architectures for compatibility and to ensure successful integration.</a:t>
                      </a:r>
                      <a:r>
                        <a:rPr lang="en-US" sz="1200" dirty="0" smtClean="0"/>
                        <a:t/>
                      </a:r>
                      <a:br>
                        <a:rPr lang="en-US" sz="1200" dirty="0" smtClean="0"/>
                      </a:br>
                      <a:r>
                        <a:rPr lang="en-US" sz="1200" b="0" i="0" kern="1200" dirty="0" smtClean="0">
                          <a:solidFill>
                            <a:schemeClr val="dk1"/>
                          </a:solidFill>
                          <a:effectLst/>
                          <a:latin typeface="+mn-lt"/>
                          <a:ea typeface="+mn-ea"/>
                          <a:cs typeface="+mn-cs"/>
                        </a:rPr>
                        <a:t> </a:t>
                      </a:r>
                      <a:r>
                        <a:rPr lang="en-US" sz="1200" dirty="0" smtClean="0"/>
                        <a:t/>
                      </a:r>
                      <a:br>
                        <a:rPr lang="en-US" sz="1200" dirty="0" smtClean="0"/>
                      </a:br>
                      <a:r>
                        <a:rPr lang="en-US" sz="1200" b="0" i="0" kern="1200" dirty="0" smtClean="0">
                          <a:solidFill>
                            <a:schemeClr val="dk1"/>
                          </a:solidFill>
                          <a:effectLst/>
                          <a:latin typeface="+mn-lt"/>
                          <a:ea typeface="+mn-ea"/>
                          <a:cs typeface="+mn-cs"/>
                        </a:rPr>
                        <a:t>To gain the most out of Big Data, some new and emerging technologies need to be deployed. Traditional technologies should be evaluated for potential co-existence solutions. This is not an easy process and it depends a great deal on how mature an organization is in dealing with new technologies and converging them with existing ones. </a:t>
                      </a:r>
                      <a:endParaRPr lang="en-US" sz="1200" dirty="0">
                        <a:solidFill>
                          <a:schemeClr val="tx1"/>
                        </a:solidFill>
                      </a:endParaRPr>
                    </a:p>
                  </a:txBody>
                  <a:tcPr>
                    <a:solidFill>
                      <a:schemeClr val="bg1">
                        <a:lumMod val="95000"/>
                      </a:schemeClr>
                    </a:solidFill>
                  </a:tcPr>
                </a:tc>
              </a:tr>
              <a:tr h="370840">
                <a:tc>
                  <a:txBody>
                    <a:bodyPr/>
                    <a:lstStyle/>
                    <a:p>
                      <a:pPr algn="l"/>
                      <a:r>
                        <a:rPr lang="en-US" b="1" dirty="0" smtClean="0">
                          <a:solidFill>
                            <a:schemeClr val="bg1"/>
                          </a:solidFill>
                        </a:rPr>
                        <a:t>Big Data</a:t>
                      </a:r>
                      <a:r>
                        <a:rPr lang="en-US" b="1" baseline="0" dirty="0" smtClean="0">
                          <a:solidFill>
                            <a:schemeClr val="bg1"/>
                          </a:solidFill>
                        </a:rPr>
                        <a:t> Myths</a:t>
                      </a:r>
                      <a:endParaRPr lang="en-US" b="1" dirty="0">
                        <a:solidFill>
                          <a:schemeClr val="bg1"/>
                        </a:solidFill>
                      </a:endParaRPr>
                    </a:p>
                  </a:txBody>
                  <a:tcPr>
                    <a:solidFill>
                      <a:schemeClr val="accent2"/>
                    </a:solidFill>
                  </a:tcPr>
                </a:tc>
                <a:tc>
                  <a:txBody>
                    <a:bodyPr/>
                    <a:lstStyle/>
                    <a:p>
                      <a:r>
                        <a:rPr lang="en-US" sz="1200" dirty="0" smtClean="0">
                          <a:solidFill>
                            <a:schemeClr val="tx1"/>
                          </a:solidFill>
                        </a:rPr>
                        <a:t>Data access and availability, ownership, and data quality are all potential barriers to Big Data adoption.</a:t>
                      </a:r>
                    </a:p>
                    <a:p>
                      <a:r>
                        <a:rPr lang="en-US" sz="1200" dirty="0" smtClean="0">
                          <a:solidFill>
                            <a:schemeClr val="tx1"/>
                          </a:solidFill>
                        </a:rPr>
                        <a:t> </a:t>
                      </a:r>
                    </a:p>
                    <a:p>
                      <a:r>
                        <a:rPr lang="en-US" sz="1200" dirty="0" smtClean="0">
                          <a:solidFill>
                            <a:schemeClr val="tx1"/>
                          </a:solidFill>
                        </a:rPr>
                        <a:t>Information management and governance processes and approaches need to be re-examined for appropriateness in the context of Big Data. Common Big Data myths need to be well understood to stay on the right track while dealing with these challenges.</a:t>
                      </a:r>
                    </a:p>
                    <a:p>
                      <a:r>
                        <a:rPr lang="en-US" sz="1200" dirty="0" smtClean="0">
                          <a:solidFill>
                            <a:schemeClr val="tx1"/>
                          </a:solidFill>
                        </a:rPr>
                        <a:t> </a:t>
                      </a:r>
                    </a:p>
                    <a:p>
                      <a:r>
                        <a:rPr lang="en-US" sz="1200" b="1" dirty="0" smtClean="0">
                          <a:solidFill>
                            <a:schemeClr val="tx1"/>
                          </a:solidFill>
                        </a:rPr>
                        <a:t>These myths include:</a:t>
                      </a:r>
                    </a:p>
                    <a:p>
                      <a:pPr marL="171450" indent="-171450">
                        <a:buFont typeface="Arial" panose="020B0604020202020204" pitchFamily="34" charset="0"/>
                        <a:buChar char="•"/>
                      </a:pPr>
                      <a:r>
                        <a:rPr lang="en-US" sz="1200" dirty="0" smtClean="0">
                          <a:solidFill>
                            <a:schemeClr val="tx1"/>
                          </a:solidFill>
                        </a:rPr>
                        <a:t>Big Data is just about unstructured data.</a:t>
                      </a:r>
                    </a:p>
                    <a:p>
                      <a:pPr marL="171450" indent="-171450">
                        <a:buFont typeface="Arial" panose="020B0604020202020204" pitchFamily="34" charset="0"/>
                        <a:buChar char="•"/>
                      </a:pPr>
                      <a:r>
                        <a:rPr lang="en-US" sz="1200" dirty="0" smtClean="0">
                          <a:solidFill>
                            <a:schemeClr val="tx1"/>
                          </a:solidFill>
                        </a:rPr>
                        <a:t>Big Data adoption is only necessary to handle huge volumes of data.</a:t>
                      </a:r>
                    </a:p>
                    <a:p>
                      <a:pPr marL="171450" indent="-171450">
                        <a:buFont typeface="Arial" panose="020B0604020202020204" pitchFamily="34" charset="0"/>
                        <a:buChar char="•"/>
                      </a:pPr>
                      <a:r>
                        <a:rPr lang="en-US" sz="1200" dirty="0" smtClean="0">
                          <a:solidFill>
                            <a:schemeClr val="tx1"/>
                          </a:solidFill>
                        </a:rPr>
                        <a:t>Big Data is an IT problem.</a:t>
                      </a:r>
                    </a:p>
                    <a:p>
                      <a:pPr marL="171450" indent="-171450">
                        <a:buFont typeface="Arial" panose="020B0604020202020204" pitchFamily="34" charset="0"/>
                        <a:buChar char="•"/>
                      </a:pPr>
                      <a:r>
                        <a:rPr lang="en-US" sz="1200" dirty="0" smtClean="0">
                          <a:solidFill>
                            <a:schemeClr val="tx1"/>
                          </a:solidFill>
                        </a:rPr>
                        <a:t>Big Data is only for internet companies.</a:t>
                      </a:r>
                    </a:p>
                    <a:p>
                      <a:pPr marL="171450" indent="-171450">
                        <a:buFont typeface="Arial" panose="020B0604020202020204" pitchFamily="34" charset="0"/>
                        <a:buChar char="•"/>
                      </a:pPr>
                      <a:r>
                        <a:rPr lang="en-US" sz="1200" dirty="0" smtClean="0">
                          <a:solidFill>
                            <a:schemeClr val="tx1"/>
                          </a:solidFill>
                        </a:rPr>
                        <a:t>Big Data eliminates the need for RDBMS.</a:t>
                      </a:r>
                    </a:p>
                    <a:p>
                      <a:pPr marL="171450" indent="-171450">
                        <a:buFont typeface="Arial" panose="020B0604020202020204" pitchFamily="34" charset="0"/>
                        <a:buChar char="•"/>
                      </a:pPr>
                      <a:r>
                        <a:rPr lang="en-US" sz="1200" dirty="0" smtClean="0">
                          <a:solidFill>
                            <a:schemeClr val="tx1"/>
                          </a:solidFill>
                        </a:rPr>
                        <a:t>Big Data is all about data scientists. </a:t>
                      </a:r>
                    </a:p>
                    <a:p>
                      <a:endParaRPr lang="en-US" sz="1200" dirty="0" smtClean="0">
                        <a:solidFill>
                          <a:schemeClr val="tx1"/>
                        </a:solidFill>
                      </a:endParaRPr>
                    </a:p>
                    <a:p>
                      <a:r>
                        <a:rPr lang="en-US" sz="1200" dirty="0" smtClean="0">
                          <a:solidFill>
                            <a:schemeClr val="tx1"/>
                          </a:solidFill>
                        </a:rPr>
                        <a:t>The truth is Big Data is not just about data without a traditional relational structure. It is also not just about the volume. The challenge is that data is coming from so many different places. Clients will ask, “Do I need it? Is it valuable? How do I combine it with data I already have?”</a:t>
                      </a:r>
                    </a:p>
                  </a:txBody>
                  <a:tcPr>
                    <a:solidFill>
                      <a:schemeClr val="bg1">
                        <a:lumMod val="95000"/>
                      </a:schemeClr>
                    </a:solidFill>
                  </a:tcPr>
                </a:tc>
              </a:tr>
            </a:tbl>
          </a:graphicData>
        </a:graphic>
      </p:graphicFrame>
      <p:sp>
        <p:nvSpPr>
          <p:cNvPr id="5"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22</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1396027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2.8 Big Data Barriers (3/3)</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177167534"/>
              </p:ext>
            </p:extLst>
          </p:nvPr>
        </p:nvGraphicFramePr>
        <p:xfrm>
          <a:off x="455611" y="1371600"/>
          <a:ext cx="8232776" cy="822960"/>
        </p:xfrm>
        <a:graphic>
          <a:graphicData uri="http://schemas.openxmlformats.org/drawingml/2006/table">
            <a:tbl>
              <a:tblPr firstRow="1" bandRow="1">
                <a:tableStyleId>{21E4AEA4-8DFA-4A89-87EB-49C32662AFE0}</a:tableStyleId>
              </a:tblPr>
              <a:tblGrid>
                <a:gridCol w="1925639"/>
                <a:gridCol w="6307137"/>
              </a:tblGrid>
              <a:tr h="370840">
                <a:tc>
                  <a:txBody>
                    <a:bodyPr/>
                    <a:lstStyle/>
                    <a:p>
                      <a:pPr algn="l"/>
                      <a:r>
                        <a:rPr lang="en-US" b="1" dirty="0" smtClean="0">
                          <a:solidFill>
                            <a:schemeClr val="bg1"/>
                          </a:solidFill>
                        </a:rPr>
                        <a:t>Organizational</a:t>
                      </a:r>
                      <a:r>
                        <a:rPr lang="en-US" b="1" baseline="0" dirty="0" smtClean="0">
                          <a:solidFill>
                            <a:schemeClr val="bg1"/>
                          </a:solidFill>
                        </a:rPr>
                        <a:t> Change</a:t>
                      </a:r>
                      <a:endParaRPr lang="en-US" b="1" dirty="0">
                        <a:solidFill>
                          <a:schemeClr val="bg1"/>
                        </a:solidFill>
                      </a:endParaRPr>
                    </a:p>
                  </a:txBody>
                  <a:tcPr>
                    <a:solidFill>
                      <a:schemeClr val="accent2"/>
                    </a:solidFill>
                  </a:tcPr>
                </a:tc>
                <a:tc>
                  <a:txBody>
                    <a:bodyPr/>
                    <a:lstStyle/>
                    <a:p>
                      <a:r>
                        <a:rPr lang="en-US" sz="1200" b="0" i="0" kern="1200" dirty="0" smtClean="0">
                          <a:solidFill>
                            <a:schemeClr val="dk1"/>
                          </a:solidFill>
                          <a:effectLst/>
                          <a:latin typeface="+mn-lt"/>
                          <a:ea typeface="+mn-ea"/>
                          <a:cs typeface="+mn-cs"/>
                        </a:rPr>
                        <a:t>Big Data is about driving organizations to be data-centric, to provide incentives, and to promote sharing and collaboration. Internal policies that reflect guidelines for antiquated technologies can be in stark contrast to the nature of uses for Big Data, such as using open source tools, moving data into the cloud, security measures, etc.</a:t>
                      </a:r>
                      <a:endParaRPr lang="en-US" sz="1200" dirty="0">
                        <a:solidFill>
                          <a:schemeClr val="tx1"/>
                        </a:solidFill>
                      </a:endParaRPr>
                    </a:p>
                  </a:txBody>
                  <a:tcPr>
                    <a:solidFill>
                      <a:schemeClr val="bg1">
                        <a:lumMod val="95000"/>
                      </a:schemeClr>
                    </a:solidFill>
                  </a:tcPr>
                </a:tc>
              </a:tr>
            </a:tbl>
          </a:graphicData>
        </a:graphic>
      </p:graphicFrame>
      <p:sp>
        <p:nvSpPr>
          <p:cNvPr id="5"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23</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561550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2.9 Potential Value of Big Data</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What benefits can Big Data really bring? Can Big Data create measurable value to the enterprise? The answer is yes! The data has always been a part of the impact to an enterprise. Now the scale and scope of value that data can bring has expanded as the availability of data converges with the ability to harness it and the ability to afford to do so. Big Data provides significant potential to boost the operational efficiency and innovation in an enterprise at a time of economic constraints and steep competition. </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387" y="2676525"/>
            <a:ext cx="8277225" cy="3333750"/>
          </a:xfrm>
          <a:prstGeom prst="rect">
            <a:avLst/>
          </a:prstGeom>
        </p:spPr>
      </p:pic>
      <p:sp>
        <p:nvSpPr>
          <p:cNvPr id="6"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24</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9187312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2.10 Checkpoint</a:t>
            </a:r>
            <a:endParaRPr lang="en-US" dirty="0"/>
          </a:p>
        </p:txBody>
      </p:sp>
      <p:sp>
        <p:nvSpPr>
          <p:cNvPr id="6" name="Content Placeholder 5"/>
          <p:cNvSpPr>
            <a:spLocks noGrp="1"/>
          </p:cNvSpPr>
          <p:nvPr>
            <p:ph sz="quarter" idx="14"/>
          </p:nvPr>
        </p:nvSpPr>
        <p:spPr>
          <a:xfrm>
            <a:off x="455613" y="1371600"/>
            <a:ext cx="8232775" cy="5335150"/>
          </a:xfrm>
        </p:spPr>
        <p:txBody>
          <a:bodyPr/>
          <a:lstStyle/>
          <a:p>
            <a:pPr marL="0" indent="0">
              <a:buNone/>
            </a:pPr>
            <a:r>
              <a:rPr lang="en-US" sz="1200" dirty="0" smtClean="0"/>
              <a:t>Which of the following statements about Big Data are correct?</a:t>
            </a:r>
          </a:p>
          <a:p>
            <a:pPr marL="0" indent="0">
              <a:buNone/>
            </a:pPr>
            <a:r>
              <a:rPr lang="en-US" sz="1200" b="1" i="1" dirty="0" smtClean="0">
                <a:solidFill>
                  <a:schemeClr val="accent2"/>
                </a:solidFill>
              </a:rPr>
              <a:t>Select </a:t>
            </a:r>
            <a:r>
              <a:rPr lang="en-US" sz="1200" b="1" i="1" dirty="0">
                <a:solidFill>
                  <a:schemeClr val="accent2"/>
                </a:solidFill>
              </a:rPr>
              <a:t>all that apply, and click or tap the Submit button. There will be more than one correct answer</a:t>
            </a:r>
            <a:r>
              <a:rPr lang="en-US" sz="1200" b="1" i="1" dirty="0" smtClean="0">
                <a:solidFill>
                  <a:schemeClr val="accent2"/>
                </a:solidFill>
              </a:rPr>
              <a:t>.</a:t>
            </a:r>
          </a:p>
          <a:p>
            <a:pPr marL="0" indent="0">
              <a:buNone/>
            </a:pPr>
            <a:endParaRPr lang="en-US" sz="1200" b="1" i="1" dirty="0">
              <a:solidFill>
                <a:schemeClr val="accent2"/>
              </a:solidFill>
            </a:endParaRPr>
          </a:p>
          <a:p>
            <a:pPr lvl="0">
              <a:buFont typeface="+mj-lt"/>
              <a:buAutoNum type="alphaLcParenR"/>
            </a:pPr>
            <a:r>
              <a:rPr lang="en-US" sz="1200" dirty="0"/>
              <a:t>Big Data is just about unstructured data</a:t>
            </a:r>
          </a:p>
          <a:p>
            <a:pPr lvl="0">
              <a:buFont typeface="+mj-lt"/>
              <a:buAutoNum type="alphaLcParenR"/>
            </a:pPr>
            <a:r>
              <a:rPr lang="en-US" sz="1200" dirty="0"/>
              <a:t>Big Data adoption is only necessary to handle huge volumes of </a:t>
            </a:r>
            <a:r>
              <a:rPr lang="en-US" sz="1200" dirty="0" smtClean="0"/>
              <a:t>data</a:t>
            </a:r>
            <a:endParaRPr lang="en-US" sz="1200" dirty="0"/>
          </a:p>
          <a:p>
            <a:pPr lvl="0">
              <a:buFont typeface="+mj-lt"/>
              <a:buAutoNum type="alphaLcParenR"/>
            </a:pPr>
            <a:r>
              <a:rPr lang="en-US" sz="1200" dirty="0"/>
              <a:t>Big Data are data sets so large or so complex that traditional methods of storing, accessing, and analyzing their </a:t>
            </a:r>
            <a:r>
              <a:rPr lang="en-US" sz="1200" dirty="0" smtClean="0"/>
              <a:t>breakdown </a:t>
            </a:r>
            <a:r>
              <a:rPr lang="en-US" sz="1200" dirty="0"/>
              <a:t>are too </a:t>
            </a:r>
            <a:r>
              <a:rPr lang="en-US" sz="1200" dirty="0" smtClean="0"/>
              <a:t>expensive</a:t>
            </a:r>
            <a:endParaRPr lang="en-US" sz="1200" dirty="0"/>
          </a:p>
          <a:p>
            <a:pPr lvl="0">
              <a:buFont typeface="+mj-lt"/>
              <a:buAutoNum type="alphaLcParenR"/>
            </a:pPr>
            <a:r>
              <a:rPr lang="en-US" sz="1200" dirty="0"/>
              <a:t>Big Data technologies and approaches are used to drive value out of data rich environments </a:t>
            </a:r>
          </a:p>
          <a:p>
            <a:pPr marL="228600" indent="-228600">
              <a:buFont typeface="+mj-lt"/>
              <a:buAutoNum type="alphaLcParenR"/>
            </a:pPr>
            <a:endParaRPr lang="en-US" sz="1200" dirty="0">
              <a:solidFill>
                <a:schemeClr val="accent2"/>
              </a:solidFill>
            </a:endParaRPr>
          </a:p>
        </p:txBody>
      </p:sp>
      <p:sp>
        <p:nvSpPr>
          <p:cNvPr id="7"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8"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25</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89737257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2.10 Checkpoint Answer</a:t>
            </a:r>
            <a:endParaRPr lang="en-US" dirty="0"/>
          </a:p>
        </p:txBody>
      </p:sp>
      <p:sp>
        <p:nvSpPr>
          <p:cNvPr id="6" name="Content Placeholder 5"/>
          <p:cNvSpPr>
            <a:spLocks noGrp="1"/>
          </p:cNvSpPr>
          <p:nvPr>
            <p:ph sz="quarter" idx="14"/>
          </p:nvPr>
        </p:nvSpPr>
        <p:spPr>
          <a:xfrm>
            <a:off x="455613" y="1371600"/>
            <a:ext cx="8232775" cy="5335150"/>
          </a:xfrm>
        </p:spPr>
        <p:txBody>
          <a:bodyPr/>
          <a:lstStyle/>
          <a:p>
            <a:pPr marL="0" indent="0">
              <a:buNone/>
            </a:pPr>
            <a:r>
              <a:rPr lang="en-US" sz="1200" dirty="0" smtClean="0"/>
              <a:t>Which of the following statements about Big Data are correct?</a:t>
            </a:r>
          </a:p>
          <a:p>
            <a:pPr marL="0" indent="0">
              <a:buNone/>
            </a:pPr>
            <a:r>
              <a:rPr lang="en-US" sz="1200" b="1" i="1" dirty="0" smtClean="0">
                <a:solidFill>
                  <a:schemeClr val="accent2"/>
                </a:solidFill>
              </a:rPr>
              <a:t>Select </a:t>
            </a:r>
            <a:r>
              <a:rPr lang="en-US" sz="1200" b="1" i="1" dirty="0">
                <a:solidFill>
                  <a:schemeClr val="accent2"/>
                </a:solidFill>
              </a:rPr>
              <a:t>all that apply, and click or tap the Submit button. There will be more than one correct answer</a:t>
            </a:r>
            <a:r>
              <a:rPr lang="en-US" sz="1200" b="1" i="1" dirty="0" smtClean="0">
                <a:solidFill>
                  <a:schemeClr val="accent2"/>
                </a:solidFill>
              </a:rPr>
              <a:t>.</a:t>
            </a:r>
          </a:p>
          <a:p>
            <a:pPr marL="0" indent="0">
              <a:buNone/>
            </a:pPr>
            <a:endParaRPr lang="en-US" sz="1200" b="1" i="1" dirty="0">
              <a:solidFill>
                <a:schemeClr val="accent2"/>
              </a:solidFill>
            </a:endParaRPr>
          </a:p>
          <a:p>
            <a:pPr lvl="0">
              <a:buFont typeface="+mj-lt"/>
              <a:buAutoNum type="alphaLcParenR"/>
            </a:pPr>
            <a:r>
              <a:rPr lang="en-US" sz="1200" dirty="0"/>
              <a:t>Big Data is just about unstructured data</a:t>
            </a:r>
          </a:p>
          <a:p>
            <a:pPr lvl="0">
              <a:buFont typeface="+mj-lt"/>
              <a:buAutoNum type="alphaLcParenR"/>
            </a:pPr>
            <a:r>
              <a:rPr lang="en-US" sz="1200" dirty="0"/>
              <a:t>Big Data adoption is only necessary to handle huge volumes of </a:t>
            </a:r>
            <a:r>
              <a:rPr lang="en-US" sz="1200" dirty="0" smtClean="0"/>
              <a:t>data</a:t>
            </a:r>
            <a:endParaRPr lang="en-US" sz="1200" dirty="0"/>
          </a:p>
          <a:p>
            <a:pPr lvl="0">
              <a:buFont typeface="+mj-lt"/>
              <a:buAutoNum type="alphaLcParenR"/>
            </a:pPr>
            <a:r>
              <a:rPr lang="en-US" sz="1200" b="1" dirty="0"/>
              <a:t>Big Data are data sets so large or so complex that traditional methods of storing, accessing, and analyzing their </a:t>
            </a:r>
            <a:r>
              <a:rPr lang="en-US" sz="1200" b="1" dirty="0" smtClean="0"/>
              <a:t>breakdown </a:t>
            </a:r>
            <a:r>
              <a:rPr lang="en-US" sz="1200" b="1" dirty="0"/>
              <a:t>are too </a:t>
            </a:r>
            <a:r>
              <a:rPr lang="en-US" sz="1200" b="1" dirty="0" smtClean="0"/>
              <a:t>expensive</a:t>
            </a:r>
            <a:endParaRPr lang="en-US" sz="1200" b="1" dirty="0"/>
          </a:p>
          <a:p>
            <a:pPr lvl="0">
              <a:buFont typeface="+mj-lt"/>
              <a:buAutoNum type="alphaLcParenR"/>
            </a:pPr>
            <a:r>
              <a:rPr lang="en-US" sz="1200" b="1" dirty="0"/>
              <a:t>Big Data technologies and approaches are used to drive value out of data rich environments </a:t>
            </a:r>
            <a:endParaRPr lang="en-US" sz="1200" b="1" dirty="0" smtClean="0"/>
          </a:p>
          <a:p>
            <a:pPr marL="0" lvl="0" indent="0">
              <a:buNone/>
            </a:pPr>
            <a:endParaRPr lang="en-US" sz="1200" b="1" dirty="0"/>
          </a:p>
          <a:p>
            <a:pPr marL="0" indent="0">
              <a:buNone/>
            </a:pPr>
            <a:r>
              <a:rPr lang="en-US" sz="1200" i="1" dirty="0"/>
              <a:t>The correct answers are C and D.</a:t>
            </a:r>
          </a:p>
          <a:p>
            <a:pPr marL="0" indent="0">
              <a:buNone/>
            </a:pPr>
            <a:endParaRPr lang="en-US" sz="1200" i="1" dirty="0"/>
          </a:p>
          <a:p>
            <a:pPr marL="0" indent="0">
              <a:buNone/>
            </a:pPr>
            <a:r>
              <a:rPr lang="en-US" sz="1200" i="1" dirty="0"/>
              <a:t>Big Data is not just about data without a traditional relational structure, and it is not just about the volume. Big Data are data sets so large or so complex that traditional methods of storing, accessing, and analyzing their </a:t>
            </a:r>
            <a:r>
              <a:rPr lang="en-US" sz="1200" i="1" dirty="0" smtClean="0"/>
              <a:t>breakdown </a:t>
            </a:r>
            <a:r>
              <a:rPr lang="en-US" sz="1200" i="1" dirty="0"/>
              <a:t>are too expensive. However, there is a lot of potential value hidden in this data, so organizations are eager to harness it to drive innovation and competitive advantage. Big Data technologies and approaches are used to drive value out of data rich environments in ways that traditional analytics tools and methods cannot.</a:t>
            </a:r>
          </a:p>
          <a:p>
            <a:pPr lvl="0">
              <a:buFont typeface="+mj-lt"/>
              <a:buAutoNum type="alphaLcParenR"/>
            </a:pPr>
            <a:endParaRPr lang="en-US" sz="1200" dirty="0"/>
          </a:p>
          <a:p>
            <a:pPr marL="228600" indent="-228600">
              <a:buFont typeface="+mj-lt"/>
              <a:buAutoNum type="alphaLcParenR"/>
            </a:pPr>
            <a:endParaRPr lang="en-US" sz="1200" dirty="0">
              <a:solidFill>
                <a:schemeClr val="accent2"/>
              </a:solidFill>
            </a:endParaRPr>
          </a:p>
        </p:txBody>
      </p:sp>
      <p:sp>
        <p:nvSpPr>
          <p:cNvPr id="7"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8"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26</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7600479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2.11 Big Data Use Cases</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Big Data </a:t>
            </a:r>
            <a:r>
              <a:rPr lang="en-US" sz="1200" dirty="0" smtClean="0"/>
              <a:t>application </a:t>
            </a:r>
            <a:r>
              <a:rPr lang="en-US" sz="1200" dirty="0"/>
              <a:t>use cases across industries are broadly classified into four areas: converging unstructured data, low-cost storage and processing, advanced analytics and visualization, and real-time business intelligence.</a:t>
            </a:r>
          </a:p>
        </p:txBody>
      </p:sp>
      <p:graphicFrame>
        <p:nvGraphicFramePr>
          <p:cNvPr id="14" name="Table 13"/>
          <p:cNvGraphicFramePr>
            <a:graphicFrameLocks noGrp="1"/>
          </p:cNvGraphicFramePr>
          <p:nvPr>
            <p:extLst>
              <p:ext uri="{D42A27DB-BD31-4B8C-83A1-F6EECF244321}">
                <p14:modId xmlns:p14="http://schemas.microsoft.com/office/powerpoint/2010/main" val="3803043252"/>
              </p:ext>
            </p:extLst>
          </p:nvPr>
        </p:nvGraphicFramePr>
        <p:xfrm>
          <a:off x="455613" y="2207471"/>
          <a:ext cx="8128830" cy="3124200"/>
        </p:xfrm>
        <a:graphic>
          <a:graphicData uri="http://schemas.openxmlformats.org/drawingml/2006/table">
            <a:tbl>
              <a:tblPr firstRow="1" bandRow="1">
                <a:tableStyleId>{21E4AEA4-8DFA-4A89-87EB-49C32662AFE0}</a:tableStyleId>
              </a:tblPr>
              <a:tblGrid>
                <a:gridCol w="4064415"/>
                <a:gridCol w="4064415"/>
              </a:tblGrid>
              <a:tr h="370840">
                <a:tc>
                  <a:txBody>
                    <a:bodyPr/>
                    <a:lstStyle/>
                    <a:p>
                      <a:pPr algn="ctr"/>
                      <a:r>
                        <a:rPr lang="en-US" sz="1600" dirty="0" smtClean="0"/>
                        <a:t>Converging Unstructured Data</a:t>
                      </a:r>
                      <a:endParaRPr lang="en-US" sz="1600" dirty="0"/>
                    </a:p>
                  </a:txBody>
                  <a:tcPr/>
                </a:tc>
                <a:tc>
                  <a:txBody>
                    <a:bodyPr/>
                    <a:lstStyle/>
                    <a:p>
                      <a:pPr algn="ctr"/>
                      <a:r>
                        <a:rPr lang="en-US" sz="1600" dirty="0" smtClean="0"/>
                        <a:t>Los-Cost Storage and Processing</a:t>
                      </a:r>
                      <a:endParaRPr lang="en-US" sz="1600" dirty="0"/>
                    </a:p>
                  </a:txBody>
                  <a:tcPr/>
                </a:tc>
              </a:tr>
              <a:tr h="370840">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Log Processing</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Firewall activity</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Image processing</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Video processing</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Seismic processing</a:t>
                      </a:r>
                    </a:p>
                  </a:txBody>
                  <a:tcPr>
                    <a:solidFill>
                      <a:schemeClr val="bg1">
                        <a:lumMod val="95000"/>
                      </a:schemeClr>
                    </a:solidFill>
                  </a:tcPr>
                </a:tc>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Move Extract Transform Load (ETL) into parallel environment</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Join Enterprise Data Warehousing (EDW) with unstructured data sources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Pre-process EDW </a:t>
                      </a:r>
                      <a:endParaRPr lang="en-US" sz="1200" dirty="0"/>
                    </a:p>
                  </a:txBody>
                  <a:tcPr>
                    <a:solidFill>
                      <a:schemeClr val="bg1">
                        <a:lumMod val="95000"/>
                      </a:schemeClr>
                    </a:solidFill>
                  </a:tcPr>
                </a:tc>
              </a:tr>
              <a:tr h="370840">
                <a:tc>
                  <a:txBody>
                    <a:bodyPr/>
                    <a:lstStyle/>
                    <a:p>
                      <a:pPr algn="ctr"/>
                      <a:endParaRPr lang="en-US" sz="1600" b="1" dirty="0">
                        <a:solidFill>
                          <a:schemeClr val="bg1"/>
                        </a:solidFill>
                      </a:endParaRPr>
                    </a:p>
                  </a:txBody>
                  <a:tcPr>
                    <a:solidFill>
                      <a:schemeClr val="bg1"/>
                    </a:solidFill>
                  </a:tcPr>
                </a:tc>
                <a:tc>
                  <a:txBody>
                    <a:bodyPr/>
                    <a:lstStyle/>
                    <a:p>
                      <a:pPr algn="ctr"/>
                      <a:endParaRPr lang="en-US" sz="1600" b="1" dirty="0" smtClean="0">
                        <a:solidFill>
                          <a:schemeClr val="bg1"/>
                        </a:solidFill>
                      </a:endParaRPr>
                    </a:p>
                  </a:txBody>
                  <a:tcPr>
                    <a:solidFill>
                      <a:schemeClr val="bg1"/>
                    </a:solidFill>
                  </a:tcPr>
                </a:tc>
              </a:tr>
              <a:tr h="370840">
                <a:tc>
                  <a:txBody>
                    <a:bodyPr/>
                    <a:lstStyle/>
                    <a:p>
                      <a:pPr algn="ctr"/>
                      <a:r>
                        <a:rPr lang="en-US" sz="1600" b="1" dirty="0" smtClean="0">
                          <a:solidFill>
                            <a:schemeClr val="bg1"/>
                          </a:solidFill>
                        </a:rPr>
                        <a:t>Advanced Analytics and Visualization</a:t>
                      </a:r>
                      <a:endParaRPr lang="en-US" sz="1600" b="1" dirty="0">
                        <a:solidFill>
                          <a:schemeClr val="bg1"/>
                        </a:solidFill>
                      </a:endParaRPr>
                    </a:p>
                  </a:txBody>
                  <a:tcPr>
                    <a:solidFill>
                      <a:schemeClr val="accent2"/>
                    </a:solidFill>
                  </a:tcPr>
                </a:tc>
                <a:tc>
                  <a:txBody>
                    <a:bodyPr/>
                    <a:lstStyle/>
                    <a:p>
                      <a:pPr algn="ctr"/>
                      <a:r>
                        <a:rPr lang="en-US" sz="1600" b="1" dirty="0" smtClean="0">
                          <a:solidFill>
                            <a:schemeClr val="bg1"/>
                          </a:solidFill>
                        </a:rPr>
                        <a:t>Real-Time</a:t>
                      </a:r>
                      <a:r>
                        <a:rPr lang="en-US" sz="1600" b="1" baseline="0" dirty="0" smtClean="0">
                          <a:solidFill>
                            <a:schemeClr val="bg1"/>
                          </a:solidFill>
                        </a:rPr>
                        <a:t> Business Intelligence</a:t>
                      </a:r>
                      <a:endParaRPr lang="en-US" sz="1600" b="1" dirty="0">
                        <a:solidFill>
                          <a:schemeClr val="bg1"/>
                        </a:solidFill>
                      </a:endParaRPr>
                    </a:p>
                  </a:txBody>
                  <a:tcPr>
                    <a:solidFill>
                      <a:schemeClr val="accent2"/>
                    </a:solidFill>
                  </a:tcPr>
                </a:tc>
              </a:tr>
              <a:tr h="370840">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Model the individual user</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Cross enterprise data sets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Data Science</a:t>
                      </a:r>
                    </a:p>
                  </a:txBody>
                  <a:tcPr>
                    <a:solidFill>
                      <a:schemeClr val="bg1">
                        <a:lumMod val="95000"/>
                      </a:schemeClr>
                    </a:solidFill>
                  </a:tcPr>
                </a:tc>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Sensor data analysis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Network analysis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Enterprise Monitoring</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Reshape organizational structure/direction through new insight</a:t>
                      </a:r>
                      <a:endParaRPr lang="en-US" dirty="0"/>
                    </a:p>
                  </a:txBody>
                  <a:tcPr>
                    <a:solidFill>
                      <a:schemeClr val="bg1">
                        <a:lumMod val="95000"/>
                      </a:schemeClr>
                    </a:solidFill>
                  </a:tcPr>
                </a:tc>
              </a:tr>
            </a:tbl>
          </a:graphicData>
        </a:graphic>
      </p:graphicFrame>
      <p:sp>
        <p:nvSpPr>
          <p:cNvPr id="6"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27</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96875005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2.12 Industry Trends</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Big Data is used in every industry and impacts core business processes.</a:t>
            </a:r>
          </a:p>
        </p:txBody>
      </p:sp>
      <p:graphicFrame>
        <p:nvGraphicFramePr>
          <p:cNvPr id="14" name="Table 13"/>
          <p:cNvGraphicFramePr>
            <a:graphicFrameLocks noGrp="1"/>
          </p:cNvGraphicFramePr>
          <p:nvPr>
            <p:extLst>
              <p:ext uri="{D42A27DB-BD31-4B8C-83A1-F6EECF244321}">
                <p14:modId xmlns:p14="http://schemas.microsoft.com/office/powerpoint/2010/main" val="3406112325"/>
              </p:ext>
            </p:extLst>
          </p:nvPr>
        </p:nvGraphicFramePr>
        <p:xfrm>
          <a:off x="455612" y="1929493"/>
          <a:ext cx="8232774" cy="3672840"/>
        </p:xfrm>
        <a:graphic>
          <a:graphicData uri="http://schemas.openxmlformats.org/drawingml/2006/table">
            <a:tbl>
              <a:tblPr firstRow="1" bandRow="1">
                <a:tableStyleId>{21E4AEA4-8DFA-4A89-87EB-49C32662AFE0}</a:tableStyleId>
              </a:tblPr>
              <a:tblGrid>
                <a:gridCol w="2744258"/>
                <a:gridCol w="2744258"/>
                <a:gridCol w="2744258"/>
              </a:tblGrid>
              <a:tr h="370840">
                <a:tc>
                  <a:txBody>
                    <a:bodyPr/>
                    <a:lstStyle/>
                    <a:p>
                      <a:pPr algn="ctr"/>
                      <a:r>
                        <a:rPr lang="en-US" sz="1600" dirty="0" smtClean="0"/>
                        <a:t>Resources</a:t>
                      </a:r>
                      <a:endParaRPr lang="en-US" sz="1600" dirty="0"/>
                    </a:p>
                  </a:txBody>
                  <a:tcPr/>
                </a:tc>
                <a:tc>
                  <a:txBody>
                    <a:bodyPr/>
                    <a:lstStyle/>
                    <a:p>
                      <a:pPr algn="ctr"/>
                      <a:r>
                        <a:rPr lang="en-US" sz="1600" dirty="0" smtClean="0"/>
                        <a:t>Public Sector</a:t>
                      </a:r>
                      <a:endParaRPr lang="en-US" sz="1600" dirty="0"/>
                    </a:p>
                  </a:txBody>
                  <a:tcPr/>
                </a:tc>
                <a:tc>
                  <a:txBody>
                    <a:bodyPr/>
                    <a:lstStyle/>
                    <a:p>
                      <a:pPr algn="ctr"/>
                      <a:r>
                        <a:rPr lang="en-US" sz="1600" dirty="0" smtClean="0"/>
                        <a:t>Financial Services</a:t>
                      </a:r>
                      <a:endParaRPr lang="en-US" sz="1600" dirty="0"/>
                    </a:p>
                  </a:txBody>
                  <a:tcPr/>
                </a:tc>
              </a:tr>
              <a:tr h="370840">
                <a:tc>
                  <a:txBody>
                    <a:bodyPr/>
                    <a:lstStyle/>
                    <a:p>
                      <a:pPr marL="0" indent="0">
                        <a:buFont typeface="Arial" panose="020B0604020202020204" pitchFamily="34" charset="0"/>
                        <a:buNone/>
                      </a:pPr>
                      <a:r>
                        <a:rPr lang="en-US" sz="1200" b="0" i="0" kern="1200" dirty="0" smtClean="0">
                          <a:solidFill>
                            <a:schemeClr val="dk1"/>
                          </a:solidFill>
                          <a:effectLst/>
                          <a:latin typeface="+mn-lt"/>
                          <a:ea typeface="+mn-ea"/>
                          <a:cs typeface="+mn-cs"/>
                        </a:rPr>
                        <a:t>Upstream oil and gas companies monitor 40,000 sensors per asset combined with 4D seismic imagery to drive real-time production operations, maintenance, and reliability programs.</a:t>
                      </a:r>
                    </a:p>
                  </a:txBody>
                  <a:tcPr>
                    <a:solidFill>
                      <a:schemeClr val="bg1">
                        <a:lumMod val="95000"/>
                      </a:schemeClr>
                    </a:solidFill>
                  </a:tcPr>
                </a:tc>
                <a:tc>
                  <a:txBody>
                    <a:bodyPr/>
                    <a:lstStyle/>
                    <a:p>
                      <a:pPr marL="0" indent="0">
                        <a:buFont typeface="Arial" panose="020B0604020202020204" pitchFamily="34" charset="0"/>
                        <a:buNone/>
                      </a:pPr>
                      <a:r>
                        <a:rPr lang="en-US" sz="1200" b="0" i="0" kern="1200" dirty="0" smtClean="0">
                          <a:solidFill>
                            <a:schemeClr val="dk1"/>
                          </a:solidFill>
                          <a:effectLst/>
                          <a:latin typeface="+mn-lt"/>
                          <a:ea typeface="+mn-ea"/>
                          <a:cs typeface="+mn-cs"/>
                        </a:rPr>
                        <a:t>The United States Postal Service (USPS) applies unique barcodes so it can seamlessly induct and account for postage. This results in approximately 1 billion pieces per day, scanned multiple times throughout the supply chain. </a:t>
                      </a:r>
                      <a:r>
                        <a:rPr lang="en-US" sz="1200" dirty="0" smtClean="0"/>
                        <a:t/>
                      </a:r>
                      <a:br>
                        <a:rPr lang="en-US" sz="1200" dirty="0" smtClean="0"/>
                      </a:br>
                      <a:endParaRPr lang="en-US" sz="1200" dirty="0"/>
                    </a:p>
                  </a:txBody>
                  <a:tcPr>
                    <a:solidFill>
                      <a:schemeClr val="bg1">
                        <a:lumMod val="95000"/>
                      </a:schemeClr>
                    </a:solidFill>
                  </a:tcPr>
                </a:tc>
                <a:tc>
                  <a:txBody>
                    <a:bodyPr/>
                    <a:lstStyle/>
                    <a:p>
                      <a:r>
                        <a:rPr lang="en-US" sz="1200" b="0" i="0" kern="1200" dirty="0" smtClean="0">
                          <a:solidFill>
                            <a:schemeClr val="dk1"/>
                          </a:solidFill>
                          <a:effectLst/>
                          <a:latin typeface="+mn-lt"/>
                          <a:ea typeface="+mn-ea"/>
                          <a:cs typeface="+mn-cs"/>
                        </a:rPr>
                        <a:t>Capital market firms are pioneers in the Big Data space and continue to innovate around low latency systems to unlock trading arbitrage opportunities.</a:t>
                      </a:r>
                      <a:endParaRPr lang="en-US" sz="1200" dirty="0"/>
                    </a:p>
                  </a:txBody>
                  <a:tcPr>
                    <a:solidFill>
                      <a:schemeClr val="bg1">
                        <a:lumMod val="95000"/>
                      </a:schemeClr>
                    </a:solidFill>
                  </a:tcPr>
                </a:tc>
              </a:tr>
              <a:tr h="370840">
                <a:tc>
                  <a:txBody>
                    <a:bodyPr/>
                    <a:lstStyle/>
                    <a:p>
                      <a:pPr algn="ctr"/>
                      <a:endParaRPr lang="en-US" sz="1600" b="1" dirty="0">
                        <a:solidFill>
                          <a:schemeClr val="bg1"/>
                        </a:solidFill>
                      </a:endParaRPr>
                    </a:p>
                  </a:txBody>
                  <a:tcPr>
                    <a:solidFill>
                      <a:schemeClr val="bg1"/>
                    </a:solidFill>
                  </a:tcPr>
                </a:tc>
                <a:tc>
                  <a:txBody>
                    <a:bodyPr/>
                    <a:lstStyle/>
                    <a:p>
                      <a:pPr algn="ctr"/>
                      <a:endParaRPr lang="en-US" sz="1600" b="1" dirty="0">
                        <a:solidFill>
                          <a:schemeClr val="bg1"/>
                        </a:solidFill>
                      </a:endParaRPr>
                    </a:p>
                  </a:txBody>
                  <a:tcPr>
                    <a:solidFill>
                      <a:schemeClr val="bg1"/>
                    </a:solidFill>
                  </a:tcPr>
                </a:tc>
                <a:tc>
                  <a:txBody>
                    <a:bodyPr/>
                    <a:lstStyle/>
                    <a:p>
                      <a:pPr algn="ctr"/>
                      <a:endParaRPr lang="en-US" sz="1600" b="1" dirty="0">
                        <a:solidFill>
                          <a:schemeClr val="bg1"/>
                        </a:solidFill>
                      </a:endParaRPr>
                    </a:p>
                  </a:txBody>
                  <a:tcPr>
                    <a:solidFill>
                      <a:schemeClr val="bg1"/>
                    </a:solidFill>
                  </a:tcPr>
                </a:tc>
              </a:tr>
              <a:tr h="370840">
                <a:tc>
                  <a:txBody>
                    <a:bodyPr/>
                    <a:lstStyle/>
                    <a:p>
                      <a:pPr algn="ctr"/>
                      <a:r>
                        <a:rPr lang="en-US" sz="1600" b="1" dirty="0" smtClean="0">
                          <a:solidFill>
                            <a:schemeClr val="bg1"/>
                          </a:solidFill>
                        </a:rPr>
                        <a:t>Health</a:t>
                      </a:r>
                      <a:endParaRPr lang="en-US" sz="1600" b="1" dirty="0">
                        <a:solidFill>
                          <a:schemeClr val="bg1"/>
                        </a:solidFill>
                      </a:endParaRPr>
                    </a:p>
                  </a:txBody>
                  <a:tcPr>
                    <a:solidFill>
                      <a:schemeClr val="accent2"/>
                    </a:solidFill>
                  </a:tcPr>
                </a:tc>
                <a:tc>
                  <a:txBody>
                    <a:bodyPr/>
                    <a:lstStyle/>
                    <a:p>
                      <a:pPr algn="ctr"/>
                      <a:r>
                        <a:rPr lang="en-US" sz="1600" b="1" dirty="0" smtClean="0">
                          <a:solidFill>
                            <a:schemeClr val="bg1"/>
                          </a:solidFill>
                        </a:rPr>
                        <a:t>Retail</a:t>
                      </a:r>
                      <a:endParaRPr lang="en-US" sz="1600" b="1" dirty="0">
                        <a:solidFill>
                          <a:schemeClr val="bg1"/>
                        </a:solidFill>
                      </a:endParaRPr>
                    </a:p>
                  </a:txBody>
                  <a:tcPr>
                    <a:solidFill>
                      <a:schemeClr val="accent2"/>
                    </a:solidFill>
                  </a:tcPr>
                </a:tc>
                <a:tc>
                  <a:txBody>
                    <a:bodyPr/>
                    <a:lstStyle/>
                    <a:p>
                      <a:pPr algn="ctr"/>
                      <a:r>
                        <a:rPr lang="en-US" sz="1600" b="1" dirty="0" smtClean="0">
                          <a:solidFill>
                            <a:schemeClr val="bg1"/>
                          </a:solidFill>
                        </a:rPr>
                        <a:t>Communications</a:t>
                      </a:r>
                      <a:endParaRPr lang="en-US" sz="1600" b="1" dirty="0">
                        <a:solidFill>
                          <a:schemeClr val="bg1"/>
                        </a:solidFill>
                      </a:endParaRPr>
                    </a:p>
                  </a:txBody>
                  <a:tcPr>
                    <a:solidFill>
                      <a:schemeClr val="accent2"/>
                    </a:solidFill>
                  </a:tcPr>
                </a:tc>
              </a:tr>
              <a:tr h="370840">
                <a:tc>
                  <a:txBody>
                    <a:bodyPr/>
                    <a:lstStyle/>
                    <a:p>
                      <a:pPr marL="0" indent="0">
                        <a:buFont typeface="Arial" panose="020B0604020202020204" pitchFamily="34" charset="0"/>
                        <a:buNone/>
                      </a:pPr>
                      <a:r>
                        <a:rPr lang="en-US" sz="1200" b="0" i="0" kern="1200" dirty="0" smtClean="0">
                          <a:solidFill>
                            <a:schemeClr val="dk1"/>
                          </a:solidFill>
                          <a:effectLst/>
                          <a:latin typeface="+mn-lt"/>
                          <a:ea typeface="+mn-ea"/>
                          <a:cs typeface="+mn-cs"/>
                        </a:rPr>
                        <a:t>Electronic health records, home health monitoring, telehealth, and new medical imaging devices drive data deluge in a connected health world.</a:t>
                      </a:r>
                    </a:p>
                  </a:txBody>
                  <a:tcPr/>
                </a:tc>
                <a:tc>
                  <a:txBody>
                    <a:bodyPr/>
                    <a:lstStyle/>
                    <a:p>
                      <a:r>
                        <a:rPr lang="en-US" sz="1200" b="0" i="0" kern="1200" dirty="0" smtClean="0">
                          <a:solidFill>
                            <a:schemeClr val="dk1"/>
                          </a:solidFill>
                          <a:effectLst/>
                          <a:latin typeface="+mn-lt"/>
                          <a:ea typeface="+mn-ea"/>
                          <a:cs typeface="+mn-cs"/>
                        </a:rPr>
                        <a:t>Emerging location-based data, group purchasing, and online leads allow retailers to continuously listen, engage, and act on customer intent across the purchasing cycle.</a:t>
                      </a:r>
                      <a:endParaRPr lang="en-US" sz="1200" dirty="0"/>
                    </a:p>
                  </a:txBody>
                  <a:tcPr/>
                </a:tc>
                <a:tc>
                  <a:txBody>
                    <a:bodyPr/>
                    <a:lstStyle/>
                    <a:p>
                      <a:pPr marL="0" indent="0">
                        <a:buFont typeface="Arial" panose="020B0604020202020204" pitchFamily="34" charset="0"/>
                        <a:buNone/>
                      </a:pPr>
                      <a:r>
                        <a:rPr lang="en-US" sz="1200" b="0" i="0" kern="1200" dirty="0" smtClean="0">
                          <a:solidFill>
                            <a:schemeClr val="dk1"/>
                          </a:solidFill>
                          <a:effectLst/>
                          <a:latin typeface="+mn-lt"/>
                          <a:ea typeface="+mn-ea"/>
                          <a:cs typeface="+mn-cs"/>
                        </a:rPr>
                        <a:t>Mobile usage data for service providers unlocks new business models and revenue streams, from outdoor ad placement to medical adherence.</a:t>
                      </a:r>
                    </a:p>
                  </a:txBody>
                  <a:tcPr/>
                </a:tc>
              </a:tr>
            </a:tbl>
          </a:graphicData>
        </a:graphic>
      </p:graphicFrame>
      <p:sp>
        <p:nvSpPr>
          <p:cNvPr id="6"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28</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291734321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2.13 Big Data Implementation Examples</a:t>
            </a:r>
            <a:endParaRPr lang="en-US" dirty="0"/>
          </a:p>
        </p:txBody>
      </p:sp>
      <p:sp>
        <p:nvSpPr>
          <p:cNvPr id="4" name="Content Placeholder 3"/>
          <p:cNvSpPr>
            <a:spLocks noGrp="1"/>
          </p:cNvSpPr>
          <p:nvPr>
            <p:ph sz="quarter" idx="14"/>
          </p:nvPr>
        </p:nvSpPr>
        <p:spPr>
          <a:xfrm>
            <a:off x="455614" y="1371600"/>
            <a:ext cx="4060824" cy="2767263"/>
          </a:xfrm>
        </p:spPr>
        <p:txBody>
          <a:bodyPr/>
          <a:lstStyle/>
          <a:p>
            <a:pPr marL="0" indent="0">
              <a:buNone/>
            </a:pPr>
            <a:r>
              <a:rPr lang="en-US" sz="1200" b="1" dirty="0" smtClean="0">
                <a:solidFill>
                  <a:schemeClr val="accent6"/>
                </a:solidFill>
              </a:rPr>
              <a:t>Various </a:t>
            </a:r>
            <a:r>
              <a:rPr lang="en-US" sz="1200" b="1" dirty="0">
                <a:solidFill>
                  <a:schemeClr val="accent6"/>
                </a:solidFill>
              </a:rPr>
              <a:t>organizations have implemented Big Data:</a:t>
            </a:r>
            <a:endParaRPr lang="en-US" sz="1200" dirty="0">
              <a:solidFill>
                <a:schemeClr val="accent6"/>
              </a:solidFill>
            </a:endParaRPr>
          </a:p>
          <a:p>
            <a:pPr>
              <a:spcBef>
                <a:spcPts val="600"/>
              </a:spcBef>
              <a:buSzPct val="100000"/>
            </a:pPr>
            <a:r>
              <a:rPr lang="en-US" sz="1200" dirty="0"/>
              <a:t>Google™ used Big Data to enable web-scale searches on massive data in an innovative way, such as estimating flu activity around the globe.</a:t>
            </a:r>
          </a:p>
          <a:p>
            <a:pPr>
              <a:spcBef>
                <a:spcPts val="600"/>
              </a:spcBef>
              <a:buSzPct val="100000"/>
            </a:pPr>
            <a:r>
              <a:rPr lang="en-US" sz="1200" dirty="0"/>
              <a:t>The University of Ontario Institute of Technology used Big Data to collect 100 million data points per day for premature babies to correlate sickness with vitals, allowing for early action.</a:t>
            </a:r>
          </a:p>
          <a:p>
            <a:pPr>
              <a:spcBef>
                <a:spcPts val="600"/>
              </a:spcBef>
              <a:buSzPct val="100000"/>
            </a:pPr>
            <a:r>
              <a:rPr lang="en-US" sz="1200" dirty="0"/>
              <a:t>Tennessee Valley Authority used Big Data to analyze 1.5 million smart grid data points to analyze power grid anomalies for unprecedented efficiencies</a:t>
            </a:r>
            <a:r>
              <a:rPr lang="en-US" sz="1200" dirty="0" smtClean="0"/>
              <a:t>.</a:t>
            </a:r>
          </a:p>
          <a:p>
            <a:pPr>
              <a:spcBef>
                <a:spcPts val="600"/>
              </a:spcBef>
              <a:buSzPct val="100000"/>
            </a:pPr>
            <a:r>
              <a:rPr lang="en-US" sz="1200" dirty="0"/>
              <a:t>American Express® used Big Data to retain customers by understanding social relationships.</a:t>
            </a:r>
          </a:p>
          <a:p>
            <a:pPr>
              <a:spcBef>
                <a:spcPts val="600"/>
              </a:spcBef>
            </a:pPr>
            <a:endParaRPr lang="en-US" sz="1200" dirty="0"/>
          </a:p>
          <a:p>
            <a:pPr marL="0" indent="0">
              <a:buNone/>
            </a:pPr>
            <a:r>
              <a:rPr lang="en-US" sz="1200" dirty="0"/>
              <a:t/>
            </a:r>
            <a:br>
              <a:rPr lang="en-US" sz="1200" dirty="0"/>
            </a:br>
            <a:r>
              <a:rPr lang="en-US" sz="1200" dirty="0"/>
              <a:t> </a:t>
            </a:r>
            <a:br>
              <a:rPr lang="en-US" sz="1200" dirty="0"/>
            </a:br>
            <a:endParaRPr lang="en-US" sz="1200" dirty="0"/>
          </a:p>
        </p:txBody>
      </p:sp>
      <p:sp>
        <p:nvSpPr>
          <p:cNvPr id="8" name="Rectangle 7"/>
          <p:cNvSpPr/>
          <p:nvPr/>
        </p:nvSpPr>
        <p:spPr>
          <a:xfrm>
            <a:off x="381793" y="4168425"/>
            <a:ext cx="8502746" cy="1646605"/>
          </a:xfrm>
          <a:prstGeom prst="rect">
            <a:avLst/>
          </a:prstGeom>
        </p:spPr>
        <p:txBody>
          <a:bodyPr wrap="square">
            <a:spAutoFit/>
          </a:bodyPr>
          <a:lstStyle/>
          <a:p>
            <a:pPr marL="228600" indent="-228600">
              <a:spcBef>
                <a:spcPts val="600"/>
              </a:spcBef>
              <a:buFont typeface="Arial" panose="020B0604020202020204" pitchFamily="34" charset="0"/>
              <a:buChar char="•"/>
            </a:pPr>
            <a:r>
              <a:rPr lang="en-US" sz="1200" dirty="0"/>
              <a:t>NetApp® used Big Data to </a:t>
            </a:r>
            <a:r>
              <a:rPr lang="en-US" sz="1200" dirty="0" smtClean="0"/>
              <a:t>build their auto support system (known as ASUP) that enables proactive issue identification and alerting on their devices before customers notice the issue.</a:t>
            </a:r>
            <a:endParaRPr lang="en-US" sz="1200" dirty="0"/>
          </a:p>
          <a:p>
            <a:pPr marL="228600" indent="-228600">
              <a:spcBef>
                <a:spcPts val="600"/>
              </a:spcBef>
              <a:buFont typeface="Arial" panose="020B0604020202020204" pitchFamily="34" charset="0"/>
              <a:buChar char="•"/>
            </a:pPr>
            <a:r>
              <a:rPr lang="en-US" sz="1200" dirty="0"/>
              <a:t>General Motors® used Big Data to support Global Positioning System (GPS) and telemetry data to track driving habits, reduce insurance, and increase retention. </a:t>
            </a:r>
          </a:p>
          <a:p>
            <a:r>
              <a:rPr lang="en-US" sz="1200" dirty="0"/>
              <a:t/>
            </a:r>
            <a:br>
              <a:rPr lang="en-US" sz="1200" dirty="0"/>
            </a:br>
            <a:endParaRPr lang="en-US" sz="1200" dirty="0" smtClean="0"/>
          </a:p>
          <a:p>
            <a:endParaRPr lang="en-US" sz="1200" dirty="0"/>
          </a:p>
          <a:p>
            <a:r>
              <a:rPr lang="en-US" sz="1200" dirty="0" smtClean="0"/>
              <a:t>Visit </a:t>
            </a:r>
            <a:r>
              <a:rPr lang="en-US" sz="1200" dirty="0"/>
              <a:t>the resources page in this course for links to additional Big Data application examples.</a:t>
            </a:r>
            <a:endParaRPr lang="en-US" sz="1200" dirty="0">
              <a:solidFill>
                <a:srgbClr val="FF0000"/>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2664" y="1371600"/>
            <a:ext cx="3571875" cy="2381250"/>
          </a:xfrm>
          <a:prstGeom prst="rect">
            <a:avLst/>
          </a:prstGeom>
        </p:spPr>
      </p:pic>
      <p:sp>
        <p:nvSpPr>
          <p:cNvPr id="7"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9"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29</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24250120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2.14 Checkpoint</a:t>
            </a:r>
            <a:endParaRPr lang="en-US" dirty="0"/>
          </a:p>
        </p:txBody>
      </p:sp>
      <p:sp>
        <p:nvSpPr>
          <p:cNvPr id="6" name="Content Placeholder 5"/>
          <p:cNvSpPr>
            <a:spLocks noGrp="1"/>
          </p:cNvSpPr>
          <p:nvPr>
            <p:ph sz="quarter" idx="14"/>
          </p:nvPr>
        </p:nvSpPr>
        <p:spPr>
          <a:xfrm>
            <a:off x="455613" y="1371600"/>
            <a:ext cx="8232775" cy="5335150"/>
          </a:xfrm>
        </p:spPr>
        <p:txBody>
          <a:bodyPr/>
          <a:lstStyle/>
          <a:p>
            <a:pPr marL="0" indent="0">
              <a:buNone/>
            </a:pPr>
            <a:r>
              <a:rPr lang="en-US" sz="1200" b="1" dirty="0">
                <a:solidFill>
                  <a:schemeClr val="accent2"/>
                </a:solidFill>
              </a:rPr>
              <a:t>True or False:</a:t>
            </a:r>
            <a:r>
              <a:rPr lang="en-US" sz="1200" b="1" dirty="0"/>
              <a:t> </a:t>
            </a:r>
            <a:r>
              <a:rPr lang="en-US" sz="1200" dirty="0" smtClean="0"/>
              <a:t>The rapid shift in the </a:t>
            </a:r>
            <a:r>
              <a:rPr lang="en-US" sz="1200" dirty="0"/>
              <a:t>size, type, </a:t>
            </a:r>
            <a:r>
              <a:rPr lang="en-US" sz="1200" dirty="0" smtClean="0"/>
              <a:t>form, and way </a:t>
            </a:r>
            <a:r>
              <a:rPr lang="en-US" sz="1200" dirty="0"/>
              <a:t>that data is </a:t>
            </a:r>
            <a:r>
              <a:rPr lang="en-US" sz="1200" dirty="0" smtClean="0"/>
              <a:t>analyzed </a:t>
            </a:r>
            <a:r>
              <a:rPr lang="en-US" sz="1200" dirty="0"/>
              <a:t>has left organizations struggling with traditional infrastructure, technologies, and information </a:t>
            </a:r>
            <a:r>
              <a:rPr lang="en-US" sz="1200" dirty="0" smtClean="0"/>
              <a:t>management.</a:t>
            </a:r>
            <a:r>
              <a:rPr lang="en-US" sz="1200" dirty="0"/>
              <a:t/>
            </a:r>
            <a:br>
              <a:rPr lang="en-US" sz="1200" dirty="0"/>
            </a:br>
            <a:r>
              <a:rPr lang="en-US" sz="1200" dirty="0"/>
              <a:t/>
            </a:r>
            <a:br>
              <a:rPr lang="en-US" sz="1200" dirty="0"/>
            </a:br>
            <a:r>
              <a:rPr lang="en-US" sz="1200" b="1" i="1" dirty="0">
                <a:solidFill>
                  <a:schemeClr val="accent2"/>
                </a:solidFill>
              </a:rPr>
              <a:t>Select the correct option, and click or tap the Submit button</a:t>
            </a:r>
            <a:r>
              <a:rPr lang="en-US" sz="1200" b="1" i="1" dirty="0" smtClean="0">
                <a:solidFill>
                  <a:schemeClr val="accent2"/>
                </a:solidFill>
              </a:rPr>
              <a:t>.</a:t>
            </a:r>
          </a:p>
          <a:p>
            <a:pPr marL="0" indent="0">
              <a:buNone/>
            </a:pPr>
            <a:endParaRPr lang="en-US" sz="1200" b="1" i="1" dirty="0">
              <a:solidFill>
                <a:schemeClr val="accent2"/>
              </a:solidFill>
            </a:endParaRPr>
          </a:p>
          <a:p>
            <a:pPr lvl="0">
              <a:buFont typeface="+mj-lt"/>
              <a:buAutoNum type="alphaLcParenR"/>
            </a:pPr>
            <a:r>
              <a:rPr lang="en-US" sz="1200" dirty="0" smtClean="0"/>
              <a:t>True </a:t>
            </a:r>
            <a:endParaRPr lang="en-US" sz="1200" dirty="0"/>
          </a:p>
          <a:p>
            <a:pPr lvl="0">
              <a:buFont typeface="+mj-lt"/>
              <a:buAutoNum type="alphaLcParenR"/>
            </a:pPr>
            <a:r>
              <a:rPr lang="en-US" sz="1200" dirty="0" smtClean="0"/>
              <a:t>False</a:t>
            </a:r>
            <a:endParaRPr lang="en-US" sz="1200" dirty="0">
              <a:solidFill>
                <a:schemeClr val="accent2"/>
              </a:solidFill>
            </a:endParaRPr>
          </a:p>
        </p:txBody>
      </p:sp>
      <p:sp>
        <p:nvSpPr>
          <p:cNvPr id="7"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8"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30</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21131030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2.14 Checkpoint Answer</a:t>
            </a:r>
            <a:endParaRPr lang="en-US" dirty="0"/>
          </a:p>
        </p:txBody>
      </p:sp>
      <p:sp>
        <p:nvSpPr>
          <p:cNvPr id="6" name="Content Placeholder 5"/>
          <p:cNvSpPr>
            <a:spLocks noGrp="1"/>
          </p:cNvSpPr>
          <p:nvPr>
            <p:ph sz="quarter" idx="14"/>
          </p:nvPr>
        </p:nvSpPr>
        <p:spPr>
          <a:xfrm>
            <a:off x="455613" y="1371600"/>
            <a:ext cx="8232775" cy="5335150"/>
          </a:xfrm>
        </p:spPr>
        <p:txBody>
          <a:bodyPr/>
          <a:lstStyle/>
          <a:p>
            <a:pPr marL="0" indent="0">
              <a:buNone/>
            </a:pPr>
            <a:r>
              <a:rPr lang="en-US" sz="1200" b="1" dirty="0">
                <a:solidFill>
                  <a:schemeClr val="accent2"/>
                </a:solidFill>
              </a:rPr>
              <a:t>True or False:</a:t>
            </a:r>
            <a:r>
              <a:rPr lang="en-US" sz="1200" b="1" dirty="0"/>
              <a:t> </a:t>
            </a:r>
            <a:r>
              <a:rPr lang="en-US" sz="1200" dirty="0"/>
              <a:t>The rapid shift in the size, type, form, and way that data is analyzed has left organizations struggling with traditional infrastructure, technologies, and information management</a:t>
            </a:r>
            <a:r>
              <a:rPr lang="en-US" sz="1200" dirty="0" smtClean="0"/>
              <a:t>.</a:t>
            </a:r>
            <a:r>
              <a:rPr lang="en-US" sz="1200" dirty="0"/>
              <a:t/>
            </a:r>
            <a:br>
              <a:rPr lang="en-US" sz="1200" dirty="0"/>
            </a:br>
            <a:r>
              <a:rPr lang="en-US" sz="1200" dirty="0"/>
              <a:t/>
            </a:r>
            <a:br>
              <a:rPr lang="en-US" sz="1200" dirty="0"/>
            </a:br>
            <a:r>
              <a:rPr lang="en-US" sz="1200" b="1" i="1" dirty="0">
                <a:solidFill>
                  <a:schemeClr val="accent2"/>
                </a:solidFill>
              </a:rPr>
              <a:t>Select the correct option, and click or tap the Submit button</a:t>
            </a:r>
            <a:r>
              <a:rPr lang="en-US" sz="1200" b="1" i="1" dirty="0" smtClean="0">
                <a:solidFill>
                  <a:schemeClr val="accent2"/>
                </a:solidFill>
              </a:rPr>
              <a:t>.</a:t>
            </a:r>
          </a:p>
          <a:p>
            <a:pPr marL="0" indent="0">
              <a:buNone/>
            </a:pPr>
            <a:endParaRPr lang="en-US" sz="1200" b="1" i="1" dirty="0">
              <a:solidFill>
                <a:schemeClr val="accent2"/>
              </a:solidFill>
            </a:endParaRPr>
          </a:p>
          <a:p>
            <a:pPr lvl="0">
              <a:buFont typeface="+mj-lt"/>
              <a:buAutoNum type="alphaLcParenR"/>
            </a:pPr>
            <a:r>
              <a:rPr lang="en-US" sz="1200" b="1" dirty="0" smtClean="0"/>
              <a:t>True </a:t>
            </a:r>
            <a:endParaRPr lang="en-US" sz="1200" b="1" dirty="0"/>
          </a:p>
          <a:p>
            <a:pPr lvl="0">
              <a:buFont typeface="+mj-lt"/>
              <a:buAutoNum type="alphaLcParenR"/>
            </a:pPr>
            <a:r>
              <a:rPr lang="en-US" sz="1200" dirty="0" smtClean="0"/>
              <a:t>False</a:t>
            </a:r>
          </a:p>
          <a:p>
            <a:pPr marL="0" indent="0">
              <a:buNone/>
            </a:pPr>
            <a:endParaRPr lang="en-US" sz="1200" dirty="0">
              <a:solidFill>
                <a:schemeClr val="accent2"/>
              </a:solidFill>
            </a:endParaRPr>
          </a:p>
          <a:p>
            <a:pPr marL="0" indent="0">
              <a:buNone/>
            </a:pPr>
            <a:r>
              <a:rPr lang="en-US" sz="1200" i="1" dirty="0" smtClean="0"/>
              <a:t>The correct answer is TRUE. </a:t>
            </a:r>
          </a:p>
          <a:p>
            <a:pPr marL="0" indent="0">
              <a:buNone/>
            </a:pPr>
            <a:r>
              <a:rPr lang="en-US" sz="1200" i="1" dirty="0" smtClean="0"/>
              <a:t>Information </a:t>
            </a:r>
            <a:r>
              <a:rPr lang="en-US" sz="1200" i="1" dirty="0"/>
              <a:t>producing devices such as sensors, tablets, and mobile phones continue to multiply, and such information sharing options represent a tremendous challenge to organizations looking to benefit by using traditional processing techniques. As a result, traditional approaches have come under tremendous pressure. </a:t>
            </a:r>
          </a:p>
          <a:p>
            <a:pPr marL="0" indent="0">
              <a:buNone/>
            </a:pPr>
            <a:r>
              <a:rPr lang="en-US" sz="1200" b="1" i="1" dirty="0"/>
              <a:t>C</a:t>
            </a:r>
            <a:r>
              <a:rPr lang="en-US" sz="1200" b="1" i="1" dirty="0" smtClean="0"/>
              <a:t>hallenges </a:t>
            </a:r>
            <a:r>
              <a:rPr lang="en-US" sz="1200" b="1" i="1" dirty="0"/>
              <a:t>adopting Big Data include:</a:t>
            </a:r>
            <a:r>
              <a:rPr lang="en-US" sz="1200" i="1" dirty="0"/>
              <a:t> </a:t>
            </a:r>
          </a:p>
          <a:p>
            <a:pPr lvl="0">
              <a:spcBef>
                <a:spcPts val="600"/>
              </a:spcBef>
            </a:pPr>
            <a:r>
              <a:rPr lang="en-US" sz="1200" i="1" dirty="0"/>
              <a:t>Relational approaches are not optimum when dealing with a lack of structure, speed of processing at scale, and associated cost.</a:t>
            </a:r>
          </a:p>
          <a:p>
            <a:pPr lvl="0">
              <a:spcBef>
                <a:spcPts val="600"/>
              </a:spcBef>
            </a:pPr>
            <a:r>
              <a:rPr lang="en-US" sz="1200" i="1" dirty="0"/>
              <a:t>Data visualization and analytics resources are not able to deal with the right representations and insights that users can efficiently discover from Big Data.</a:t>
            </a:r>
          </a:p>
          <a:p>
            <a:pPr lvl="0">
              <a:spcBef>
                <a:spcPts val="600"/>
              </a:spcBef>
            </a:pPr>
            <a:r>
              <a:rPr lang="en-US" sz="1200" i="1" dirty="0"/>
              <a:t>Traditional information governance and management practices cannot cope with the characteristics of Big Data.</a:t>
            </a:r>
          </a:p>
          <a:p>
            <a:pPr lvl="0">
              <a:spcBef>
                <a:spcPts val="600"/>
              </a:spcBef>
            </a:pPr>
            <a:r>
              <a:rPr lang="en-US" sz="1200" i="1" dirty="0"/>
              <a:t>Many organizations lack the necessary architecture, analytics skills, and talents to benefit from the shift.</a:t>
            </a:r>
          </a:p>
          <a:p>
            <a:pPr lvl="0">
              <a:spcBef>
                <a:spcPts val="600"/>
              </a:spcBef>
            </a:pPr>
            <a:r>
              <a:rPr lang="en-US" sz="1200" i="1" dirty="0"/>
              <a:t>Application silos create a handicap in effectively enabling business with comprehensive information.</a:t>
            </a:r>
          </a:p>
          <a:p>
            <a:pPr marL="0" lvl="0" indent="0">
              <a:spcBef>
                <a:spcPts val="600"/>
              </a:spcBef>
              <a:buNone/>
            </a:pPr>
            <a:endParaRPr lang="en-US" sz="1200" dirty="0">
              <a:solidFill>
                <a:schemeClr val="accent2"/>
              </a:solidFill>
            </a:endParaRPr>
          </a:p>
        </p:txBody>
      </p:sp>
      <p:sp>
        <p:nvSpPr>
          <p:cNvPr id="7"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8"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31</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80376589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2663" y="1381863"/>
            <a:ext cx="3571875" cy="2381250"/>
          </a:xfrm>
          <a:prstGeom prst="rect">
            <a:avLst/>
          </a:prstGeom>
        </p:spPr>
      </p:pic>
      <p:sp>
        <p:nvSpPr>
          <p:cNvPr id="3" name="Title 2"/>
          <p:cNvSpPr>
            <a:spLocks noGrp="1"/>
          </p:cNvSpPr>
          <p:nvPr>
            <p:ph type="title"/>
          </p:nvPr>
        </p:nvSpPr>
        <p:spPr/>
        <p:txBody>
          <a:bodyPr/>
          <a:lstStyle/>
          <a:p>
            <a:r>
              <a:rPr lang="en-US" dirty="0" smtClean="0"/>
              <a:t>2.15 Module Summary</a:t>
            </a:r>
            <a:endParaRPr lang="en-US" dirty="0"/>
          </a:p>
        </p:txBody>
      </p:sp>
      <p:sp>
        <p:nvSpPr>
          <p:cNvPr id="4" name="Content Placeholder 3"/>
          <p:cNvSpPr>
            <a:spLocks noGrp="1"/>
          </p:cNvSpPr>
          <p:nvPr>
            <p:ph sz="quarter" idx="14"/>
          </p:nvPr>
        </p:nvSpPr>
        <p:spPr>
          <a:xfrm>
            <a:off x="455614" y="1371600"/>
            <a:ext cx="4060824" cy="2767263"/>
          </a:xfrm>
        </p:spPr>
        <p:txBody>
          <a:bodyPr/>
          <a:lstStyle/>
          <a:p>
            <a:pPr marL="0" indent="0">
              <a:buNone/>
            </a:pPr>
            <a:r>
              <a:rPr lang="en-US" sz="1200" b="1" dirty="0" smtClean="0">
                <a:solidFill>
                  <a:schemeClr val="accent6"/>
                </a:solidFill>
              </a:rPr>
              <a:t>The following key points were covered in this module:</a:t>
            </a:r>
            <a:endParaRPr lang="en-US" sz="1200" dirty="0">
              <a:solidFill>
                <a:schemeClr val="accent6"/>
              </a:solidFill>
            </a:endParaRPr>
          </a:p>
          <a:p>
            <a:pPr>
              <a:spcBef>
                <a:spcPts val="600"/>
              </a:spcBef>
              <a:buSzPct val="100000"/>
            </a:pPr>
            <a:r>
              <a:rPr lang="en-US" sz="1200" dirty="0"/>
              <a:t>There has been a shift in the size, type, and form of data and in the way that data is analyzed.</a:t>
            </a:r>
          </a:p>
          <a:p>
            <a:pPr>
              <a:spcBef>
                <a:spcPts val="600"/>
              </a:spcBef>
              <a:buSzPct val="100000"/>
            </a:pPr>
            <a:r>
              <a:rPr lang="en-US" sz="1200" dirty="0"/>
              <a:t>We differentiate Big Data from traditional data by one or more of the three V’s: Volume, Velocity, and Variety.</a:t>
            </a:r>
          </a:p>
          <a:p>
            <a:pPr>
              <a:spcBef>
                <a:spcPts val="600"/>
              </a:spcBef>
              <a:buSzPct val="100000"/>
            </a:pPr>
            <a:r>
              <a:rPr lang="en-US" sz="1200" dirty="0"/>
              <a:t>Big Data generally comes from social networks, traditional business systems, or the Internet of Things.</a:t>
            </a:r>
          </a:p>
          <a:p>
            <a:pPr>
              <a:spcBef>
                <a:spcPts val="600"/>
              </a:spcBef>
              <a:buSzPct val="100000"/>
            </a:pPr>
            <a:r>
              <a:rPr lang="en-US" sz="1200" dirty="0"/>
              <a:t>Organizations using traditional processing techniques are struggling to benefit from the onslaught of Big Data.</a:t>
            </a:r>
          </a:p>
          <a:p>
            <a:pPr>
              <a:spcBef>
                <a:spcPts val="600"/>
              </a:spcBef>
              <a:buSzPct val="100000"/>
            </a:pPr>
            <a:r>
              <a:rPr lang="en-US" sz="1200" dirty="0"/>
              <a:t>Data policies, skills, tools and technologies, data management, and organizational change are potential barriers to Big Data adoption.</a:t>
            </a:r>
          </a:p>
          <a:p>
            <a:pPr marL="0" indent="0">
              <a:buNone/>
            </a:pPr>
            <a:r>
              <a:rPr lang="en-US" sz="1200" dirty="0"/>
              <a:t/>
            </a:r>
            <a:br>
              <a:rPr lang="en-US" sz="1200" dirty="0"/>
            </a:br>
            <a:r>
              <a:rPr lang="en-US" sz="1200" dirty="0"/>
              <a:t> </a:t>
            </a:r>
            <a:br>
              <a:rPr lang="en-US" sz="1200" dirty="0"/>
            </a:br>
            <a:endParaRPr lang="en-US" sz="1200" dirty="0"/>
          </a:p>
        </p:txBody>
      </p:sp>
      <p:sp>
        <p:nvSpPr>
          <p:cNvPr id="8" name="Rectangle 7"/>
          <p:cNvSpPr/>
          <p:nvPr/>
        </p:nvSpPr>
        <p:spPr>
          <a:xfrm>
            <a:off x="381793" y="4018297"/>
            <a:ext cx="8502746" cy="2492990"/>
          </a:xfrm>
          <a:prstGeom prst="rect">
            <a:avLst/>
          </a:prstGeom>
        </p:spPr>
        <p:txBody>
          <a:bodyPr wrap="square">
            <a:spAutoFit/>
          </a:bodyPr>
          <a:lstStyle/>
          <a:p>
            <a:pPr marL="171450" indent="-171450">
              <a:buFont typeface="Arial" panose="020B0604020202020204" pitchFamily="34" charset="0"/>
              <a:buChar char="•"/>
            </a:pPr>
            <a:r>
              <a:rPr lang="en-US" sz="1200" dirty="0"/>
              <a:t>Big Data can provide significant potential value including:</a:t>
            </a:r>
          </a:p>
          <a:p>
            <a:pPr marL="628650" lvl="1" indent="-171450">
              <a:buFont typeface="Courier New" panose="02070309020205020404" pitchFamily="49" charset="0"/>
              <a:buChar char="o"/>
            </a:pPr>
            <a:r>
              <a:rPr lang="en-US" sz="1200" dirty="0"/>
              <a:t>Enhanced productivity and efficiency</a:t>
            </a:r>
          </a:p>
          <a:p>
            <a:pPr marL="628650" lvl="1" indent="-171450">
              <a:buFont typeface="Courier New" panose="02070309020205020404" pitchFamily="49" charset="0"/>
              <a:buChar char="o"/>
            </a:pPr>
            <a:r>
              <a:rPr lang="en-US" sz="1200" dirty="0"/>
              <a:t>Data driven insights</a:t>
            </a:r>
          </a:p>
          <a:p>
            <a:pPr marL="628650" lvl="1" indent="-171450">
              <a:buFont typeface="Courier New" panose="02070309020205020404" pitchFamily="49" charset="0"/>
              <a:buChar char="o"/>
            </a:pPr>
            <a:r>
              <a:rPr lang="en-US" sz="1200" dirty="0"/>
              <a:t>Better return on investment (ROI)</a:t>
            </a:r>
          </a:p>
          <a:p>
            <a:pPr marL="628650" lvl="1" indent="-171450">
              <a:buFont typeface="Courier New" panose="02070309020205020404" pitchFamily="49" charset="0"/>
              <a:buChar char="o"/>
            </a:pPr>
            <a:r>
              <a:rPr lang="en-US" sz="1200" dirty="0"/>
              <a:t>Innovative new business services</a:t>
            </a:r>
          </a:p>
          <a:p>
            <a:pPr marL="628650" lvl="1" indent="-171450">
              <a:buFont typeface="Courier New" panose="02070309020205020404" pitchFamily="49" charset="0"/>
              <a:buChar char="o"/>
            </a:pPr>
            <a:r>
              <a:rPr lang="en-US" sz="1200" dirty="0"/>
              <a:t>Capital cost reduction</a:t>
            </a:r>
          </a:p>
          <a:p>
            <a:pPr marL="628650" lvl="1" indent="-171450">
              <a:buFont typeface="Courier New" panose="02070309020205020404" pitchFamily="49" charset="0"/>
              <a:buChar char="o"/>
            </a:pPr>
            <a:r>
              <a:rPr lang="en-US" sz="1200" dirty="0"/>
              <a:t>Operational efficiency</a:t>
            </a:r>
          </a:p>
          <a:p>
            <a:pPr marL="628650" lvl="1" indent="-171450">
              <a:buFont typeface="Courier New" panose="02070309020205020404" pitchFamily="49" charset="0"/>
              <a:buChar char="o"/>
            </a:pPr>
            <a:r>
              <a:rPr lang="en-US" sz="1200" dirty="0"/>
              <a:t>Mission enhancements</a:t>
            </a:r>
          </a:p>
          <a:p>
            <a:pPr marL="171450" indent="-171450">
              <a:buFont typeface="Arial" panose="020B0604020202020204" pitchFamily="34" charset="0"/>
              <a:buChar char="•"/>
            </a:pPr>
            <a:r>
              <a:rPr lang="en-US" sz="1200" dirty="0"/>
              <a:t>Big Data application use cases across industries are broadly classified into four areas: converging unstructured data, low-cost storage and processing, advanced analytics and visualization, and real-time business intelligence.</a:t>
            </a:r>
          </a:p>
          <a:p>
            <a:pPr marL="171450" indent="-171450">
              <a:buFont typeface="Arial" panose="020B0604020202020204" pitchFamily="34" charset="0"/>
              <a:buChar char="•"/>
            </a:pPr>
            <a:r>
              <a:rPr lang="en-US" sz="1200" dirty="0"/>
              <a:t>Big Data impacts core business processes in every industry: resources, public sector, financial services, health, retail, and </a:t>
            </a:r>
            <a:r>
              <a:rPr lang="en-US" sz="1200" dirty="0" smtClean="0"/>
              <a:t>communications.</a:t>
            </a:r>
          </a:p>
          <a:p>
            <a:pPr marL="171450" indent="-171450">
              <a:buFont typeface="Arial" panose="020B0604020202020204" pitchFamily="34" charset="0"/>
              <a:buChar char="•"/>
            </a:pPr>
            <a:r>
              <a:rPr lang="en-US" sz="1200" dirty="0" smtClean="0"/>
              <a:t>Big </a:t>
            </a:r>
            <a:r>
              <a:rPr lang="en-US" sz="1200" dirty="0"/>
              <a:t>Data technologies can be used to organize imagery, multimedia, text, and other unstructured data.</a:t>
            </a:r>
          </a:p>
        </p:txBody>
      </p:sp>
      <p:sp>
        <p:nvSpPr>
          <p:cNvPr id="9"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10"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32</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6495099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Module 3: Big Data Technologies</a:t>
            </a:r>
            <a:endParaRPr lang="en-US" dirty="0"/>
          </a:p>
        </p:txBody>
      </p:sp>
    </p:spTree>
    <p:extLst>
      <p:ext uri="{BB962C8B-B14F-4D97-AF65-F5344CB8AC3E}">
        <p14:creationId xmlns:p14="http://schemas.microsoft.com/office/powerpoint/2010/main" val="219540163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2664" y="1371600"/>
            <a:ext cx="3571875" cy="2381250"/>
          </a:xfrm>
          <a:prstGeom prst="rect">
            <a:avLst/>
          </a:prstGeom>
        </p:spPr>
      </p:pic>
      <p:sp>
        <p:nvSpPr>
          <p:cNvPr id="3" name="Title 2"/>
          <p:cNvSpPr>
            <a:spLocks noGrp="1"/>
          </p:cNvSpPr>
          <p:nvPr>
            <p:ph type="title"/>
          </p:nvPr>
        </p:nvSpPr>
        <p:spPr/>
        <p:txBody>
          <a:bodyPr/>
          <a:lstStyle/>
          <a:p>
            <a:r>
              <a:rPr lang="en-US" dirty="0"/>
              <a:t>3</a:t>
            </a:r>
            <a:r>
              <a:rPr lang="en-US" dirty="0" smtClean="0"/>
              <a:t>.1 Module Introduction</a:t>
            </a:r>
            <a:endParaRPr lang="en-US" dirty="0"/>
          </a:p>
        </p:txBody>
      </p:sp>
      <p:sp>
        <p:nvSpPr>
          <p:cNvPr id="4" name="Content Placeholder 3"/>
          <p:cNvSpPr>
            <a:spLocks noGrp="1"/>
          </p:cNvSpPr>
          <p:nvPr>
            <p:ph sz="quarter" idx="14"/>
          </p:nvPr>
        </p:nvSpPr>
        <p:spPr>
          <a:xfrm>
            <a:off x="455614" y="1371600"/>
            <a:ext cx="4060824" cy="3487003"/>
          </a:xfrm>
        </p:spPr>
        <p:txBody>
          <a:bodyPr/>
          <a:lstStyle/>
          <a:p>
            <a:pPr marL="0" indent="0">
              <a:buNone/>
            </a:pPr>
            <a:r>
              <a:rPr lang="en-US" sz="1200" dirty="0"/>
              <a:t>Big Data requires exceptional technologies to quickly and efficiently process large quantities of data. A significant number of new technologies have emerged to harness and address Big Data. While many of these technologies are still immature, they are evolving quickly</a:t>
            </a:r>
            <a:r>
              <a:rPr lang="en-US" sz="1200" dirty="0" smtClean="0"/>
              <a:t>.</a:t>
            </a:r>
          </a:p>
          <a:p>
            <a:pPr marL="0" indent="0">
              <a:buNone/>
            </a:pPr>
            <a:r>
              <a:rPr lang="en-US" sz="1200" b="1" dirty="0" smtClean="0">
                <a:solidFill>
                  <a:schemeClr val="accent6"/>
                </a:solidFill>
              </a:rPr>
              <a:t>There </a:t>
            </a:r>
            <a:r>
              <a:rPr lang="en-US" sz="1200" b="1" dirty="0">
                <a:solidFill>
                  <a:schemeClr val="accent6"/>
                </a:solidFill>
              </a:rPr>
              <a:t>are seven primary needs that Big Data technologies address:</a:t>
            </a:r>
            <a:endParaRPr lang="en-US" sz="1200" dirty="0">
              <a:solidFill>
                <a:schemeClr val="accent6"/>
              </a:solidFill>
            </a:endParaRPr>
          </a:p>
          <a:p>
            <a:pPr>
              <a:spcBef>
                <a:spcPts val="600"/>
              </a:spcBef>
              <a:buSzPct val="100000"/>
            </a:pPr>
            <a:r>
              <a:rPr lang="en-US" sz="1200" dirty="0"/>
              <a:t>Distributed Storage and Processing</a:t>
            </a:r>
          </a:p>
          <a:p>
            <a:pPr>
              <a:spcBef>
                <a:spcPts val="600"/>
              </a:spcBef>
              <a:buSzPct val="100000"/>
            </a:pPr>
            <a:r>
              <a:rPr lang="en-US" sz="1200" dirty="0"/>
              <a:t>Low latency Non-Relational database (DB)</a:t>
            </a:r>
          </a:p>
          <a:p>
            <a:pPr>
              <a:spcBef>
                <a:spcPts val="600"/>
              </a:spcBef>
              <a:buSzPct val="100000"/>
            </a:pPr>
            <a:r>
              <a:rPr lang="en-US" sz="1200" dirty="0"/>
              <a:t>Streams and Complex Event Processing</a:t>
            </a:r>
          </a:p>
          <a:p>
            <a:pPr>
              <a:spcBef>
                <a:spcPts val="600"/>
              </a:spcBef>
              <a:buSzPct val="100000"/>
            </a:pPr>
            <a:r>
              <a:rPr lang="en-US" sz="1200" dirty="0"/>
              <a:t>Specialty Data Types</a:t>
            </a:r>
          </a:p>
          <a:p>
            <a:pPr>
              <a:spcBef>
                <a:spcPts val="600"/>
              </a:spcBef>
              <a:buSzPct val="100000"/>
            </a:pPr>
            <a:r>
              <a:rPr lang="en-US" sz="1200" dirty="0"/>
              <a:t>In-memory DB and Processing</a:t>
            </a:r>
          </a:p>
          <a:p>
            <a:pPr>
              <a:spcBef>
                <a:spcPts val="600"/>
              </a:spcBef>
              <a:buSzPct val="100000"/>
            </a:pPr>
            <a:r>
              <a:rPr lang="en-US" sz="1200" dirty="0"/>
              <a:t>Analytics DB and Appliances</a:t>
            </a:r>
          </a:p>
          <a:p>
            <a:pPr>
              <a:spcBef>
                <a:spcPts val="600"/>
              </a:spcBef>
              <a:buSzPct val="100000"/>
            </a:pPr>
            <a:r>
              <a:rPr lang="en-US" sz="1200" dirty="0"/>
              <a:t>Presentation and Reporting Layer</a:t>
            </a:r>
          </a:p>
          <a:p>
            <a:pPr marL="0" indent="0">
              <a:buNone/>
            </a:pPr>
            <a:r>
              <a:rPr lang="en-US" sz="1200" dirty="0"/>
              <a:t> </a:t>
            </a:r>
            <a:br>
              <a:rPr lang="en-US" sz="1200" dirty="0"/>
            </a:br>
            <a:endParaRPr lang="en-US" sz="1200" dirty="0"/>
          </a:p>
        </p:txBody>
      </p:sp>
      <p:sp>
        <p:nvSpPr>
          <p:cNvPr id="5" name="Rectangle 4"/>
          <p:cNvSpPr/>
          <p:nvPr/>
        </p:nvSpPr>
        <p:spPr>
          <a:xfrm>
            <a:off x="382769" y="4815849"/>
            <a:ext cx="8428925" cy="1015663"/>
          </a:xfrm>
          <a:prstGeom prst="rect">
            <a:avLst/>
          </a:prstGeom>
        </p:spPr>
        <p:txBody>
          <a:bodyPr wrap="square">
            <a:spAutoFit/>
          </a:bodyPr>
          <a:lstStyle/>
          <a:p>
            <a:r>
              <a:rPr lang="en-US" sz="1200" dirty="0">
                <a:latin typeface="Arial" panose="020B0604020202020204" pitchFamily="34" charset="0"/>
              </a:rPr>
              <a:t>Modern data technologies often specialize in one or two of these </a:t>
            </a:r>
            <a:r>
              <a:rPr lang="en-US" sz="1200" dirty="0" smtClean="0">
                <a:latin typeface="Arial" panose="020B0604020202020204" pitchFamily="34" charset="0"/>
              </a:rPr>
              <a:t>capabilities, while </a:t>
            </a:r>
            <a:r>
              <a:rPr lang="en-US" sz="1200" dirty="0">
                <a:latin typeface="Arial" panose="020B0604020202020204" pitchFamily="34" charset="0"/>
              </a:rPr>
              <a:t>successful enterprises use a combination of technologies to put together a comprehensive business solution.</a:t>
            </a:r>
            <a:r>
              <a:rPr lang="en-US" sz="1200" dirty="0"/>
              <a:t/>
            </a:r>
            <a:br>
              <a:rPr lang="en-US" sz="1200" dirty="0"/>
            </a:br>
            <a:r>
              <a:rPr lang="en-US" sz="1200" dirty="0">
                <a:latin typeface="Arial" panose="020B0604020202020204" pitchFamily="34" charset="0"/>
              </a:rPr>
              <a:t> </a:t>
            </a:r>
            <a:r>
              <a:rPr lang="en-US" sz="1200" dirty="0"/>
              <a:t/>
            </a:r>
            <a:br>
              <a:rPr lang="en-US" sz="1200" dirty="0"/>
            </a:br>
            <a:r>
              <a:rPr lang="en-US" sz="1200" b="1" dirty="0">
                <a:solidFill>
                  <a:srgbClr val="557799"/>
                </a:solidFill>
                <a:latin typeface="Arial" panose="020B0604020202020204" pitchFamily="34" charset="0"/>
              </a:rPr>
              <a:t>By the end of this module, you will be able to describe and give examples of technologies that support each of these capabilities.</a:t>
            </a:r>
            <a:endParaRPr lang="en-US" sz="1200" dirty="0"/>
          </a:p>
        </p:txBody>
      </p:sp>
      <p:sp>
        <p:nvSpPr>
          <p:cNvPr id="7"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9"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34</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29603544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3.2 Processing Big Data</a:t>
            </a:r>
            <a:endParaRPr lang="en-US" dirty="0"/>
          </a:p>
        </p:txBody>
      </p:sp>
      <p:sp>
        <p:nvSpPr>
          <p:cNvPr id="3" name="Content Placeholder 2"/>
          <p:cNvSpPr>
            <a:spLocks noGrp="1"/>
          </p:cNvSpPr>
          <p:nvPr>
            <p:ph sz="quarter" idx="14"/>
          </p:nvPr>
        </p:nvSpPr>
        <p:spPr>
          <a:xfrm>
            <a:off x="455613" y="1371600"/>
            <a:ext cx="8232775" cy="1238045"/>
          </a:xfrm>
        </p:spPr>
        <p:txBody>
          <a:bodyPr/>
          <a:lstStyle/>
          <a:p>
            <a:pPr marL="0" indent="0">
              <a:buNone/>
            </a:pPr>
            <a:r>
              <a:rPr lang="en-US" sz="1200" dirty="0"/>
              <a:t>Several vendors support data storage and processing needs. Google® pioneered a software framework called </a:t>
            </a:r>
            <a:r>
              <a:rPr lang="en-US" sz="1200" dirty="0" smtClean="0"/>
              <a:t>Hadoop </a:t>
            </a:r>
            <a:r>
              <a:rPr lang="en-US" sz="1200" dirty="0"/>
              <a:t>for processing petabyte-scale volumes of multi-structured data. </a:t>
            </a:r>
            <a:r>
              <a:rPr lang="en-US" sz="1200" dirty="0" smtClean="0"/>
              <a:t>Hadoop is a </a:t>
            </a:r>
            <a:r>
              <a:rPr lang="en-US" sz="1200" dirty="0"/>
              <a:t>collection of integrated cloud services—analytics, computing, database, mobile, networking, storage, and web—for moving faster, achieving more, and saving money. Servers are currently dominated by pure play, open source commercial vendors such as Cloudera® and Hortonworks®. Larger commercial firms see the potential to hook up with IBM® and Oracle® and their products. Cloud-based solutions are available from Amazon Web Services®. </a:t>
            </a:r>
          </a:p>
        </p:txBody>
      </p:sp>
      <p:graphicFrame>
        <p:nvGraphicFramePr>
          <p:cNvPr id="14" name="Table 13"/>
          <p:cNvGraphicFramePr>
            <a:graphicFrameLocks noGrp="1"/>
          </p:cNvGraphicFramePr>
          <p:nvPr>
            <p:extLst>
              <p:ext uri="{D42A27DB-BD31-4B8C-83A1-F6EECF244321}">
                <p14:modId xmlns:p14="http://schemas.microsoft.com/office/powerpoint/2010/main" val="1135714844"/>
              </p:ext>
            </p:extLst>
          </p:nvPr>
        </p:nvGraphicFramePr>
        <p:xfrm>
          <a:off x="455613" y="2664675"/>
          <a:ext cx="8128830" cy="3855720"/>
        </p:xfrm>
        <a:graphic>
          <a:graphicData uri="http://schemas.openxmlformats.org/drawingml/2006/table">
            <a:tbl>
              <a:tblPr firstRow="1" bandRow="1">
                <a:tableStyleId>{21E4AEA4-8DFA-4A89-87EB-49C32662AFE0}</a:tableStyleId>
              </a:tblPr>
              <a:tblGrid>
                <a:gridCol w="4064415"/>
                <a:gridCol w="4064415"/>
              </a:tblGrid>
              <a:tr h="370840">
                <a:tc>
                  <a:txBody>
                    <a:bodyPr/>
                    <a:lstStyle/>
                    <a:p>
                      <a:pPr algn="ctr"/>
                      <a:r>
                        <a:rPr lang="en-US" sz="1600" dirty="0" smtClean="0"/>
                        <a:t>Characteristics</a:t>
                      </a:r>
                      <a:endParaRPr lang="en-US" sz="1600" dirty="0"/>
                    </a:p>
                  </a:txBody>
                  <a:tcPr/>
                </a:tc>
                <a:tc>
                  <a:txBody>
                    <a:bodyPr/>
                    <a:lstStyle/>
                    <a:p>
                      <a:pPr algn="ctr"/>
                      <a:r>
                        <a:rPr lang="en-US" sz="1600" dirty="0" smtClean="0"/>
                        <a:t>Differences</a:t>
                      </a:r>
                      <a:endParaRPr lang="en-US" sz="1600" dirty="0"/>
                    </a:p>
                  </a:txBody>
                  <a:tcPr/>
                </a:tc>
              </a:tr>
              <a:tr h="370840">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Distributed fault-tolerant file system and massive data processing across a cluster of commodity servers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Batch processing primarily for throughput, not response time</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New frameworks allow for real-time data processing that can deliver rapid results </a:t>
                      </a:r>
                    </a:p>
                  </a:txBody>
                  <a:tcPr>
                    <a:solidFill>
                      <a:schemeClr val="bg1">
                        <a:lumMod val="95000"/>
                      </a:schemeClr>
                    </a:solidFill>
                  </a:tcPr>
                </a:tc>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Horizontal scalability of storage and processing on a variety of infrastructures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Highly efficient large-scale processing with shared nothing architecture</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Lowered cost of ownership through commodity hardware and open source</a:t>
                      </a:r>
                      <a:endParaRPr lang="en-US" sz="1200" dirty="0"/>
                    </a:p>
                  </a:txBody>
                  <a:tcPr>
                    <a:solidFill>
                      <a:schemeClr val="bg1">
                        <a:lumMod val="95000"/>
                      </a:schemeClr>
                    </a:solidFill>
                  </a:tcPr>
                </a:tc>
              </a:tr>
              <a:tr h="370840">
                <a:tc>
                  <a:txBody>
                    <a:bodyPr/>
                    <a:lstStyle/>
                    <a:p>
                      <a:pPr algn="ctr"/>
                      <a:endParaRPr lang="en-US" sz="1600" b="1" dirty="0">
                        <a:solidFill>
                          <a:schemeClr val="bg1"/>
                        </a:solidFill>
                      </a:endParaRPr>
                    </a:p>
                  </a:txBody>
                  <a:tcPr>
                    <a:solidFill>
                      <a:schemeClr val="bg1"/>
                    </a:solidFill>
                  </a:tcPr>
                </a:tc>
                <a:tc>
                  <a:txBody>
                    <a:bodyPr/>
                    <a:lstStyle/>
                    <a:p>
                      <a:pPr algn="ctr"/>
                      <a:endParaRPr lang="en-US" sz="1600" b="1" dirty="0" smtClean="0">
                        <a:solidFill>
                          <a:schemeClr val="bg1"/>
                        </a:solidFill>
                      </a:endParaRPr>
                    </a:p>
                  </a:txBody>
                  <a:tcPr>
                    <a:solidFill>
                      <a:schemeClr val="bg1"/>
                    </a:solidFill>
                  </a:tcPr>
                </a:tc>
              </a:tr>
              <a:tr h="370840">
                <a:tc>
                  <a:txBody>
                    <a:bodyPr/>
                    <a:lstStyle/>
                    <a:p>
                      <a:pPr algn="ctr"/>
                      <a:r>
                        <a:rPr lang="en-US" sz="1600" b="1" dirty="0" smtClean="0">
                          <a:solidFill>
                            <a:schemeClr val="bg1"/>
                          </a:solidFill>
                        </a:rPr>
                        <a:t>Uses</a:t>
                      </a:r>
                      <a:endParaRPr lang="en-US" sz="1600" b="1" dirty="0">
                        <a:solidFill>
                          <a:schemeClr val="bg1"/>
                        </a:solidFill>
                      </a:endParaRPr>
                    </a:p>
                  </a:txBody>
                  <a:tcPr>
                    <a:solidFill>
                      <a:schemeClr val="accent2"/>
                    </a:solidFill>
                  </a:tcPr>
                </a:tc>
                <a:tc>
                  <a:txBody>
                    <a:bodyPr/>
                    <a:lstStyle/>
                    <a:p>
                      <a:pPr algn="ctr"/>
                      <a:r>
                        <a:rPr lang="en-US" sz="1600" b="1" dirty="0" smtClean="0">
                          <a:solidFill>
                            <a:schemeClr val="bg1"/>
                          </a:solidFill>
                        </a:rPr>
                        <a:t>Products/Vendors</a:t>
                      </a:r>
                      <a:endParaRPr lang="en-US" sz="1600" b="1" dirty="0">
                        <a:solidFill>
                          <a:schemeClr val="bg1"/>
                        </a:solidFill>
                      </a:endParaRPr>
                    </a:p>
                  </a:txBody>
                  <a:tcPr>
                    <a:solidFill>
                      <a:schemeClr val="accent2"/>
                    </a:solidFill>
                  </a:tcPr>
                </a:tc>
              </a:tr>
              <a:tr h="370840">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Avoid data regret and store/consolidate years of raw data at a low cost</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Avoid commercial licensing costs for storing and processing huge volumes of data</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Use as a low-cost data sandbox for Business Intelligence (BI)</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Use as a pre-processing engine for raw data ahead of a data warehouse </a:t>
                      </a:r>
                    </a:p>
                  </a:txBody>
                  <a:tcPr>
                    <a:solidFill>
                      <a:schemeClr val="bg1">
                        <a:lumMod val="95000"/>
                      </a:schemeClr>
                    </a:solidFill>
                  </a:tcPr>
                </a:tc>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Hadoop®, YARN, Cassandra, NoSQL, and Spark™</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Cloudera®, </a:t>
                      </a:r>
                      <a:r>
                        <a:rPr lang="en-US" sz="1200" b="0" i="0" kern="1200" dirty="0" err="1" smtClean="0">
                          <a:solidFill>
                            <a:schemeClr val="dk1"/>
                          </a:solidFill>
                          <a:effectLst/>
                          <a:latin typeface="+mn-lt"/>
                          <a:ea typeface="+mn-ea"/>
                          <a:cs typeface="+mn-cs"/>
                        </a:rPr>
                        <a:t>DataStax</a:t>
                      </a:r>
                      <a:r>
                        <a:rPr lang="en-US" sz="1200" b="0" i="0" kern="1200" dirty="0" smtClean="0">
                          <a:solidFill>
                            <a:schemeClr val="dk1"/>
                          </a:solidFill>
                          <a:effectLst/>
                          <a:latin typeface="+mn-lt"/>
                          <a:ea typeface="+mn-ea"/>
                          <a:cs typeface="+mn-cs"/>
                        </a:rPr>
                        <a:t>®, Hortonworks®, </a:t>
                      </a:r>
                      <a:r>
                        <a:rPr lang="en-US" sz="1200" b="0" i="0" kern="1200" dirty="0" err="1" smtClean="0">
                          <a:solidFill>
                            <a:schemeClr val="dk1"/>
                          </a:solidFill>
                          <a:effectLst/>
                          <a:latin typeface="+mn-lt"/>
                          <a:ea typeface="+mn-ea"/>
                          <a:cs typeface="+mn-cs"/>
                        </a:rPr>
                        <a:t>Databricks</a:t>
                      </a:r>
                      <a:r>
                        <a:rPr lang="en-US" sz="1200" b="0" i="0" kern="1200" dirty="0" smtClean="0">
                          <a:solidFill>
                            <a:schemeClr val="dk1"/>
                          </a:solidFill>
                          <a:effectLst/>
                          <a:latin typeface="+mn-lt"/>
                          <a:ea typeface="+mn-ea"/>
                          <a:cs typeface="+mn-cs"/>
                        </a:rPr>
                        <a:t>™, and IBM® </a:t>
                      </a:r>
                      <a:r>
                        <a:rPr lang="en-US" sz="1200" b="0" i="0" kern="1200" dirty="0" err="1" smtClean="0">
                          <a:solidFill>
                            <a:schemeClr val="dk1"/>
                          </a:solidFill>
                          <a:effectLst/>
                          <a:latin typeface="+mn-lt"/>
                          <a:ea typeface="+mn-ea"/>
                          <a:cs typeface="+mn-cs"/>
                        </a:rPr>
                        <a:t>BigInsights</a:t>
                      </a:r>
                      <a:r>
                        <a:rPr lang="en-US" sz="1200" b="0" i="0" kern="1200" dirty="0" smtClean="0">
                          <a:solidFill>
                            <a:schemeClr val="dk1"/>
                          </a:solidFill>
                          <a:effectLst/>
                          <a:latin typeface="+mn-lt"/>
                          <a:ea typeface="+mn-ea"/>
                          <a:cs typeface="+mn-cs"/>
                        </a:rPr>
                        <a:t>™</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Amazon Web Services (AWS)™, Microsoft® Azure, and Google™ Cloud Platform</a:t>
                      </a:r>
                      <a:endParaRPr lang="en-US" dirty="0"/>
                    </a:p>
                  </a:txBody>
                  <a:tcPr>
                    <a:solidFill>
                      <a:schemeClr val="bg1">
                        <a:lumMod val="95000"/>
                      </a:schemeClr>
                    </a:solidFill>
                  </a:tcPr>
                </a:tc>
              </a:tr>
            </a:tbl>
          </a:graphicData>
        </a:graphic>
      </p:graphicFrame>
      <p:sp>
        <p:nvSpPr>
          <p:cNvPr id="6"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35</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411013420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3.3 Storing Big Data</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Apache® Hadoop® is one of the leading frameworks for data </a:t>
            </a:r>
            <a:r>
              <a:rPr lang="en-US" sz="1200" dirty="0" smtClean="0"/>
              <a:t>storage. </a:t>
            </a:r>
            <a:r>
              <a:rPr lang="en-US" sz="1200" dirty="0"/>
              <a:t>Each of the following frameworks address different Big Data storage </a:t>
            </a:r>
            <a:r>
              <a:rPr lang="en-US" sz="1200" dirty="0" smtClean="0"/>
              <a:t>requirements</a:t>
            </a:r>
            <a:r>
              <a:rPr lang="en-US" sz="1200" dirty="0"/>
              <a:t>. </a:t>
            </a:r>
          </a:p>
        </p:txBody>
      </p:sp>
      <p:graphicFrame>
        <p:nvGraphicFramePr>
          <p:cNvPr id="14" name="Table 13"/>
          <p:cNvGraphicFramePr>
            <a:graphicFrameLocks noGrp="1"/>
          </p:cNvGraphicFramePr>
          <p:nvPr>
            <p:extLst>
              <p:ext uri="{D42A27DB-BD31-4B8C-83A1-F6EECF244321}">
                <p14:modId xmlns:p14="http://schemas.microsoft.com/office/powerpoint/2010/main" val="1207572843"/>
              </p:ext>
            </p:extLst>
          </p:nvPr>
        </p:nvGraphicFramePr>
        <p:xfrm>
          <a:off x="455613" y="2207471"/>
          <a:ext cx="8128830" cy="2758440"/>
        </p:xfrm>
        <a:graphic>
          <a:graphicData uri="http://schemas.openxmlformats.org/drawingml/2006/table">
            <a:tbl>
              <a:tblPr firstRow="1" bandRow="1">
                <a:tableStyleId>{21E4AEA4-8DFA-4A89-87EB-49C32662AFE0}</a:tableStyleId>
              </a:tblPr>
              <a:tblGrid>
                <a:gridCol w="4064415"/>
                <a:gridCol w="4064415"/>
              </a:tblGrid>
              <a:tr h="370840">
                <a:tc>
                  <a:txBody>
                    <a:bodyPr/>
                    <a:lstStyle/>
                    <a:p>
                      <a:pPr algn="ctr"/>
                      <a:r>
                        <a:rPr lang="en-US" sz="1600" dirty="0" smtClean="0"/>
                        <a:t>Hadoop®</a:t>
                      </a:r>
                      <a:endParaRPr lang="en-US" sz="1600" dirty="0"/>
                    </a:p>
                  </a:txBody>
                  <a:tcPr/>
                </a:tc>
                <a:tc>
                  <a:txBody>
                    <a:bodyPr/>
                    <a:lstStyle/>
                    <a:p>
                      <a:pPr algn="ctr"/>
                      <a:r>
                        <a:rPr lang="en-US" sz="1600" dirty="0" smtClean="0"/>
                        <a:t>Hadoop® Distribution</a:t>
                      </a:r>
                      <a:r>
                        <a:rPr lang="en-US" sz="1600" baseline="0" dirty="0" smtClean="0"/>
                        <a:t> and Ecosystem</a:t>
                      </a:r>
                      <a:endParaRPr lang="en-US" sz="1600" dirty="0"/>
                    </a:p>
                  </a:txBody>
                  <a:tcPr/>
                </a:tc>
              </a:tr>
              <a:tr h="370840">
                <a:tc>
                  <a:txBody>
                    <a:bodyPr/>
                    <a:lstStyle/>
                    <a:p>
                      <a:pPr marL="0" indent="0">
                        <a:buFont typeface="Arial" panose="020B0604020202020204" pitchFamily="34" charset="0"/>
                        <a:buNone/>
                      </a:pPr>
                      <a:r>
                        <a:rPr lang="en-US" sz="1200" b="0" i="0" kern="1200" dirty="0" smtClean="0">
                          <a:solidFill>
                            <a:schemeClr val="dk1"/>
                          </a:solidFill>
                          <a:effectLst/>
                          <a:latin typeface="+mn-lt"/>
                          <a:ea typeface="+mn-ea"/>
                          <a:cs typeface="+mn-cs"/>
                        </a:rPr>
                        <a:t>The Apache® Hadoop® software library is a framework that allows for the distributed processing of large data sets across clusters of computers using a simple programming model. Hadoop® scales linearly, in that multiplying the number of hosts in your cluster cuts computation time proportionately.</a:t>
                      </a:r>
                    </a:p>
                  </a:txBody>
                  <a:tcPr>
                    <a:solidFill>
                      <a:schemeClr val="bg1">
                        <a:lumMod val="95000"/>
                      </a:schemeClr>
                    </a:solidFill>
                  </a:tcPr>
                </a:tc>
                <a:tc>
                  <a:txBody>
                    <a:bodyPr/>
                    <a:lstStyle/>
                    <a:p>
                      <a:pPr marL="0" indent="0">
                        <a:buFont typeface="Arial" panose="020B0604020202020204" pitchFamily="34" charset="0"/>
                        <a:buNone/>
                      </a:pPr>
                      <a:r>
                        <a:rPr lang="en-US" sz="1200" dirty="0" smtClean="0"/>
                        <a:t>The Hadoop® Distribution and Ecosystem framework is a collection of tools over HDFS/MapReduce, sometimes distributed by a vendor, for building Big Data applications. </a:t>
                      </a:r>
                      <a:endParaRPr lang="en-US" sz="1200" dirty="0"/>
                    </a:p>
                  </a:txBody>
                  <a:tcPr>
                    <a:solidFill>
                      <a:schemeClr val="bg1">
                        <a:lumMod val="95000"/>
                      </a:schemeClr>
                    </a:solidFill>
                  </a:tcPr>
                </a:tc>
              </a:tr>
              <a:tr h="370840">
                <a:tc>
                  <a:txBody>
                    <a:bodyPr/>
                    <a:lstStyle/>
                    <a:p>
                      <a:pPr algn="ctr"/>
                      <a:endParaRPr lang="en-US" sz="1600" b="1" dirty="0">
                        <a:solidFill>
                          <a:schemeClr val="bg1"/>
                        </a:solidFill>
                      </a:endParaRPr>
                    </a:p>
                  </a:txBody>
                  <a:tcPr>
                    <a:solidFill>
                      <a:schemeClr val="bg1"/>
                    </a:solidFill>
                  </a:tcPr>
                </a:tc>
                <a:tc>
                  <a:txBody>
                    <a:bodyPr/>
                    <a:lstStyle/>
                    <a:p>
                      <a:pPr algn="ctr"/>
                      <a:endParaRPr lang="en-US" sz="1600" b="1" dirty="0" smtClean="0">
                        <a:solidFill>
                          <a:schemeClr val="bg1"/>
                        </a:solidFill>
                      </a:endParaRPr>
                    </a:p>
                  </a:txBody>
                  <a:tcPr>
                    <a:solidFill>
                      <a:schemeClr val="bg1"/>
                    </a:solidFill>
                  </a:tcPr>
                </a:tc>
              </a:tr>
              <a:tr h="370840">
                <a:tc>
                  <a:txBody>
                    <a:bodyPr/>
                    <a:lstStyle/>
                    <a:p>
                      <a:pPr algn="ctr"/>
                      <a:r>
                        <a:rPr lang="en-US" sz="1600" b="1" dirty="0" smtClean="0">
                          <a:solidFill>
                            <a:schemeClr val="bg1"/>
                          </a:solidFill>
                        </a:rPr>
                        <a:t>HDFS</a:t>
                      </a:r>
                      <a:endParaRPr lang="en-US" sz="1600" b="1" dirty="0">
                        <a:solidFill>
                          <a:schemeClr val="bg1"/>
                        </a:solidFill>
                      </a:endParaRPr>
                    </a:p>
                  </a:txBody>
                  <a:tcPr>
                    <a:solidFill>
                      <a:schemeClr val="accent2"/>
                    </a:solidFill>
                  </a:tcPr>
                </a:tc>
                <a:tc>
                  <a:txBody>
                    <a:bodyPr/>
                    <a:lstStyle/>
                    <a:p>
                      <a:pPr algn="ctr"/>
                      <a:r>
                        <a:rPr lang="en-US" sz="1600" b="1" dirty="0" smtClean="0">
                          <a:solidFill>
                            <a:schemeClr val="bg1"/>
                          </a:solidFill>
                        </a:rPr>
                        <a:t>MapReduce</a:t>
                      </a:r>
                      <a:endParaRPr lang="en-US" sz="1600" b="1" dirty="0">
                        <a:solidFill>
                          <a:schemeClr val="bg1"/>
                        </a:solidFill>
                      </a:endParaRPr>
                    </a:p>
                  </a:txBody>
                  <a:tcPr>
                    <a:solidFill>
                      <a:schemeClr val="accent2"/>
                    </a:solidFill>
                  </a:tcPr>
                </a:tc>
              </a:tr>
              <a:tr h="370840">
                <a:tc>
                  <a:txBody>
                    <a:bodyPr/>
                    <a:lstStyle/>
                    <a:p>
                      <a:pPr marL="0" indent="0">
                        <a:buFont typeface="Arial" panose="020B0604020202020204" pitchFamily="34" charset="0"/>
                        <a:buNone/>
                      </a:pPr>
                      <a:r>
                        <a:rPr lang="en-US" sz="1200" b="0" i="0" kern="1200" dirty="0" smtClean="0">
                          <a:solidFill>
                            <a:schemeClr val="dk1"/>
                          </a:solidFill>
                          <a:effectLst/>
                          <a:latin typeface="+mn-lt"/>
                          <a:ea typeface="+mn-ea"/>
                          <a:cs typeface="+mn-cs"/>
                        </a:rPr>
                        <a:t>HDFS is a distributed, fault-tolerant file system used to back the computation of Big Data.</a:t>
                      </a:r>
                    </a:p>
                  </a:txBody>
                  <a:tcPr>
                    <a:solidFill>
                      <a:schemeClr val="bg1">
                        <a:lumMod val="95000"/>
                      </a:schemeClr>
                    </a:solidFill>
                  </a:tcPr>
                </a:tc>
                <a:tc>
                  <a:txBody>
                    <a:bodyPr/>
                    <a:lstStyle/>
                    <a:p>
                      <a:pPr marL="0" indent="0">
                        <a:buFont typeface="Arial" panose="020B0604020202020204" pitchFamily="34" charset="0"/>
                        <a:buNone/>
                      </a:pPr>
                      <a:r>
                        <a:rPr lang="en-US" sz="1200" dirty="0" smtClean="0"/>
                        <a:t>MapReduce​ is a distributed, fault-tolerant, parallel programming paradigm.</a:t>
                      </a:r>
                      <a:endParaRPr lang="en-US" sz="1200" dirty="0"/>
                    </a:p>
                  </a:txBody>
                  <a:tcPr>
                    <a:solidFill>
                      <a:schemeClr val="bg1">
                        <a:lumMod val="95000"/>
                      </a:schemeClr>
                    </a:solidFill>
                  </a:tcPr>
                </a:tc>
              </a:tr>
            </a:tbl>
          </a:graphicData>
        </a:graphic>
      </p:graphicFrame>
      <p:sp>
        <p:nvSpPr>
          <p:cNvPr id="6"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36</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66286604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3.4 </a:t>
            </a:r>
            <a:r>
              <a:rPr lang="en-US" dirty="0"/>
              <a:t>Apache</a:t>
            </a:r>
            <a:r>
              <a:rPr lang="en-US" baseline="30000" dirty="0"/>
              <a:t>®</a:t>
            </a:r>
            <a:r>
              <a:rPr lang="en-US" dirty="0"/>
              <a:t> Spark</a:t>
            </a:r>
            <a:r>
              <a:rPr lang="en-US" baseline="30000" dirty="0"/>
              <a:t>™</a:t>
            </a:r>
            <a:endParaRPr lang="en-US" dirty="0"/>
          </a:p>
        </p:txBody>
      </p:sp>
      <p:sp>
        <p:nvSpPr>
          <p:cNvPr id="3" name="Content Placeholder 2"/>
          <p:cNvSpPr>
            <a:spLocks noGrp="1"/>
          </p:cNvSpPr>
          <p:nvPr>
            <p:ph sz="quarter" idx="14"/>
          </p:nvPr>
        </p:nvSpPr>
        <p:spPr/>
        <p:txBody>
          <a:bodyPr/>
          <a:lstStyle/>
          <a:p>
            <a:pPr marL="0" indent="0">
              <a:buNone/>
            </a:pPr>
            <a:r>
              <a:rPr lang="en-US" sz="1200" dirty="0"/>
              <a:t>The Spark™ framework performs general data analytics on distributed computing clusters like Hadoop®. It provides in-memory computations for increased speed and data processing over </a:t>
            </a:r>
            <a:r>
              <a:rPr lang="en-US" sz="1200" dirty="0" smtClean="0"/>
              <a:t>MapReduce. </a:t>
            </a:r>
            <a:r>
              <a:rPr lang="en-US" sz="1200" dirty="0"/>
              <a:t>It runs on top of an existing Hadoop® cluster, can access the Hadoop® data store (HDFS), and can process structured data in Hive™ and streaming data from sources such as HDFS, Apache® </a:t>
            </a:r>
            <a:r>
              <a:rPr lang="en-US" sz="1200" dirty="0" smtClean="0"/>
              <a:t>Flume™</a:t>
            </a:r>
            <a:r>
              <a:rPr lang="en-US" sz="1200" dirty="0"/>
              <a:t>, Kafka, and Twitter®.</a:t>
            </a:r>
            <a:br>
              <a:rPr lang="en-US" sz="1200" dirty="0"/>
            </a:br>
            <a:endParaRPr lang="en-US" sz="1200" dirty="0" smtClean="0"/>
          </a:p>
          <a:p>
            <a:pPr marL="0" indent="0">
              <a:buNone/>
            </a:pPr>
            <a:r>
              <a:rPr lang="en-US" sz="1200" b="1" dirty="0" smtClean="0">
                <a:solidFill>
                  <a:schemeClr val="accent6"/>
                </a:solidFill>
              </a:rPr>
              <a:t>Apache </a:t>
            </a:r>
            <a:r>
              <a:rPr lang="en-US" sz="1200" b="1" dirty="0">
                <a:solidFill>
                  <a:schemeClr val="accent6"/>
                </a:solidFill>
              </a:rPr>
              <a:t>Spark™ features include:</a:t>
            </a:r>
            <a:endParaRPr lang="en-US" sz="1200" dirty="0">
              <a:solidFill>
                <a:schemeClr val="accent6"/>
              </a:solidFill>
            </a:endParaRPr>
          </a:p>
          <a:p>
            <a:pPr>
              <a:spcBef>
                <a:spcPts val="600"/>
              </a:spcBef>
              <a:buSzPct val="100000"/>
            </a:pPr>
            <a:r>
              <a:rPr lang="en-US" sz="1200" dirty="0"/>
              <a:t>Speed: With Spark™, applications in Hadoop® clusters run up to 100 times faster in memory, and 10 times faster when running on disk.</a:t>
            </a:r>
          </a:p>
          <a:p>
            <a:pPr>
              <a:spcBef>
                <a:spcPts val="600"/>
              </a:spcBef>
              <a:buSzPct val="100000"/>
            </a:pPr>
            <a:r>
              <a:rPr lang="en-US" sz="1200" dirty="0"/>
              <a:t>Ease of Use: Spark™ lets you quickly write applications in Java®, Scala, or Python™.</a:t>
            </a:r>
          </a:p>
          <a:p>
            <a:pPr>
              <a:spcBef>
                <a:spcPts val="600"/>
              </a:spcBef>
              <a:buSzPct val="100000"/>
            </a:pPr>
            <a:r>
              <a:rPr lang="en-US" sz="1200" dirty="0"/>
              <a:t>Combines SQL, Streaming, and Complex Analytics: In addition to simple “map” and “reduce” operations, Spark™ supports SQL queries, streaming data, and complex analytics such as machine learning and graph algorithms out-of-the-box.</a:t>
            </a:r>
          </a:p>
          <a:p>
            <a:pPr>
              <a:spcBef>
                <a:spcPts val="600"/>
              </a:spcBef>
              <a:buSzPct val="100000"/>
            </a:pPr>
            <a:r>
              <a:rPr lang="en-US" sz="1200" dirty="0"/>
              <a:t>Runs Everywhere: Spark™ is designed to run on different platforms like Hadoop® or Apache® </a:t>
            </a:r>
            <a:r>
              <a:rPr lang="en-US" sz="1200" dirty="0" err="1"/>
              <a:t>Mesos</a:t>
            </a:r>
            <a:r>
              <a:rPr lang="en-US" sz="1200" dirty="0"/>
              <a:t>™. It can also run standalone or in the cloud. Spark™ can access HDFS, Cassandra, </a:t>
            </a:r>
            <a:r>
              <a:rPr lang="en-US" sz="1200" dirty="0" err="1"/>
              <a:t>HBase</a:t>
            </a:r>
            <a:r>
              <a:rPr lang="en-US" sz="1200" dirty="0"/>
              <a:t>™, S3®, and other various data sources.</a:t>
            </a:r>
          </a:p>
          <a:p>
            <a:pPr marL="0" indent="0">
              <a:buNone/>
            </a:pPr>
            <a:endParaRPr lang="en-US" sz="12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3188" y="4572000"/>
            <a:ext cx="3857625" cy="1868805"/>
          </a:xfrm>
          <a:prstGeom prst="rect">
            <a:avLst/>
          </a:prstGeom>
        </p:spPr>
      </p:pic>
      <p:sp>
        <p:nvSpPr>
          <p:cNvPr id="6"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37</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209907190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3.5 </a:t>
            </a:r>
            <a:r>
              <a:rPr lang="en-US" dirty="0"/>
              <a:t>Comparing Spark™ and </a:t>
            </a:r>
            <a:r>
              <a:rPr lang="en-US" dirty="0" smtClean="0"/>
              <a:t>MapReduce</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b="1" dirty="0">
                <a:solidFill>
                  <a:schemeClr val="accent6"/>
                </a:solidFill>
              </a:rPr>
              <a:t>Let’s take a closer look at how </a:t>
            </a:r>
            <a:r>
              <a:rPr lang="en-US" sz="1200" b="1" dirty="0" smtClean="0">
                <a:solidFill>
                  <a:schemeClr val="accent6"/>
                </a:solidFill>
              </a:rPr>
              <a:t>MapReduce </a:t>
            </a:r>
            <a:r>
              <a:rPr lang="en-US" sz="1200" b="1" dirty="0">
                <a:solidFill>
                  <a:schemeClr val="accent6"/>
                </a:solidFill>
              </a:rPr>
              <a:t>and Spark™ compare</a:t>
            </a:r>
            <a:r>
              <a:rPr lang="en-US" sz="1200" b="1" dirty="0" smtClean="0">
                <a:solidFill>
                  <a:schemeClr val="accent6"/>
                </a:solidFill>
              </a:rPr>
              <a:t>:</a:t>
            </a:r>
          </a:p>
          <a:p>
            <a:pPr>
              <a:spcBef>
                <a:spcPts val="600"/>
              </a:spcBef>
              <a:buSzPct val="100000"/>
            </a:pPr>
            <a:r>
              <a:rPr lang="en-US" sz="1200" dirty="0" smtClean="0"/>
              <a:t>Faster </a:t>
            </a:r>
            <a:r>
              <a:rPr lang="en-US" sz="1200" dirty="0"/>
              <a:t>Performance: Spark™ handles batch-processing jobs up to one hundred times faster </a:t>
            </a:r>
            <a:r>
              <a:rPr lang="en-US" sz="1200" dirty="0" smtClean="0"/>
              <a:t>than MapReduce. </a:t>
            </a:r>
            <a:r>
              <a:rPr lang="en-US" sz="1200" dirty="0"/>
              <a:t>It simply cuts down the number of treads and writes to the disc.</a:t>
            </a:r>
          </a:p>
          <a:p>
            <a:pPr>
              <a:spcBef>
                <a:spcPts val="600"/>
              </a:spcBef>
              <a:buSzPct val="100000"/>
            </a:pPr>
            <a:r>
              <a:rPr lang="en-US" sz="1200" dirty="0"/>
              <a:t>Management </a:t>
            </a:r>
            <a:r>
              <a:rPr lang="en-US" sz="1200" dirty="0" smtClean="0"/>
              <a:t>Made </a:t>
            </a:r>
            <a:r>
              <a:rPr lang="en-US" sz="1200" dirty="0"/>
              <a:t>E</a:t>
            </a:r>
            <a:r>
              <a:rPr lang="en-US" sz="1200" dirty="0" smtClean="0"/>
              <a:t>asy</a:t>
            </a:r>
            <a:r>
              <a:rPr lang="en-US" sz="1200" dirty="0"/>
              <a:t>: Spark™ allows users to perform streaming, batch processing, and machine learning in the same cluster. This simplifies data processing and makes the infrastructure easier to manage.</a:t>
            </a:r>
          </a:p>
          <a:p>
            <a:pPr>
              <a:spcBef>
                <a:spcPts val="600"/>
              </a:spcBef>
              <a:buSzPct val="100000"/>
            </a:pPr>
            <a:r>
              <a:rPr lang="en-US" sz="1200" dirty="0"/>
              <a:t>Real-time Stream Processing: Hadoop® </a:t>
            </a:r>
            <a:r>
              <a:rPr lang="en-US" sz="1200" dirty="0" smtClean="0"/>
              <a:t>MapReduce </a:t>
            </a:r>
            <a:r>
              <a:rPr lang="en-US" sz="1200" dirty="0"/>
              <a:t>typically processes stored data, but Spark™ enables real-time data modification through Spark™ Streaming.</a:t>
            </a:r>
          </a:p>
          <a:p>
            <a:pPr>
              <a:spcBef>
                <a:spcPts val="600"/>
              </a:spcBef>
              <a:buSzPct val="100000"/>
            </a:pPr>
            <a:r>
              <a:rPr lang="en-US" sz="1200" dirty="0"/>
              <a:t>Caching: Spark™ caches partial computation results across its memory of distributed workers, which ensures lower latency computations. </a:t>
            </a:r>
            <a:r>
              <a:rPr lang="en-US" sz="1200" dirty="0" smtClean="0"/>
              <a:t>MapReduce </a:t>
            </a:r>
            <a:r>
              <a:rPr lang="en-US" sz="1200" dirty="0"/>
              <a:t>computations are completely disk oriented.</a:t>
            </a:r>
          </a:p>
          <a:p>
            <a:pPr>
              <a:spcBef>
                <a:spcPts val="600"/>
              </a:spcBef>
              <a:buSzPct val="100000"/>
            </a:pPr>
            <a:r>
              <a:rPr lang="en-US" sz="1200" dirty="0"/>
              <a:t>Easy to Use: Writing Spark™ code is more compact when compared to </a:t>
            </a:r>
            <a:r>
              <a:rPr lang="en-US" sz="1200" dirty="0" smtClean="0"/>
              <a:t>MapReduce.</a:t>
            </a:r>
            <a:r>
              <a:rPr lang="en-US" sz="1200" dirty="0"/>
              <a:t> </a:t>
            </a:r>
          </a:p>
          <a:p>
            <a:pPr marL="0" indent="0">
              <a:spcBef>
                <a:spcPts val="600"/>
              </a:spcBef>
              <a:buSzPct val="100000"/>
              <a:buNone/>
            </a:pPr>
            <a:endParaRPr lang="en-US" sz="1200" dirty="0" smtClean="0"/>
          </a:p>
          <a:p>
            <a:pPr marL="0" indent="0">
              <a:spcBef>
                <a:spcPts val="600"/>
              </a:spcBef>
              <a:buSzPct val="100000"/>
              <a:buNone/>
            </a:pPr>
            <a:r>
              <a:rPr lang="en-US" sz="1200" dirty="0" smtClean="0"/>
              <a:t>Consult </a:t>
            </a:r>
            <a:r>
              <a:rPr lang="en-US" sz="1200" dirty="0"/>
              <a:t>the table below for a summary comparison of </a:t>
            </a:r>
            <a:r>
              <a:rPr lang="en-US" sz="1200" dirty="0" smtClean="0"/>
              <a:t>MapReduce </a:t>
            </a:r>
            <a:r>
              <a:rPr lang="en-US" sz="1200" dirty="0"/>
              <a:t>and Spark™</a:t>
            </a:r>
            <a:r>
              <a:rPr lang="en-US" sz="1200" dirty="0" smtClean="0"/>
              <a:t>.</a:t>
            </a:r>
          </a:p>
          <a:p>
            <a:pPr marL="0" indent="0">
              <a:spcBef>
                <a:spcPts val="600"/>
              </a:spcBef>
              <a:buSzPct val="100000"/>
              <a:buNone/>
            </a:pPr>
            <a:endParaRPr lang="en-US" sz="1200" dirty="0"/>
          </a:p>
        </p:txBody>
      </p:sp>
      <p:sp>
        <p:nvSpPr>
          <p:cNvPr id="4" name="Footer Placeholder 3"/>
          <p:cNvSpPr>
            <a:spLocks noGrp="1"/>
          </p:cNvSpPr>
          <p:nvPr>
            <p:ph type="ftr" sz="quarter" idx="15"/>
          </p:nvPr>
        </p:nvSpPr>
        <p:spPr/>
        <p:txBody>
          <a:bodyPr/>
          <a:lstStyle/>
          <a:p>
            <a:r>
              <a:rPr lang="en-US" dirty="0" smtClean="0"/>
              <a:t>Copyright © 2015 Accenture  All rights reserved.</a:t>
            </a:r>
            <a:endParaRPr lang="en-AU" dirty="0"/>
          </a:p>
        </p:txBody>
      </p:sp>
      <p:graphicFrame>
        <p:nvGraphicFramePr>
          <p:cNvPr id="14" name="Table 13"/>
          <p:cNvGraphicFramePr>
            <a:graphicFrameLocks noGrp="1"/>
          </p:cNvGraphicFramePr>
          <p:nvPr>
            <p:extLst>
              <p:ext uri="{D42A27DB-BD31-4B8C-83A1-F6EECF244321}">
                <p14:modId xmlns:p14="http://schemas.microsoft.com/office/powerpoint/2010/main" val="2003972362"/>
              </p:ext>
            </p:extLst>
          </p:nvPr>
        </p:nvGraphicFramePr>
        <p:xfrm>
          <a:off x="455613" y="4309939"/>
          <a:ext cx="8128830" cy="2424176"/>
        </p:xfrm>
        <a:graphic>
          <a:graphicData uri="http://schemas.openxmlformats.org/drawingml/2006/table">
            <a:tbl>
              <a:tblPr firstRow="1" bandRow="1">
                <a:tableStyleId>{21E4AEA4-8DFA-4A89-87EB-49C32662AFE0}</a:tableStyleId>
              </a:tblPr>
              <a:tblGrid>
                <a:gridCol w="4064415"/>
                <a:gridCol w="4064415"/>
              </a:tblGrid>
              <a:tr h="370840">
                <a:tc>
                  <a:txBody>
                    <a:bodyPr/>
                    <a:lstStyle/>
                    <a:p>
                      <a:pPr algn="ctr"/>
                      <a:r>
                        <a:rPr lang="en-US" b="1" dirty="0">
                          <a:solidFill>
                            <a:srgbClr val="FFFFFF"/>
                          </a:solidFill>
                          <a:effectLst/>
                        </a:rPr>
                        <a:t>Hadoop® </a:t>
                      </a:r>
                      <a:r>
                        <a:rPr lang="en-US" b="1" dirty="0" smtClean="0">
                          <a:solidFill>
                            <a:srgbClr val="FFFFFF"/>
                          </a:solidFill>
                          <a:effectLst/>
                        </a:rPr>
                        <a:t>MapReduce</a:t>
                      </a:r>
                      <a:endParaRPr lang="en-US" dirty="0">
                        <a:solidFill>
                          <a:srgbClr val="FFFFFF"/>
                        </a:solidFill>
                        <a:effectLst/>
                      </a:endParaRPr>
                    </a:p>
                  </a:txBody>
                  <a:tcPr anchor="ctr"/>
                </a:tc>
                <a:tc>
                  <a:txBody>
                    <a:bodyPr/>
                    <a:lstStyle/>
                    <a:p>
                      <a:pPr algn="ctr"/>
                      <a:r>
                        <a:rPr lang="en-US" sz="1800" b="1" kern="1200" dirty="0" smtClean="0">
                          <a:solidFill>
                            <a:schemeClr val="lt1"/>
                          </a:solidFill>
                          <a:effectLst/>
                          <a:latin typeface="+mn-lt"/>
                          <a:ea typeface="+mn-ea"/>
                          <a:cs typeface="+mn-cs"/>
                        </a:rPr>
                        <a:t>Apache</a:t>
                      </a:r>
                      <a:r>
                        <a:rPr lang="en-US" sz="1800" b="1" kern="1200" baseline="30000" dirty="0" smtClean="0">
                          <a:solidFill>
                            <a:schemeClr val="lt1"/>
                          </a:solidFill>
                          <a:effectLst/>
                          <a:latin typeface="+mn-lt"/>
                          <a:ea typeface="+mn-ea"/>
                          <a:cs typeface="+mn-cs"/>
                        </a:rPr>
                        <a:t>® </a:t>
                      </a:r>
                      <a:r>
                        <a:rPr lang="en-US" sz="1800" b="1" kern="1200" dirty="0" smtClean="0">
                          <a:solidFill>
                            <a:schemeClr val="lt1"/>
                          </a:solidFill>
                          <a:effectLst/>
                          <a:latin typeface="+mn-lt"/>
                          <a:ea typeface="+mn-ea"/>
                          <a:cs typeface="+mn-cs"/>
                        </a:rPr>
                        <a:t>Spark</a:t>
                      </a:r>
                      <a:r>
                        <a:rPr lang="en-US" sz="1800" b="1" kern="1200" baseline="30000" dirty="0" smtClean="0">
                          <a:solidFill>
                            <a:schemeClr val="lt1"/>
                          </a:solidFill>
                          <a:effectLst/>
                          <a:latin typeface="+mn-lt"/>
                          <a:ea typeface="+mn-ea"/>
                          <a:cs typeface="+mn-cs"/>
                        </a:rPr>
                        <a:t>™</a:t>
                      </a:r>
                      <a:endParaRPr lang="en-US" sz="1600" dirty="0"/>
                    </a:p>
                  </a:txBody>
                  <a:tcPr/>
                </a:tc>
              </a:tr>
              <a:tr h="370840">
                <a:tc>
                  <a:txBody>
                    <a:bodyPr/>
                    <a:lstStyle/>
                    <a:p>
                      <a:pPr marL="0" marR="0">
                        <a:lnSpc>
                          <a:spcPct val="115000"/>
                        </a:lnSpc>
                        <a:spcBef>
                          <a:spcPts val="0"/>
                        </a:spcBef>
                        <a:spcAft>
                          <a:spcPts val="0"/>
                        </a:spcAft>
                      </a:pPr>
                      <a:r>
                        <a:rPr lang="en-US" sz="1200" dirty="0">
                          <a:effectLst/>
                          <a:latin typeface="Arial" panose="020B0604020202020204" pitchFamily="34" charset="0"/>
                          <a:ea typeface="Times New Roman" panose="02020603050405020304" pitchFamily="18" charset="0"/>
                        </a:rPr>
                        <a:t>Data that does not fit in the memory</a:t>
                      </a: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c>
                  <a:txBody>
                    <a:bodyPr/>
                    <a:lstStyle/>
                    <a:p>
                      <a:pPr marL="0" marR="0">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Better performance for data that fits in the memory, particularly on dedicated clusters</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r>
              <a:tr h="370840">
                <a:tc>
                  <a:txBody>
                    <a:bodyPr/>
                    <a:lstStyle/>
                    <a:p>
                      <a:pPr marL="0" marR="0">
                        <a:lnSpc>
                          <a:spcPct val="115000"/>
                        </a:lnSpc>
                        <a:spcBef>
                          <a:spcPts val="0"/>
                        </a:spcBef>
                        <a:spcAft>
                          <a:spcPts val="0"/>
                        </a:spcAft>
                      </a:pPr>
                      <a:r>
                        <a:rPr lang="en-US" sz="1200" dirty="0">
                          <a:effectLst/>
                          <a:latin typeface="Arial" panose="020B0604020202020204" pitchFamily="34" charset="0"/>
                          <a:ea typeface="Times New Roman" panose="02020603050405020304" pitchFamily="18" charset="0"/>
                        </a:rPr>
                        <a:t>Economical option because of the Hadoop</a:t>
                      </a:r>
                      <a:r>
                        <a:rPr lang="en-US" sz="1200" baseline="30000" dirty="0">
                          <a:effectLst/>
                          <a:latin typeface="Arial" panose="020B0604020202020204" pitchFamily="34" charset="0"/>
                          <a:ea typeface="Times New Roman" panose="02020603050405020304" pitchFamily="18" charset="0"/>
                        </a:rPr>
                        <a:t>®</a:t>
                      </a:r>
                      <a:r>
                        <a:rPr lang="en-US" sz="1200" dirty="0">
                          <a:effectLst/>
                          <a:latin typeface="Arial" panose="020B0604020202020204" pitchFamily="34" charset="0"/>
                          <a:ea typeface="Times New Roman" panose="02020603050405020304" pitchFamily="18" charset="0"/>
                        </a:rPr>
                        <a:t>-as-a-service offering (</a:t>
                      </a:r>
                      <a:r>
                        <a:rPr lang="en-US" sz="1200" dirty="0" err="1">
                          <a:effectLst/>
                          <a:latin typeface="Arial" panose="020B0604020202020204" pitchFamily="34" charset="0"/>
                          <a:ea typeface="Times New Roman" panose="02020603050405020304" pitchFamily="18" charset="0"/>
                        </a:rPr>
                        <a:t>HaaS</a:t>
                      </a:r>
                      <a:r>
                        <a:rPr lang="en-US" sz="1200" dirty="0">
                          <a:effectLst/>
                          <a:latin typeface="Arial" panose="020B0604020202020204" pitchFamily="34" charset="0"/>
                          <a:ea typeface="Times New Roman" panose="02020603050405020304" pitchFamily="18" charset="0"/>
                        </a:rPr>
                        <a:t>) and the availability of more personnel</a:t>
                      </a: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c>
                  <a:txBody>
                    <a:bodyPr/>
                    <a:lstStyle/>
                    <a:p>
                      <a:pPr marL="0" marR="0">
                        <a:lnSpc>
                          <a:spcPct val="115000"/>
                        </a:lnSpc>
                        <a:spcBef>
                          <a:spcPts val="0"/>
                        </a:spcBef>
                        <a:spcAft>
                          <a:spcPts val="0"/>
                        </a:spcAft>
                      </a:pPr>
                      <a:r>
                        <a:rPr lang="en-US" sz="1200" dirty="0">
                          <a:effectLst/>
                          <a:latin typeface="Arial" panose="020B0604020202020204" pitchFamily="34" charset="0"/>
                          <a:ea typeface="Times New Roman" panose="02020603050405020304" pitchFamily="18" charset="0"/>
                        </a:rPr>
                        <a:t>More cost effective (aside from expensive staffing)</a:t>
                      </a: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r>
              <a:tr h="370840">
                <a:tc>
                  <a:txBody>
                    <a:bodyPr/>
                    <a:lstStyle/>
                    <a:p>
                      <a:pPr marL="0" marR="0">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More failure tolerant </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c>
                  <a:txBody>
                    <a:bodyPr/>
                    <a:lstStyle/>
                    <a:p>
                      <a:pPr marL="0" marR="0">
                        <a:lnSpc>
                          <a:spcPct val="115000"/>
                        </a:lnSpc>
                        <a:spcBef>
                          <a:spcPts val="0"/>
                        </a:spcBef>
                        <a:spcAft>
                          <a:spcPts val="0"/>
                        </a:spcAft>
                      </a:pPr>
                      <a:r>
                        <a:rPr lang="en-US" sz="1200" dirty="0">
                          <a:effectLst/>
                          <a:latin typeface="Arial" panose="020B0604020202020204" pitchFamily="34" charset="0"/>
                          <a:ea typeface="Times New Roman" panose="02020603050405020304" pitchFamily="18" charset="0"/>
                        </a:rPr>
                        <a:t>Failure tolerant</a:t>
                      </a: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r>
              <a:tr h="370840">
                <a:tc>
                  <a:txBody>
                    <a:bodyPr/>
                    <a:lstStyle/>
                    <a:p>
                      <a:pPr marL="0" marR="0">
                        <a:lnSpc>
                          <a:spcPct val="115000"/>
                        </a:lnSpc>
                        <a:spcBef>
                          <a:spcPts val="0"/>
                        </a:spcBef>
                        <a:spcAft>
                          <a:spcPts val="0"/>
                        </a:spcAft>
                      </a:pPr>
                      <a:r>
                        <a:rPr lang="en-US" sz="1200" dirty="0" smtClean="0">
                          <a:effectLst/>
                          <a:latin typeface="Arial" panose="020B0604020202020204" pitchFamily="34" charset="0"/>
                          <a:ea typeface="Times New Roman" panose="02020603050405020304" pitchFamily="18" charset="0"/>
                        </a:rPr>
                        <a:t>MapReduce </a:t>
                      </a:r>
                      <a:r>
                        <a:rPr lang="en-US" sz="1200" dirty="0">
                          <a:effectLst/>
                          <a:latin typeface="Arial" panose="020B0604020202020204" pitchFamily="34" charset="0"/>
                          <a:ea typeface="Times New Roman" panose="02020603050405020304" pitchFamily="18" charset="0"/>
                        </a:rPr>
                        <a:t>requires core </a:t>
                      </a:r>
                      <a:r>
                        <a:rPr lang="en-US" sz="1200" dirty="0" smtClean="0">
                          <a:effectLst/>
                          <a:latin typeface="Arial" panose="020B0604020202020204" pitchFamily="34" charset="0"/>
                          <a:ea typeface="Times New Roman" panose="02020603050405020304" pitchFamily="18" charset="0"/>
                        </a:rPr>
                        <a:t>Java</a:t>
                      </a:r>
                      <a:r>
                        <a:rPr lang="en-US" sz="1200" b="0" i="0" kern="1200" baseline="30000" dirty="0" smtClean="0">
                          <a:solidFill>
                            <a:schemeClr val="dk1"/>
                          </a:solidFill>
                          <a:effectLst/>
                          <a:latin typeface="+mn-lt"/>
                          <a:ea typeface="+mn-ea"/>
                          <a:cs typeface="+mn-cs"/>
                        </a:rPr>
                        <a:t>®</a:t>
                      </a:r>
                      <a:r>
                        <a:rPr lang="en-US" sz="1200" dirty="0" smtClean="0">
                          <a:effectLst/>
                          <a:latin typeface="Arial" panose="020B0604020202020204" pitchFamily="34" charset="0"/>
                          <a:ea typeface="Times New Roman" panose="02020603050405020304" pitchFamily="18" charset="0"/>
                        </a:rPr>
                        <a:t> </a:t>
                      </a:r>
                      <a:r>
                        <a:rPr lang="en-US" sz="1200" dirty="0">
                          <a:effectLst/>
                          <a:latin typeface="Arial" panose="020B0604020202020204" pitchFamily="34" charset="0"/>
                          <a:ea typeface="Times New Roman" panose="02020603050405020304" pitchFamily="18" charset="0"/>
                        </a:rPr>
                        <a:t>programming skills; however, there are several utilities that make programming in Hadoop</a:t>
                      </a:r>
                      <a:r>
                        <a:rPr lang="en-US" sz="1200" baseline="30000" dirty="0">
                          <a:effectLst/>
                          <a:latin typeface="Arial" panose="020B0604020202020204" pitchFamily="34" charset="0"/>
                          <a:ea typeface="Times New Roman" panose="02020603050405020304" pitchFamily="18" charset="0"/>
                        </a:rPr>
                        <a:t>®</a:t>
                      </a:r>
                      <a:r>
                        <a:rPr lang="en-US" sz="1200" dirty="0">
                          <a:effectLst/>
                          <a:latin typeface="Arial" panose="020B0604020202020204" pitchFamily="34" charset="0"/>
                          <a:ea typeface="Times New Roman" panose="02020603050405020304" pitchFamily="18" charset="0"/>
                        </a:rPr>
                        <a:t> </a:t>
                      </a:r>
                      <a:r>
                        <a:rPr lang="en-US" sz="1200" dirty="0" smtClean="0">
                          <a:effectLst/>
                          <a:latin typeface="Arial" panose="020B0604020202020204" pitchFamily="34" charset="0"/>
                          <a:ea typeface="Times New Roman" panose="02020603050405020304" pitchFamily="18" charset="0"/>
                        </a:rPr>
                        <a:t>MapReduce easier</a:t>
                      </a:r>
                      <a:endParaRPr lang="en-US" sz="1200" dirty="0">
                        <a:effectLst/>
                        <a:latin typeface="Times New Roman" panose="02020603050405020304" pitchFamily="18" charset="0"/>
                        <a:ea typeface="Times New Roman" panose="02020603050405020304" pitchFamily="18" charset="0"/>
                      </a:endParaRPr>
                    </a:p>
                    <a:p>
                      <a:pPr marL="0" marR="0">
                        <a:lnSpc>
                          <a:spcPct val="115000"/>
                        </a:lnSpc>
                        <a:spcBef>
                          <a:spcPts val="0"/>
                        </a:spcBef>
                        <a:spcAft>
                          <a:spcPts val="0"/>
                        </a:spcAft>
                      </a:pPr>
                      <a:r>
                        <a:rPr lang="en-US" sz="1200" dirty="0">
                          <a:effectLst/>
                          <a:latin typeface="Arial" panose="020B0604020202020204" pitchFamily="34"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c>
                  <a:txBody>
                    <a:bodyPr/>
                    <a:lstStyle/>
                    <a:p>
                      <a:pPr marL="0" marR="0">
                        <a:lnSpc>
                          <a:spcPct val="115000"/>
                        </a:lnSpc>
                        <a:spcBef>
                          <a:spcPts val="0"/>
                        </a:spcBef>
                        <a:spcAft>
                          <a:spcPts val="0"/>
                        </a:spcAft>
                      </a:pPr>
                      <a:r>
                        <a:rPr lang="en-US" sz="1200" dirty="0">
                          <a:effectLst/>
                          <a:latin typeface="Arial" panose="020B0604020202020204" pitchFamily="34" charset="0"/>
                          <a:ea typeface="Times New Roman" panose="02020603050405020304" pitchFamily="18" charset="0"/>
                        </a:rPr>
                        <a:t>Programming is easier as it has an interactive mode</a:t>
                      </a: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r>
            </a:tbl>
          </a:graphicData>
        </a:graphic>
      </p:graphicFrame>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dirty="0">
                <a:solidFill>
                  <a:srgbClr val="666666"/>
                </a:solidFill>
                <a:latin typeface="+mn-lt"/>
                <a:cs typeface="Arial" pitchFamily="34" charset="0"/>
              </a:rPr>
              <a:t>3</a:t>
            </a: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8</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41580746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3.6 Low-Latency Non-Relational Databases	</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Because of its sheer size and lack of structure, traditional relational-based databases (</a:t>
            </a:r>
            <a:r>
              <a:rPr lang="en-US" sz="1200" dirty="0" smtClean="0"/>
              <a:t>RDBMS</a:t>
            </a:r>
            <a:r>
              <a:rPr lang="en-US" sz="1200" dirty="0"/>
              <a:t>) cannot handle Big Data. Big Data requires a more flexible non-relational structure that supports fast access to data for processing. There is no NoSQL database that can meet this need.</a:t>
            </a:r>
          </a:p>
        </p:txBody>
      </p:sp>
      <p:graphicFrame>
        <p:nvGraphicFramePr>
          <p:cNvPr id="14" name="Table 13"/>
          <p:cNvGraphicFramePr>
            <a:graphicFrameLocks noGrp="1"/>
          </p:cNvGraphicFramePr>
          <p:nvPr>
            <p:extLst>
              <p:ext uri="{D42A27DB-BD31-4B8C-83A1-F6EECF244321}">
                <p14:modId xmlns:p14="http://schemas.microsoft.com/office/powerpoint/2010/main" val="1437920953"/>
              </p:ext>
            </p:extLst>
          </p:nvPr>
        </p:nvGraphicFramePr>
        <p:xfrm>
          <a:off x="455613" y="2207471"/>
          <a:ext cx="8128830" cy="4038600"/>
        </p:xfrm>
        <a:graphic>
          <a:graphicData uri="http://schemas.openxmlformats.org/drawingml/2006/table">
            <a:tbl>
              <a:tblPr firstRow="1" bandRow="1">
                <a:tableStyleId>{21E4AEA4-8DFA-4A89-87EB-49C32662AFE0}</a:tableStyleId>
              </a:tblPr>
              <a:tblGrid>
                <a:gridCol w="4064415"/>
                <a:gridCol w="4064415"/>
              </a:tblGrid>
              <a:tr h="370840">
                <a:tc>
                  <a:txBody>
                    <a:bodyPr/>
                    <a:lstStyle/>
                    <a:p>
                      <a:pPr algn="ctr"/>
                      <a:r>
                        <a:rPr lang="en-US" sz="1600" dirty="0" smtClean="0"/>
                        <a:t>Characteristics</a:t>
                      </a:r>
                      <a:endParaRPr lang="en-US" sz="1600" dirty="0"/>
                    </a:p>
                  </a:txBody>
                  <a:tcPr/>
                </a:tc>
                <a:tc>
                  <a:txBody>
                    <a:bodyPr/>
                    <a:lstStyle/>
                    <a:p>
                      <a:pPr algn="ctr"/>
                      <a:r>
                        <a:rPr lang="en-US" sz="1600" dirty="0" smtClean="0"/>
                        <a:t>Differences</a:t>
                      </a:r>
                      <a:endParaRPr lang="en-US" sz="1600" dirty="0"/>
                    </a:p>
                  </a:txBody>
                  <a:tcPr/>
                </a:tc>
              </a:tr>
              <a:tr h="370840">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Non-relational (more popularly Not only SQL (NoSQL)) database</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Horizontal scaling and flexible data model definitions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Relax rigidities of ACID (atomicity, consistency, isolation, durability) features in a</a:t>
                      </a:r>
                      <a:r>
                        <a:rPr lang="en-US" sz="1200" b="0" i="0" kern="1200" baseline="0" dirty="0" smtClean="0">
                          <a:solidFill>
                            <a:schemeClr val="dk1"/>
                          </a:solidFill>
                          <a:effectLst/>
                          <a:latin typeface="+mn-lt"/>
                          <a:ea typeface="+mn-ea"/>
                          <a:cs typeface="+mn-cs"/>
                        </a:rPr>
                        <a:t> </a:t>
                      </a:r>
                      <a:r>
                        <a:rPr lang="en-US" sz="1200" b="0" i="0" kern="1200" dirty="0" smtClean="0">
                          <a:solidFill>
                            <a:schemeClr val="dk1"/>
                          </a:solidFill>
                          <a:effectLst/>
                          <a:latin typeface="+mn-lt"/>
                          <a:ea typeface="+mn-ea"/>
                          <a:cs typeface="+mn-cs"/>
                        </a:rPr>
                        <a:t>Relational Database Management System (RDBMS)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Distributed and designed for large-scale data storage and massively-parallel data processing across a large number of commodity servers</a:t>
                      </a:r>
                    </a:p>
                  </a:txBody>
                  <a:tcPr>
                    <a:solidFill>
                      <a:schemeClr val="bg1">
                        <a:lumMod val="95000"/>
                      </a:schemeClr>
                    </a:solidFill>
                  </a:tcPr>
                </a:tc>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Achieve speed at scale, overcoming RDBMS limitations and inefficiencies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Built-in high-resiliency architecture</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Dynamic modeling to support changing data profiles</a:t>
                      </a:r>
                      <a:endParaRPr lang="en-US" sz="1200" dirty="0"/>
                    </a:p>
                  </a:txBody>
                  <a:tcPr>
                    <a:solidFill>
                      <a:schemeClr val="bg1">
                        <a:lumMod val="95000"/>
                      </a:schemeClr>
                    </a:solidFill>
                  </a:tcPr>
                </a:tc>
              </a:tr>
              <a:tr h="370840">
                <a:tc>
                  <a:txBody>
                    <a:bodyPr/>
                    <a:lstStyle/>
                    <a:p>
                      <a:pPr algn="ctr"/>
                      <a:endParaRPr lang="en-US" sz="1600" b="1" dirty="0">
                        <a:solidFill>
                          <a:schemeClr val="bg1"/>
                        </a:solidFill>
                      </a:endParaRPr>
                    </a:p>
                  </a:txBody>
                  <a:tcPr>
                    <a:solidFill>
                      <a:schemeClr val="bg1"/>
                    </a:solidFill>
                  </a:tcPr>
                </a:tc>
                <a:tc>
                  <a:txBody>
                    <a:bodyPr/>
                    <a:lstStyle/>
                    <a:p>
                      <a:pPr algn="ctr"/>
                      <a:endParaRPr lang="en-US" sz="1600" b="1" dirty="0" smtClean="0">
                        <a:solidFill>
                          <a:schemeClr val="bg1"/>
                        </a:solidFill>
                      </a:endParaRPr>
                    </a:p>
                  </a:txBody>
                  <a:tcPr>
                    <a:solidFill>
                      <a:schemeClr val="bg1"/>
                    </a:solidFill>
                  </a:tcPr>
                </a:tc>
              </a:tr>
              <a:tr h="370840">
                <a:tc>
                  <a:txBody>
                    <a:bodyPr/>
                    <a:lstStyle/>
                    <a:p>
                      <a:pPr algn="ctr"/>
                      <a:r>
                        <a:rPr lang="en-US" sz="1600" b="1" dirty="0" smtClean="0">
                          <a:solidFill>
                            <a:schemeClr val="bg1"/>
                          </a:solidFill>
                        </a:rPr>
                        <a:t>Uses</a:t>
                      </a:r>
                      <a:endParaRPr lang="en-US" sz="1600" b="1" dirty="0">
                        <a:solidFill>
                          <a:schemeClr val="bg1"/>
                        </a:solidFill>
                      </a:endParaRPr>
                    </a:p>
                  </a:txBody>
                  <a:tcPr>
                    <a:solidFill>
                      <a:schemeClr val="accent2"/>
                    </a:solidFill>
                  </a:tcPr>
                </a:tc>
                <a:tc>
                  <a:txBody>
                    <a:bodyPr/>
                    <a:lstStyle/>
                    <a:p>
                      <a:pPr algn="ctr"/>
                      <a:r>
                        <a:rPr lang="en-US" sz="1600" b="1" dirty="0" smtClean="0">
                          <a:solidFill>
                            <a:schemeClr val="bg1"/>
                          </a:solidFill>
                        </a:rPr>
                        <a:t>Products/Vendors</a:t>
                      </a:r>
                      <a:endParaRPr lang="en-US" sz="1600" b="1" dirty="0">
                        <a:solidFill>
                          <a:schemeClr val="bg1"/>
                        </a:solidFill>
                      </a:endParaRPr>
                    </a:p>
                  </a:txBody>
                  <a:tcPr>
                    <a:solidFill>
                      <a:schemeClr val="accent2"/>
                    </a:solidFill>
                  </a:tcPr>
                </a:tc>
              </a:tr>
              <a:tr h="370840">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Dynamic, semi-structured data for low-latency applications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Real-time updates, retrieval, or user-facing web applications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Examples of companies using NoSQL: Netflix®, Facebook®, LinkedIn®</a:t>
                      </a:r>
                    </a:p>
                  </a:txBody>
                  <a:tcPr>
                    <a:solidFill>
                      <a:schemeClr val="bg1">
                        <a:lumMod val="95000"/>
                      </a:schemeClr>
                    </a:solidFill>
                  </a:tcPr>
                </a:tc>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Key Value (K-V), Column-Oriented, Document Databases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Cassandra, </a:t>
                      </a:r>
                      <a:r>
                        <a:rPr lang="en-US" sz="1200" b="0" i="0" kern="1200" dirty="0" err="1" smtClean="0">
                          <a:solidFill>
                            <a:schemeClr val="dk1"/>
                          </a:solidFill>
                          <a:effectLst/>
                          <a:latin typeface="+mn-lt"/>
                          <a:ea typeface="+mn-ea"/>
                          <a:cs typeface="+mn-cs"/>
                        </a:rPr>
                        <a:t>Accumulo</a:t>
                      </a:r>
                      <a:r>
                        <a:rPr lang="en-US" sz="1200" b="0" i="0" kern="1200" dirty="0" smtClean="0">
                          <a:solidFill>
                            <a:schemeClr val="dk1"/>
                          </a:solidFill>
                          <a:effectLst/>
                          <a:latin typeface="+mn-lt"/>
                          <a:ea typeface="+mn-ea"/>
                          <a:cs typeface="+mn-cs"/>
                        </a:rPr>
                        <a:t>™, MongoDB®, Amazon® Dynamo DB</a:t>
                      </a:r>
                      <a:endParaRPr lang="en-US" dirty="0"/>
                    </a:p>
                  </a:txBody>
                  <a:tcPr>
                    <a:solidFill>
                      <a:schemeClr val="bg1">
                        <a:lumMod val="95000"/>
                      </a:schemeClr>
                    </a:solidFill>
                  </a:tcPr>
                </a:tc>
              </a:tr>
            </a:tbl>
          </a:graphicData>
        </a:graphic>
      </p:graphicFrame>
      <p:sp>
        <p:nvSpPr>
          <p:cNvPr id="6"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39</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48836455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3.7 Non-Relational Databases</a:t>
            </a:r>
            <a:endParaRPr lang="en-US" dirty="0"/>
          </a:p>
        </p:txBody>
      </p:sp>
      <p:sp>
        <p:nvSpPr>
          <p:cNvPr id="3" name="Content Placeholder 2"/>
          <p:cNvSpPr>
            <a:spLocks noGrp="1"/>
          </p:cNvSpPr>
          <p:nvPr>
            <p:ph sz="quarter" idx="14"/>
          </p:nvPr>
        </p:nvSpPr>
        <p:spPr>
          <a:xfrm>
            <a:off x="457200" y="1371600"/>
            <a:ext cx="3391469" cy="1651912"/>
          </a:xfrm>
        </p:spPr>
        <p:txBody>
          <a:bodyPr/>
          <a:lstStyle/>
          <a:p>
            <a:pPr marL="0" indent="0">
              <a:buNone/>
            </a:pPr>
            <a:r>
              <a:rPr lang="en-US" sz="1200" dirty="0"/>
              <a:t>Non-relational databases have special features to handle Big Data.</a:t>
            </a:r>
            <a:br>
              <a:rPr lang="en-US" sz="1200" dirty="0"/>
            </a:br>
            <a:r>
              <a:rPr lang="en-US" sz="1200" dirty="0"/>
              <a:t/>
            </a:r>
            <a:br>
              <a:rPr lang="en-US" sz="1200" dirty="0"/>
            </a:br>
            <a:r>
              <a:rPr lang="en-US" sz="1200" dirty="0"/>
              <a:t>Relational databases are predefined, expensive to scale, and have high storage costs. They are also transactional, consistent, and use mature SQL and a relational mindset.</a:t>
            </a:r>
            <a:br>
              <a:rPr lang="en-US" sz="1200" dirty="0"/>
            </a:br>
            <a:r>
              <a:rPr lang="en-US" sz="1200" dirty="0"/>
              <a:t/>
            </a:r>
            <a:br>
              <a:rPr lang="en-US" sz="1200" dirty="0"/>
            </a:br>
            <a:r>
              <a:rPr lang="en-US" sz="1200" dirty="0"/>
              <a:t>On the other hand, non-relational (NoSQL) databases are flexible, scalable, and resilient. They feature commodity storage, are not transaction-oriented, and are eventually consistent. Non-relational databases are also programmable and SQL-like and use a new mindset</a:t>
            </a:r>
            <a:r>
              <a:rPr lang="en-US" sz="1200" dirty="0" smtClean="0"/>
              <a:t>.</a:t>
            </a:r>
          </a:p>
          <a:p>
            <a:pPr marL="0" indent="0">
              <a:buNone/>
            </a:pPr>
            <a:endParaRPr lang="en-US" sz="1200" dirty="0"/>
          </a:p>
          <a:p>
            <a:pPr marL="0" indent="0">
              <a:buNone/>
            </a:pPr>
            <a:endParaRPr lang="en-US" sz="1200" dirty="0" smtClean="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3944" y="1371600"/>
            <a:ext cx="4762500" cy="2381250"/>
          </a:xfrm>
          <a:prstGeom prst="rect">
            <a:avLst/>
          </a:prstGeom>
        </p:spPr>
      </p:pic>
      <p:sp>
        <p:nvSpPr>
          <p:cNvPr id="6" name="Rectangle 5"/>
          <p:cNvSpPr/>
          <p:nvPr/>
        </p:nvSpPr>
        <p:spPr>
          <a:xfrm>
            <a:off x="457200" y="4462314"/>
            <a:ext cx="1828800" cy="1200329"/>
          </a:xfrm>
          <a:prstGeom prst="rect">
            <a:avLst/>
          </a:prstGeom>
        </p:spPr>
        <p:txBody>
          <a:bodyPr wrap="square">
            <a:spAutoFit/>
          </a:bodyPr>
          <a:lstStyle/>
          <a:p>
            <a:pPr marL="0" indent="0">
              <a:buNone/>
            </a:pPr>
            <a:r>
              <a:rPr lang="en-US" sz="1200" b="1" dirty="0">
                <a:solidFill>
                  <a:schemeClr val="accent2"/>
                </a:solidFill>
              </a:rPr>
              <a:t>Key Value Pairs</a:t>
            </a:r>
          </a:p>
          <a:p>
            <a:pPr marL="171450" indent="-171450">
              <a:spcBef>
                <a:spcPts val="0"/>
              </a:spcBef>
              <a:buSzPct val="100000"/>
              <a:buFont typeface="Arial" panose="020B0604020202020204" pitchFamily="34" charset="0"/>
              <a:buChar char="•"/>
            </a:pPr>
            <a:r>
              <a:rPr lang="en-US" sz="1200" dirty="0"/>
              <a:t>Based on Amazon® Dynamo approach</a:t>
            </a:r>
          </a:p>
          <a:p>
            <a:pPr marL="171450" indent="-171450">
              <a:spcBef>
                <a:spcPts val="0"/>
              </a:spcBef>
              <a:buSzPct val="100000"/>
              <a:buFont typeface="Arial" panose="020B0604020202020204" pitchFamily="34" charset="0"/>
              <a:buChar char="•"/>
            </a:pPr>
            <a:r>
              <a:rPr lang="en-US" sz="1200" dirty="0"/>
              <a:t>Simplistic key-value pairs</a:t>
            </a:r>
          </a:p>
          <a:p>
            <a:pPr marL="171450" indent="-171450">
              <a:spcBef>
                <a:spcPts val="0"/>
              </a:spcBef>
              <a:buSzPct val="100000"/>
              <a:buFont typeface="Arial" panose="020B0604020202020204" pitchFamily="34" charset="0"/>
              <a:buChar char="•"/>
            </a:pPr>
            <a:r>
              <a:rPr lang="en-US" sz="1200" dirty="0"/>
              <a:t>Examples: </a:t>
            </a:r>
            <a:r>
              <a:rPr lang="en-US" sz="1200" dirty="0" err="1"/>
              <a:t>Dynomite</a:t>
            </a:r>
            <a:r>
              <a:rPr lang="en-US" sz="1200" dirty="0"/>
              <a:t>, Voldemort, Tokyo</a:t>
            </a:r>
          </a:p>
        </p:txBody>
      </p:sp>
      <p:sp>
        <p:nvSpPr>
          <p:cNvPr id="10" name="Rectangle 9"/>
          <p:cNvSpPr/>
          <p:nvPr/>
        </p:nvSpPr>
        <p:spPr>
          <a:xfrm>
            <a:off x="2665539" y="4462314"/>
            <a:ext cx="1828800" cy="1569660"/>
          </a:xfrm>
          <a:prstGeom prst="rect">
            <a:avLst/>
          </a:prstGeom>
        </p:spPr>
        <p:txBody>
          <a:bodyPr wrap="square">
            <a:spAutoFit/>
          </a:bodyPr>
          <a:lstStyle/>
          <a:p>
            <a:pPr marL="0" indent="0">
              <a:buNone/>
            </a:pPr>
            <a:r>
              <a:rPr lang="en-US" sz="1200" b="1" dirty="0">
                <a:solidFill>
                  <a:schemeClr val="accent2"/>
                </a:solidFill>
              </a:rPr>
              <a:t>Column-Oriented  DB</a:t>
            </a:r>
          </a:p>
          <a:p>
            <a:pPr marL="171450" indent="-171450">
              <a:spcBef>
                <a:spcPts val="0"/>
              </a:spcBef>
              <a:buSzPct val="100000"/>
              <a:buFont typeface="Arial" panose="020B0604020202020204" pitchFamily="34" charset="0"/>
              <a:buChar char="•"/>
            </a:pPr>
            <a:r>
              <a:rPr lang="en-US" sz="1200" dirty="0"/>
              <a:t>Big table clones</a:t>
            </a:r>
          </a:p>
          <a:p>
            <a:pPr marL="171450" indent="-171450">
              <a:spcBef>
                <a:spcPts val="0"/>
              </a:spcBef>
              <a:buSzPct val="100000"/>
              <a:buFont typeface="Arial" panose="020B0604020202020204" pitchFamily="34" charset="0"/>
              <a:buChar char="•"/>
            </a:pPr>
            <a:r>
              <a:rPr lang="en-US" sz="1200" dirty="0"/>
              <a:t>Based on Google’s™ </a:t>
            </a:r>
            <a:r>
              <a:rPr lang="en-US" sz="1200" dirty="0" err="1"/>
              <a:t>BigTable</a:t>
            </a:r>
            <a:r>
              <a:rPr lang="en-US" sz="1200" dirty="0"/>
              <a:t> approach</a:t>
            </a:r>
          </a:p>
          <a:p>
            <a:pPr marL="171450" indent="-171450">
              <a:spcBef>
                <a:spcPts val="0"/>
              </a:spcBef>
              <a:buSzPct val="100000"/>
              <a:buFont typeface="Arial" panose="020B0604020202020204" pitchFamily="34" charset="0"/>
              <a:buChar char="•"/>
            </a:pPr>
            <a:r>
              <a:rPr lang="en-US" sz="1200" dirty="0"/>
              <a:t>Columns are grouped by related data</a:t>
            </a:r>
          </a:p>
          <a:p>
            <a:pPr marL="171450" indent="-171450">
              <a:spcBef>
                <a:spcPts val="0"/>
              </a:spcBef>
              <a:buSzPct val="100000"/>
              <a:buFont typeface="Arial" panose="020B0604020202020204" pitchFamily="34" charset="0"/>
              <a:buChar char="•"/>
            </a:pPr>
            <a:r>
              <a:rPr lang="en-US" sz="1200" dirty="0"/>
              <a:t>Examples: Cassandra, </a:t>
            </a:r>
            <a:r>
              <a:rPr lang="en-US" sz="1200" dirty="0" err="1"/>
              <a:t>HBase</a:t>
            </a:r>
            <a:r>
              <a:rPr lang="en-US" sz="1200" dirty="0"/>
              <a:t>™</a:t>
            </a:r>
          </a:p>
        </p:txBody>
      </p:sp>
      <p:sp>
        <p:nvSpPr>
          <p:cNvPr id="11" name="Rectangle 10"/>
          <p:cNvSpPr/>
          <p:nvPr/>
        </p:nvSpPr>
        <p:spPr>
          <a:xfrm>
            <a:off x="4873878" y="4462314"/>
            <a:ext cx="1828800" cy="1754326"/>
          </a:xfrm>
          <a:prstGeom prst="rect">
            <a:avLst/>
          </a:prstGeom>
        </p:spPr>
        <p:txBody>
          <a:bodyPr wrap="square">
            <a:spAutoFit/>
          </a:bodyPr>
          <a:lstStyle/>
          <a:p>
            <a:pPr marL="0" indent="0">
              <a:buNone/>
            </a:pPr>
            <a:r>
              <a:rPr lang="en-US" sz="1200" b="1" dirty="0">
                <a:solidFill>
                  <a:schemeClr val="accent2"/>
                </a:solidFill>
              </a:rPr>
              <a:t>Document-Based DB</a:t>
            </a:r>
          </a:p>
          <a:p>
            <a:pPr marL="171450" indent="-171450">
              <a:spcBef>
                <a:spcPts val="0"/>
              </a:spcBef>
              <a:buSzPct val="100000"/>
              <a:buFont typeface="Arial" panose="020B0604020202020204" pitchFamily="34" charset="0"/>
              <a:buChar char="•"/>
            </a:pPr>
            <a:r>
              <a:rPr lang="en-US" sz="1200" dirty="0"/>
              <a:t>Inspired by Lotus Notes®</a:t>
            </a:r>
          </a:p>
          <a:p>
            <a:pPr marL="171450" indent="-171450">
              <a:spcBef>
                <a:spcPts val="0"/>
              </a:spcBef>
              <a:buSzPct val="100000"/>
              <a:buFont typeface="Arial" panose="020B0604020202020204" pitchFamily="34" charset="0"/>
              <a:buChar char="•"/>
            </a:pPr>
            <a:r>
              <a:rPr lang="en-US" sz="1200" dirty="0"/>
              <a:t>Collections of documents or data objects</a:t>
            </a:r>
          </a:p>
          <a:p>
            <a:pPr marL="171450" indent="-171450">
              <a:spcBef>
                <a:spcPts val="0"/>
              </a:spcBef>
              <a:buSzPct val="100000"/>
              <a:buFont typeface="Arial" panose="020B0604020202020204" pitchFamily="34" charset="0"/>
              <a:buChar char="•"/>
            </a:pPr>
            <a:r>
              <a:rPr lang="en-US" sz="1200" dirty="0"/>
              <a:t>Examples: </a:t>
            </a:r>
            <a:r>
              <a:rPr lang="en-US" sz="1200" dirty="0" err="1"/>
              <a:t>CouchDB</a:t>
            </a:r>
            <a:r>
              <a:rPr lang="en-US" sz="1200" dirty="0"/>
              <a:t>™, MongoDB®</a:t>
            </a:r>
          </a:p>
        </p:txBody>
      </p:sp>
      <p:sp>
        <p:nvSpPr>
          <p:cNvPr id="12" name="Rectangle 11"/>
          <p:cNvSpPr/>
          <p:nvPr/>
        </p:nvSpPr>
        <p:spPr>
          <a:xfrm>
            <a:off x="7082218" y="4462314"/>
            <a:ext cx="1828800" cy="1569660"/>
          </a:xfrm>
          <a:prstGeom prst="rect">
            <a:avLst/>
          </a:prstGeom>
        </p:spPr>
        <p:txBody>
          <a:bodyPr wrap="square">
            <a:spAutoFit/>
          </a:bodyPr>
          <a:lstStyle/>
          <a:p>
            <a:pPr marL="0" indent="0">
              <a:buNone/>
            </a:pPr>
            <a:r>
              <a:rPr lang="en-US" sz="1200" b="1" dirty="0">
                <a:solidFill>
                  <a:schemeClr val="accent2"/>
                </a:solidFill>
              </a:rPr>
              <a:t>Graph-</a:t>
            </a:r>
            <a:r>
              <a:rPr lang="en-US" sz="1200" b="1" dirty="0" err="1">
                <a:solidFill>
                  <a:schemeClr val="accent2"/>
                </a:solidFill>
              </a:rPr>
              <a:t>Baed</a:t>
            </a:r>
            <a:r>
              <a:rPr lang="en-US" sz="1200" b="1" dirty="0">
                <a:solidFill>
                  <a:schemeClr val="accent2"/>
                </a:solidFill>
              </a:rPr>
              <a:t> DB</a:t>
            </a:r>
          </a:p>
          <a:p>
            <a:pPr marL="171450" indent="-171450">
              <a:spcBef>
                <a:spcPts val="0"/>
              </a:spcBef>
              <a:buSzPct val="100000"/>
              <a:buFont typeface="Arial" panose="020B0604020202020204" pitchFamily="34" charset="0"/>
              <a:buChar char="•"/>
            </a:pPr>
            <a:r>
              <a:rPr lang="en-US" sz="1200" dirty="0"/>
              <a:t>Inspired by graph theory</a:t>
            </a:r>
          </a:p>
          <a:p>
            <a:pPr marL="171450" indent="-171450">
              <a:spcBef>
                <a:spcPts val="0"/>
              </a:spcBef>
              <a:buSzPct val="100000"/>
              <a:buFont typeface="Arial" panose="020B0604020202020204" pitchFamily="34" charset="0"/>
              <a:buChar char="•"/>
            </a:pPr>
            <a:r>
              <a:rPr lang="en-US" sz="1200" dirty="0"/>
              <a:t>Data structured in graphs rather than in tables</a:t>
            </a:r>
          </a:p>
          <a:p>
            <a:pPr marL="171450" indent="-171450">
              <a:spcBef>
                <a:spcPts val="0"/>
              </a:spcBef>
              <a:buSzPct val="100000"/>
              <a:buFont typeface="Arial" panose="020B0604020202020204" pitchFamily="34" charset="0"/>
              <a:buChar char="•"/>
            </a:pPr>
            <a:r>
              <a:rPr lang="en-US" sz="1200" dirty="0"/>
              <a:t>Examples: Neo4j®, </a:t>
            </a:r>
            <a:r>
              <a:rPr lang="en-US" sz="1200" dirty="0" err="1"/>
              <a:t>AllegroGraph</a:t>
            </a:r>
            <a:r>
              <a:rPr lang="en-US" sz="1200" dirty="0"/>
              <a:t>® </a:t>
            </a:r>
          </a:p>
        </p:txBody>
      </p:sp>
      <p:sp>
        <p:nvSpPr>
          <p:cNvPr id="13"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14"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40</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414110931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3.8 Streams and Complex Event Processing	</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A major component of Big Data is streaming, event-based </a:t>
            </a:r>
            <a:r>
              <a:rPr lang="en-US" sz="1200" dirty="0" smtClean="0"/>
              <a:t>data such </a:t>
            </a:r>
            <a:r>
              <a:rPr lang="en-US" sz="1200" dirty="0"/>
              <a:t>as news stories, social media posts, or stock market feeds. The goal of complex event processing is to monitor and analyze this streaming data in order to identify and respond to changing circumstances in real-time.</a:t>
            </a:r>
          </a:p>
        </p:txBody>
      </p:sp>
      <p:graphicFrame>
        <p:nvGraphicFramePr>
          <p:cNvPr id="14" name="Table 13"/>
          <p:cNvGraphicFramePr>
            <a:graphicFrameLocks noGrp="1"/>
          </p:cNvGraphicFramePr>
          <p:nvPr>
            <p:extLst>
              <p:ext uri="{D42A27DB-BD31-4B8C-83A1-F6EECF244321}">
                <p14:modId xmlns:p14="http://schemas.microsoft.com/office/powerpoint/2010/main" val="1270535687"/>
              </p:ext>
            </p:extLst>
          </p:nvPr>
        </p:nvGraphicFramePr>
        <p:xfrm>
          <a:off x="455613" y="2207471"/>
          <a:ext cx="8128830" cy="3642360"/>
        </p:xfrm>
        <a:graphic>
          <a:graphicData uri="http://schemas.openxmlformats.org/drawingml/2006/table">
            <a:tbl>
              <a:tblPr firstRow="1" bandRow="1">
                <a:tableStyleId>{21E4AEA4-8DFA-4A89-87EB-49C32662AFE0}</a:tableStyleId>
              </a:tblPr>
              <a:tblGrid>
                <a:gridCol w="4064415"/>
                <a:gridCol w="4064415"/>
              </a:tblGrid>
              <a:tr h="370840">
                <a:tc>
                  <a:txBody>
                    <a:bodyPr/>
                    <a:lstStyle/>
                    <a:p>
                      <a:pPr algn="ctr"/>
                      <a:r>
                        <a:rPr lang="en-US" sz="1600" dirty="0" smtClean="0"/>
                        <a:t>Characteristics</a:t>
                      </a:r>
                      <a:endParaRPr lang="en-US" sz="1600" dirty="0"/>
                    </a:p>
                  </a:txBody>
                  <a:tcPr/>
                </a:tc>
                <a:tc>
                  <a:txBody>
                    <a:bodyPr/>
                    <a:lstStyle/>
                    <a:p>
                      <a:pPr algn="ctr"/>
                      <a:r>
                        <a:rPr lang="en-US" sz="1600" dirty="0" smtClean="0"/>
                        <a:t>Differences</a:t>
                      </a:r>
                      <a:endParaRPr lang="en-US" sz="1600" dirty="0"/>
                    </a:p>
                  </a:txBody>
                  <a:tcPr/>
                </a:tc>
              </a:tr>
              <a:tr h="370840">
                <a:tc>
                  <a:txBody>
                    <a:bodyPr/>
                    <a:lstStyle/>
                    <a:p>
                      <a:pPr marL="285750" lvl="0" indent="-285750">
                        <a:spcBef>
                          <a:spcPts val="600"/>
                        </a:spcBef>
                        <a:buFont typeface="Arial" panose="020B0604020202020204" pitchFamily="34" charset="0"/>
                        <a:buChar char="•"/>
                      </a:pPr>
                      <a:r>
                        <a:rPr lang="en-US" sz="1200" kern="1200" dirty="0" smtClean="0">
                          <a:solidFill>
                            <a:schemeClr val="dk1"/>
                          </a:solidFill>
                          <a:effectLst/>
                          <a:latin typeface="+mn-lt"/>
                          <a:ea typeface="+mn-ea"/>
                          <a:cs typeface="+mn-cs"/>
                        </a:rPr>
                        <a:t>Huge volume of continuously streaming data, complex event processing</a:t>
                      </a:r>
                    </a:p>
                    <a:p>
                      <a:pPr marL="285750" lvl="0" indent="-285750">
                        <a:spcBef>
                          <a:spcPts val="600"/>
                        </a:spcBef>
                        <a:buFont typeface="Arial" panose="020B0604020202020204" pitchFamily="34" charset="0"/>
                        <a:buChar char="•"/>
                      </a:pPr>
                      <a:r>
                        <a:rPr lang="en-US" sz="1200" kern="1200" dirty="0" smtClean="0">
                          <a:solidFill>
                            <a:schemeClr val="dk1"/>
                          </a:solidFill>
                          <a:effectLst/>
                          <a:latin typeface="+mn-lt"/>
                          <a:ea typeface="+mn-ea"/>
                          <a:cs typeface="+mn-cs"/>
                        </a:rPr>
                        <a:t>ACID (atomicity, consistency, isolation, durability) compliance for real-time transactions (TX)</a:t>
                      </a:r>
                    </a:p>
                    <a:p>
                      <a:pPr marL="285750" lvl="0" indent="-285750">
                        <a:spcBef>
                          <a:spcPts val="600"/>
                        </a:spcBef>
                        <a:buFont typeface="Arial" panose="020B0604020202020204" pitchFamily="34" charset="0"/>
                        <a:buChar char="•"/>
                      </a:pPr>
                      <a:r>
                        <a:rPr lang="en-US" sz="1200" kern="1200" dirty="0" smtClean="0">
                          <a:solidFill>
                            <a:schemeClr val="dk1"/>
                          </a:solidFill>
                          <a:effectLst/>
                          <a:latin typeface="+mn-lt"/>
                          <a:ea typeface="+mn-ea"/>
                          <a:cs typeface="+mn-cs"/>
                        </a:rPr>
                        <a:t>Structured Query Language (SQL) or NoSQL, real-time querying and search</a:t>
                      </a:r>
                      <a:endParaRPr lang="en-US" sz="1200" kern="1200" dirty="0">
                        <a:solidFill>
                          <a:schemeClr val="dk1"/>
                        </a:solidFill>
                        <a:effectLst/>
                        <a:latin typeface="+mn-lt"/>
                        <a:ea typeface="+mn-ea"/>
                        <a:cs typeface="+mn-cs"/>
                      </a:endParaRPr>
                    </a:p>
                  </a:txBody>
                  <a:tcPr>
                    <a:solidFill>
                      <a:schemeClr val="bg1">
                        <a:lumMod val="95000"/>
                      </a:schemeClr>
                    </a:solidFill>
                  </a:tcPr>
                </a:tc>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Large-scale disparate data ingestion for storage and analysis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High-volume of continuous data consumption and real-time search</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Consolidation of real-time events and dissemination to large number of clients</a:t>
                      </a:r>
                      <a:endParaRPr lang="en-US" sz="1200" dirty="0"/>
                    </a:p>
                  </a:txBody>
                  <a:tcPr>
                    <a:solidFill>
                      <a:schemeClr val="bg1">
                        <a:lumMod val="95000"/>
                      </a:schemeClr>
                    </a:solidFill>
                  </a:tcPr>
                </a:tc>
              </a:tr>
              <a:tr h="370840">
                <a:tc>
                  <a:txBody>
                    <a:bodyPr/>
                    <a:lstStyle/>
                    <a:p>
                      <a:pPr algn="ctr"/>
                      <a:endParaRPr lang="en-US" sz="1600" b="1" dirty="0">
                        <a:solidFill>
                          <a:schemeClr val="bg1"/>
                        </a:solidFill>
                      </a:endParaRPr>
                    </a:p>
                  </a:txBody>
                  <a:tcPr>
                    <a:solidFill>
                      <a:schemeClr val="bg1"/>
                    </a:solidFill>
                  </a:tcPr>
                </a:tc>
                <a:tc>
                  <a:txBody>
                    <a:bodyPr/>
                    <a:lstStyle/>
                    <a:p>
                      <a:pPr algn="ctr"/>
                      <a:endParaRPr lang="en-US" sz="1600" b="1" dirty="0" smtClean="0">
                        <a:solidFill>
                          <a:schemeClr val="bg1"/>
                        </a:solidFill>
                      </a:endParaRPr>
                    </a:p>
                  </a:txBody>
                  <a:tcPr>
                    <a:solidFill>
                      <a:schemeClr val="bg1"/>
                    </a:solidFill>
                  </a:tcPr>
                </a:tc>
              </a:tr>
              <a:tr h="370840">
                <a:tc>
                  <a:txBody>
                    <a:bodyPr/>
                    <a:lstStyle/>
                    <a:p>
                      <a:pPr algn="ctr"/>
                      <a:r>
                        <a:rPr lang="en-US" sz="1600" b="1" dirty="0" smtClean="0">
                          <a:solidFill>
                            <a:schemeClr val="bg1"/>
                          </a:solidFill>
                        </a:rPr>
                        <a:t>Uses</a:t>
                      </a:r>
                      <a:endParaRPr lang="en-US" sz="1600" b="1" dirty="0">
                        <a:solidFill>
                          <a:schemeClr val="bg1"/>
                        </a:solidFill>
                      </a:endParaRPr>
                    </a:p>
                  </a:txBody>
                  <a:tcPr>
                    <a:solidFill>
                      <a:schemeClr val="accent2"/>
                    </a:solidFill>
                  </a:tcPr>
                </a:tc>
                <a:tc>
                  <a:txBody>
                    <a:bodyPr/>
                    <a:lstStyle/>
                    <a:p>
                      <a:pPr algn="ctr"/>
                      <a:r>
                        <a:rPr lang="en-US" sz="1600" b="1" dirty="0" smtClean="0">
                          <a:solidFill>
                            <a:schemeClr val="bg1"/>
                          </a:solidFill>
                        </a:rPr>
                        <a:t>Products/Vendors</a:t>
                      </a:r>
                      <a:endParaRPr lang="en-US" sz="1600" b="1" dirty="0">
                        <a:solidFill>
                          <a:schemeClr val="bg1"/>
                        </a:solidFill>
                      </a:endParaRPr>
                    </a:p>
                  </a:txBody>
                  <a:tcPr>
                    <a:solidFill>
                      <a:schemeClr val="accent2"/>
                    </a:solidFill>
                  </a:tcPr>
                </a:tc>
              </a:tr>
              <a:tr h="370840">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Online web portals for real-time ads and promotions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Respond in real-time to events and changing requirements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Continuous data analysis and rapid adaptation to changing data forms and types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Tailor responses to unpredictable changes </a:t>
                      </a:r>
                    </a:p>
                  </a:txBody>
                  <a:tcPr>
                    <a:solidFill>
                      <a:schemeClr val="bg1">
                        <a:lumMod val="95000"/>
                      </a:schemeClr>
                    </a:solidFill>
                  </a:tcPr>
                </a:tc>
                <a:tc>
                  <a:txBody>
                    <a:bodyPr/>
                    <a:lstStyle/>
                    <a:p>
                      <a:pPr marL="228600" indent="-228600">
                        <a:buFont typeface="Arial" panose="020B0604020202020204" pitchFamily="34" charset="0"/>
                        <a:buChar char="•"/>
                      </a:pPr>
                      <a:r>
                        <a:rPr lang="en-US" sz="1200" b="0" i="0" kern="1200" dirty="0" err="1" smtClean="0">
                          <a:solidFill>
                            <a:schemeClr val="dk1"/>
                          </a:solidFill>
                          <a:effectLst/>
                          <a:latin typeface="+mn-lt"/>
                          <a:ea typeface="+mn-ea"/>
                          <a:cs typeface="+mn-cs"/>
                        </a:rPr>
                        <a:t>GemFire</a:t>
                      </a:r>
                      <a:r>
                        <a:rPr lang="en-US" sz="1200" b="0" i="0" kern="1200" dirty="0" smtClean="0">
                          <a:solidFill>
                            <a:schemeClr val="dk1"/>
                          </a:solidFill>
                          <a:effectLst/>
                          <a:latin typeface="+mn-lt"/>
                          <a:ea typeface="+mn-ea"/>
                          <a:cs typeface="+mn-cs"/>
                        </a:rPr>
                        <a:t>®, </a:t>
                      </a:r>
                      <a:r>
                        <a:rPr lang="en-US" sz="1200" b="0" i="0" kern="1200" dirty="0" err="1" smtClean="0">
                          <a:solidFill>
                            <a:schemeClr val="dk1"/>
                          </a:solidFill>
                          <a:effectLst/>
                          <a:latin typeface="+mn-lt"/>
                          <a:ea typeface="+mn-ea"/>
                          <a:cs typeface="+mn-cs"/>
                        </a:rPr>
                        <a:t>Espertech</a:t>
                      </a:r>
                      <a:r>
                        <a:rPr lang="en-US" sz="1200" b="0" i="0" kern="1200" dirty="0" smtClean="0">
                          <a:solidFill>
                            <a:schemeClr val="dk1"/>
                          </a:solidFill>
                          <a:effectLst/>
                          <a:latin typeface="+mn-lt"/>
                          <a:ea typeface="+mn-ea"/>
                          <a:cs typeface="+mn-cs"/>
                        </a:rPr>
                        <a:t>, </a:t>
                      </a:r>
                      <a:r>
                        <a:rPr lang="en-US" sz="1200" b="0" i="0" kern="1200" dirty="0" err="1" smtClean="0">
                          <a:solidFill>
                            <a:schemeClr val="dk1"/>
                          </a:solidFill>
                          <a:effectLst/>
                          <a:latin typeface="+mn-lt"/>
                          <a:ea typeface="+mn-ea"/>
                          <a:cs typeface="+mn-cs"/>
                        </a:rPr>
                        <a:t>SenseiDB</a:t>
                      </a:r>
                      <a:r>
                        <a:rPr lang="en-US" sz="1200" b="0" i="0" kern="1200" dirty="0" smtClean="0">
                          <a:solidFill>
                            <a:schemeClr val="dk1"/>
                          </a:solidFill>
                          <a:effectLst/>
                          <a:latin typeface="+mn-lt"/>
                          <a:ea typeface="+mn-ea"/>
                          <a:cs typeface="+mn-cs"/>
                        </a:rPr>
                        <a:t>, </a:t>
                      </a:r>
                      <a:r>
                        <a:rPr lang="en-US" sz="1200" b="0" i="0" kern="1200" dirty="0" err="1" smtClean="0">
                          <a:solidFill>
                            <a:schemeClr val="dk1"/>
                          </a:solidFill>
                          <a:effectLst/>
                          <a:latin typeface="+mn-lt"/>
                          <a:ea typeface="+mn-ea"/>
                          <a:cs typeface="+mn-cs"/>
                        </a:rPr>
                        <a:t>Sensage</a:t>
                      </a:r>
                      <a:r>
                        <a:rPr lang="en-US" sz="1200" b="0" i="0" kern="1200" dirty="0" smtClean="0">
                          <a:solidFill>
                            <a:schemeClr val="dk1"/>
                          </a:solidFill>
                          <a:effectLst/>
                          <a:latin typeface="+mn-lt"/>
                          <a:ea typeface="+mn-ea"/>
                          <a:cs typeface="+mn-cs"/>
                        </a:rPr>
                        <a:t>®, Zoie, IBM® </a:t>
                      </a:r>
                      <a:r>
                        <a:rPr lang="en-US" sz="1200" b="0" i="0" kern="1200" dirty="0" err="1" smtClean="0">
                          <a:solidFill>
                            <a:schemeClr val="dk1"/>
                          </a:solidFill>
                          <a:effectLst/>
                          <a:latin typeface="+mn-lt"/>
                          <a:ea typeface="+mn-ea"/>
                          <a:cs typeface="+mn-cs"/>
                        </a:rPr>
                        <a:t>InfoStreams</a:t>
                      </a:r>
                      <a:r>
                        <a:rPr lang="en-US" sz="1200" b="0" i="0" kern="1200" dirty="0" smtClean="0">
                          <a:solidFill>
                            <a:schemeClr val="dk1"/>
                          </a:solidFill>
                          <a:effectLst/>
                          <a:latin typeface="+mn-lt"/>
                          <a:ea typeface="+mn-ea"/>
                          <a:cs typeface="+mn-cs"/>
                        </a:rPr>
                        <a:t>, </a:t>
                      </a:r>
                      <a:r>
                        <a:rPr lang="en-US" sz="1200" b="0" i="0" kern="1200" dirty="0" err="1" smtClean="0">
                          <a:solidFill>
                            <a:schemeClr val="dk1"/>
                          </a:solidFill>
                          <a:effectLst/>
                          <a:latin typeface="+mn-lt"/>
                          <a:ea typeface="+mn-ea"/>
                          <a:cs typeface="+mn-cs"/>
                        </a:rPr>
                        <a:t>uCIRRUS</a:t>
                      </a:r>
                      <a:endParaRPr lang="en-US" sz="1200" b="0" i="0" kern="1200" dirty="0" smtClean="0">
                        <a:solidFill>
                          <a:schemeClr val="dk1"/>
                        </a:solidFill>
                        <a:effectLst/>
                        <a:latin typeface="+mn-lt"/>
                        <a:ea typeface="+mn-ea"/>
                        <a:cs typeface="+mn-cs"/>
                      </a:endParaRP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Apache® Flume™, </a:t>
                      </a:r>
                      <a:r>
                        <a:rPr lang="en-US" sz="1200" b="0" i="0" kern="1200" dirty="0" err="1" smtClean="0">
                          <a:solidFill>
                            <a:schemeClr val="dk1"/>
                          </a:solidFill>
                          <a:effectLst/>
                          <a:latin typeface="+mn-lt"/>
                          <a:ea typeface="+mn-ea"/>
                          <a:cs typeface="+mn-cs"/>
                        </a:rPr>
                        <a:t>Splunk</a:t>
                      </a:r>
                      <a:r>
                        <a:rPr lang="en-US" sz="1200" b="0" i="0" kern="1200" dirty="0" smtClean="0">
                          <a:solidFill>
                            <a:schemeClr val="dk1"/>
                          </a:solidFill>
                          <a:effectLst/>
                          <a:latin typeface="+mn-lt"/>
                          <a:ea typeface="+mn-ea"/>
                          <a:cs typeface="+mn-cs"/>
                        </a:rPr>
                        <a:t>®, Sumo Logic®, STORM, Kafka, Spark</a:t>
                      </a:r>
                      <a:r>
                        <a:rPr lang="en-US" sz="1200" b="0" i="0" kern="1200" baseline="30000" dirty="0" smtClean="0">
                          <a:solidFill>
                            <a:schemeClr val="dk1"/>
                          </a:solidFill>
                          <a:effectLst/>
                          <a:latin typeface="+mn-lt"/>
                          <a:ea typeface="+mn-ea"/>
                          <a:cs typeface="+mn-cs"/>
                        </a:rPr>
                        <a:t>™</a:t>
                      </a:r>
                      <a:r>
                        <a:rPr lang="en-US" sz="1200" b="0" i="0" kern="1200" baseline="0" dirty="0" smtClean="0">
                          <a:solidFill>
                            <a:schemeClr val="dk1"/>
                          </a:solidFill>
                          <a:effectLst/>
                          <a:latin typeface="+mn-lt"/>
                          <a:ea typeface="+mn-ea"/>
                          <a:cs typeface="+mn-cs"/>
                        </a:rPr>
                        <a:t> S</a:t>
                      </a:r>
                      <a:r>
                        <a:rPr lang="en-US" sz="1200" b="0" i="0" kern="1200" dirty="0" smtClean="0">
                          <a:solidFill>
                            <a:schemeClr val="dk1"/>
                          </a:solidFill>
                          <a:effectLst/>
                          <a:latin typeface="+mn-lt"/>
                          <a:ea typeface="+mn-ea"/>
                          <a:cs typeface="+mn-cs"/>
                        </a:rPr>
                        <a:t>treaming</a:t>
                      </a:r>
                      <a:endParaRPr lang="en-US" dirty="0"/>
                    </a:p>
                  </a:txBody>
                  <a:tcPr>
                    <a:solidFill>
                      <a:schemeClr val="bg1">
                        <a:lumMod val="95000"/>
                      </a:schemeClr>
                    </a:solidFill>
                  </a:tcPr>
                </a:tc>
              </a:tr>
            </a:tbl>
          </a:graphicData>
        </a:graphic>
      </p:graphicFrame>
      <p:sp>
        <p:nvSpPr>
          <p:cNvPr id="6"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41</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234501337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3.9 Processing Streaming Data</a:t>
            </a:r>
            <a:endParaRPr lang="en-US" dirty="0"/>
          </a:p>
        </p:txBody>
      </p:sp>
      <p:sp>
        <p:nvSpPr>
          <p:cNvPr id="3" name="Content Placeholder 2"/>
          <p:cNvSpPr>
            <a:spLocks noGrp="1"/>
          </p:cNvSpPr>
          <p:nvPr>
            <p:ph sz="quarter" idx="14"/>
          </p:nvPr>
        </p:nvSpPr>
        <p:spPr/>
        <p:txBody>
          <a:bodyPr/>
          <a:lstStyle/>
          <a:p>
            <a:pPr marL="0" indent="0">
              <a:buNone/>
            </a:pPr>
            <a:r>
              <a:rPr lang="en-US" sz="1200" dirty="0"/>
              <a:t>The diagram pictured shows different approaches to data processing: traditional and Big Data. In the traditional approach, data was stored and then analyzed. In the Big Data approach, streaming data is analyzed in real-time.</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387" y="1676393"/>
            <a:ext cx="8277225" cy="19050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95500" y="3770312"/>
            <a:ext cx="4953000" cy="2705100"/>
          </a:xfrm>
          <a:prstGeom prst="rect">
            <a:avLst/>
          </a:prstGeom>
        </p:spPr>
      </p:pic>
      <p:sp>
        <p:nvSpPr>
          <p:cNvPr id="7"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8"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42</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59488436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3.10 Checkpoint</a:t>
            </a:r>
            <a:endParaRPr lang="en-US" dirty="0"/>
          </a:p>
        </p:txBody>
      </p:sp>
      <p:sp>
        <p:nvSpPr>
          <p:cNvPr id="6" name="Content Placeholder 5"/>
          <p:cNvSpPr>
            <a:spLocks noGrp="1"/>
          </p:cNvSpPr>
          <p:nvPr>
            <p:ph sz="quarter" idx="14"/>
          </p:nvPr>
        </p:nvSpPr>
        <p:spPr>
          <a:xfrm>
            <a:off x="455613" y="1371600"/>
            <a:ext cx="8232775" cy="2443163"/>
          </a:xfrm>
        </p:spPr>
        <p:txBody>
          <a:bodyPr/>
          <a:lstStyle/>
          <a:p>
            <a:pPr marL="0" indent="0">
              <a:buNone/>
            </a:pPr>
            <a:r>
              <a:rPr lang="en-US" sz="1200" b="1" dirty="0">
                <a:solidFill>
                  <a:schemeClr val="accent2"/>
                </a:solidFill>
              </a:rPr>
              <a:t>True or False:</a:t>
            </a:r>
            <a:r>
              <a:rPr lang="en-US" sz="1200" b="1" dirty="0"/>
              <a:t> </a:t>
            </a:r>
            <a:r>
              <a:rPr lang="en-US" sz="1200" dirty="0" smtClean="0"/>
              <a:t>Because </a:t>
            </a:r>
            <a:r>
              <a:rPr lang="en-US" sz="1200" dirty="0"/>
              <a:t>of its sheer size and lack of structure, traditional relational-based databases (RDBMS) cannot handle Big Data. </a:t>
            </a:r>
            <a:br>
              <a:rPr lang="en-US" sz="1200" dirty="0"/>
            </a:br>
            <a:r>
              <a:rPr lang="en-US" sz="1200" dirty="0"/>
              <a:t/>
            </a:r>
            <a:br>
              <a:rPr lang="en-US" sz="1200" dirty="0"/>
            </a:br>
            <a:r>
              <a:rPr lang="en-US" sz="1200" dirty="0"/>
              <a:t/>
            </a:r>
            <a:br>
              <a:rPr lang="en-US" sz="1200" dirty="0"/>
            </a:br>
            <a:r>
              <a:rPr lang="en-US" sz="1200" b="1" i="1" dirty="0">
                <a:solidFill>
                  <a:schemeClr val="accent2"/>
                </a:solidFill>
              </a:rPr>
              <a:t>Select the correct option, and click or tap the Submit button</a:t>
            </a:r>
            <a:r>
              <a:rPr lang="en-US" sz="1200" b="1" i="1" dirty="0" smtClean="0">
                <a:solidFill>
                  <a:schemeClr val="accent2"/>
                </a:solidFill>
              </a:rPr>
              <a:t>.</a:t>
            </a:r>
          </a:p>
          <a:p>
            <a:pPr marL="0" indent="0">
              <a:buNone/>
            </a:pPr>
            <a:endParaRPr lang="en-US" sz="1200" b="1" i="1" dirty="0">
              <a:solidFill>
                <a:schemeClr val="accent2"/>
              </a:solidFill>
            </a:endParaRPr>
          </a:p>
          <a:p>
            <a:pPr lvl="0">
              <a:buFont typeface="+mj-lt"/>
              <a:buAutoNum type="alphaLcParenR"/>
            </a:pPr>
            <a:r>
              <a:rPr lang="en-US" sz="1200" dirty="0" smtClean="0"/>
              <a:t>True </a:t>
            </a:r>
            <a:endParaRPr lang="en-US" sz="1200" dirty="0"/>
          </a:p>
          <a:p>
            <a:pPr lvl="0">
              <a:buFont typeface="+mj-lt"/>
              <a:buAutoNum type="alphaLcParenR"/>
            </a:pPr>
            <a:r>
              <a:rPr lang="en-US" sz="1200" dirty="0" smtClean="0"/>
              <a:t>False</a:t>
            </a:r>
            <a:endParaRPr lang="en-US" sz="1200" dirty="0">
              <a:solidFill>
                <a:schemeClr val="accent2"/>
              </a:solidFill>
            </a:endParaRPr>
          </a:p>
        </p:txBody>
      </p:sp>
      <p:sp>
        <p:nvSpPr>
          <p:cNvPr id="7"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8"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43</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79498081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3.10 Checkpoint Answer</a:t>
            </a:r>
            <a:endParaRPr lang="en-US" dirty="0"/>
          </a:p>
        </p:txBody>
      </p:sp>
      <p:sp>
        <p:nvSpPr>
          <p:cNvPr id="6" name="Content Placeholder 5"/>
          <p:cNvSpPr>
            <a:spLocks noGrp="1"/>
          </p:cNvSpPr>
          <p:nvPr>
            <p:ph sz="quarter" idx="14"/>
          </p:nvPr>
        </p:nvSpPr>
        <p:spPr>
          <a:xfrm>
            <a:off x="455613" y="1371600"/>
            <a:ext cx="8232775" cy="5335150"/>
          </a:xfrm>
        </p:spPr>
        <p:txBody>
          <a:bodyPr/>
          <a:lstStyle/>
          <a:p>
            <a:pPr marL="0" indent="0">
              <a:buNone/>
            </a:pPr>
            <a:r>
              <a:rPr lang="en-US" sz="1200" b="1" dirty="0">
                <a:solidFill>
                  <a:schemeClr val="accent2"/>
                </a:solidFill>
              </a:rPr>
              <a:t>True or False:</a:t>
            </a:r>
            <a:r>
              <a:rPr lang="en-US" sz="1200" b="1" dirty="0"/>
              <a:t> </a:t>
            </a:r>
            <a:r>
              <a:rPr lang="en-US" sz="1200" dirty="0" smtClean="0"/>
              <a:t>Because </a:t>
            </a:r>
            <a:r>
              <a:rPr lang="en-US" sz="1200" dirty="0"/>
              <a:t>of its sheer size and lack of structure, traditional relational-based databases (RDBMS) cannot handle Big Data.</a:t>
            </a:r>
            <a:br>
              <a:rPr lang="en-US" sz="1200" dirty="0"/>
            </a:br>
            <a:r>
              <a:rPr lang="en-US" sz="1200" dirty="0"/>
              <a:t/>
            </a:r>
            <a:br>
              <a:rPr lang="en-US" sz="1200" dirty="0"/>
            </a:br>
            <a:r>
              <a:rPr lang="en-US" sz="1200" b="1" i="1" dirty="0">
                <a:solidFill>
                  <a:schemeClr val="accent2"/>
                </a:solidFill>
              </a:rPr>
              <a:t>Select the correct option, and click or tap the Submit button</a:t>
            </a:r>
            <a:r>
              <a:rPr lang="en-US" sz="1200" b="1" i="1" dirty="0" smtClean="0">
                <a:solidFill>
                  <a:schemeClr val="accent2"/>
                </a:solidFill>
              </a:rPr>
              <a:t>.</a:t>
            </a:r>
          </a:p>
          <a:p>
            <a:pPr marL="0" indent="0">
              <a:buNone/>
            </a:pPr>
            <a:endParaRPr lang="en-US" sz="1200" b="1" i="1" dirty="0">
              <a:solidFill>
                <a:schemeClr val="accent2"/>
              </a:solidFill>
            </a:endParaRPr>
          </a:p>
          <a:p>
            <a:pPr lvl="0">
              <a:buFont typeface="+mj-lt"/>
              <a:buAutoNum type="alphaLcParenR"/>
            </a:pPr>
            <a:r>
              <a:rPr lang="en-US" sz="1200" b="1" dirty="0" smtClean="0"/>
              <a:t>True </a:t>
            </a:r>
            <a:endParaRPr lang="en-US" sz="1200" b="1" dirty="0"/>
          </a:p>
          <a:p>
            <a:pPr lvl="0">
              <a:buFont typeface="+mj-lt"/>
              <a:buAutoNum type="alphaLcParenR"/>
            </a:pPr>
            <a:r>
              <a:rPr lang="en-US" sz="1200" dirty="0" smtClean="0"/>
              <a:t>False</a:t>
            </a:r>
          </a:p>
          <a:p>
            <a:pPr marL="0" lvl="0" indent="0">
              <a:buNone/>
            </a:pPr>
            <a:endParaRPr lang="en-US" sz="1200" dirty="0">
              <a:solidFill>
                <a:schemeClr val="accent2"/>
              </a:solidFill>
            </a:endParaRPr>
          </a:p>
          <a:p>
            <a:pPr marL="0" indent="0">
              <a:buNone/>
            </a:pPr>
            <a:r>
              <a:rPr lang="en-US" sz="1200" i="1" dirty="0" smtClean="0"/>
              <a:t>The correct answer is TRUE. </a:t>
            </a:r>
          </a:p>
          <a:p>
            <a:pPr marL="0" indent="0">
              <a:buNone/>
            </a:pPr>
            <a:endParaRPr lang="en-US" sz="1200" i="1" dirty="0"/>
          </a:p>
          <a:p>
            <a:pPr marL="0" indent="0">
              <a:buNone/>
            </a:pPr>
            <a:r>
              <a:rPr lang="en-US" sz="1200" i="1" dirty="0" smtClean="0"/>
              <a:t>Because </a:t>
            </a:r>
            <a:r>
              <a:rPr lang="en-US" sz="1200" i="1" dirty="0"/>
              <a:t>of its sheer size and lack of structure, traditional relational-based databases (</a:t>
            </a:r>
            <a:r>
              <a:rPr lang="en-US" sz="1200" i="1" dirty="0" smtClean="0"/>
              <a:t>RDBMS</a:t>
            </a:r>
            <a:r>
              <a:rPr lang="en-US" sz="1200" i="1" dirty="0"/>
              <a:t>) cannot handle Big Data. Big Data requires a more flexible non-relational structure that supports fast access to data for processing. Keep in mind that there is no NoSQL database that can meet this need.</a:t>
            </a:r>
            <a:endParaRPr lang="en-US" sz="1200" i="1" dirty="0">
              <a:solidFill>
                <a:schemeClr val="accent2"/>
              </a:solidFill>
            </a:endParaRPr>
          </a:p>
        </p:txBody>
      </p:sp>
      <p:sp>
        <p:nvSpPr>
          <p:cNvPr id="7"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8"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44</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50115409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3.11 Specialty Data Processing</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Big Data deals with some highly complex, densely connected, and semi-structured specialty data types. Managing these types of data require unique solutions. </a:t>
            </a:r>
            <a:r>
              <a:rPr lang="en-US" sz="1200" dirty="0" smtClean="0"/>
              <a:t>In fact, </a:t>
            </a:r>
            <a:r>
              <a:rPr lang="en-US" sz="1200" dirty="0"/>
              <a:t>one-, two-, and three-dimensional processing models have been developed and refined over many years specifically for this purpose.</a:t>
            </a:r>
          </a:p>
        </p:txBody>
      </p:sp>
      <p:sp>
        <p:nvSpPr>
          <p:cNvPr id="4" name="Footer Placeholder 3"/>
          <p:cNvSpPr>
            <a:spLocks noGrp="1"/>
          </p:cNvSpPr>
          <p:nvPr>
            <p:ph type="ftr" sz="quarter" idx="15"/>
          </p:nvPr>
        </p:nvSpPr>
        <p:spPr/>
        <p:txBody>
          <a:bodyPr/>
          <a:lstStyle/>
          <a:p>
            <a:r>
              <a:rPr lang="en-US" dirty="0" smtClean="0"/>
              <a:t>Copyright © 2015 Accenture  All rights reserved.</a:t>
            </a:r>
            <a:endParaRPr lang="en-AU" dirty="0"/>
          </a:p>
        </p:txBody>
      </p:sp>
      <p:graphicFrame>
        <p:nvGraphicFramePr>
          <p:cNvPr id="14" name="Table 13"/>
          <p:cNvGraphicFramePr>
            <a:graphicFrameLocks noGrp="1"/>
          </p:cNvGraphicFramePr>
          <p:nvPr>
            <p:extLst>
              <p:ext uri="{D42A27DB-BD31-4B8C-83A1-F6EECF244321}">
                <p14:modId xmlns:p14="http://schemas.microsoft.com/office/powerpoint/2010/main" val="1560238224"/>
              </p:ext>
            </p:extLst>
          </p:nvPr>
        </p:nvGraphicFramePr>
        <p:xfrm>
          <a:off x="455613" y="2207471"/>
          <a:ext cx="8128830" cy="2575560"/>
        </p:xfrm>
        <a:graphic>
          <a:graphicData uri="http://schemas.openxmlformats.org/drawingml/2006/table">
            <a:tbl>
              <a:tblPr firstRow="1" bandRow="1">
                <a:tableStyleId>{21E4AEA4-8DFA-4A89-87EB-49C32662AFE0}</a:tableStyleId>
              </a:tblPr>
              <a:tblGrid>
                <a:gridCol w="4064415"/>
                <a:gridCol w="4064415"/>
              </a:tblGrid>
              <a:tr h="370840">
                <a:tc>
                  <a:txBody>
                    <a:bodyPr/>
                    <a:lstStyle/>
                    <a:p>
                      <a:pPr algn="ctr"/>
                      <a:r>
                        <a:rPr lang="en-US" sz="1600" dirty="0" smtClean="0"/>
                        <a:t>Characteristics</a:t>
                      </a:r>
                      <a:endParaRPr lang="en-US" sz="1600" dirty="0"/>
                    </a:p>
                  </a:txBody>
                  <a:tcPr/>
                </a:tc>
                <a:tc>
                  <a:txBody>
                    <a:bodyPr/>
                    <a:lstStyle/>
                    <a:p>
                      <a:pPr algn="ctr"/>
                      <a:r>
                        <a:rPr lang="en-US" sz="1600" dirty="0" smtClean="0"/>
                        <a:t>Differences</a:t>
                      </a:r>
                      <a:endParaRPr lang="en-US" sz="1600" dirty="0"/>
                    </a:p>
                  </a:txBody>
                  <a:tcPr/>
                </a:tc>
              </a:tr>
              <a:tr h="370840">
                <a:tc>
                  <a:txBody>
                    <a:bodyPr/>
                    <a:lstStyle/>
                    <a:p>
                      <a:pPr marL="285750" lvl="0" indent="-285750">
                        <a:spcBef>
                          <a:spcPts val="600"/>
                        </a:spcBef>
                        <a:buFont typeface="Arial" panose="020B0604020202020204" pitchFamily="34" charset="0"/>
                        <a:buChar char="•"/>
                      </a:pPr>
                      <a:r>
                        <a:rPr lang="en-US" sz="1200" kern="1200" dirty="0" smtClean="0">
                          <a:solidFill>
                            <a:schemeClr val="dk1"/>
                          </a:solidFill>
                          <a:effectLst/>
                          <a:latin typeface="+mn-lt"/>
                          <a:ea typeface="+mn-ea"/>
                          <a:cs typeface="+mn-cs"/>
                        </a:rPr>
                        <a:t>Graph databases, specialized solutions for huge volume of Extensible Markup Language (XML) based transactions at low-latency</a:t>
                      </a:r>
                      <a:endParaRPr lang="en-US" sz="1200" kern="1200" dirty="0">
                        <a:solidFill>
                          <a:schemeClr val="dk1"/>
                        </a:solidFill>
                        <a:effectLst/>
                        <a:latin typeface="+mn-lt"/>
                        <a:ea typeface="+mn-ea"/>
                        <a:cs typeface="+mn-cs"/>
                      </a:endParaRPr>
                    </a:p>
                  </a:txBody>
                  <a:tcPr>
                    <a:solidFill>
                      <a:schemeClr val="bg1">
                        <a:lumMod val="95000"/>
                      </a:schemeClr>
                    </a:solidFill>
                  </a:tcPr>
                </a:tc>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Complex social styled or hierarchical relationship management</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Overcome RDBMS limitations to handle complex graphs and querying</a:t>
                      </a:r>
                      <a:endParaRPr lang="en-US" sz="1200" dirty="0"/>
                    </a:p>
                  </a:txBody>
                  <a:tcPr>
                    <a:solidFill>
                      <a:schemeClr val="bg1">
                        <a:lumMod val="95000"/>
                      </a:schemeClr>
                    </a:solidFill>
                  </a:tcPr>
                </a:tc>
              </a:tr>
              <a:tr h="370840">
                <a:tc>
                  <a:txBody>
                    <a:bodyPr/>
                    <a:lstStyle/>
                    <a:p>
                      <a:pPr algn="ctr"/>
                      <a:endParaRPr lang="en-US" sz="1600" b="1" dirty="0">
                        <a:solidFill>
                          <a:schemeClr val="bg1"/>
                        </a:solidFill>
                      </a:endParaRPr>
                    </a:p>
                  </a:txBody>
                  <a:tcPr>
                    <a:solidFill>
                      <a:schemeClr val="bg1"/>
                    </a:solidFill>
                  </a:tcPr>
                </a:tc>
                <a:tc>
                  <a:txBody>
                    <a:bodyPr/>
                    <a:lstStyle/>
                    <a:p>
                      <a:pPr algn="ctr"/>
                      <a:endParaRPr lang="en-US" sz="1600" b="1" dirty="0" smtClean="0">
                        <a:solidFill>
                          <a:schemeClr val="bg1"/>
                        </a:solidFill>
                      </a:endParaRPr>
                    </a:p>
                  </a:txBody>
                  <a:tcPr>
                    <a:solidFill>
                      <a:schemeClr val="bg1"/>
                    </a:solidFill>
                  </a:tcPr>
                </a:tc>
              </a:tr>
              <a:tr h="370840">
                <a:tc>
                  <a:txBody>
                    <a:bodyPr/>
                    <a:lstStyle/>
                    <a:p>
                      <a:pPr algn="ctr"/>
                      <a:r>
                        <a:rPr lang="en-US" sz="1600" b="1" dirty="0" smtClean="0">
                          <a:solidFill>
                            <a:schemeClr val="bg1"/>
                          </a:solidFill>
                        </a:rPr>
                        <a:t>Uses</a:t>
                      </a:r>
                      <a:endParaRPr lang="en-US" sz="1600" b="1" dirty="0">
                        <a:solidFill>
                          <a:schemeClr val="bg1"/>
                        </a:solidFill>
                      </a:endParaRPr>
                    </a:p>
                  </a:txBody>
                  <a:tcPr>
                    <a:solidFill>
                      <a:schemeClr val="accent2"/>
                    </a:solidFill>
                  </a:tcPr>
                </a:tc>
                <a:tc>
                  <a:txBody>
                    <a:bodyPr/>
                    <a:lstStyle/>
                    <a:p>
                      <a:pPr algn="ctr"/>
                      <a:r>
                        <a:rPr lang="en-US" sz="1600" b="1" dirty="0" smtClean="0">
                          <a:solidFill>
                            <a:schemeClr val="bg1"/>
                          </a:solidFill>
                        </a:rPr>
                        <a:t>Products/Vendors</a:t>
                      </a:r>
                      <a:endParaRPr lang="en-US" sz="1600" b="1" dirty="0">
                        <a:solidFill>
                          <a:schemeClr val="bg1"/>
                        </a:solidFill>
                      </a:endParaRPr>
                    </a:p>
                  </a:txBody>
                  <a:tcPr>
                    <a:solidFill>
                      <a:schemeClr val="accent2"/>
                    </a:solidFill>
                  </a:tcPr>
                </a:tc>
              </a:tr>
              <a:tr h="370840">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Real-time querying and analysis of complex relations such as social graphs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Path optimization</a:t>
                      </a:r>
                    </a:p>
                  </a:txBody>
                  <a:tcPr>
                    <a:solidFill>
                      <a:schemeClr val="bg1">
                        <a:lumMod val="95000"/>
                      </a:schemeClr>
                    </a:solidFill>
                  </a:tcPr>
                </a:tc>
                <a:tc>
                  <a:txBody>
                    <a:bodyPr/>
                    <a:lstStyle/>
                    <a:p>
                      <a:pPr marL="171450" indent="-171450">
                        <a:buFont typeface="Arial" panose="020B0604020202020204" pitchFamily="34" charset="0"/>
                        <a:buChar char="•"/>
                      </a:pPr>
                      <a:r>
                        <a:rPr lang="en-US" sz="1200" b="0" i="0" kern="1200" dirty="0" err="1" smtClean="0">
                          <a:solidFill>
                            <a:schemeClr val="dk1"/>
                          </a:solidFill>
                          <a:effectLst/>
                          <a:latin typeface="+mn-lt"/>
                          <a:ea typeface="+mn-ea"/>
                          <a:cs typeface="+mn-cs"/>
                        </a:rPr>
                        <a:t>MarkLogic</a:t>
                      </a:r>
                      <a:r>
                        <a:rPr lang="en-US" sz="1200" b="0" i="0" kern="1200" dirty="0" smtClean="0">
                          <a:solidFill>
                            <a:schemeClr val="dk1"/>
                          </a:solidFill>
                          <a:effectLst/>
                          <a:latin typeface="+mn-lt"/>
                          <a:ea typeface="+mn-ea"/>
                          <a:cs typeface="+mn-cs"/>
                        </a:rPr>
                        <a:t>®, Neo4j®, </a:t>
                      </a:r>
                      <a:r>
                        <a:rPr lang="en-US" sz="1200" b="0" i="0" kern="1200" dirty="0" err="1" smtClean="0">
                          <a:solidFill>
                            <a:schemeClr val="dk1"/>
                          </a:solidFill>
                          <a:effectLst/>
                          <a:latin typeface="+mn-lt"/>
                          <a:ea typeface="+mn-ea"/>
                          <a:cs typeface="+mn-cs"/>
                        </a:rPr>
                        <a:t>FlockDB</a:t>
                      </a:r>
                      <a:r>
                        <a:rPr lang="en-US" sz="1200" b="0" i="0" kern="1200" dirty="0" smtClean="0">
                          <a:solidFill>
                            <a:schemeClr val="dk1"/>
                          </a:solidFill>
                          <a:effectLst/>
                          <a:latin typeface="+mn-lt"/>
                          <a:ea typeface="+mn-ea"/>
                          <a:cs typeface="+mn-cs"/>
                        </a:rPr>
                        <a:t>, </a:t>
                      </a:r>
                      <a:r>
                        <a:rPr lang="en-US" sz="1200" b="0" i="0" kern="1200" dirty="0" err="1" smtClean="0">
                          <a:solidFill>
                            <a:schemeClr val="dk1"/>
                          </a:solidFill>
                          <a:effectLst/>
                          <a:latin typeface="+mn-lt"/>
                          <a:ea typeface="+mn-ea"/>
                          <a:cs typeface="+mn-cs"/>
                        </a:rPr>
                        <a:t>AllegroGraph</a:t>
                      </a:r>
                      <a:r>
                        <a:rPr lang="en-US" sz="1200" b="0" i="0" kern="1200" dirty="0" smtClean="0">
                          <a:solidFill>
                            <a:schemeClr val="dk1"/>
                          </a:solidFill>
                          <a:effectLst/>
                          <a:latin typeface="+mn-lt"/>
                          <a:ea typeface="+mn-ea"/>
                          <a:cs typeface="+mn-cs"/>
                        </a:rPr>
                        <a:t>®</a:t>
                      </a:r>
                      <a:endParaRPr lang="en-US" sz="1200" b="0" i="0" kern="1200" dirty="0">
                        <a:solidFill>
                          <a:schemeClr val="dk1"/>
                        </a:solidFill>
                        <a:effectLst/>
                        <a:latin typeface="+mn-lt"/>
                        <a:ea typeface="+mn-ea"/>
                        <a:cs typeface="+mn-cs"/>
                      </a:endParaRPr>
                    </a:p>
                  </a:txBody>
                  <a:tcPr>
                    <a:solidFill>
                      <a:schemeClr val="bg1">
                        <a:lumMod val="95000"/>
                      </a:schemeClr>
                    </a:solidFill>
                  </a:tcPr>
                </a:tc>
              </a:tr>
            </a:tbl>
          </a:graphicData>
        </a:graphic>
      </p:graphicFrame>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45</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229286410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3.12 Specialty Data Processing Example</a:t>
            </a:r>
            <a:endParaRPr lang="en-US" dirty="0"/>
          </a:p>
        </p:txBody>
      </p:sp>
      <p:sp>
        <p:nvSpPr>
          <p:cNvPr id="4" name="Content Placeholder 3"/>
          <p:cNvSpPr>
            <a:spLocks noGrp="1"/>
          </p:cNvSpPr>
          <p:nvPr>
            <p:ph sz="quarter" idx="14"/>
          </p:nvPr>
        </p:nvSpPr>
        <p:spPr>
          <a:xfrm>
            <a:off x="455614" y="1371600"/>
            <a:ext cx="3282197" cy="3487003"/>
          </a:xfrm>
        </p:spPr>
        <p:txBody>
          <a:bodyPr/>
          <a:lstStyle/>
          <a:p>
            <a:pPr marL="0" indent="0">
              <a:buNone/>
            </a:pPr>
            <a:r>
              <a:rPr lang="en-US" sz="1200" dirty="0"/>
              <a:t>Specialty data processing solutions tackle highly complex data that is large, densely connected, and semi-structured (essentially a hash-map on each element). Specialty data is accessed directly via </a:t>
            </a:r>
            <a:r>
              <a:rPr lang="en-US" sz="1200" dirty="0" smtClean="0"/>
              <a:t>Java</a:t>
            </a:r>
            <a:r>
              <a:rPr lang="en-US" sz="1200" baseline="30000" dirty="0" smtClean="0"/>
              <a:t>®</a:t>
            </a:r>
            <a:r>
              <a:rPr lang="en-US" sz="1200" dirty="0" smtClean="0"/>
              <a:t>, </a:t>
            </a:r>
            <a:r>
              <a:rPr lang="en-US" sz="1200" dirty="0"/>
              <a:t>and many graph algorithms are included out-of-the box. It can facilitate complex queries with a graph query language such as Gremlin, and can provide support for Spring with Spring Data.</a:t>
            </a:r>
            <a:br>
              <a:rPr lang="en-US" sz="1200" dirty="0"/>
            </a:br>
            <a:endParaRPr lang="en-US" sz="1200" dirty="0"/>
          </a:p>
        </p:txBody>
      </p:sp>
      <p:sp>
        <p:nvSpPr>
          <p:cNvPr id="2" name="Footer Placeholder 1"/>
          <p:cNvSpPr>
            <a:spLocks noGrp="1"/>
          </p:cNvSpPr>
          <p:nvPr>
            <p:ph type="ftr" sz="quarter" idx="15"/>
          </p:nvPr>
        </p:nvSpPr>
        <p:spPr/>
        <p:txBody>
          <a:bodyPr/>
          <a:lstStyle/>
          <a:p>
            <a:r>
              <a:rPr lang="en-US" smtClean="0"/>
              <a:t>Copyright © 2015 Accenture  All rights reserved.</a:t>
            </a:r>
            <a:endParaRPr lang="en-AU"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0832" y="1371600"/>
            <a:ext cx="4514850" cy="3810000"/>
          </a:xfrm>
          <a:prstGeom prst="rect">
            <a:avLst/>
          </a:prstGeom>
        </p:spPr>
      </p:pic>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46</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96846520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3.13 In-Memory Processing</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Databases that reside in computer memory rather than hard disks, and the associated technologies, will lend cutting-edge capabilities for enterprise software in the future. This “in-memory” computing technology has been gaining </a:t>
            </a:r>
            <a:r>
              <a:rPr lang="en-US" sz="1200" dirty="0" smtClean="0"/>
              <a:t>ground, will </a:t>
            </a:r>
            <a:r>
              <a:rPr lang="en-US" sz="1200" dirty="0"/>
              <a:t>speed up data </a:t>
            </a:r>
            <a:r>
              <a:rPr lang="en-US" sz="1200" dirty="0" smtClean="0"/>
              <a:t>crunching, and will help </a:t>
            </a:r>
            <a:r>
              <a:rPr lang="en-US" sz="1200" dirty="0"/>
              <a:t>meet the diverse information and analytics requirements of companies faster than before.</a:t>
            </a:r>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graphicFrame>
        <p:nvGraphicFramePr>
          <p:cNvPr id="14" name="Table 13"/>
          <p:cNvGraphicFramePr>
            <a:graphicFrameLocks noGrp="1"/>
          </p:cNvGraphicFramePr>
          <p:nvPr>
            <p:extLst>
              <p:ext uri="{D42A27DB-BD31-4B8C-83A1-F6EECF244321}">
                <p14:modId xmlns:p14="http://schemas.microsoft.com/office/powerpoint/2010/main" val="817679056"/>
              </p:ext>
            </p:extLst>
          </p:nvPr>
        </p:nvGraphicFramePr>
        <p:xfrm>
          <a:off x="455613" y="2335807"/>
          <a:ext cx="8128830" cy="4038600"/>
        </p:xfrm>
        <a:graphic>
          <a:graphicData uri="http://schemas.openxmlformats.org/drawingml/2006/table">
            <a:tbl>
              <a:tblPr firstRow="1" bandRow="1">
                <a:tableStyleId>{21E4AEA4-8DFA-4A89-87EB-49C32662AFE0}</a:tableStyleId>
              </a:tblPr>
              <a:tblGrid>
                <a:gridCol w="4064415"/>
                <a:gridCol w="4064415"/>
              </a:tblGrid>
              <a:tr h="370840">
                <a:tc>
                  <a:txBody>
                    <a:bodyPr/>
                    <a:lstStyle/>
                    <a:p>
                      <a:pPr algn="ctr"/>
                      <a:r>
                        <a:rPr lang="en-US" sz="1600" dirty="0" smtClean="0"/>
                        <a:t>Characteristics</a:t>
                      </a:r>
                      <a:endParaRPr lang="en-US" sz="1600" dirty="0"/>
                    </a:p>
                  </a:txBody>
                  <a:tcPr/>
                </a:tc>
                <a:tc>
                  <a:txBody>
                    <a:bodyPr/>
                    <a:lstStyle/>
                    <a:p>
                      <a:pPr algn="ctr"/>
                      <a:r>
                        <a:rPr lang="en-US" sz="1600" dirty="0" smtClean="0"/>
                        <a:t>Differences</a:t>
                      </a:r>
                      <a:endParaRPr lang="en-US" sz="1600" dirty="0"/>
                    </a:p>
                  </a:txBody>
                  <a:tcPr/>
                </a:tc>
              </a:tr>
              <a:tr h="370840">
                <a:tc>
                  <a:txBody>
                    <a:bodyPr/>
                    <a:lstStyle/>
                    <a:p>
                      <a:pPr marL="228600" lvl="0" indent="-228600">
                        <a:spcBef>
                          <a:spcPts val="0"/>
                        </a:spcBef>
                        <a:buFont typeface="Arial" panose="020B0604020202020204" pitchFamily="34" charset="0"/>
                        <a:buChar char="•"/>
                      </a:pPr>
                      <a:r>
                        <a:rPr lang="en-US" sz="1200" kern="1200" dirty="0" smtClean="0">
                          <a:solidFill>
                            <a:schemeClr val="dk1"/>
                          </a:solidFill>
                          <a:effectLst/>
                          <a:latin typeface="+mn-lt"/>
                          <a:ea typeface="+mn-ea"/>
                          <a:cs typeface="+mn-cs"/>
                        </a:rPr>
                        <a:t>Overcome traditional system bottlenecks of disk reads/writes</a:t>
                      </a:r>
                    </a:p>
                    <a:p>
                      <a:pPr marL="228600" lvl="0" indent="-228600">
                        <a:spcBef>
                          <a:spcPts val="0"/>
                        </a:spcBef>
                        <a:buFont typeface="Arial" panose="020B0604020202020204" pitchFamily="34" charset="0"/>
                        <a:buChar char="•"/>
                      </a:pPr>
                      <a:r>
                        <a:rPr lang="en-US" sz="1200" kern="1200" dirty="0" smtClean="0">
                          <a:solidFill>
                            <a:schemeClr val="dk1"/>
                          </a:solidFill>
                          <a:effectLst/>
                          <a:latin typeface="+mn-lt"/>
                          <a:ea typeface="+mn-ea"/>
                          <a:cs typeface="+mn-cs"/>
                        </a:rPr>
                        <a:t>Leverage lots of memory, sometimes distributed across a cluster</a:t>
                      </a:r>
                    </a:p>
                    <a:p>
                      <a:pPr marL="228600" lvl="0" indent="-228600">
                        <a:spcBef>
                          <a:spcPts val="0"/>
                        </a:spcBef>
                        <a:buFont typeface="Arial" panose="020B0604020202020204" pitchFamily="34" charset="0"/>
                        <a:buChar char="•"/>
                      </a:pPr>
                      <a:r>
                        <a:rPr lang="en-US" sz="1200" kern="1200" dirty="0" smtClean="0">
                          <a:solidFill>
                            <a:schemeClr val="dk1"/>
                          </a:solidFill>
                          <a:effectLst/>
                          <a:latin typeface="+mn-lt"/>
                          <a:ea typeface="+mn-ea"/>
                          <a:cs typeface="+mn-cs"/>
                        </a:rPr>
                        <a:t>Save information in disks asynchronously</a:t>
                      </a:r>
                    </a:p>
                    <a:p>
                      <a:pPr marL="228600" lvl="0" indent="-228600">
                        <a:spcBef>
                          <a:spcPts val="0"/>
                        </a:spcBef>
                        <a:buFont typeface="Arial" panose="020B0604020202020204" pitchFamily="34" charset="0"/>
                        <a:buChar char="•"/>
                      </a:pPr>
                      <a:r>
                        <a:rPr lang="en-US" sz="1200" kern="1200" dirty="0" smtClean="0">
                          <a:solidFill>
                            <a:schemeClr val="dk1"/>
                          </a:solidFill>
                          <a:effectLst/>
                          <a:latin typeface="+mn-lt"/>
                          <a:ea typeface="+mn-ea"/>
                          <a:cs typeface="+mn-cs"/>
                        </a:rPr>
                        <a:t>Proprietary (in most cases) </a:t>
                      </a:r>
                      <a:endParaRPr lang="en-US" sz="1200" kern="1200" dirty="0">
                        <a:solidFill>
                          <a:schemeClr val="dk1"/>
                        </a:solidFill>
                        <a:effectLst/>
                        <a:latin typeface="+mn-lt"/>
                        <a:ea typeface="+mn-ea"/>
                        <a:cs typeface="+mn-cs"/>
                      </a:endParaRPr>
                    </a:p>
                  </a:txBody>
                  <a:tcPr>
                    <a:solidFill>
                      <a:schemeClr val="bg1">
                        <a:lumMod val="95000"/>
                      </a:schemeClr>
                    </a:solidFill>
                  </a:tcPr>
                </a:tc>
                <a:tc>
                  <a:txBody>
                    <a:bodyPr/>
                    <a:lstStyle/>
                    <a:p>
                      <a:pPr marL="0" indent="0">
                        <a:buFont typeface="Arial" panose="020B0604020202020204" pitchFamily="34" charset="0"/>
                        <a:buNone/>
                      </a:pPr>
                      <a:r>
                        <a:rPr lang="en-US" sz="1200" dirty="0" smtClean="0"/>
                        <a:t>In-memory processing is all about speed of processing at large scale:</a:t>
                      </a:r>
                    </a:p>
                    <a:p>
                      <a:pPr marL="228600" indent="-228600">
                        <a:buFont typeface="Arial" panose="020B0604020202020204" pitchFamily="34" charset="0"/>
                        <a:buChar char="•"/>
                      </a:pPr>
                      <a:r>
                        <a:rPr lang="en-US" sz="1200" dirty="0" smtClean="0"/>
                        <a:t>Distributed in-memory cache access</a:t>
                      </a:r>
                    </a:p>
                    <a:p>
                      <a:pPr marL="228600" indent="-228600">
                        <a:buFont typeface="Arial" panose="020B0604020202020204" pitchFamily="34" charset="0"/>
                        <a:buChar char="•"/>
                      </a:pPr>
                      <a:r>
                        <a:rPr lang="en-US" sz="1200" dirty="0" smtClean="0"/>
                        <a:t>Distributed in-memory Online Analytical Processing (OLAP)</a:t>
                      </a:r>
                    </a:p>
                    <a:p>
                      <a:pPr marL="228600" indent="-228600">
                        <a:buFont typeface="Arial" panose="020B0604020202020204" pitchFamily="34" charset="0"/>
                        <a:buChar char="•"/>
                      </a:pPr>
                      <a:r>
                        <a:rPr lang="en-US" sz="1200" dirty="0" smtClean="0"/>
                        <a:t>In-memory Message Passing Interface (MPI) distributed analytics</a:t>
                      </a:r>
                      <a:endParaRPr lang="en-US" sz="1200" dirty="0"/>
                    </a:p>
                  </a:txBody>
                  <a:tcPr>
                    <a:solidFill>
                      <a:schemeClr val="bg1">
                        <a:lumMod val="95000"/>
                      </a:schemeClr>
                    </a:solidFill>
                  </a:tcPr>
                </a:tc>
              </a:tr>
              <a:tr h="370840">
                <a:tc>
                  <a:txBody>
                    <a:bodyPr/>
                    <a:lstStyle/>
                    <a:p>
                      <a:pPr algn="ctr"/>
                      <a:endParaRPr lang="en-US" sz="1600" b="1" dirty="0">
                        <a:solidFill>
                          <a:schemeClr val="bg1"/>
                        </a:solidFill>
                      </a:endParaRPr>
                    </a:p>
                  </a:txBody>
                  <a:tcPr>
                    <a:solidFill>
                      <a:schemeClr val="bg1"/>
                    </a:solidFill>
                  </a:tcPr>
                </a:tc>
                <a:tc>
                  <a:txBody>
                    <a:bodyPr/>
                    <a:lstStyle/>
                    <a:p>
                      <a:pPr algn="ctr"/>
                      <a:endParaRPr lang="en-US" sz="1600" b="1" dirty="0" smtClean="0">
                        <a:solidFill>
                          <a:schemeClr val="bg1"/>
                        </a:solidFill>
                      </a:endParaRPr>
                    </a:p>
                  </a:txBody>
                  <a:tcPr>
                    <a:solidFill>
                      <a:schemeClr val="bg1"/>
                    </a:solidFill>
                  </a:tcPr>
                </a:tc>
              </a:tr>
              <a:tr h="370840">
                <a:tc>
                  <a:txBody>
                    <a:bodyPr/>
                    <a:lstStyle/>
                    <a:p>
                      <a:pPr algn="ctr"/>
                      <a:r>
                        <a:rPr lang="en-US" sz="1600" b="1" dirty="0" smtClean="0">
                          <a:solidFill>
                            <a:schemeClr val="bg1"/>
                          </a:solidFill>
                        </a:rPr>
                        <a:t>Uses</a:t>
                      </a:r>
                      <a:endParaRPr lang="en-US" sz="1600" b="1" dirty="0">
                        <a:solidFill>
                          <a:schemeClr val="bg1"/>
                        </a:solidFill>
                      </a:endParaRPr>
                    </a:p>
                  </a:txBody>
                  <a:tcPr>
                    <a:solidFill>
                      <a:schemeClr val="accent2"/>
                    </a:solidFill>
                  </a:tcPr>
                </a:tc>
                <a:tc>
                  <a:txBody>
                    <a:bodyPr/>
                    <a:lstStyle/>
                    <a:p>
                      <a:pPr algn="ctr"/>
                      <a:r>
                        <a:rPr lang="en-US" sz="1600" b="1" dirty="0" smtClean="0">
                          <a:solidFill>
                            <a:schemeClr val="bg1"/>
                          </a:solidFill>
                        </a:rPr>
                        <a:t>Products/Vendors</a:t>
                      </a:r>
                      <a:endParaRPr lang="en-US" sz="1600" b="1" dirty="0">
                        <a:solidFill>
                          <a:schemeClr val="bg1"/>
                        </a:solidFill>
                      </a:endParaRPr>
                    </a:p>
                  </a:txBody>
                  <a:tcPr>
                    <a:solidFill>
                      <a:schemeClr val="accent2"/>
                    </a:solidFill>
                  </a:tcPr>
                </a:tc>
              </a:tr>
              <a:tr h="370840">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Real-time feed ingestion and analysis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Real-time high-volume trading systems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Mobile content/ringtone hosting applications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Machine/sensor data for real-time analytics</a:t>
                      </a:r>
                    </a:p>
                  </a:txBody>
                  <a:tcPr>
                    <a:solidFill>
                      <a:schemeClr val="bg1">
                        <a:lumMod val="95000"/>
                      </a:schemeClr>
                    </a:solidFill>
                  </a:tcPr>
                </a:tc>
                <a:tc>
                  <a:txBody>
                    <a:bodyPr/>
                    <a:lstStyle/>
                    <a:p>
                      <a:pPr marL="228600" indent="-228600">
                        <a:buFont typeface="Arial" panose="020B0604020202020204" pitchFamily="34" charset="0"/>
                        <a:buChar char="•"/>
                      </a:pPr>
                      <a:r>
                        <a:rPr lang="en-US" sz="1200" b="0" i="0" kern="1200" dirty="0" err="1" smtClean="0">
                          <a:solidFill>
                            <a:schemeClr val="dk1"/>
                          </a:solidFill>
                          <a:effectLst/>
                          <a:latin typeface="+mn-lt"/>
                          <a:ea typeface="+mn-ea"/>
                          <a:cs typeface="+mn-cs"/>
                        </a:rPr>
                        <a:t>VoltDB</a:t>
                      </a:r>
                      <a:r>
                        <a:rPr lang="en-US" sz="1200" b="0" i="0" kern="1200" dirty="0" smtClean="0">
                          <a:solidFill>
                            <a:schemeClr val="dk1"/>
                          </a:solidFill>
                          <a:effectLst/>
                          <a:latin typeface="+mn-lt"/>
                          <a:ea typeface="+mn-ea"/>
                          <a:cs typeface="+mn-cs"/>
                        </a:rPr>
                        <a:t>; systems, applications, and products in data processing; and high performance analytic appliance systems, applications, and products (SAP® HANA)</a:t>
                      </a:r>
                    </a:p>
                    <a:p>
                      <a:pPr marL="228600" indent="-228600">
                        <a:buFont typeface="Arial" panose="020B0604020202020204" pitchFamily="34" charset="0"/>
                        <a:buChar char="•"/>
                      </a:pPr>
                      <a:r>
                        <a:rPr lang="en-US" sz="1200" b="0" i="0" kern="1200" dirty="0" err="1" smtClean="0">
                          <a:solidFill>
                            <a:schemeClr val="dk1"/>
                          </a:solidFill>
                          <a:effectLst/>
                          <a:latin typeface="+mn-lt"/>
                          <a:ea typeface="+mn-ea"/>
                          <a:cs typeface="+mn-cs"/>
                        </a:rPr>
                        <a:t>QlikView</a:t>
                      </a:r>
                      <a:r>
                        <a:rPr lang="en-US" sz="1200" b="0" i="0" kern="1200" dirty="0" smtClean="0">
                          <a:solidFill>
                            <a:schemeClr val="dk1"/>
                          </a:solidFill>
                          <a:effectLst/>
                          <a:latin typeface="+mn-lt"/>
                          <a:ea typeface="+mn-ea"/>
                          <a:cs typeface="+mn-cs"/>
                        </a:rPr>
                        <a:t>®, </a:t>
                      </a:r>
                      <a:r>
                        <a:rPr lang="en-US" sz="1200" b="0" i="0" kern="1200" dirty="0" err="1" smtClean="0">
                          <a:solidFill>
                            <a:schemeClr val="dk1"/>
                          </a:solidFill>
                          <a:effectLst/>
                          <a:latin typeface="+mn-lt"/>
                          <a:ea typeface="+mn-ea"/>
                          <a:cs typeface="+mn-cs"/>
                        </a:rPr>
                        <a:t>SolidDB</a:t>
                      </a:r>
                      <a:r>
                        <a:rPr lang="en-US" sz="1200" b="0" i="0" kern="1200" dirty="0" smtClean="0">
                          <a:solidFill>
                            <a:schemeClr val="dk1"/>
                          </a:solidFill>
                          <a:effectLst/>
                          <a:latin typeface="+mn-lt"/>
                          <a:ea typeface="+mn-ea"/>
                          <a:cs typeface="+mn-cs"/>
                        </a:rPr>
                        <a:t>®, </a:t>
                      </a:r>
                      <a:r>
                        <a:rPr lang="en-US" sz="1200" b="0" i="0" kern="1200" dirty="0" err="1" smtClean="0">
                          <a:solidFill>
                            <a:schemeClr val="dk1"/>
                          </a:solidFill>
                          <a:effectLst/>
                          <a:latin typeface="+mn-lt"/>
                          <a:ea typeface="+mn-ea"/>
                          <a:cs typeface="+mn-cs"/>
                        </a:rPr>
                        <a:t>Membase</a:t>
                      </a:r>
                      <a:r>
                        <a:rPr lang="en-US" sz="1200" b="0" i="0" kern="1200" dirty="0" smtClean="0">
                          <a:solidFill>
                            <a:schemeClr val="dk1"/>
                          </a:solidFill>
                          <a:effectLst/>
                          <a:latin typeface="+mn-lt"/>
                          <a:ea typeface="+mn-ea"/>
                          <a:cs typeface="+mn-cs"/>
                        </a:rPr>
                        <a:t>®, STORM, Spark, </a:t>
                      </a:r>
                      <a:r>
                        <a:rPr lang="en-US" sz="1200" b="0" i="0" kern="1200" dirty="0" err="1" smtClean="0">
                          <a:solidFill>
                            <a:schemeClr val="dk1"/>
                          </a:solidFill>
                          <a:effectLst/>
                          <a:latin typeface="+mn-lt"/>
                          <a:ea typeface="+mn-ea"/>
                          <a:cs typeface="+mn-cs"/>
                        </a:rPr>
                        <a:t>Flink</a:t>
                      </a:r>
                      <a:r>
                        <a:rPr lang="en-US" sz="1200" b="0" i="0" kern="1200" dirty="0" smtClean="0">
                          <a:solidFill>
                            <a:schemeClr val="dk1"/>
                          </a:solidFill>
                          <a:effectLst/>
                          <a:latin typeface="+mn-lt"/>
                          <a:ea typeface="+mn-ea"/>
                          <a:cs typeface="+mn-cs"/>
                        </a:rPr>
                        <a:t>, Kinesis</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DRUID® (</a:t>
                      </a:r>
                      <a:r>
                        <a:rPr lang="en-US" sz="1200" b="0" i="0" kern="1200" dirty="0" err="1" smtClean="0">
                          <a:solidFill>
                            <a:schemeClr val="dk1"/>
                          </a:solidFill>
                          <a:effectLst/>
                          <a:latin typeface="+mn-lt"/>
                          <a:ea typeface="+mn-ea"/>
                          <a:cs typeface="+mn-cs"/>
                        </a:rPr>
                        <a:t>Metamarkets</a:t>
                      </a:r>
                      <a:r>
                        <a:rPr lang="en-US" sz="1200" b="0" i="0" kern="1200" dirty="0" smtClean="0">
                          <a:solidFill>
                            <a:schemeClr val="dk1"/>
                          </a:solidFill>
                          <a:effectLst/>
                          <a:latin typeface="+mn-lt"/>
                          <a:ea typeface="+mn-ea"/>
                          <a:cs typeface="+mn-cs"/>
                        </a:rPr>
                        <a:t>), Statistical Analysis System (SAS HPA), and </a:t>
                      </a:r>
                      <a:r>
                        <a:rPr lang="en-US" sz="1200" b="0" i="0" kern="1200" dirty="0" err="1" smtClean="0">
                          <a:solidFill>
                            <a:schemeClr val="dk1"/>
                          </a:solidFill>
                          <a:effectLst/>
                          <a:latin typeface="+mn-lt"/>
                          <a:ea typeface="+mn-ea"/>
                          <a:cs typeface="+mn-cs"/>
                        </a:rPr>
                        <a:t>GemFire</a:t>
                      </a:r>
                      <a:r>
                        <a:rPr lang="en-US" sz="1200" b="0" i="0" kern="1200" dirty="0" smtClean="0">
                          <a:solidFill>
                            <a:schemeClr val="dk1"/>
                          </a:solidFill>
                          <a:effectLst/>
                          <a:latin typeface="+mn-lt"/>
                          <a:ea typeface="+mn-ea"/>
                          <a:cs typeface="+mn-cs"/>
                        </a:rPr>
                        <a:t>®</a:t>
                      </a:r>
                    </a:p>
                    <a:p>
                      <a:pPr marL="0" indent="0">
                        <a:buFont typeface="Arial" panose="020B0604020202020204" pitchFamily="34" charset="0"/>
                        <a:buNone/>
                      </a:pPr>
                      <a:endParaRPr lang="en-US" sz="1200" b="0" i="0" kern="1200" dirty="0">
                        <a:solidFill>
                          <a:schemeClr val="dk1"/>
                        </a:solidFill>
                        <a:effectLst/>
                        <a:latin typeface="+mn-lt"/>
                        <a:ea typeface="+mn-ea"/>
                        <a:cs typeface="+mn-cs"/>
                      </a:endParaRPr>
                    </a:p>
                  </a:txBody>
                  <a:tcPr>
                    <a:solidFill>
                      <a:schemeClr val="bg1">
                        <a:lumMod val="95000"/>
                      </a:schemeClr>
                    </a:solidFill>
                  </a:tcPr>
                </a:tc>
              </a:tr>
            </a:tbl>
          </a:graphicData>
        </a:graphic>
      </p:graphicFrame>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47</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73486391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3.14 Analytics Database and Appliances</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Analytics database and appliance solutions consist of an integrated set of servers, storage, operating systems, database management systems, and software pre-installed and pre-optimized specifically for data warehousing.</a:t>
            </a:r>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graphicFrame>
        <p:nvGraphicFramePr>
          <p:cNvPr id="14" name="Table 13"/>
          <p:cNvGraphicFramePr>
            <a:graphicFrameLocks noGrp="1"/>
          </p:cNvGraphicFramePr>
          <p:nvPr>
            <p:extLst>
              <p:ext uri="{D42A27DB-BD31-4B8C-83A1-F6EECF244321}">
                <p14:modId xmlns:p14="http://schemas.microsoft.com/office/powerpoint/2010/main" val="2635721796"/>
              </p:ext>
            </p:extLst>
          </p:nvPr>
        </p:nvGraphicFramePr>
        <p:xfrm>
          <a:off x="455613" y="2335807"/>
          <a:ext cx="8128830" cy="3489960"/>
        </p:xfrm>
        <a:graphic>
          <a:graphicData uri="http://schemas.openxmlformats.org/drawingml/2006/table">
            <a:tbl>
              <a:tblPr firstRow="1" bandRow="1">
                <a:tableStyleId>{21E4AEA4-8DFA-4A89-87EB-49C32662AFE0}</a:tableStyleId>
              </a:tblPr>
              <a:tblGrid>
                <a:gridCol w="4064415"/>
                <a:gridCol w="4064415"/>
              </a:tblGrid>
              <a:tr h="370840">
                <a:tc>
                  <a:txBody>
                    <a:bodyPr/>
                    <a:lstStyle/>
                    <a:p>
                      <a:pPr algn="ctr"/>
                      <a:r>
                        <a:rPr lang="en-US" sz="1600" dirty="0" smtClean="0"/>
                        <a:t>Characteristics</a:t>
                      </a:r>
                      <a:endParaRPr lang="en-US" sz="1600" dirty="0"/>
                    </a:p>
                  </a:txBody>
                  <a:tcPr/>
                </a:tc>
                <a:tc>
                  <a:txBody>
                    <a:bodyPr/>
                    <a:lstStyle/>
                    <a:p>
                      <a:pPr algn="ctr"/>
                      <a:r>
                        <a:rPr lang="en-US" sz="1600" dirty="0" smtClean="0"/>
                        <a:t>Differences</a:t>
                      </a:r>
                      <a:endParaRPr lang="en-US" sz="1600" dirty="0"/>
                    </a:p>
                  </a:txBody>
                  <a:tcPr/>
                </a:tc>
              </a:tr>
              <a:tr h="370840">
                <a:tc>
                  <a:txBody>
                    <a:bodyPr/>
                    <a:lstStyle/>
                    <a:p>
                      <a:pPr marL="228600" lvl="0" indent="-228600">
                        <a:spcBef>
                          <a:spcPts val="0"/>
                        </a:spcBef>
                        <a:buFont typeface="Arial" panose="020B0604020202020204" pitchFamily="34" charset="0"/>
                        <a:buChar char="•"/>
                      </a:pPr>
                      <a:r>
                        <a:rPr lang="en-US" sz="1200" kern="1200" dirty="0" smtClean="0">
                          <a:solidFill>
                            <a:schemeClr val="dk1"/>
                          </a:solidFill>
                          <a:effectLst/>
                          <a:latin typeface="+mn-lt"/>
                          <a:ea typeface="+mn-ea"/>
                          <a:cs typeface="+mn-cs"/>
                        </a:rPr>
                        <a:t>Scalable proprietary databases running complex queries</a:t>
                      </a:r>
                    </a:p>
                    <a:p>
                      <a:pPr marL="228600" lvl="0" indent="-228600">
                        <a:spcBef>
                          <a:spcPts val="0"/>
                        </a:spcBef>
                        <a:buFont typeface="Arial" panose="020B0604020202020204" pitchFamily="34" charset="0"/>
                        <a:buChar char="•"/>
                      </a:pPr>
                      <a:r>
                        <a:rPr lang="en-US" sz="1200" kern="1200" dirty="0" smtClean="0">
                          <a:solidFill>
                            <a:schemeClr val="dk1"/>
                          </a:solidFill>
                          <a:effectLst/>
                          <a:latin typeface="+mn-lt"/>
                          <a:ea typeface="+mn-ea"/>
                          <a:cs typeface="+mn-cs"/>
                        </a:rPr>
                        <a:t>Columnar databases with high data compression</a:t>
                      </a:r>
                    </a:p>
                    <a:p>
                      <a:pPr marL="228600" lvl="0" indent="-228600">
                        <a:spcBef>
                          <a:spcPts val="0"/>
                        </a:spcBef>
                        <a:buFont typeface="Arial" panose="020B0604020202020204" pitchFamily="34" charset="0"/>
                        <a:buChar char="•"/>
                      </a:pPr>
                      <a:r>
                        <a:rPr lang="en-US" sz="1200" kern="1200" dirty="0" smtClean="0">
                          <a:solidFill>
                            <a:schemeClr val="dk1"/>
                          </a:solidFill>
                          <a:effectLst/>
                          <a:latin typeface="+mn-lt"/>
                          <a:ea typeface="+mn-ea"/>
                          <a:cs typeface="+mn-cs"/>
                        </a:rPr>
                        <a:t>Packaged hardware/software optimized for data processing</a:t>
                      </a:r>
                      <a:endParaRPr lang="en-US" sz="1200" kern="1200" dirty="0">
                        <a:solidFill>
                          <a:schemeClr val="dk1"/>
                        </a:solidFill>
                        <a:effectLst/>
                        <a:latin typeface="+mn-lt"/>
                        <a:ea typeface="+mn-ea"/>
                        <a:cs typeface="+mn-cs"/>
                      </a:endParaRPr>
                    </a:p>
                  </a:txBody>
                  <a:tcPr>
                    <a:solidFill>
                      <a:schemeClr val="bg1">
                        <a:lumMod val="95000"/>
                      </a:schemeClr>
                    </a:solidFill>
                  </a:tcPr>
                </a:tc>
                <a:tc>
                  <a:txBody>
                    <a:bodyPr/>
                    <a:lstStyle/>
                    <a:p>
                      <a:pPr marL="228600" indent="-228600">
                        <a:buFont typeface="Arial" panose="020B0604020202020204" pitchFamily="34" charset="0"/>
                        <a:buChar char="•"/>
                      </a:pPr>
                      <a:r>
                        <a:rPr lang="en-US" sz="1200" dirty="0" smtClean="0"/>
                        <a:t>Low maintenance solution in a box</a:t>
                      </a:r>
                    </a:p>
                    <a:p>
                      <a:pPr marL="228600" indent="-228600">
                        <a:buFont typeface="Arial" panose="020B0604020202020204" pitchFamily="34" charset="0"/>
                        <a:buChar char="•"/>
                      </a:pPr>
                      <a:r>
                        <a:rPr lang="en-US" sz="1200" dirty="0" smtClean="0"/>
                        <a:t>Full Structured Query Language (SQL) interfaces for writing complex queries</a:t>
                      </a:r>
                    </a:p>
                    <a:p>
                      <a:pPr marL="228600" indent="-228600">
                        <a:buFont typeface="Arial" panose="020B0604020202020204" pitchFamily="34" charset="0"/>
                        <a:buChar char="•"/>
                      </a:pPr>
                      <a:r>
                        <a:rPr lang="en-US" sz="1200" dirty="0" smtClean="0"/>
                        <a:t>Built in statistical and scientific functions, path analysis, clustering</a:t>
                      </a:r>
                    </a:p>
                    <a:p>
                      <a:pPr marL="228600" indent="-228600">
                        <a:buFont typeface="Arial" panose="020B0604020202020204" pitchFamily="34" charset="0"/>
                        <a:buChar char="•"/>
                      </a:pPr>
                      <a:r>
                        <a:rPr lang="en-US" sz="1200" dirty="0" smtClean="0"/>
                        <a:t>Faster performance</a:t>
                      </a:r>
                      <a:endParaRPr lang="en-US" sz="1200" dirty="0"/>
                    </a:p>
                  </a:txBody>
                  <a:tcPr>
                    <a:solidFill>
                      <a:schemeClr val="bg1">
                        <a:lumMod val="95000"/>
                      </a:schemeClr>
                    </a:solidFill>
                  </a:tcPr>
                </a:tc>
              </a:tr>
              <a:tr h="370840">
                <a:tc>
                  <a:txBody>
                    <a:bodyPr/>
                    <a:lstStyle/>
                    <a:p>
                      <a:pPr algn="ctr"/>
                      <a:endParaRPr lang="en-US" sz="1600" b="1" dirty="0">
                        <a:solidFill>
                          <a:schemeClr val="bg1"/>
                        </a:solidFill>
                      </a:endParaRPr>
                    </a:p>
                  </a:txBody>
                  <a:tcPr>
                    <a:solidFill>
                      <a:schemeClr val="bg1"/>
                    </a:solidFill>
                  </a:tcPr>
                </a:tc>
                <a:tc>
                  <a:txBody>
                    <a:bodyPr/>
                    <a:lstStyle/>
                    <a:p>
                      <a:pPr algn="ctr"/>
                      <a:endParaRPr lang="en-US" sz="1600" b="1" dirty="0" smtClean="0">
                        <a:solidFill>
                          <a:schemeClr val="bg1"/>
                        </a:solidFill>
                      </a:endParaRPr>
                    </a:p>
                  </a:txBody>
                  <a:tcPr>
                    <a:solidFill>
                      <a:schemeClr val="bg1"/>
                    </a:solidFill>
                  </a:tcPr>
                </a:tc>
              </a:tr>
              <a:tr h="370840">
                <a:tc>
                  <a:txBody>
                    <a:bodyPr/>
                    <a:lstStyle/>
                    <a:p>
                      <a:pPr algn="ctr"/>
                      <a:r>
                        <a:rPr lang="en-US" sz="1600" b="1" dirty="0" smtClean="0">
                          <a:solidFill>
                            <a:schemeClr val="bg1"/>
                          </a:solidFill>
                        </a:rPr>
                        <a:t>Uses</a:t>
                      </a:r>
                      <a:endParaRPr lang="en-US" sz="1600" b="1" dirty="0">
                        <a:solidFill>
                          <a:schemeClr val="bg1"/>
                        </a:solidFill>
                      </a:endParaRPr>
                    </a:p>
                  </a:txBody>
                  <a:tcPr>
                    <a:solidFill>
                      <a:schemeClr val="accent2"/>
                    </a:solidFill>
                  </a:tcPr>
                </a:tc>
                <a:tc>
                  <a:txBody>
                    <a:bodyPr/>
                    <a:lstStyle/>
                    <a:p>
                      <a:pPr algn="ctr"/>
                      <a:r>
                        <a:rPr lang="en-US" sz="1600" b="1" dirty="0" smtClean="0">
                          <a:solidFill>
                            <a:schemeClr val="bg1"/>
                          </a:solidFill>
                        </a:rPr>
                        <a:t>Products/Vendors</a:t>
                      </a:r>
                      <a:endParaRPr lang="en-US" sz="1600" b="1" dirty="0">
                        <a:solidFill>
                          <a:schemeClr val="bg1"/>
                        </a:solidFill>
                      </a:endParaRPr>
                    </a:p>
                  </a:txBody>
                  <a:tcPr>
                    <a:solidFill>
                      <a:schemeClr val="accent2"/>
                    </a:solidFill>
                  </a:tcPr>
                </a:tc>
              </a:tr>
              <a:tr h="370840">
                <a:tc>
                  <a:txBody>
                    <a:bodyPr/>
                    <a:lstStyle/>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Analyze large volume of mainly structured data efficiently</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Build complex analytical applications for structured data</a:t>
                      </a: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Large-scale parallel data warehousing with more structured data</a:t>
                      </a:r>
                    </a:p>
                  </a:txBody>
                  <a:tcPr>
                    <a:solidFill>
                      <a:schemeClr val="bg1">
                        <a:lumMod val="95000"/>
                      </a:schemeClr>
                    </a:solidFill>
                  </a:tcPr>
                </a:tc>
                <a:tc>
                  <a:txBody>
                    <a:bodyPr/>
                    <a:lstStyle/>
                    <a:p>
                      <a:pPr marL="228600" indent="-228600">
                        <a:buFont typeface="Arial" panose="020B0604020202020204" pitchFamily="34" charset="0"/>
                        <a:buChar char="•"/>
                      </a:pPr>
                      <a:r>
                        <a:rPr lang="en-US" sz="1200" b="0" i="0" kern="1200" dirty="0" err="1" smtClean="0">
                          <a:solidFill>
                            <a:schemeClr val="dk1"/>
                          </a:solidFill>
                          <a:effectLst/>
                          <a:latin typeface="+mn-lt"/>
                          <a:ea typeface="+mn-ea"/>
                          <a:cs typeface="+mn-cs"/>
                        </a:rPr>
                        <a:t>Greenplum</a:t>
                      </a:r>
                      <a:r>
                        <a:rPr lang="en-US" sz="1200" b="0" i="0" kern="1200" dirty="0" smtClean="0">
                          <a:solidFill>
                            <a:schemeClr val="dk1"/>
                          </a:solidFill>
                          <a:effectLst/>
                          <a:latin typeface="+mn-lt"/>
                          <a:ea typeface="+mn-ea"/>
                          <a:cs typeface="+mn-cs"/>
                        </a:rPr>
                        <a:t>®, Teradata® Aster, </a:t>
                      </a:r>
                      <a:r>
                        <a:rPr lang="en-US" sz="1200" b="0" i="0" kern="1200" dirty="0" err="1" smtClean="0">
                          <a:solidFill>
                            <a:schemeClr val="dk1"/>
                          </a:solidFill>
                          <a:effectLst/>
                          <a:latin typeface="+mn-lt"/>
                          <a:ea typeface="+mn-ea"/>
                          <a:cs typeface="+mn-cs"/>
                        </a:rPr>
                        <a:t>Kognitio</a:t>
                      </a:r>
                      <a:endParaRPr lang="en-US" sz="1200" b="0" i="0" kern="1200" dirty="0" smtClean="0">
                        <a:solidFill>
                          <a:schemeClr val="dk1"/>
                        </a:solidFill>
                        <a:effectLst/>
                        <a:latin typeface="+mn-lt"/>
                        <a:ea typeface="+mn-ea"/>
                        <a:cs typeface="+mn-cs"/>
                      </a:endParaRPr>
                    </a:p>
                    <a:p>
                      <a:pPr marL="228600" indent="-228600">
                        <a:buFont typeface="Arial" panose="020B0604020202020204" pitchFamily="34" charset="0"/>
                        <a:buChar char="•"/>
                      </a:pPr>
                      <a:r>
                        <a:rPr lang="en-US" sz="1200" b="0" i="0" kern="1200" dirty="0" smtClean="0">
                          <a:solidFill>
                            <a:schemeClr val="dk1"/>
                          </a:solidFill>
                          <a:effectLst/>
                          <a:latin typeface="+mn-lt"/>
                          <a:ea typeface="+mn-ea"/>
                          <a:cs typeface="+mn-cs"/>
                        </a:rPr>
                        <a:t>Vertica, </a:t>
                      </a:r>
                      <a:r>
                        <a:rPr lang="en-US" sz="1200" b="0" i="0" kern="1200" dirty="0" err="1" smtClean="0">
                          <a:solidFill>
                            <a:schemeClr val="dk1"/>
                          </a:solidFill>
                          <a:effectLst/>
                          <a:latin typeface="+mn-lt"/>
                          <a:ea typeface="+mn-ea"/>
                          <a:cs typeface="+mn-cs"/>
                        </a:rPr>
                        <a:t>ParAccel</a:t>
                      </a:r>
                      <a:r>
                        <a:rPr lang="en-US" sz="1200" b="0" i="0" kern="1200" dirty="0" smtClean="0">
                          <a:solidFill>
                            <a:schemeClr val="dk1"/>
                          </a:solidFill>
                          <a:effectLst/>
                          <a:latin typeface="+mn-lt"/>
                          <a:ea typeface="+mn-ea"/>
                          <a:cs typeface="+mn-cs"/>
                        </a:rPr>
                        <a:t>, Sybase® IQ</a:t>
                      </a:r>
                    </a:p>
                    <a:p>
                      <a:pPr marL="228600" indent="-228600">
                        <a:buFont typeface="Arial" panose="020B0604020202020204" pitchFamily="34" charset="0"/>
                        <a:buChar char="•"/>
                      </a:pPr>
                      <a:r>
                        <a:rPr lang="en-US" sz="1200" b="0" i="0" kern="1200" dirty="0" err="1" smtClean="0">
                          <a:solidFill>
                            <a:schemeClr val="dk1"/>
                          </a:solidFill>
                          <a:effectLst/>
                          <a:latin typeface="+mn-lt"/>
                          <a:ea typeface="+mn-ea"/>
                          <a:cs typeface="+mn-cs"/>
                        </a:rPr>
                        <a:t>Netezza</a:t>
                      </a:r>
                      <a:r>
                        <a:rPr lang="en-US" sz="1200" b="0" i="0" kern="1200" dirty="0" smtClean="0">
                          <a:solidFill>
                            <a:schemeClr val="dk1"/>
                          </a:solidFill>
                          <a:effectLst/>
                          <a:latin typeface="+mn-lt"/>
                          <a:ea typeface="+mn-ea"/>
                          <a:cs typeface="+mn-cs"/>
                        </a:rPr>
                        <a:t>®, IBM® Insights, Cloudera®, Hortonworks®, </a:t>
                      </a:r>
                      <a:r>
                        <a:rPr lang="en-US" sz="1200" b="0" i="0" kern="1200" dirty="0" err="1" smtClean="0">
                          <a:solidFill>
                            <a:schemeClr val="dk1"/>
                          </a:solidFill>
                          <a:effectLst/>
                          <a:latin typeface="+mn-lt"/>
                          <a:ea typeface="+mn-ea"/>
                          <a:cs typeface="+mn-cs"/>
                        </a:rPr>
                        <a:t>Exadata</a:t>
                      </a:r>
                      <a:r>
                        <a:rPr lang="en-US" sz="1200" b="0" i="0" kern="1200" dirty="0" smtClean="0">
                          <a:solidFill>
                            <a:schemeClr val="dk1"/>
                          </a:solidFill>
                          <a:effectLst/>
                          <a:latin typeface="+mn-lt"/>
                          <a:ea typeface="+mn-ea"/>
                          <a:cs typeface="+mn-cs"/>
                        </a:rPr>
                        <a:t> appliance</a:t>
                      </a:r>
                    </a:p>
                    <a:p>
                      <a:pPr marL="0" indent="0">
                        <a:buFont typeface="Arial" panose="020B0604020202020204" pitchFamily="34" charset="0"/>
                        <a:buNone/>
                      </a:pPr>
                      <a:endParaRPr lang="en-US" sz="1200" b="0" i="0" kern="1200" dirty="0">
                        <a:solidFill>
                          <a:schemeClr val="dk1"/>
                        </a:solidFill>
                        <a:effectLst/>
                        <a:latin typeface="+mn-lt"/>
                        <a:ea typeface="+mn-ea"/>
                        <a:cs typeface="+mn-cs"/>
                      </a:endParaRPr>
                    </a:p>
                  </a:txBody>
                  <a:tcPr>
                    <a:solidFill>
                      <a:schemeClr val="bg1">
                        <a:lumMod val="95000"/>
                      </a:schemeClr>
                    </a:solidFill>
                  </a:tcPr>
                </a:tc>
              </a:tr>
            </a:tbl>
          </a:graphicData>
        </a:graphic>
      </p:graphicFrame>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48</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412587459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3.15 Presentation and Reporting</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To capture and communicate insights from Big Data analytics, we must move from standard reporting to more sophisticated visualization. Visualization is the technique of presenting information in such a way that people can consume it effectively. This involves technologies used for creating images, diagrams, or animations to communicate, understand, and improve the results of Big Data analysis. The most impactful visualizations are often the most interactive, as they give the user the opportunity to explore—and essentially have a conversation with—the data.</a:t>
            </a:r>
          </a:p>
          <a:p>
            <a:pPr marL="0" indent="0">
              <a:buNone/>
            </a:pPr>
            <a:r>
              <a:rPr lang="en-US" sz="1200" dirty="0" smtClean="0"/>
              <a:t>Consult </a:t>
            </a:r>
            <a:r>
              <a:rPr lang="en-US" sz="1200" dirty="0"/>
              <a:t>the table below to learn more about the move from standard reporting to sophisticated </a:t>
            </a:r>
            <a:r>
              <a:rPr lang="en-US" sz="1200" dirty="0" smtClean="0"/>
              <a:t>visualization</a:t>
            </a:r>
            <a:r>
              <a:rPr lang="en-US" sz="1200" dirty="0"/>
              <a:t>.</a:t>
            </a:r>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graphicFrame>
        <p:nvGraphicFramePr>
          <p:cNvPr id="14" name="Table 13"/>
          <p:cNvGraphicFramePr>
            <a:graphicFrameLocks noGrp="1"/>
          </p:cNvGraphicFramePr>
          <p:nvPr>
            <p:extLst>
              <p:ext uri="{D42A27DB-BD31-4B8C-83A1-F6EECF244321}">
                <p14:modId xmlns:p14="http://schemas.microsoft.com/office/powerpoint/2010/main" val="4231522710"/>
              </p:ext>
            </p:extLst>
          </p:nvPr>
        </p:nvGraphicFramePr>
        <p:xfrm>
          <a:off x="455613" y="3036148"/>
          <a:ext cx="8128830" cy="3104896"/>
        </p:xfrm>
        <a:graphic>
          <a:graphicData uri="http://schemas.openxmlformats.org/drawingml/2006/table">
            <a:tbl>
              <a:tblPr firstRow="1" bandRow="1">
                <a:tableStyleId>{21E4AEA4-8DFA-4A89-87EB-49C32662AFE0}</a:tableStyleId>
              </a:tblPr>
              <a:tblGrid>
                <a:gridCol w="4064415"/>
                <a:gridCol w="4064415"/>
              </a:tblGrid>
              <a:tr h="370840">
                <a:tc>
                  <a:txBody>
                    <a:bodyPr/>
                    <a:lstStyle/>
                    <a:p>
                      <a:pPr algn="ctr"/>
                      <a:r>
                        <a:rPr lang="en-US" sz="1600" dirty="0" smtClean="0"/>
                        <a:t>Reporting</a:t>
                      </a:r>
                      <a:endParaRPr lang="en-US" sz="1600" dirty="0"/>
                    </a:p>
                  </a:txBody>
                  <a:tcPr/>
                </a:tc>
                <a:tc>
                  <a:txBody>
                    <a:bodyPr/>
                    <a:lstStyle/>
                    <a:p>
                      <a:pPr algn="ctr"/>
                      <a:r>
                        <a:rPr lang="en-US" sz="1600" dirty="0" smtClean="0"/>
                        <a:t>Visualization</a:t>
                      </a:r>
                      <a:endParaRPr lang="en-US" sz="1600" dirty="0"/>
                    </a:p>
                  </a:txBody>
                  <a:tcPr/>
                </a:tc>
              </a:tr>
              <a:tr h="370840">
                <a:tc>
                  <a:txBody>
                    <a:bodyPr/>
                    <a:lstStyle/>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Charts and graphs to depict defined information</a:t>
                      </a:r>
                      <a:endParaRPr lang="en-US" sz="1200">
                        <a:effectLst/>
                        <a:latin typeface="Times New Roman" panose="02020603050405020304" pitchFamily="18" charset="0"/>
                        <a:ea typeface="Times New Roman" panose="02020603050405020304" pitchFamily="18" charset="0"/>
                      </a:endParaRPr>
                    </a:p>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c>
                  <a:txBody>
                    <a:bodyPr/>
                    <a:lstStyle/>
                    <a:p>
                      <a:pPr marL="0" marR="0" algn="ctr">
                        <a:lnSpc>
                          <a:spcPct val="115000"/>
                        </a:lnSpc>
                        <a:spcBef>
                          <a:spcPts val="0"/>
                        </a:spcBef>
                        <a:spcAft>
                          <a:spcPts val="0"/>
                        </a:spcAft>
                      </a:pPr>
                      <a:r>
                        <a:rPr lang="en-US" sz="1200" dirty="0">
                          <a:effectLst/>
                          <a:latin typeface="Arial" panose="020B0604020202020204" pitchFamily="34" charset="0"/>
                          <a:ea typeface="Times New Roman" panose="02020603050405020304" pitchFamily="18" charset="0"/>
                        </a:rPr>
                        <a:t>Representations to visually explore information</a:t>
                      </a:r>
                      <a:endParaRPr lang="en-US" sz="1200" dirty="0">
                        <a:effectLst/>
                        <a:latin typeface="Times New Roman" panose="02020603050405020304" pitchFamily="18" charset="0"/>
                        <a:ea typeface="Times New Roman" panose="02020603050405020304" pitchFamily="18" charset="0"/>
                      </a:endParaRPr>
                    </a:p>
                    <a:p>
                      <a:pPr marL="0" marR="0" algn="ctr">
                        <a:lnSpc>
                          <a:spcPct val="115000"/>
                        </a:lnSpc>
                        <a:spcBef>
                          <a:spcPts val="0"/>
                        </a:spcBef>
                        <a:spcAft>
                          <a:spcPts val="0"/>
                        </a:spcAft>
                      </a:pPr>
                      <a:r>
                        <a:rPr lang="en-US" sz="1200" dirty="0">
                          <a:effectLst/>
                          <a:latin typeface="Arial" panose="020B0604020202020204" pitchFamily="34"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r>
              <a:tr h="370840">
                <a:tc>
                  <a:txBody>
                    <a:bodyPr/>
                    <a:lstStyle/>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Drill-down techniques to see more details about an attribute</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c>
                  <a:txBody>
                    <a:bodyPr/>
                    <a:lstStyle/>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Higher degree of interactions for uncovering insights from data</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r>
              <a:tr h="370840">
                <a:tc>
                  <a:txBody>
                    <a:bodyPr/>
                    <a:lstStyle/>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Limited to defined reports and metrics</a:t>
                      </a:r>
                      <a:endParaRPr lang="en-US" sz="1200">
                        <a:effectLst/>
                        <a:latin typeface="Times New Roman" panose="02020603050405020304" pitchFamily="18" charset="0"/>
                        <a:ea typeface="Times New Roman" panose="02020603050405020304" pitchFamily="18" charset="0"/>
                      </a:endParaRPr>
                    </a:p>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c>
                  <a:txBody>
                    <a:bodyPr/>
                    <a:lstStyle/>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Flexible for modeling, analysis, forecasting, and predictions</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r>
              <a:tr h="370840">
                <a:tc>
                  <a:txBody>
                    <a:bodyPr/>
                    <a:lstStyle/>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Data queries</a:t>
                      </a:r>
                      <a:endParaRPr lang="en-US" sz="1200">
                        <a:effectLst/>
                        <a:latin typeface="Times New Roman" panose="02020603050405020304" pitchFamily="18" charset="0"/>
                        <a:ea typeface="Times New Roman" panose="02020603050405020304" pitchFamily="18" charset="0"/>
                      </a:endParaRPr>
                    </a:p>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c>
                  <a:txBody>
                    <a:bodyPr/>
                    <a:lstStyle/>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Programmable for visual queries and representations</a:t>
                      </a:r>
                      <a:endParaRPr lang="en-US" sz="1200">
                        <a:effectLst/>
                        <a:latin typeface="Times New Roman" panose="02020603050405020304" pitchFamily="18" charset="0"/>
                        <a:ea typeface="Times New Roman" panose="02020603050405020304" pitchFamily="18" charset="0"/>
                      </a:endParaRPr>
                    </a:p>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r>
              <a:tr h="370840">
                <a:tc>
                  <a:txBody>
                    <a:bodyPr/>
                    <a:lstStyle/>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Reporting Tool: Tables, graphs, charts, and dashboards</a:t>
                      </a:r>
                      <a:endParaRPr lang="en-US" sz="1200">
                        <a:effectLst/>
                        <a:latin typeface="Times New Roman" panose="02020603050405020304" pitchFamily="18" charset="0"/>
                        <a:ea typeface="Times New Roman" panose="02020603050405020304" pitchFamily="18" charset="0"/>
                      </a:endParaRPr>
                    </a:p>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c>
                  <a:txBody>
                    <a:bodyPr/>
                    <a:lstStyle/>
                    <a:p>
                      <a:pPr marL="0" marR="0" algn="ctr">
                        <a:lnSpc>
                          <a:spcPct val="115000"/>
                        </a:lnSpc>
                        <a:spcBef>
                          <a:spcPts val="0"/>
                        </a:spcBef>
                        <a:spcAft>
                          <a:spcPts val="0"/>
                        </a:spcAft>
                      </a:pPr>
                      <a:r>
                        <a:rPr lang="en-US" sz="1200" dirty="0" smtClean="0">
                          <a:effectLst/>
                          <a:latin typeface="Arial" panose="020B0604020202020204" pitchFamily="34" charset="0"/>
                          <a:ea typeface="Times New Roman" panose="02020603050405020304" pitchFamily="18" charset="0"/>
                        </a:rPr>
                        <a:t>Visualization </a:t>
                      </a:r>
                      <a:r>
                        <a:rPr lang="en-US" sz="1200" dirty="0">
                          <a:effectLst/>
                          <a:latin typeface="Arial" panose="020B0604020202020204" pitchFamily="34" charset="0"/>
                          <a:ea typeface="Times New Roman" panose="02020603050405020304" pitchFamily="18" charset="0"/>
                        </a:rPr>
                        <a:t>Tool: Dials, gauges, heat maps, overlay, mapping, map zooming, </a:t>
                      </a:r>
                      <a:r>
                        <a:rPr lang="en-US" sz="1200" dirty="0" smtClean="0">
                          <a:effectLst/>
                          <a:latin typeface="Arial" panose="020B0604020202020204" pitchFamily="34" charset="0"/>
                          <a:ea typeface="Times New Roman" panose="02020603050405020304" pitchFamily="18" charset="0"/>
                        </a:rPr>
                        <a:t>re-visualization</a:t>
                      </a:r>
                      <a:r>
                        <a:rPr lang="en-US" sz="1200" dirty="0">
                          <a:effectLst/>
                          <a:latin typeface="Arial" panose="020B0604020202020204" pitchFamily="34" charset="0"/>
                          <a:ea typeface="Times New Roman" panose="02020603050405020304" pitchFamily="18" charset="0"/>
                        </a:rPr>
                        <a:t>, time-based playback, constellation graphs, spatial images, brushing, interactivity, and alerts</a:t>
                      </a:r>
                      <a:endParaRPr lang="en-US" sz="1200" dirty="0">
                        <a:effectLst/>
                        <a:latin typeface="Times New Roman" panose="02020603050405020304" pitchFamily="18" charset="0"/>
                        <a:ea typeface="Times New Roman" panose="02020603050405020304" pitchFamily="18" charset="0"/>
                      </a:endParaRPr>
                    </a:p>
                    <a:p>
                      <a:pPr marL="0" marR="0" algn="ctr">
                        <a:lnSpc>
                          <a:spcPct val="115000"/>
                        </a:lnSpc>
                        <a:spcBef>
                          <a:spcPts val="0"/>
                        </a:spcBef>
                        <a:spcAft>
                          <a:spcPts val="0"/>
                        </a:spcAft>
                      </a:pPr>
                      <a:r>
                        <a:rPr lang="en-US" sz="1200" dirty="0">
                          <a:effectLst/>
                          <a:latin typeface="Arial" panose="020B0604020202020204" pitchFamily="34"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r>
            </a:tbl>
          </a:graphicData>
        </a:graphic>
      </p:graphicFrame>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49</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42669092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3.16 Big Data Visualization Challenges</a:t>
            </a:r>
            <a:endParaRPr lang="en-US" dirty="0"/>
          </a:p>
        </p:txBody>
      </p:sp>
      <p:sp>
        <p:nvSpPr>
          <p:cNvPr id="4" name="Content Placeholder 3"/>
          <p:cNvSpPr>
            <a:spLocks noGrp="1"/>
          </p:cNvSpPr>
          <p:nvPr>
            <p:ph sz="quarter" idx="14"/>
          </p:nvPr>
        </p:nvSpPr>
        <p:spPr>
          <a:xfrm>
            <a:off x="455613" y="1371600"/>
            <a:ext cx="5016499" cy="3487003"/>
          </a:xfrm>
        </p:spPr>
        <p:txBody>
          <a:bodyPr/>
          <a:lstStyle/>
          <a:p>
            <a:pPr marL="0" indent="0">
              <a:buNone/>
            </a:pPr>
            <a:r>
              <a:rPr lang="en-US" sz="1200" b="1" dirty="0" smtClean="0">
                <a:solidFill>
                  <a:schemeClr val="accent6"/>
                </a:solidFill>
              </a:rPr>
              <a:t>Current Big Data visualization challenges include:</a:t>
            </a:r>
            <a:endParaRPr lang="en-US" sz="1200" dirty="0">
              <a:solidFill>
                <a:schemeClr val="accent6"/>
              </a:solidFill>
            </a:endParaRPr>
          </a:p>
          <a:p>
            <a:pPr lvl="0">
              <a:spcBef>
                <a:spcPts val="600"/>
              </a:spcBef>
              <a:buSzPct val="100000"/>
            </a:pPr>
            <a:r>
              <a:rPr lang="en-US" sz="1200" dirty="0"/>
              <a:t>Meeting the need for speed (i.e., visualizations displaying real-time results)                               </a:t>
            </a:r>
          </a:p>
          <a:p>
            <a:pPr lvl="0">
              <a:spcBef>
                <a:spcPts val="600"/>
              </a:spcBef>
              <a:buSzPct val="100000"/>
            </a:pPr>
            <a:r>
              <a:rPr lang="en-US" sz="1200" dirty="0"/>
              <a:t>Understanding and knowing how to interpret data</a:t>
            </a:r>
          </a:p>
          <a:p>
            <a:pPr lvl="0">
              <a:spcBef>
                <a:spcPts val="600"/>
              </a:spcBef>
              <a:buSzPct val="100000"/>
            </a:pPr>
            <a:r>
              <a:rPr lang="en-US" sz="1200" dirty="0"/>
              <a:t>Determining data quality and assessing whether or not it is reliable </a:t>
            </a:r>
          </a:p>
          <a:p>
            <a:pPr lvl="0">
              <a:spcBef>
                <a:spcPts val="600"/>
              </a:spcBef>
              <a:buSzPct val="100000"/>
            </a:pPr>
            <a:r>
              <a:rPr lang="en-US" sz="1200" dirty="0"/>
              <a:t>Displaying meaningful results that can be used to solve business problems</a:t>
            </a:r>
          </a:p>
          <a:p>
            <a:pPr lvl="0">
              <a:spcBef>
                <a:spcPts val="600"/>
              </a:spcBef>
              <a:buSzPct val="100000"/>
            </a:pPr>
            <a:r>
              <a:rPr lang="en-US" sz="1200" dirty="0"/>
              <a:t>Determining the best design display for the data: graphical or tabular</a:t>
            </a:r>
          </a:p>
        </p:txBody>
      </p:sp>
      <p:sp>
        <p:nvSpPr>
          <p:cNvPr id="2" name="Footer Placeholder 1"/>
          <p:cNvSpPr>
            <a:spLocks noGrp="1"/>
          </p:cNvSpPr>
          <p:nvPr>
            <p:ph type="ftr" sz="quarter" idx="15"/>
          </p:nvPr>
        </p:nvSpPr>
        <p:spPr/>
        <p:txBody>
          <a:bodyPr/>
          <a:lstStyle/>
          <a:p>
            <a:r>
              <a:rPr lang="en-US" smtClean="0"/>
              <a:t>Copyright © 2015 Accenture  All rights reserved.</a:t>
            </a:r>
            <a:endParaRPr lang="en-AU"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0528" y="1371600"/>
            <a:ext cx="2381250" cy="3571875"/>
          </a:xfrm>
          <a:prstGeom prst="rect">
            <a:avLst/>
          </a:prstGeom>
        </p:spPr>
      </p:pic>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50</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31156487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3.17 Checkpoint</a:t>
            </a:r>
            <a:endParaRPr lang="en-US" dirty="0"/>
          </a:p>
        </p:txBody>
      </p:sp>
      <p:sp>
        <p:nvSpPr>
          <p:cNvPr id="6" name="Content Placeholder 5"/>
          <p:cNvSpPr>
            <a:spLocks noGrp="1"/>
          </p:cNvSpPr>
          <p:nvPr>
            <p:ph sz="quarter" idx="14"/>
          </p:nvPr>
        </p:nvSpPr>
        <p:spPr>
          <a:xfrm>
            <a:off x="455613" y="1371600"/>
            <a:ext cx="8232775" cy="5335150"/>
          </a:xfrm>
        </p:spPr>
        <p:txBody>
          <a:bodyPr/>
          <a:lstStyle/>
          <a:p>
            <a:pPr marL="0" indent="0">
              <a:buNone/>
            </a:pPr>
            <a:r>
              <a:rPr lang="en-US" sz="1200" dirty="0"/>
              <a:t>Which of the following Big Data technologies monitors and analyzes streaming data in order to identify and respond to changing circumstances in real-time?</a:t>
            </a:r>
            <a:br>
              <a:rPr lang="en-US" sz="1200" dirty="0"/>
            </a:br>
            <a:r>
              <a:rPr lang="en-US" sz="1200" dirty="0"/>
              <a:t/>
            </a:r>
            <a:br>
              <a:rPr lang="en-US" sz="1200" dirty="0"/>
            </a:br>
            <a:r>
              <a:rPr lang="en-US" sz="1200" b="1" i="1" dirty="0">
                <a:solidFill>
                  <a:schemeClr val="accent2"/>
                </a:solidFill>
              </a:rPr>
              <a:t>Select the best answer, and click or tap the Submit button. </a:t>
            </a:r>
            <a:endParaRPr lang="en-US" sz="1200" b="1" i="1" dirty="0" smtClean="0">
              <a:solidFill>
                <a:schemeClr val="accent2"/>
              </a:solidFill>
            </a:endParaRPr>
          </a:p>
          <a:p>
            <a:pPr marL="0" indent="0">
              <a:buNone/>
            </a:pPr>
            <a:r>
              <a:rPr lang="en-US" sz="1200" dirty="0" smtClean="0"/>
              <a:t> </a:t>
            </a:r>
            <a:endParaRPr lang="en-US" sz="1200" dirty="0"/>
          </a:p>
          <a:p>
            <a:pPr lvl="0">
              <a:buFont typeface="+mj-lt"/>
              <a:buAutoNum type="alphaLcParenR"/>
            </a:pPr>
            <a:r>
              <a:rPr lang="en-US" sz="1200" dirty="0" smtClean="0"/>
              <a:t>Data Storage and Processing</a:t>
            </a:r>
          </a:p>
          <a:p>
            <a:pPr lvl="0">
              <a:buFont typeface="+mj-lt"/>
              <a:buAutoNum type="alphaLcParenR"/>
            </a:pPr>
            <a:r>
              <a:rPr lang="en-US" sz="1200" dirty="0" smtClean="0"/>
              <a:t>Low-Latency Non-Relational Databases</a:t>
            </a:r>
          </a:p>
          <a:p>
            <a:pPr lvl="0">
              <a:buFont typeface="+mj-lt"/>
              <a:buAutoNum type="alphaLcParenR"/>
            </a:pPr>
            <a:r>
              <a:rPr lang="en-US" sz="1200" dirty="0" smtClean="0"/>
              <a:t>Streaming, Complex Event Processing</a:t>
            </a:r>
          </a:p>
          <a:p>
            <a:pPr lvl="0">
              <a:buFont typeface="+mj-lt"/>
              <a:buAutoNum type="alphaLcParenR"/>
            </a:pPr>
            <a:r>
              <a:rPr lang="en-US" sz="1200" dirty="0" smtClean="0"/>
              <a:t>Specialty Data Processing</a:t>
            </a:r>
          </a:p>
          <a:p>
            <a:pPr lvl="0">
              <a:buFont typeface="+mj-lt"/>
              <a:buAutoNum type="alphaLcParenR"/>
            </a:pPr>
            <a:r>
              <a:rPr lang="en-US" sz="1200" dirty="0" smtClean="0"/>
              <a:t>In-Memory Processing</a:t>
            </a:r>
          </a:p>
          <a:p>
            <a:pPr marL="0" lvl="0" indent="0">
              <a:buNone/>
            </a:pPr>
            <a:endParaRPr lang="en-US" sz="1200" dirty="0">
              <a:solidFill>
                <a:schemeClr val="accent2"/>
              </a:solidFill>
            </a:endParaRPr>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51</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74680123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3.17 Checkpoint Answer</a:t>
            </a:r>
            <a:endParaRPr lang="en-US" dirty="0"/>
          </a:p>
        </p:txBody>
      </p:sp>
      <p:sp>
        <p:nvSpPr>
          <p:cNvPr id="6" name="Content Placeholder 5"/>
          <p:cNvSpPr>
            <a:spLocks noGrp="1"/>
          </p:cNvSpPr>
          <p:nvPr>
            <p:ph sz="quarter" idx="14"/>
          </p:nvPr>
        </p:nvSpPr>
        <p:spPr>
          <a:xfrm>
            <a:off x="455613" y="1371600"/>
            <a:ext cx="8232775" cy="5335150"/>
          </a:xfrm>
        </p:spPr>
        <p:txBody>
          <a:bodyPr/>
          <a:lstStyle/>
          <a:p>
            <a:pPr marL="0" indent="0">
              <a:buNone/>
            </a:pPr>
            <a:r>
              <a:rPr lang="en-US" sz="1200" dirty="0"/>
              <a:t>Which of the following Big Data technologies monitors and analyzes streaming data in order to identify and respond to changing circumstances in real-time?</a:t>
            </a:r>
            <a:br>
              <a:rPr lang="en-US" sz="1200" dirty="0"/>
            </a:br>
            <a:r>
              <a:rPr lang="en-US" sz="1200" dirty="0"/>
              <a:t/>
            </a:r>
            <a:br>
              <a:rPr lang="en-US" sz="1200" dirty="0"/>
            </a:br>
            <a:r>
              <a:rPr lang="en-US" sz="1200" b="1" i="1" dirty="0">
                <a:solidFill>
                  <a:schemeClr val="accent2"/>
                </a:solidFill>
              </a:rPr>
              <a:t>Select the best answer, and click or tap the Submit button. </a:t>
            </a:r>
            <a:endParaRPr lang="en-US" sz="1200" b="1" i="1" dirty="0" smtClean="0">
              <a:solidFill>
                <a:schemeClr val="accent2"/>
              </a:solidFill>
            </a:endParaRPr>
          </a:p>
          <a:p>
            <a:pPr marL="0" indent="0">
              <a:buNone/>
            </a:pPr>
            <a:r>
              <a:rPr lang="en-US" sz="1200" dirty="0" smtClean="0"/>
              <a:t> </a:t>
            </a:r>
            <a:endParaRPr lang="en-US" sz="1200" dirty="0"/>
          </a:p>
          <a:p>
            <a:pPr lvl="0">
              <a:buFont typeface="+mj-lt"/>
              <a:buAutoNum type="alphaLcParenR"/>
            </a:pPr>
            <a:r>
              <a:rPr lang="en-US" sz="1200" dirty="0" smtClean="0"/>
              <a:t>Data Storage and Processing</a:t>
            </a:r>
          </a:p>
          <a:p>
            <a:pPr lvl="0">
              <a:buFont typeface="+mj-lt"/>
              <a:buAutoNum type="alphaLcParenR"/>
            </a:pPr>
            <a:r>
              <a:rPr lang="en-US" sz="1200" dirty="0" smtClean="0"/>
              <a:t>Low-Latency Non-Relational Databases</a:t>
            </a:r>
          </a:p>
          <a:p>
            <a:pPr lvl="0">
              <a:buFont typeface="+mj-lt"/>
              <a:buAutoNum type="alphaLcParenR"/>
            </a:pPr>
            <a:r>
              <a:rPr lang="en-US" sz="1200" b="1" dirty="0" smtClean="0"/>
              <a:t>Streaming, Complex Event Processing</a:t>
            </a:r>
          </a:p>
          <a:p>
            <a:pPr lvl="0">
              <a:buFont typeface="+mj-lt"/>
              <a:buAutoNum type="alphaLcParenR"/>
            </a:pPr>
            <a:r>
              <a:rPr lang="en-US" sz="1200" dirty="0" smtClean="0"/>
              <a:t>Specialty Data Processing</a:t>
            </a:r>
          </a:p>
          <a:p>
            <a:pPr lvl="0">
              <a:buFont typeface="+mj-lt"/>
              <a:buAutoNum type="alphaLcParenR"/>
            </a:pPr>
            <a:r>
              <a:rPr lang="en-US" sz="1200" dirty="0" smtClean="0"/>
              <a:t>In-Memory Processing</a:t>
            </a:r>
          </a:p>
          <a:p>
            <a:pPr marL="0" lvl="0" indent="0">
              <a:buNone/>
            </a:pPr>
            <a:endParaRPr lang="en-US" sz="1200" dirty="0" smtClean="0">
              <a:solidFill>
                <a:schemeClr val="accent2"/>
              </a:solidFill>
            </a:endParaRPr>
          </a:p>
          <a:p>
            <a:pPr marL="0" lvl="0" indent="0">
              <a:buNone/>
            </a:pPr>
            <a:r>
              <a:rPr lang="en-US" sz="1200" i="1" dirty="0" smtClean="0"/>
              <a:t>The correct answer is C.</a:t>
            </a:r>
          </a:p>
          <a:p>
            <a:pPr marL="0" lvl="0" indent="0">
              <a:buNone/>
            </a:pPr>
            <a:endParaRPr lang="en-US" sz="1200" i="1" dirty="0" smtClean="0"/>
          </a:p>
          <a:p>
            <a:pPr marL="0" lvl="0" indent="0">
              <a:buNone/>
            </a:pPr>
            <a:r>
              <a:rPr lang="en-US" sz="1200" i="1" dirty="0"/>
              <a:t>A major component of Big Data is streaming, event-based data, such as news stories, social media posts, or stock market feeds. The goal of complex event processing is to monitor and analyze this streaming data in order to identify and respond to changing circumstances in real-time.</a:t>
            </a:r>
          </a:p>
          <a:p>
            <a:pPr marL="0" lvl="0" indent="0">
              <a:buNone/>
            </a:pPr>
            <a:endParaRPr lang="en-US" sz="1200" dirty="0">
              <a:solidFill>
                <a:schemeClr val="accent2"/>
              </a:solidFill>
            </a:endParaRPr>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52</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248359474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2663" y="1381863"/>
            <a:ext cx="3571875" cy="2381250"/>
          </a:xfrm>
          <a:prstGeom prst="rect">
            <a:avLst/>
          </a:prstGeom>
        </p:spPr>
      </p:pic>
      <p:sp>
        <p:nvSpPr>
          <p:cNvPr id="3" name="Title 2"/>
          <p:cNvSpPr>
            <a:spLocks noGrp="1"/>
          </p:cNvSpPr>
          <p:nvPr>
            <p:ph type="title"/>
          </p:nvPr>
        </p:nvSpPr>
        <p:spPr/>
        <p:txBody>
          <a:bodyPr/>
          <a:lstStyle/>
          <a:p>
            <a:r>
              <a:rPr lang="en-US" dirty="0" smtClean="0"/>
              <a:t>3.18 Module Summary</a:t>
            </a:r>
            <a:endParaRPr lang="en-US" dirty="0"/>
          </a:p>
        </p:txBody>
      </p:sp>
      <p:sp>
        <p:nvSpPr>
          <p:cNvPr id="4" name="Content Placeholder 3"/>
          <p:cNvSpPr>
            <a:spLocks noGrp="1"/>
          </p:cNvSpPr>
          <p:nvPr>
            <p:ph sz="quarter" idx="14"/>
          </p:nvPr>
        </p:nvSpPr>
        <p:spPr>
          <a:xfrm>
            <a:off x="455614" y="1371601"/>
            <a:ext cx="4654268" cy="3043238"/>
          </a:xfrm>
        </p:spPr>
        <p:txBody>
          <a:bodyPr/>
          <a:lstStyle/>
          <a:p>
            <a:pPr marL="0" indent="0">
              <a:buNone/>
            </a:pPr>
            <a:r>
              <a:rPr lang="en-US" sz="1200" b="1" dirty="0" smtClean="0">
                <a:solidFill>
                  <a:schemeClr val="accent6"/>
                </a:solidFill>
              </a:rPr>
              <a:t>The following key points were covered in this module:</a:t>
            </a:r>
            <a:endParaRPr lang="en-US" sz="1200" dirty="0">
              <a:solidFill>
                <a:schemeClr val="accent6"/>
              </a:solidFill>
            </a:endParaRPr>
          </a:p>
          <a:p>
            <a:pPr lvl="0">
              <a:spcBef>
                <a:spcPts val="600"/>
              </a:spcBef>
              <a:buSzPct val="100000"/>
            </a:pPr>
            <a:r>
              <a:rPr lang="en-US" sz="1200" dirty="0" smtClean="0"/>
              <a:t>Apache</a:t>
            </a:r>
            <a:r>
              <a:rPr lang="en-US" sz="1200" baseline="30000" dirty="0"/>
              <a:t>®</a:t>
            </a:r>
            <a:r>
              <a:rPr lang="en-US" sz="1200" dirty="0"/>
              <a:t> Hadoop</a:t>
            </a:r>
            <a:r>
              <a:rPr lang="en-US" sz="1200" baseline="30000" dirty="0"/>
              <a:t>® </a:t>
            </a:r>
            <a:r>
              <a:rPr lang="en-US" sz="1200" dirty="0"/>
              <a:t>is one of the leading frameworks for data storage and processing and addresses a variety of Big Data storage and processing requirements. </a:t>
            </a:r>
          </a:p>
          <a:p>
            <a:pPr lvl="0">
              <a:spcBef>
                <a:spcPts val="600"/>
              </a:spcBef>
              <a:buSzPct val="100000"/>
            </a:pPr>
            <a:r>
              <a:rPr lang="en-US" sz="1200" dirty="0"/>
              <a:t>The Apache</a:t>
            </a:r>
            <a:r>
              <a:rPr lang="en-US" sz="1200" baseline="30000" dirty="0"/>
              <a:t>® </a:t>
            </a:r>
            <a:r>
              <a:rPr lang="en-US" sz="1200" dirty="0"/>
              <a:t>Spark</a:t>
            </a:r>
            <a:r>
              <a:rPr lang="en-US" sz="1200" baseline="30000" dirty="0"/>
              <a:t>™</a:t>
            </a:r>
            <a:r>
              <a:rPr lang="en-US" sz="1200" dirty="0"/>
              <a:t> framework performs general data analytics on distributed computing clusters like Hadoop</a:t>
            </a:r>
            <a:r>
              <a:rPr lang="en-US" sz="1200" baseline="30000" dirty="0"/>
              <a:t>®</a:t>
            </a:r>
            <a:r>
              <a:rPr lang="en-US" sz="1200" dirty="0"/>
              <a:t>, and it provides in-memory computations for increased speed and data processing over </a:t>
            </a:r>
            <a:r>
              <a:rPr lang="en-US" sz="1200" dirty="0" smtClean="0"/>
              <a:t>MapReduce.</a:t>
            </a:r>
            <a:endParaRPr lang="en-US" sz="1200" dirty="0"/>
          </a:p>
          <a:p>
            <a:pPr lvl="0">
              <a:spcBef>
                <a:spcPts val="600"/>
              </a:spcBef>
              <a:buSzPct val="100000"/>
            </a:pPr>
            <a:r>
              <a:rPr lang="en-US" sz="1200" dirty="0"/>
              <a:t>Because of its sheer size and lack of structure, traditional relational-based databases (</a:t>
            </a:r>
            <a:r>
              <a:rPr lang="en-US" sz="1200" dirty="0" smtClean="0"/>
              <a:t>RDBMS</a:t>
            </a:r>
            <a:r>
              <a:rPr lang="en-US" sz="1200" dirty="0"/>
              <a:t>) cannot handle Big Data, which requires a more flexible non-relational structure that supports fast access to data for processing. </a:t>
            </a:r>
          </a:p>
        </p:txBody>
      </p:sp>
      <p:sp>
        <p:nvSpPr>
          <p:cNvPr id="2" name="Footer Placeholder 1"/>
          <p:cNvSpPr>
            <a:spLocks noGrp="1"/>
          </p:cNvSpPr>
          <p:nvPr>
            <p:ph type="ftr" sz="quarter" idx="15"/>
          </p:nvPr>
        </p:nvSpPr>
        <p:spPr/>
        <p:txBody>
          <a:bodyPr/>
          <a:lstStyle/>
          <a:p>
            <a:r>
              <a:rPr lang="en-US" smtClean="0"/>
              <a:t>Copyright © 2015 Accenture  All rights reserved.</a:t>
            </a:r>
            <a:endParaRPr lang="en-AU" dirty="0"/>
          </a:p>
        </p:txBody>
      </p:sp>
      <p:sp>
        <p:nvSpPr>
          <p:cNvPr id="6" name="Rectangle 5"/>
          <p:cNvSpPr/>
          <p:nvPr/>
        </p:nvSpPr>
        <p:spPr>
          <a:xfrm>
            <a:off x="384173" y="3866842"/>
            <a:ext cx="8428925" cy="2693045"/>
          </a:xfrm>
          <a:prstGeom prst="rect">
            <a:avLst/>
          </a:prstGeom>
        </p:spPr>
        <p:txBody>
          <a:bodyPr wrap="square">
            <a:spAutoFit/>
          </a:bodyPr>
          <a:lstStyle/>
          <a:p>
            <a:pPr marL="228600" lvl="0" indent="-228600">
              <a:spcBef>
                <a:spcPts val="600"/>
              </a:spcBef>
              <a:buFont typeface="Arial" panose="020B0604020202020204" pitchFamily="34" charset="0"/>
              <a:buChar char="•"/>
            </a:pPr>
            <a:r>
              <a:rPr lang="en-AU" sz="1200" dirty="0"/>
              <a:t>Non-relational databases have a number of special features to handle Big Data: key value pairs, and column-oriented, document-based, and graph-based databases.</a:t>
            </a:r>
            <a:endParaRPr lang="en-US" sz="1200" dirty="0"/>
          </a:p>
          <a:p>
            <a:pPr marL="228600" lvl="0" indent="-228600">
              <a:spcBef>
                <a:spcPts val="600"/>
              </a:spcBef>
              <a:buFont typeface="Arial" panose="020B0604020202020204" pitchFamily="34" charset="0"/>
              <a:buChar char="•"/>
            </a:pPr>
            <a:r>
              <a:rPr lang="en-US" sz="1200" dirty="0"/>
              <a:t>Complex event processing monitors and </a:t>
            </a:r>
            <a:r>
              <a:rPr lang="en-US" sz="1200" dirty="0" smtClean="0"/>
              <a:t>analyzes </a:t>
            </a:r>
            <a:r>
              <a:rPr lang="en-US" sz="1200" dirty="0"/>
              <a:t>streaming, event-based data such as news stories, social media posts, and stock market feeds to identify and respond to changing circumstances in real-time.</a:t>
            </a:r>
          </a:p>
          <a:p>
            <a:pPr marL="228600" lvl="0" indent="-228600">
              <a:spcBef>
                <a:spcPts val="600"/>
              </a:spcBef>
              <a:buFont typeface="Arial" panose="020B0604020202020204" pitchFamily="34" charset="0"/>
              <a:buChar char="•"/>
            </a:pPr>
            <a:r>
              <a:rPr lang="en-US" sz="1200" dirty="0"/>
              <a:t>One-, two-, and three-dimensional processing models manage highly complex, densely connected, and semi-structured specialty data types. </a:t>
            </a:r>
          </a:p>
          <a:p>
            <a:pPr marL="228600" lvl="0" indent="-228600">
              <a:spcBef>
                <a:spcPts val="600"/>
              </a:spcBef>
              <a:buFont typeface="Arial" panose="020B0604020202020204" pitchFamily="34" charset="0"/>
              <a:buChar char="•"/>
            </a:pPr>
            <a:r>
              <a:rPr lang="en-US" sz="1200" dirty="0"/>
              <a:t>In-memory computing technology has been gaining </a:t>
            </a:r>
            <a:r>
              <a:rPr lang="en-US" sz="1200" dirty="0" smtClean="0"/>
              <a:t>ground, will </a:t>
            </a:r>
            <a:r>
              <a:rPr lang="en-US" sz="1200" dirty="0"/>
              <a:t>speed up data </a:t>
            </a:r>
            <a:r>
              <a:rPr lang="en-US" sz="1200" dirty="0" smtClean="0"/>
              <a:t>crunching, and will help </a:t>
            </a:r>
            <a:r>
              <a:rPr lang="en-US" sz="1200" dirty="0"/>
              <a:t>meet the diverse information and analytics requirements of companies faster than before.</a:t>
            </a:r>
          </a:p>
          <a:p>
            <a:pPr marL="228600" lvl="0" indent="-228600">
              <a:spcBef>
                <a:spcPts val="600"/>
              </a:spcBef>
              <a:buFont typeface="Arial" panose="020B0604020202020204" pitchFamily="34" charset="0"/>
              <a:buChar char="•"/>
            </a:pPr>
            <a:r>
              <a:rPr lang="en-US" sz="1200" dirty="0"/>
              <a:t>Analytics database and appliance solutions consist of an integrated set of servers, storage, operating systems, database management systems, and software pre-installed and pre-optimized specifically for data warehousing</a:t>
            </a:r>
            <a:r>
              <a:rPr lang="en-US" sz="1200" dirty="0" smtClean="0"/>
              <a:t>.</a:t>
            </a:r>
          </a:p>
          <a:p>
            <a:pPr marL="228600" lvl="0" indent="-228600">
              <a:spcBef>
                <a:spcPts val="600"/>
              </a:spcBef>
              <a:buFont typeface="Arial" panose="020B0604020202020204" pitchFamily="34" charset="0"/>
              <a:buChar char="•"/>
            </a:pPr>
            <a:r>
              <a:rPr lang="en-US" sz="1200" dirty="0" smtClean="0"/>
              <a:t>Big Data analytics requires a move from standard reporting to more sophisticated visualization techniques to present information in such a way that people can consume it effectively to learn about and solve business problems.</a:t>
            </a:r>
            <a:endParaRPr lang="en-US" sz="1200" dirty="0"/>
          </a:p>
        </p:txBody>
      </p:sp>
      <p:sp>
        <p:nvSpPr>
          <p:cNvPr id="9"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53</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43452839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Module 4: Working with Big Data</a:t>
            </a:r>
            <a:endParaRPr lang="en-US" dirty="0"/>
          </a:p>
        </p:txBody>
      </p:sp>
    </p:spTree>
    <p:extLst>
      <p:ext uri="{BB962C8B-B14F-4D97-AF65-F5344CB8AC3E}">
        <p14:creationId xmlns:p14="http://schemas.microsoft.com/office/powerpoint/2010/main" val="45829010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2664" y="1371600"/>
            <a:ext cx="3571875" cy="2381250"/>
          </a:xfrm>
          <a:prstGeom prst="rect">
            <a:avLst/>
          </a:prstGeom>
        </p:spPr>
      </p:pic>
      <p:sp>
        <p:nvSpPr>
          <p:cNvPr id="3" name="Title 2"/>
          <p:cNvSpPr>
            <a:spLocks noGrp="1"/>
          </p:cNvSpPr>
          <p:nvPr>
            <p:ph type="title"/>
          </p:nvPr>
        </p:nvSpPr>
        <p:spPr/>
        <p:txBody>
          <a:bodyPr/>
          <a:lstStyle/>
          <a:p>
            <a:r>
              <a:rPr lang="en-US" dirty="0" smtClean="0"/>
              <a:t>4.1 Module Introduction</a:t>
            </a:r>
            <a:endParaRPr lang="en-US" dirty="0"/>
          </a:p>
        </p:txBody>
      </p:sp>
      <p:sp>
        <p:nvSpPr>
          <p:cNvPr id="4" name="Content Placeholder 3"/>
          <p:cNvSpPr>
            <a:spLocks noGrp="1"/>
          </p:cNvSpPr>
          <p:nvPr>
            <p:ph sz="quarter" idx="14"/>
          </p:nvPr>
        </p:nvSpPr>
        <p:spPr>
          <a:xfrm>
            <a:off x="455614" y="1371600"/>
            <a:ext cx="4060824" cy="3487003"/>
          </a:xfrm>
        </p:spPr>
        <p:txBody>
          <a:bodyPr/>
          <a:lstStyle/>
          <a:p>
            <a:pPr marL="0" indent="0">
              <a:buNone/>
            </a:pPr>
            <a:r>
              <a:rPr lang="en-US" sz="1200" dirty="0"/>
              <a:t>Working with Big Data requires new ways of looking at data management and analytics. Implementing the technologies for storing and processing Big Data discussed in the previous module is not enough; organizations need to examine and update their approaches and resources for managing and extracting insights from the data</a:t>
            </a:r>
            <a:r>
              <a:rPr lang="en-US" sz="1200" dirty="0" smtClean="0"/>
              <a:t>.</a:t>
            </a:r>
          </a:p>
          <a:p>
            <a:pPr marL="0" indent="0">
              <a:buNone/>
            </a:pPr>
            <a:r>
              <a:rPr lang="en-US" sz="1200" b="1" dirty="0" smtClean="0">
                <a:solidFill>
                  <a:schemeClr val="accent6"/>
                </a:solidFill>
              </a:rPr>
              <a:t>By the end of this module, participants will be able to:</a:t>
            </a:r>
            <a:endParaRPr lang="en-US" sz="1200" dirty="0">
              <a:solidFill>
                <a:schemeClr val="accent6"/>
              </a:solidFill>
            </a:endParaRPr>
          </a:p>
          <a:p>
            <a:pPr>
              <a:spcBef>
                <a:spcPts val="600"/>
              </a:spcBef>
              <a:buSzPct val="100000"/>
            </a:pPr>
            <a:r>
              <a:rPr lang="en-US" sz="1200" dirty="0"/>
              <a:t>Discuss unique considerations for managing Big Data</a:t>
            </a:r>
          </a:p>
          <a:p>
            <a:pPr>
              <a:spcBef>
                <a:spcPts val="600"/>
              </a:spcBef>
              <a:buSzPct val="100000"/>
            </a:pPr>
            <a:r>
              <a:rPr lang="en-US" sz="1200" dirty="0"/>
              <a:t>Provide examples of the roles and skillsets required to work with and extract insights from Big Data</a:t>
            </a:r>
          </a:p>
          <a:p>
            <a:pPr>
              <a:spcBef>
                <a:spcPts val="600"/>
              </a:spcBef>
              <a:buSzPct val="100000"/>
            </a:pPr>
            <a:r>
              <a:rPr lang="en-US" sz="1200" dirty="0"/>
              <a:t>Compare Big Data and traditional analytics approaches</a:t>
            </a:r>
          </a:p>
          <a:p>
            <a:pPr>
              <a:spcBef>
                <a:spcPts val="600"/>
              </a:spcBef>
              <a:buSzPct val="100000"/>
            </a:pPr>
            <a:r>
              <a:rPr lang="en-US" sz="1200" dirty="0"/>
              <a:t>Identify several advanced visualization tools and techniques that can be used with Big Data </a:t>
            </a:r>
            <a:br>
              <a:rPr lang="en-US" sz="1200" dirty="0"/>
            </a:br>
            <a:endParaRPr lang="en-US" sz="1200" dirty="0"/>
          </a:p>
        </p:txBody>
      </p:sp>
      <p:sp>
        <p:nvSpPr>
          <p:cNvPr id="2" name="Footer Placeholder 1"/>
          <p:cNvSpPr>
            <a:spLocks noGrp="1"/>
          </p:cNvSpPr>
          <p:nvPr>
            <p:ph type="ftr" sz="quarter" idx="15"/>
          </p:nvPr>
        </p:nvSpPr>
        <p:spPr/>
        <p:txBody>
          <a:bodyPr/>
          <a:lstStyle/>
          <a:p>
            <a:r>
              <a:rPr lang="en-US" smtClean="0"/>
              <a:t>Copyright © 2015 Accenture  All rights reserved.</a:t>
            </a:r>
            <a:endParaRPr lang="en-AU" dirty="0"/>
          </a:p>
        </p:txBody>
      </p:sp>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55</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20661520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613" y="123700"/>
            <a:ext cx="8688387" cy="1002979"/>
          </a:xfrm>
        </p:spPr>
        <p:txBody>
          <a:bodyPr/>
          <a:lstStyle/>
          <a:p>
            <a:r>
              <a:rPr lang="en-US" dirty="0" smtClean="0"/>
              <a:t>4.2 Data Management Considerations for Big Data (1/2)</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Accenture’s Data Management perspective is a holistic, multi-pillar view across people, processes, and </a:t>
            </a:r>
            <a:r>
              <a:rPr lang="en-US" sz="1200" dirty="0" smtClean="0"/>
              <a:t>technology. Big </a:t>
            </a:r>
            <a:r>
              <a:rPr lang="en-US" sz="1200" dirty="0"/>
              <a:t>Data affects these pillars and any changes to traditional approaches need to be investigated and </a:t>
            </a:r>
            <a:r>
              <a:rPr lang="en-US" sz="1200" dirty="0" smtClean="0"/>
              <a:t>implemented. The </a:t>
            </a:r>
            <a:r>
              <a:rPr lang="en-US" sz="1200" dirty="0"/>
              <a:t>goal of Big Data management is to ensure a high level of data quality and accessibility for business intelligence and analytics applications. Corporations, government agencies, and other organizations employ Big Data management strategies to help them contend with fast-growing pools of data, typically involving many terabytes to petabytes of information saved in a variety of file formats. Effective Big Data management helps companies locate valuable information in large sets of unstructured data and semi-structured data from a variety of sources including call detail records, system logs, and social media sites.</a:t>
            </a:r>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graphicFrame>
        <p:nvGraphicFramePr>
          <p:cNvPr id="14" name="Table 13"/>
          <p:cNvGraphicFramePr>
            <a:graphicFrameLocks noGrp="1"/>
          </p:cNvGraphicFramePr>
          <p:nvPr>
            <p:extLst>
              <p:ext uri="{D42A27DB-BD31-4B8C-83A1-F6EECF244321}">
                <p14:modId xmlns:p14="http://schemas.microsoft.com/office/powerpoint/2010/main" val="3532513628"/>
              </p:ext>
            </p:extLst>
          </p:nvPr>
        </p:nvGraphicFramePr>
        <p:xfrm>
          <a:off x="455612" y="2980372"/>
          <a:ext cx="8232774" cy="3718560"/>
        </p:xfrm>
        <a:graphic>
          <a:graphicData uri="http://schemas.openxmlformats.org/drawingml/2006/table">
            <a:tbl>
              <a:tblPr firstRow="1" bandRow="1">
                <a:tableStyleId>{21E4AEA4-8DFA-4A89-87EB-49C32662AFE0}</a:tableStyleId>
              </a:tblPr>
              <a:tblGrid>
                <a:gridCol w="2744258"/>
                <a:gridCol w="2744258"/>
                <a:gridCol w="2744258"/>
              </a:tblGrid>
              <a:tr h="370840">
                <a:tc>
                  <a:txBody>
                    <a:bodyPr/>
                    <a:lstStyle/>
                    <a:p>
                      <a:pPr algn="ctr"/>
                      <a:r>
                        <a:rPr lang="en-US" sz="1400" dirty="0" smtClean="0"/>
                        <a:t>Master and Meta Data Management</a:t>
                      </a:r>
                      <a:endParaRPr lang="en-US" sz="1400" dirty="0"/>
                    </a:p>
                  </a:txBody>
                  <a:tcPr/>
                </a:tc>
                <a:tc>
                  <a:txBody>
                    <a:bodyPr/>
                    <a:lstStyle/>
                    <a:p>
                      <a:pPr algn="ctr"/>
                      <a:r>
                        <a:rPr lang="en-US" sz="1400" dirty="0" smtClean="0"/>
                        <a:t>Data Quality</a:t>
                      </a:r>
                      <a:endParaRPr lang="en-US" sz="1400" dirty="0"/>
                    </a:p>
                  </a:txBody>
                  <a:tcPr/>
                </a:tc>
                <a:tc>
                  <a:txBody>
                    <a:bodyPr/>
                    <a:lstStyle/>
                    <a:p>
                      <a:pPr algn="ctr"/>
                      <a:r>
                        <a:rPr lang="en-US" sz="1400" dirty="0" smtClean="0"/>
                        <a:t>Data Structure</a:t>
                      </a:r>
                      <a:endParaRPr lang="en-US" sz="1400" dirty="0"/>
                    </a:p>
                  </a:txBody>
                  <a:tcPr/>
                </a:tc>
              </a:tr>
              <a:tr h="370840">
                <a:tc>
                  <a:txBody>
                    <a:bodyPr/>
                    <a:lstStyle/>
                    <a:p>
                      <a:pPr marL="0" indent="0">
                        <a:buFont typeface="Arial" panose="020B0604020202020204" pitchFamily="34" charset="0"/>
                        <a:buNone/>
                      </a:pPr>
                      <a:r>
                        <a:rPr lang="en-US" sz="1200" b="0" i="0" kern="1200" dirty="0" smtClean="0">
                          <a:solidFill>
                            <a:schemeClr val="dk1"/>
                          </a:solidFill>
                          <a:effectLst/>
                          <a:latin typeface="+mn-lt"/>
                          <a:ea typeface="+mn-ea"/>
                          <a:cs typeface="+mn-cs"/>
                        </a:rPr>
                        <a:t>Master data is the fundamental business data in an enterprise. Master data is typically long-lived and used across multiple applications. Master data is primarily developed in-house and is enriched with information extracted from analyzed, unexplored, unstructured data. Seamless integration of meta data in unstructured content with traditional meta data management will have to be undertaken. </a:t>
                      </a:r>
                    </a:p>
                  </a:txBody>
                  <a:tcPr>
                    <a:solidFill>
                      <a:schemeClr val="bg1">
                        <a:lumMod val="95000"/>
                      </a:schemeClr>
                    </a:solidFill>
                  </a:tcPr>
                </a:tc>
                <a:tc>
                  <a:txBody>
                    <a:bodyPr/>
                    <a:lstStyle/>
                    <a:p>
                      <a:pPr marL="0" indent="0">
                        <a:buFont typeface="Arial" panose="020B0604020202020204" pitchFamily="34" charset="0"/>
                        <a:buNone/>
                      </a:pPr>
                      <a:r>
                        <a:rPr lang="en-US" sz="1200" b="0" i="0" kern="1200" dirty="0" smtClean="0">
                          <a:solidFill>
                            <a:schemeClr val="dk1"/>
                          </a:solidFill>
                          <a:effectLst/>
                          <a:latin typeface="+mn-lt"/>
                          <a:ea typeface="+mn-ea"/>
                          <a:cs typeface="+mn-cs"/>
                        </a:rPr>
                        <a:t>Data quality is the ability of data to satisfy the stated business, system, and technical requirements of the organization. Data quality is typically measured in terms of completeness, timeliness, accuracy, consistency, relevance, and integrity. In the context of Big Data, data quality is driven by use cases; applications will not have the same level of quality expectations. For example, clickstream analysis and intrusion detection do not require the same level of precision. Data quality rules and policies, compliance rules, and data cleansing standards will need to be assessed in this context. </a:t>
                      </a:r>
                      <a:endParaRPr lang="en-US" sz="1200" dirty="0"/>
                    </a:p>
                  </a:txBody>
                  <a:tcPr>
                    <a:solidFill>
                      <a:schemeClr val="bg1">
                        <a:lumMod val="95000"/>
                      </a:schemeClr>
                    </a:solidFill>
                  </a:tcPr>
                </a:tc>
                <a:tc>
                  <a:txBody>
                    <a:bodyPr/>
                    <a:lstStyle/>
                    <a:p>
                      <a:r>
                        <a:rPr lang="en-US" sz="1200" b="0" i="0" kern="1200" dirty="0" smtClean="0">
                          <a:solidFill>
                            <a:schemeClr val="dk1"/>
                          </a:solidFill>
                          <a:effectLst/>
                          <a:latin typeface="+mn-lt"/>
                          <a:ea typeface="+mn-ea"/>
                          <a:cs typeface="+mn-cs"/>
                        </a:rPr>
                        <a:t>Data structure is how data is organized in a specific enterprise. Data structure includes multiple levels of an enterprise ranging from overall corporate data models down to the level of an individual system. In the context of Big Data, data structure is affected primarily because of data diversity. Data taxonomies and logical data models will need to accommodate unstructured content and the processes of extracting structure from them.</a:t>
                      </a:r>
                      <a:endParaRPr lang="en-US" sz="1200" dirty="0"/>
                    </a:p>
                  </a:txBody>
                  <a:tcPr>
                    <a:solidFill>
                      <a:schemeClr val="bg1">
                        <a:lumMod val="95000"/>
                      </a:schemeClr>
                    </a:solidFill>
                  </a:tcPr>
                </a:tc>
              </a:tr>
            </a:tbl>
          </a:graphicData>
        </a:graphic>
      </p:graphicFrame>
    </p:spTree>
    <p:extLst>
      <p:ext uri="{BB962C8B-B14F-4D97-AF65-F5344CB8AC3E}">
        <p14:creationId xmlns:p14="http://schemas.microsoft.com/office/powerpoint/2010/main" val="346156062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613" y="123700"/>
            <a:ext cx="8688387" cy="1002979"/>
          </a:xfrm>
        </p:spPr>
        <p:txBody>
          <a:bodyPr/>
          <a:lstStyle/>
          <a:p>
            <a:r>
              <a:rPr lang="en-US" dirty="0" smtClean="0"/>
              <a:t>4.2 Data Management Considerations for Big Data (2/2)</a:t>
            </a:r>
            <a:endParaRPr lang="en-US" dirty="0"/>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graphicFrame>
        <p:nvGraphicFramePr>
          <p:cNvPr id="14" name="Table 13"/>
          <p:cNvGraphicFramePr>
            <a:graphicFrameLocks noGrp="1"/>
          </p:cNvGraphicFramePr>
          <p:nvPr>
            <p:extLst>
              <p:ext uri="{D42A27DB-BD31-4B8C-83A1-F6EECF244321}">
                <p14:modId xmlns:p14="http://schemas.microsoft.com/office/powerpoint/2010/main" val="3759239309"/>
              </p:ext>
            </p:extLst>
          </p:nvPr>
        </p:nvGraphicFramePr>
        <p:xfrm>
          <a:off x="455612" y="1371600"/>
          <a:ext cx="8232774" cy="3937000"/>
        </p:xfrm>
        <a:graphic>
          <a:graphicData uri="http://schemas.openxmlformats.org/drawingml/2006/table">
            <a:tbl>
              <a:tblPr firstRow="1" bandRow="1">
                <a:tableStyleId>{21E4AEA4-8DFA-4A89-87EB-49C32662AFE0}</a:tableStyleId>
              </a:tblPr>
              <a:tblGrid>
                <a:gridCol w="2744258"/>
                <a:gridCol w="2744258"/>
                <a:gridCol w="2744258"/>
              </a:tblGrid>
              <a:tr h="370840">
                <a:tc>
                  <a:txBody>
                    <a:bodyPr/>
                    <a:lstStyle/>
                    <a:p>
                      <a:pPr algn="ctr"/>
                      <a:r>
                        <a:rPr lang="en-US" sz="1400" b="1" dirty="0" smtClean="0">
                          <a:solidFill>
                            <a:schemeClr val="bg1"/>
                          </a:solidFill>
                        </a:rPr>
                        <a:t>Data Security </a:t>
                      </a:r>
                      <a:endParaRPr lang="en-US" sz="1400" b="1" dirty="0">
                        <a:solidFill>
                          <a:schemeClr val="bg1"/>
                        </a:solidFill>
                      </a:endParaRPr>
                    </a:p>
                  </a:txBody>
                  <a:tcPr>
                    <a:solidFill>
                      <a:schemeClr val="accent2"/>
                    </a:solidFill>
                  </a:tcPr>
                </a:tc>
                <a:tc>
                  <a:txBody>
                    <a:bodyPr/>
                    <a:lstStyle/>
                    <a:p>
                      <a:pPr algn="ctr"/>
                      <a:r>
                        <a:rPr lang="en-US" sz="1400" b="1" dirty="0" smtClean="0">
                          <a:solidFill>
                            <a:schemeClr val="bg1"/>
                          </a:solidFill>
                        </a:rPr>
                        <a:t>Data Architecture</a:t>
                      </a:r>
                      <a:endParaRPr lang="en-US" sz="1400" b="1" dirty="0">
                        <a:solidFill>
                          <a:schemeClr val="bg1"/>
                        </a:solidFill>
                      </a:endParaRPr>
                    </a:p>
                  </a:txBody>
                  <a:tcPr>
                    <a:solidFill>
                      <a:schemeClr val="accent2"/>
                    </a:solidFill>
                  </a:tcPr>
                </a:tc>
                <a:tc>
                  <a:txBody>
                    <a:bodyPr/>
                    <a:lstStyle/>
                    <a:p>
                      <a:pPr algn="ctr"/>
                      <a:r>
                        <a:rPr lang="en-US" sz="1400" b="1" dirty="0" smtClean="0">
                          <a:solidFill>
                            <a:schemeClr val="bg1"/>
                          </a:solidFill>
                        </a:rPr>
                        <a:t>Data Governance</a:t>
                      </a:r>
                      <a:endParaRPr lang="en-US" sz="1400" b="1" dirty="0">
                        <a:solidFill>
                          <a:schemeClr val="bg1"/>
                        </a:solidFill>
                      </a:endParaRPr>
                    </a:p>
                  </a:txBody>
                  <a:tcPr>
                    <a:solidFill>
                      <a:schemeClr val="accent2"/>
                    </a:solidFill>
                  </a:tcPr>
                </a:tc>
              </a:tr>
              <a:tr h="370840">
                <a:tc>
                  <a:txBody>
                    <a:bodyPr/>
                    <a:lstStyle/>
                    <a:p>
                      <a:pPr marL="0" indent="0">
                        <a:buFont typeface="Arial" panose="020B0604020202020204" pitchFamily="34" charset="0"/>
                        <a:buNone/>
                      </a:pPr>
                      <a:r>
                        <a:rPr lang="en-US" sz="1200" b="0" i="0" kern="1200" dirty="0" smtClean="0">
                          <a:solidFill>
                            <a:schemeClr val="dk1"/>
                          </a:solidFill>
                          <a:effectLst/>
                          <a:latin typeface="+mn-lt"/>
                          <a:ea typeface="+mn-ea"/>
                          <a:cs typeface="+mn-cs"/>
                        </a:rPr>
                        <a:t>Data security is the processes and technology to protect data from unauthorized access, viewing, modification, or deletion whether the intent is accidental, intentional, or malicious. With the integration of diverse data sources (internal and external), appropriate compliance and security policies will need to be put in place and adherence to local, national, and international laws will need to be analyzed and standardized. New tools for the security of unstructured data will need to be leveraged.</a:t>
                      </a:r>
                    </a:p>
                  </a:txBody>
                  <a:tcPr>
                    <a:solidFill>
                      <a:schemeClr val="bg1">
                        <a:lumMod val="95000"/>
                      </a:schemeClr>
                    </a:solidFill>
                  </a:tcPr>
                </a:tc>
                <a:tc>
                  <a:txBody>
                    <a:bodyPr/>
                    <a:lstStyle/>
                    <a:p>
                      <a:r>
                        <a:rPr lang="en-US" sz="1200" b="0" i="0" kern="1200" dirty="0" smtClean="0">
                          <a:solidFill>
                            <a:schemeClr val="dk1"/>
                          </a:solidFill>
                          <a:effectLst/>
                          <a:latin typeface="+mn-lt"/>
                          <a:ea typeface="+mn-ea"/>
                          <a:cs typeface="+mn-cs"/>
                        </a:rPr>
                        <a:t>Data architecture is the processes, systems, and human organizations required to store, access, move, and organize data. Data sizing, storage, and movement architecture is going through a change. Data retention and deletion policies are being updated. Physical data models are revamped to accommodate a hybrid environment. </a:t>
                      </a:r>
                      <a:endParaRPr lang="en-US" sz="1200" dirty="0"/>
                    </a:p>
                  </a:txBody>
                  <a:tcPr>
                    <a:solidFill>
                      <a:schemeClr val="bg1">
                        <a:lumMod val="95000"/>
                      </a:schemeClr>
                    </a:solidFill>
                  </a:tcPr>
                </a:tc>
                <a:tc>
                  <a:txBody>
                    <a:bodyPr/>
                    <a:lstStyle/>
                    <a:p>
                      <a:pPr marL="0" indent="0">
                        <a:buFont typeface="Arial" panose="020B0604020202020204" pitchFamily="34" charset="0"/>
                        <a:buNone/>
                      </a:pPr>
                      <a:r>
                        <a:rPr lang="en-US" sz="1200" b="0" i="0" kern="1200" dirty="0" smtClean="0">
                          <a:solidFill>
                            <a:schemeClr val="dk1"/>
                          </a:solidFill>
                          <a:effectLst/>
                          <a:latin typeface="+mn-lt"/>
                          <a:ea typeface="+mn-ea"/>
                          <a:cs typeface="+mn-cs"/>
                        </a:rPr>
                        <a:t>Data governance defines how an enterprise manages its data assets. Governance includes the rules, policies, procedures, roles, and responsibilities that guide overall management. Governance provides guardrails so data is accurate and consistent, complete, available, and secure. Data policies and data standards require updates for unstructured diverse data sources. Business data ownership will need to be redefined for new and external data sources. Corresponding data workflows will be affected. Master Data Management (MDM) programs will ultimately need to govern the relationships between internal data and Big Data from external sources.</a:t>
                      </a:r>
                    </a:p>
                  </a:txBody>
                  <a:tcPr>
                    <a:solidFill>
                      <a:schemeClr val="bg1">
                        <a:lumMod val="95000"/>
                      </a:schemeClr>
                    </a:solidFill>
                  </a:tcPr>
                </a:tc>
              </a:tr>
            </a:tbl>
          </a:graphicData>
        </a:graphic>
      </p:graphicFrame>
      <p:sp>
        <p:nvSpPr>
          <p:cNvPr id="5"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57</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9034554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613" y="123700"/>
            <a:ext cx="8688387" cy="1002979"/>
          </a:xfrm>
        </p:spPr>
        <p:txBody>
          <a:bodyPr/>
          <a:lstStyle/>
          <a:p>
            <a:r>
              <a:rPr lang="en-US" dirty="0" smtClean="0"/>
              <a:t>4.3 Big Data Roles (1/3)</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Consult the table below for more information on the various roles that work with Big Data.</a:t>
            </a:r>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graphicFrame>
        <p:nvGraphicFramePr>
          <p:cNvPr id="14" name="Table 13"/>
          <p:cNvGraphicFramePr>
            <a:graphicFrameLocks noGrp="1"/>
          </p:cNvGraphicFramePr>
          <p:nvPr>
            <p:extLst>
              <p:ext uri="{D42A27DB-BD31-4B8C-83A1-F6EECF244321}">
                <p14:modId xmlns:p14="http://schemas.microsoft.com/office/powerpoint/2010/main" val="1583132178"/>
              </p:ext>
            </p:extLst>
          </p:nvPr>
        </p:nvGraphicFramePr>
        <p:xfrm>
          <a:off x="455612" y="1761172"/>
          <a:ext cx="8232774" cy="4754880"/>
        </p:xfrm>
        <a:graphic>
          <a:graphicData uri="http://schemas.openxmlformats.org/drawingml/2006/table">
            <a:tbl>
              <a:tblPr firstRow="1" bandRow="1">
                <a:tableStyleId>{21E4AEA4-8DFA-4A89-87EB-49C32662AFE0}</a:tableStyleId>
              </a:tblPr>
              <a:tblGrid>
                <a:gridCol w="1787858"/>
                <a:gridCol w="6444916"/>
              </a:tblGrid>
              <a:tr h="370840">
                <a:tc>
                  <a:txBody>
                    <a:bodyPr/>
                    <a:lstStyle/>
                    <a:p>
                      <a:pPr algn="l"/>
                      <a:r>
                        <a:rPr lang="en-US" sz="1200" b="1" kern="1200" dirty="0" smtClean="0">
                          <a:solidFill>
                            <a:schemeClr val="bg1"/>
                          </a:solidFill>
                          <a:effectLst/>
                          <a:latin typeface="+mn-lt"/>
                          <a:ea typeface="+mn-ea"/>
                          <a:cs typeface="+mn-cs"/>
                        </a:rPr>
                        <a:t>ETL (Extract, Transfer, Load) Developers</a:t>
                      </a:r>
                      <a:endParaRPr lang="en-US" sz="1200" b="1" dirty="0">
                        <a:solidFill>
                          <a:schemeClr val="bg1"/>
                        </a:solidFill>
                      </a:endParaRPr>
                    </a:p>
                  </a:txBody>
                  <a:tcPr/>
                </a:tc>
                <a:tc>
                  <a:txBody>
                    <a:bodyPr/>
                    <a:lstStyle/>
                    <a:p>
                      <a:pPr algn="l"/>
                      <a:r>
                        <a:rPr lang="en-US" sz="1200" b="0" kern="1200" dirty="0" smtClean="0">
                          <a:solidFill>
                            <a:schemeClr val="tx1"/>
                          </a:solidFill>
                          <a:effectLst/>
                          <a:latin typeface="+mn-lt"/>
                          <a:ea typeface="+mn-ea"/>
                          <a:cs typeface="+mn-cs"/>
                        </a:rPr>
                        <a:t>ETL Developers mainly work with different sources of data an organization may have. They create ways to extract data from sources, as well as to import and modify it to fit the needs of the organization. Then they add the data into a data warehouse.</a:t>
                      </a:r>
                      <a:endParaRPr lang="en-US" sz="1200" b="0" dirty="0">
                        <a:solidFill>
                          <a:schemeClr val="tx1"/>
                        </a:solidFill>
                      </a:endParaRPr>
                    </a:p>
                  </a:txBody>
                  <a:tcPr>
                    <a:solidFill>
                      <a:schemeClr val="bg1">
                        <a:lumMod val="95000"/>
                      </a:schemeClr>
                    </a:solidFill>
                  </a:tcPr>
                </a:tc>
              </a:tr>
              <a:tr h="370840">
                <a:tc>
                  <a:txBody>
                    <a:bodyPr/>
                    <a:lstStyle/>
                    <a:p>
                      <a:pPr marL="0" indent="0">
                        <a:buFont typeface="Arial" panose="020B0604020202020204" pitchFamily="34" charset="0"/>
                        <a:buNone/>
                      </a:pPr>
                      <a:r>
                        <a:rPr lang="en-US" sz="1200" b="1" kern="1200" dirty="0" smtClean="0">
                          <a:solidFill>
                            <a:schemeClr val="bg1"/>
                          </a:solidFill>
                          <a:effectLst/>
                          <a:latin typeface="+mn-lt"/>
                          <a:ea typeface="+mn-ea"/>
                          <a:cs typeface="+mn-cs"/>
                        </a:rPr>
                        <a:t>Hadoop</a:t>
                      </a:r>
                      <a:r>
                        <a:rPr lang="en-US" sz="1200" b="1" kern="1200" baseline="30000" dirty="0" smtClean="0">
                          <a:solidFill>
                            <a:schemeClr val="bg1"/>
                          </a:solidFill>
                          <a:effectLst/>
                          <a:latin typeface="+mn-lt"/>
                          <a:ea typeface="+mn-ea"/>
                          <a:cs typeface="+mn-cs"/>
                        </a:rPr>
                        <a:t>® </a:t>
                      </a:r>
                      <a:r>
                        <a:rPr lang="en-US" sz="1200" b="1" kern="1200" dirty="0" smtClean="0">
                          <a:solidFill>
                            <a:schemeClr val="bg1"/>
                          </a:solidFill>
                          <a:effectLst/>
                          <a:latin typeface="+mn-lt"/>
                          <a:ea typeface="+mn-ea"/>
                          <a:cs typeface="+mn-cs"/>
                        </a:rPr>
                        <a:t>Developers</a:t>
                      </a:r>
                      <a:endParaRPr lang="en-US" sz="1200" b="1" i="0" kern="1200" dirty="0" smtClean="0">
                        <a:solidFill>
                          <a:schemeClr val="bg1"/>
                        </a:solidFill>
                        <a:effectLst/>
                        <a:latin typeface="+mn-lt"/>
                        <a:ea typeface="+mn-ea"/>
                        <a:cs typeface="+mn-cs"/>
                      </a:endParaRPr>
                    </a:p>
                  </a:txBody>
                  <a:tcPr>
                    <a:solidFill>
                      <a:schemeClr val="accent2"/>
                    </a:solidFill>
                  </a:tcPr>
                </a:tc>
                <a:tc>
                  <a:txBody>
                    <a:bodyPr/>
                    <a:lstStyle/>
                    <a:p>
                      <a:pPr marL="0" indent="0" algn="l">
                        <a:buFont typeface="Arial" panose="020B0604020202020204" pitchFamily="34" charset="0"/>
                        <a:buNone/>
                      </a:pPr>
                      <a:r>
                        <a:rPr lang="en-US" sz="1200" b="0" kern="1200" dirty="0" smtClean="0">
                          <a:solidFill>
                            <a:schemeClr val="tx1"/>
                          </a:solidFill>
                          <a:effectLst/>
                          <a:latin typeface="+mn-lt"/>
                          <a:ea typeface="+mn-ea"/>
                          <a:cs typeface="+mn-cs"/>
                        </a:rPr>
                        <a:t>Hadoop</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is a Java</a:t>
                      </a:r>
                      <a:r>
                        <a:rPr lang="en-US" sz="1200" b="0" kern="1200" baseline="30000" dirty="0" smtClean="0">
                          <a:solidFill>
                            <a:schemeClr val="tx1"/>
                          </a:solidFill>
                          <a:effectLst/>
                          <a:latin typeface="+mn-lt"/>
                          <a:ea typeface="+mn-ea"/>
                          <a:cs typeface="+mn-cs"/>
                        </a:rPr>
                        <a:t>® </a:t>
                      </a:r>
                      <a:r>
                        <a:rPr lang="en-US" sz="1200" b="0" kern="1200" dirty="0" smtClean="0">
                          <a:solidFill>
                            <a:schemeClr val="tx1"/>
                          </a:solidFill>
                          <a:effectLst/>
                          <a:latin typeface="+mn-lt"/>
                          <a:ea typeface="+mn-ea"/>
                          <a:cs typeface="+mn-cs"/>
                        </a:rPr>
                        <a:t>-based, open source framework that supports the processing of large data sets. Hadoop</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Developers write map-reduce programs using Java</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Python</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and other technologies including Spark</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Hive</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HBase</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MapReduce, Pig, and so on.</a:t>
                      </a:r>
                      <a:endParaRPr lang="en-US" sz="1200" b="0" dirty="0">
                        <a:solidFill>
                          <a:schemeClr val="tx1"/>
                        </a:solidFill>
                      </a:endParaRPr>
                    </a:p>
                  </a:txBody>
                  <a:tcPr>
                    <a:solidFill>
                      <a:schemeClr val="bg1">
                        <a:lumMod val="95000"/>
                      </a:schemeClr>
                    </a:solidFill>
                  </a:tcPr>
                </a:tc>
              </a:tr>
              <a:tr h="370840">
                <a:tc>
                  <a:txBody>
                    <a:bodyPr/>
                    <a:lstStyle/>
                    <a:p>
                      <a:pPr marL="0" indent="0">
                        <a:buFont typeface="Arial" panose="020B0604020202020204" pitchFamily="34" charset="0"/>
                        <a:buNone/>
                      </a:pPr>
                      <a:r>
                        <a:rPr lang="en-US" sz="1200" b="1" kern="1200" dirty="0" smtClean="0">
                          <a:solidFill>
                            <a:schemeClr val="bg1"/>
                          </a:solidFill>
                          <a:effectLst/>
                          <a:latin typeface="+mn-lt"/>
                          <a:ea typeface="+mn-ea"/>
                          <a:cs typeface="+mn-cs"/>
                        </a:rPr>
                        <a:t>Visualization Tool Developers</a:t>
                      </a:r>
                      <a:endParaRPr lang="en-US" sz="1200" b="1" i="0" kern="1200" dirty="0" smtClean="0">
                        <a:solidFill>
                          <a:schemeClr val="bg1"/>
                        </a:solidFill>
                        <a:effectLst/>
                        <a:latin typeface="+mn-lt"/>
                        <a:ea typeface="+mn-ea"/>
                        <a:cs typeface="+mn-cs"/>
                      </a:endParaRPr>
                    </a:p>
                  </a:txBody>
                  <a:tcPr>
                    <a:solidFill>
                      <a:schemeClr val="accent2"/>
                    </a:solidFill>
                  </a:tcPr>
                </a:tc>
                <a:tc>
                  <a:txBody>
                    <a:bodyPr/>
                    <a:lstStyle/>
                    <a:p>
                      <a:pPr marL="0" indent="0" algn="l">
                        <a:buFont typeface="Arial" panose="020B0604020202020204" pitchFamily="34" charset="0"/>
                        <a:buNone/>
                      </a:pPr>
                      <a:r>
                        <a:rPr lang="en-US" sz="1200" b="0" kern="1200" dirty="0" smtClean="0">
                          <a:solidFill>
                            <a:schemeClr val="tx1"/>
                          </a:solidFill>
                          <a:effectLst/>
                          <a:latin typeface="+mn-lt"/>
                          <a:ea typeface="+mn-ea"/>
                          <a:cs typeface="+mn-cs"/>
                        </a:rPr>
                        <a:t>Massive amounts of data can prove challenging to analyze. Visualization</a:t>
                      </a:r>
                      <a:r>
                        <a:rPr lang="en-US" sz="1200" b="0" kern="1200" baseline="0" dirty="0" smtClean="0">
                          <a:solidFill>
                            <a:schemeClr val="tx1"/>
                          </a:solidFill>
                          <a:effectLst/>
                          <a:latin typeface="+mn-lt"/>
                          <a:ea typeface="+mn-ea"/>
                          <a:cs typeface="+mn-cs"/>
                        </a:rPr>
                        <a:t> Tool Developers create n</a:t>
                      </a:r>
                      <a:r>
                        <a:rPr lang="en-US" sz="1200" b="0" kern="1200" dirty="0" smtClean="0">
                          <a:solidFill>
                            <a:schemeClr val="tx1"/>
                          </a:solidFill>
                          <a:effectLst/>
                          <a:latin typeface="+mn-lt"/>
                          <a:ea typeface="+mn-ea"/>
                          <a:cs typeface="+mn-cs"/>
                        </a:rPr>
                        <a:t>ew types of visualization toolsets like </a:t>
                      </a:r>
                      <a:r>
                        <a:rPr lang="en-US" sz="1200" b="0" kern="1200" dirty="0" err="1" smtClean="0">
                          <a:solidFill>
                            <a:schemeClr val="tx1"/>
                          </a:solidFill>
                          <a:effectLst/>
                          <a:latin typeface="+mn-lt"/>
                          <a:ea typeface="+mn-ea"/>
                          <a:cs typeface="+mn-cs"/>
                        </a:rPr>
                        <a:t>Spotfire</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QlikView</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MicroStrategy</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Datameer</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Platfora</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IBM</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Insights,  and Tableau</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to allow for intuitive and speedy data probing.</a:t>
                      </a:r>
                      <a:endParaRPr lang="en-US" sz="1200" b="0" dirty="0">
                        <a:solidFill>
                          <a:schemeClr val="tx1"/>
                        </a:solidFill>
                      </a:endParaRPr>
                    </a:p>
                  </a:txBody>
                  <a:tcPr>
                    <a:solidFill>
                      <a:schemeClr val="bg1">
                        <a:lumMod val="95000"/>
                      </a:schemeClr>
                    </a:solidFill>
                  </a:tcPr>
                </a:tc>
              </a:tr>
              <a:tr h="370840">
                <a:tc>
                  <a:txBody>
                    <a:bodyPr/>
                    <a:lstStyle/>
                    <a:p>
                      <a:pPr marL="0" indent="0">
                        <a:buFont typeface="Arial" panose="020B0604020202020204" pitchFamily="34" charset="0"/>
                        <a:buNone/>
                      </a:pPr>
                      <a:r>
                        <a:rPr lang="en-US" sz="1200" b="1" i="0" kern="1200" dirty="0" smtClean="0">
                          <a:solidFill>
                            <a:schemeClr val="bg1"/>
                          </a:solidFill>
                          <a:effectLst/>
                          <a:latin typeface="+mn-lt"/>
                          <a:ea typeface="+mn-ea"/>
                          <a:cs typeface="+mn-cs"/>
                        </a:rPr>
                        <a:t>Data Scientists</a:t>
                      </a:r>
                    </a:p>
                  </a:txBody>
                  <a:tcPr>
                    <a:solidFill>
                      <a:schemeClr val="accent2"/>
                    </a:solidFill>
                  </a:tcPr>
                </a:tc>
                <a:tc>
                  <a:txBody>
                    <a:bodyPr/>
                    <a:lstStyle/>
                    <a:p>
                      <a:pPr marL="0" indent="0" algn="l">
                        <a:buFont typeface="Arial" panose="020B0604020202020204" pitchFamily="34" charset="0"/>
                        <a:buNone/>
                      </a:pPr>
                      <a:r>
                        <a:rPr lang="en-US" sz="1200" b="0" kern="1200" dirty="0" smtClean="0">
                          <a:solidFill>
                            <a:schemeClr val="tx1"/>
                          </a:solidFill>
                          <a:effectLst/>
                          <a:latin typeface="+mn-lt"/>
                          <a:ea typeface="+mn-ea"/>
                          <a:cs typeface="+mn-cs"/>
                        </a:rPr>
                        <a:t>Previously referred to as Data Architects who were a part of IT, the Data Scientist is a new breed of technology professional able to tie their data organization techniques into business value propositions. </a:t>
                      </a:r>
                      <a:endParaRPr lang="en-US" sz="1200" b="0" dirty="0">
                        <a:solidFill>
                          <a:schemeClr val="tx1"/>
                        </a:solidFill>
                      </a:endParaRPr>
                    </a:p>
                  </a:txBody>
                  <a:tcPr>
                    <a:solidFill>
                      <a:schemeClr val="bg1">
                        <a:lumMod val="95000"/>
                      </a:schemeClr>
                    </a:solidFill>
                  </a:tcPr>
                </a:tc>
              </a:tr>
              <a:tr h="370840">
                <a:tc>
                  <a:txBody>
                    <a:bodyPr/>
                    <a:lstStyle/>
                    <a:p>
                      <a:pPr marL="0" indent="0">
                        <a:buFont typeface="Arial" panose="020B0604020202020204" pitchFamily="34" charset="0"/>
                        <a:buNone/>
                      </a:pPr>
                      <a:r>
                        <a:rPr lang="en-US" sz="1200" b="1" i="0" kern="1200" dirty="0" smtClean="0">
                          <a:solidFill>
                            <a:schemeClr val="bg1"/>
                          </a:solidFill>
                          <a:effectLst/>
                          <a:latin typeface="+mn-lt"/>
                          <a:ea typeface="+mn-ea"/>
                          <a:cs typeface="+mn-cs"/>
                        </a:rPr>
                        <a:t>OLAP Developers</a:t>
                      </a:r>
                    </a:p>
                  </a:txBody>
                  <a:tcPr>
                    <a:solidFill>
                      <a:schemeClr val="accent2"/>
                    </a:solidFill>
                  </a:tcPr>
                </a:tc>
                <a:tc>
                  <a:txBody>
                    <a:bodyPr/>
                    <a:lstStyle/>
                    <a:p>
                      <a:pPr marL="0" indent="0" algn="l">
                        <a:buFont typeface="Arial" panose="020B0604020202020204" pitchFamily="34" charset="0"/>
                        <a:buNone/>
                      </a:pPr>
                      <a:r>
                        <a:rPr lang="en-US" sz="1200" b="0" kern="1200" dirty="0" smtClean="0">
                          <a:solidFill>
                            <a:schemeClr val="tx1"/>
                          </a:solidFill>
                          <a:effectLst/>
                          <a:latin typeface="+mn-lt"/>
                          <a:ea typeface="+mn-ea"/>
                          <a:cs typeface="+mn-cs"/>
                        </a:rPr>
                        <a:t>Online Analytical Processing (OLAP) Developers are experts in the optimization of data organization. This is the process of taking data from relational or non-structured data sources and creating dimensional models.</a:t>
                      </a:r>
                      <a:endParaRPr lang="en-US" sz="1200" b="0" dirty="0">
                        <a:solidFill>
                          <a:schemeClr val="tx1"/>
                        </a:solidFill>
                      </a:endParaRPr>
                    </a:p>
                  </a:txBody>
                  <a:tcPr>
                    <a:solidFill>
                      <a:schemeClr val="bg1">
                        <a:lumMod val="95000"/>
                      </a:schemeClr>
                    </a:solidFill>
                  </a:tcPr>
                </a:tc>
              </a:tr>
              <a:tr h="370840">
                <a:tc>
                  <a:txBody>
                    <a:bodyPr/>
                    <a:lstStyle/>
                    <a:p>
                      <a:pPr marL="0" indent="0">
                        <a:buFont typeface="Arial" panose="020B0604020202020204" pitchFamily="34" charset="0"/>
                        <a:buNone/>
                      </a:pPr>
                      <a:r>
                        <a:rPr lang="en-US" sz="1200" b="1" i="0" kern="1200" dirty="0" smtClean="0">
                          <a:solidFill>
                            <a:schemeClr val="bg1"/>
                          </a:solidFill>
                          <a:effectLst/>
                          <a:latin typeface="+mn-lt"/>
                          <a:ea typeface="+mn-ea"/>
                          <a:cs typeface="+mn-cs"/>
                        </a:rPr>
                        <a:t>Data Warehouse Appliance Specialist</a:t>
                      </a:r>
                    </a:p>
                  </a:txBody>
                  <a:tcPr>
                    <a:solidFill>
                      <a:schemeClr val="accent2"/>
                    </a:solidFill>
                  </a:tcPr>
                </a:tc>
                <a:tc>
                  <a:txBody>
                    <a:bodyPr/>
                    <a:lstStyle/>
                    <a:p>
                      <a:pPr marL="0" indent="0" algn="l">
                        <a:buFont typeface="Arial" panose="020B0604020202020204" pitchFamily="34" charset="0"/>
                        <a:buNone/>
                      </a:pPr>
                      <a:r>
                        <a:rPr lang="en-US" sz="1200" b="0" kern="1200" dirty="0" smtClean="0">
                          <a:solidFill>
                            <a:schemeClr val="tx1"/>
                          </a:solidFill>
                          <a:effectLst/>
                          <a:latin typeface="+mn-lt"/>
                          <a:ea typeface="+mn-ea"/>
                          <a:cs typeface="+mn-cs"/>
                        </a:rPr>
                        <a:t>Data Warehouse Appliance Specialists specialize in appliances such as Cloudera</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IBM® </a:t>
                      </a:r>
                      <a:r>
                        <a:rPr lang="en-US" sz="1200" b="0" kern="1200" dirty="0" err="1" smtClean="0">
                          <a:solidFill>
                            <a:schemeClr val="tx1"/>
                          </a:solidFill>
                          <a:effectLst/>
                          <a:latin typeface="+mn-lt"/>
                          <a:ea typeface="+mn-ea"/>
                          <a:cs typeface="+mn-cs"/>
                        </a:rPr>
                        <a:t>BigInsights</a:t>
                      </a:r>
                      <a:r>
                        <a:rPr lang="en-US" sz="1200" b="0" kern="1200" dirty="0" smtClean="0">
                          <a:solidFill>
                            <a:schemeClr val="tx1"/>
                          </a:solidFill>
                          <a:effectLst/>
                          <a:latin typeface="+mn-lt"/>
                          <a:ea typeface="+mn-ea"/>
                          <a:cs typeface="+mn-cs"/>
                        </a:rPr>
                        <a:t>™, Hortonworks</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MapReduce, Teradata</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a:t>
                      </a:r>
                      <a:r>
                        <a:rPr lang="en-US" sz="1200" b="0" kern="1200" dirty="0" err="1" smtClean="0">
                          <a:solidFill>
                            <a:schemeClr val="tx1"/>
                          </a:solidFill>
                          <a:effectLst/>
                          <a:latin typeface="+mn-lt"/>
                          <a:ea typeface="+mn-ea"/>
                          <a:cs typeface="+mn-cs"/>
                        </a:rPr>
                        <a:t>Netezza</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and </a:t>
                      </a:r>
                      <a:r>
                        <a:rPr lang="en-US" sz="1200" b="0" kern="1200" dirty="0" err="1" smtClean="0">
                          <a:solidFill>
                            <a:schemeClr val="tx1"/>
                          </a:solidFill>
                          <a:effectLst/>
                          <a:latin typeface="+mn-lt"/>
                          <a:ea typeface="+mn-ea"/>
                          <a:cs typeface="+mn-cs"/>
                        </a:rPr>
                        <a:t>Exadata</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The core responsibilities associated with this role include data integration, administration, and optimization of performance associated with these high-end machines. These special appliances are used in an organization to provide Massive Parallel Processing (MPP) by using optimized memory, disk, and data storage architectures specific to an analytics processing environment.</a:t>
                      </a:r>
                      <a:endParaRPr lang="en-US" sz="1200" b="0" dirty="0">
                        <a:solidFill>
                          <a:schemeClr val="tx1"/>
                        </a:solidFill>
                      </a:endParaRPr>
                    </a:p>
                  </a:txBody>
                  <a:tcPr>
                    <a:solidFill>
                      <a:schemeClr val="bg1">
                        <a:lumMod val="95000"/>
                      </a:schemeClr>
                    </a:solidFill>
                  </a:tcPr>
                </a:tc>
              </a:tr>
            </a:tbl>
          </a:graphicData>
        </a:graphic>
      </p:graphicFrame>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58</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236781840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613" y="123700"/>
            <a:ext cx="8688387" cy="1002979"/>
          </a:xfrm>
        </p:spPr>
        <p:txBody>
          <a:bodyPr/>
          <a:lstStyle/>
          <a:p>
            <a:r>
              <a:rPr lang="en-US" dirty="0" smtClean="0"/>
              <a:t>4.3 Big Data Roles (2/3)</a:t>
            </a:r>
            <a:endParaRPr lang="en-US" dirty="0"/>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graphicFrame>
        <p:nvGraphicFramePr>
          <p:cNvPr id="14" name="Table 13"/>
          <p:cNvGraphicFramePr>
            <a:graphicFrameLocks noGrp="1"/>
          </p:cNvGraphicFramePr>
          <p:nvPr>
            <p:extLst>
              <p:ext uri="{D42A27DB-BD31-4B8C-83A1-F6EECF244321}">
                <p14:modId xmlns:p14="http://schemas.microsoft.com/office/powerpoint/2010/main" val="2893783095"/>
              </p:ext>
            </p:extLst>
          </p:nvPr>
        </p:nvGraphicFramePr>
        <p:xfrm>
          <a:off x="455612" y="1371600"/>
          <a:ext cx="8232774" cy="4846320"/>
        </p:xfrm>
        <a:graphic>
          <a:graphicData uri="http://schemas.openxmlformats.org/drawingml/2006/table">
            <a:tbl>
              <a:tblPr firstRow="1" bandRow="1">
                <a:tableStyleId>{21E4AEA4-8DFA-4A89-87EB-49C32662AFE0}</a:tableStyleId>
              </a:tblPr>
              <a:tblGrid>
                <a:gridCol w="1787858"/>
                <a:gridCol w="6444916"/>
              </a:tblGrid>
              <a:tr h="370840">
                <a:tc>
                  <a:txBody>
                    <a:bodyPr/>
                    <a:lstStyle/>
                    <a:p>
                      <a:pPr marL="0" indent="0">
                        <a:buFont typeface="Arial" panose="020B0604020202020204" pitchFamily="34" charset="0"/>
                        <a:buNone/>
                      </a:pPr>
                      <a:r>
                        <a:rPr lang="en-US" sz="1200" b="1" i="0" kern="1200" dirty="0" smtClean="0">
                          <a:solidFill>
                            <a:schemeClr val="bg1"/>
                          </a:solidFill>
                          <a:effectLst/>
                          <a:latin typeface="+mn-lt"/>
                          <a:ea typeface="+mn-ea"/>
                          <a:cs typeface="+mn-cs"/>
                        </a:rPr>
                        <a:t>Predictive</a:t>
                      </a:r>
                      <a:r>
                        <a:rPr lang="en-US" sz="1200" b="1" i="0" kern="1200" baseline="0" dirty="0" smtClean="0">
                          <a:solidFill>
                            <a:schemeClr val="bg1"/>
                          </a:solidFill>
                          <a:effectLst/>
                          <a:latin typeface="+mn-lt"/>
                          <a:ea typeface="+mn-ea"/>
                          <a:cs typeface="+mn-cs"/>
                        </a:rPr>
                        <a:t> Analytics Developer</a:t>
                      </a:r>
                      <a:endParaRPr lang="en-US" sz="1200" b="1" i="0" kern="1200" dirty="0" smtClean="0">
                        <a:solidFill>
                          <a:schemeClr val="bg1"/>
                        </a:solidFill>
                        <a:effectLst/>
                        <a:latin typeface="+mn-lt"/>
                        <a:ea typeface="+mn-ea"/>
                        <a:cs typeface="+mn-cs"/>
                      </a:endParaRPr>
                    </a:p>
                  </a:txBody>
                  <a:tcPr>
                    <a:solidFill>
                      <a:schemeClr val="accent2"/>
                    </a:solidFill>
                  </a:tcPr>
                </a:tc>
                <a:tc>
                  <a:txBody>
                    <a:bodyPr/>
                    <a:lstStyle/>
                    <a:p>
                      <a:pPr marL="0" indent="0" algn="l">
                        <a:buFont typeface="Arial" panose="020B0604020202020204" pitchFamily="34" charset="0"/>
                        <a:buNone/>
                      </a:pPr>
                      <a:r>
                        <a:rPr lang="en-US" sz="1200" b="0" kern="1200" dirty="0" smtClean="0">
                          <a:solidFill>
                            <a:schemeClr val="tx1"/>
                          </a:solidFill>
                          <a:effectLst/>
                          <a:latin typeface="+mn-lt"/>
                          <a:ea typeface="+mn-ea"/>
                          <a:cs typeface="+mn-cs"/>
                        </a:rPr>
                        <a:t>Predictive analytics are used in marketing organizations to predict consumer behavior and target product audiences. Similar to the Data Scientist in the exploratory nature of what they do, Predictive Analytics Developers examine many "what if?" scenarios associated with an organization’s data. </a:t>
                      </a:r>
                      <a:endParaRPr lang="en-US" sz="1200" b="0" dirty="0">
                        <a:solidFill>
                          <a:schemeClr val="tx1"/>
                        </a:solidFill>
                      </a:endParaRPr>
                    </a:p>
                  </a:txBody>
                  <a:tcPr>
                    <a:solidFill>
                      <a:schemeClr val="bg1">
                        <a:lumMod val="95000"/>
                      </a:schemeClr>
                    </a:solidFill>
                  </a:tcPr>
                </a:tc>
              </a:tr>
              <a:tr h="370840">
                <a:tc>
                  <a:txBody>
                    <a:bodyPr/>
                    <a:lstStyle/>
                    <a:p>
                      <a:pPr marL="0" indent="0">
                        <a:buFont typeface="Arial" panose="020B0604020202020204" pitchFamily="34" charset="0"/>
                        <a:buNone/>
                      </a:pPr>
                      <a:r>
                        <a:rPr lang="en-US" sz="1200" b="1" i="0" kern="1200" dirty="0" smtClean="0">
                          <a:solidFill>
                            <a:schemeClr val="bg1"/>
                          </a:solidFill>
                          <a:effectLst/>
                          <a:latin typeface="+mn-lt"/>
                          <a:ea typeface="+mn-ea"/>
                          <a:cs typeface="+mn-cs"/>
                        </a:rPr>
                        <a:t>Informatio</a:t>
                      </a:r>
                      <a:r>
                        <a:rPr lang="en-US" sz="1200" b="1" i="0" kern="1200" baseline="0" dirty="0" smtClean="0">
                          <a:solidFill>
                            <a:schemeClr val="bg1"/>
                          </a:solidFill>
                          <a:effectLst/>
                          <a:latin typeface="+mn-lt"/>
                          <a:ea typeface="+mn-ea"/>
                          <a:cs typeface="+mn-cs"/>
                        </a:rPr>
                        <a:t>n Architect</a:t>
                      </a:r>
                      <a:endParaRPr lang="en-US" sz="1200" b="1" i="0" kern="1200" dirty="0" smtClean="0">
                        <a:solidFill>
                          <a:schemeClr val="bg1"/>
                        </a:solidFill>
                        <a:effectLst/>
                        <a:latin typeface="+mn-lt"/>
                        <a:ea typeface="+mn-ea"/>
                        <a:cs typeface="+mn-cs"/>
                      </a:endParaRPr>
                    </a:p>
                  </a:txBody>
                  <a:tcPr>
                    <a:solidFill>
                      <a:schemeClr val="accent2"/>
                    </a:solidFill>
                  </a:tcPr>
                </a:tc>
                <a:tc>
                  <a:txBody>
                    <a:bodyPr/>
                    <a:lstStyle/>
                    <a:p>
                      <a:pPr marL="0" indent="0" algn="l">
                        <a:buFont typeface="Arial" panose="020B0604020202020204" pitchFamily="34" charset="0"/>
                        <a:buNone/>
                      </a:pPr>
                      <a:r>
                        <a:rPr lang="en-US" sz="1200" b="0" kern="1200" dirty="0" smtClean="0">
                          <a:solidFill>
                            <a:schemeClr val="tx1"/>
                          </a:solidFill>
                          <a:effectLst/>
                          <a:latin typeface="+mn-lt"/>
                          <a:ea typeface="+mn-ea"/>
                          <a:cs typeface="+mn-cs"/>
                        </a:rPr>
                        <a:t>An Information Architect plans and designs websites and web applications to ensure a positive user experience. Their focus is on the target audience, the technologies used to create sites, and the actual site content. An Information Architect organizes information and design strategies using data from usability testing on how users interact with a company’s communications systems.</a:t>
                      </a:r>
                      <a:endParaRPr lang="en-US" sz="1200" b="0" dirty="0">
                        <a:solidFill>
                          <a:schemeClr val="tx1"/>
                        </a:solidFill>
                      </a:endParaRPr>
                    </a:p>
                  </a:txBody>
                  <a:tcPr>
                    <a:solidFill>
                      <a:schemeClr val="bg1">
                        <a:lumMod val="95000"/>
                      </a:schemeClr>
                    </a:solidFill>
                  </a:tcPr>
                </a:tc>
              </a:tr>
              <a:tr h="370840">
                <a:tc>
                  <a:txBody>
                    <a:bodyPr/>
                    <a:lstStyle/>
                    <a:p>
                      <a:pPr marL="0" indent="0">
                        <a:buFont typeface="Arial" panose="020B0604020202020204" pitchFamily="34" charset="0"/>
                        <a:buNone/>
                      </a:pPr>
                      <a:r>
                        <a:rPr lang="en-US" sz="1200" b="1" i="0" kern="1200" dirty="0" smtClean="0">
                          <a:solidFill>
                            <a:schemeClr val="bg1"/>
                          </a:solidFill>
                          <a:effectLst/>
                          <a:latin typeface="+mn-lt"/>
                          <a:ea typeface="+mn-ea"/>
                          <a:cs typeface="+mn-cs"/>
                        </a:rPr>
                        <a:t>Chief Data</a:t>
                      </a:r>
                      <a:r>
                        <a:rPr lang="en-US" sz="1200" b="1" i="0" kern="1200" baseline="0" dirty="0" smtClean="0">
                          <a:solidFill>
                            <a:schemeClr val="bg1"/>
                          </a:solidFill>
                          <a:effectLst/>
                          <a:latin typeface="+mn-lt"/>
                          <a:ea typeface="+mn-ea"/>
                          <a:cs typeface="+mn-cs"/>
                        </a:rPr>
                        <a:t> Officer</a:t>
                      </a:r>
                      <a:endParaRPr lang="en-US" sz="1200" b="1" i="0" kern="1200" dirty="0" smtClean="0">
                        <a:solidFill>
                          <a:schemeClr val="bg1"/>
                        </a:solidFill>
                        <a:effectLst/>
                        <a:latin typeface="+mn-lt"/>
                        <a:ea typeface="+mn-ea"/>
                        <a:cs typeface="+mn-cs"/>
                      </a:endParaRPr>
                    </a:p>
                  </a:txBody>
                  <a:tcPr>
                    <a:solidFill>
                      <a:schemeClr val="accent2"/>
                    </a:solidFill>
                  </a:tcPr>
                </a:tc>
                <a:tc>
                  <a:txBody>
                    <a:bodyPr/>
                    <a:lstStyle/>
                    <a:p>
                      <a:pPr marL="0" indent="0" algn="l">
                        <a:buFont typeface="Arial" panose="020B0604020202020204" pitchFamily="34" charset="0"/>
                        <a:buNone/>
                      </a:pPr>
                      <a:r>
                        <a:rPr lang="en-US" sz="1200" b="0" kern="1200" dirty="0" smtClean="0">
                          <a:solidFill>
                            <a:schemeClr val="tx1"/>
                          </a:solidFill>
                          <a:effectLst/>
                          <a:latin typeface="+mn-lt"/>
                          <a:ea typeface="+mn-ea"/>
                          <a:cs typeface="+mn-cs"/>
                        </a:rPr>
                        <a:t>A Chief Data Officer is responsible for enterprise-wide governance and the use of information as an asset through data processing, analysis, data mining, and information trading.</a:t>
                      </a:r>
                      <a:endParaRPr lang="en-US" sz="1200" b="0" dirty="0">
                        <a:solidFill>
                          <a:schemeClr val="tx1"/>
                        </a:solidFill>
                      </a:endParaRPr>
                    </a:p>
                  </a:txBody>
                  <a:tcPr>
                    <a:solidFill>
                      <a:schemeClr val="bg1">
                        <a:lumMod val="95000"/>
                      </a:schemeClr>
                    </a:solidFill>
                  </a:tcPr>
                </a:tc>
              </a:tr>
              <a:tr h="370840">
                <a:tc>
                  <a:txBody>
                    <a:bodyPr/>
                    <a:lstStyle/>
                    <a:p>
                      <a:pPr marL="0" indent="0">
                        <a:buFont typeface="Arial" panose="020B0604020202020204" pitchFamily="34" charset="0"/>
                        <a:buNone/>
                      </a:pPr>
                      <a:r>
                        <a:rPr lang="en-US" sz="1200" b="1" i="0" kern="1200" dirty="0" smtClean="0">
                          <a:solidFill>
                            <a:schemeClr val="bg1"/>
                          </a:solidFill>
                          <a:effectLst/>
                          <a:latin typeface="+mn-lt"/>
                          <a:ea typeface="+mn-ea"/>
                          <a:cs typeface="+mn-cs"/>
                        </a:rPr>
                        <a:t>Data Analyst</a:t>
                      </a:r>
                    </a:p>
                  </a:txBody>
                  <a:tcPr>
                    <a:solidFill>
                      <a:schemeClr val="accent2"/>
                    </a:solidFill>
                  </a:tcPr>
                </a:tc>
                <a:tc>
                  <a:txBody>
                    <a:bodyPr/>
                    <a:lstStyle/>
                    <a:p>
                      <a:pPr marL="0" indent="0" algn="l">
                        <a:buFont typeface="Arial" panose="020B0604020202020204" pitchFamily="34" charset="0"/>
                        <a:buNone/>
                      </a:pPr>
                      <a:r>
                        <a:rPr lang="en-US" sz="1200" b="0" kern="1200" dirty="0" smtClean="0">
                          <a:solidFill>
                            <a:schemeClr val="tx1"/>
                          </a:solidFill>
                          <a:effectLst/>
                          <a:latin typeface="+mn-lt"/>
                          <a:ea typeface="+mn-ea"/>
                          <a:cs typeface="+mn-cs"/>
                        </a:rPr>
                        <a:t>A Data Analyst coordinates with customers and staff and provides support for all data analysis. They perform data analysis on all results and prepare presentations for clients. </a:t>
                      </a:r>
                      <a:endParaRPr lang="en-US" sz="1200" b="0" dirty="0">
                        <a:solidFill>
                          <a:schemeClr val="tx1"/>
                        </a:solidFill>
                      </a:endParaRPr>
                    </a:p>
                  </a:txBody>
                  <a:tcPr>
                    <a:solidFill>
                      <a:schemeClr val="bg1">
                        <a:lumMod val="95000"/>
                      </a:schemeClr>
                    </a:solidFill>
                  </a:tcPr>
                </a:tc>
              </a:tr>
              <a:tr h="370840">
                <a:tc>
                  <a:txBody>
                    <a:bodyPr/>
                    <a:lstStyle/>
                    <a:p>
                      <a:pPr marL="0" indent="0">
                        <a:buFont typeface="Arial" panose="020B0604020202020204" pitchFamily="34" charset="0"/>
                        <a:buNone/>
                      </a:pPr>
                      <a:r>
                        <a:rPr lang="en-US" sz="1200" b="1" i="0" kern="1200" dirty="0" smtClean="0">
                          <a:solidFill>
                            <a:schemeClr val="bg1"/>
                          </a:solidFill>
                          <a:effectLst/>
                          <a:latin typeface="+mn-lt"/>
                          <a:ea typeface="+mn-ea"/>
                          <a:cs typeface="+mn-cs"/>
                        </a:rPr>
                        <a:t>Big Data Visualizer</a:t>
                      </a:r>
                    </a:p>
                  </a:txBody>
                  <a:tcPr>
                    <a:solidFill>
                      <a:schemeClr val="accent2"/>
                    </a:solidFill>
                  </a:tcPr>
                </a:tc>
                <a:tc>
                  <a:txBody>
                    <a:bodyPr/>
                    <a:lstStyle/>
                    <a:p>
                      <a:pPr marL="0" indent="0" algn="l">
                        <a:buFont typeface="Arial" panose="020B0604020202020204" pitchFamily="34" charset="0"/>
                        <a:buNone/>
                      </a:pPr>
                      <a:r>
                        <a:rPr lang="en-US" sz="1200" b="0" kern="1200" dirty="0" smtClean="0">
                          <a:solidFill>
                            <a:schemeClr val="tx1"/>
                          </a:solidFill>
                          <a:effectLst/>
                          <a:latin typeface="+mn-lt"/>
                          <a:ea typeface="+mn-ea"/>
                          <a:cs typeface="+mn-cs"/>
                        </a:rPr>
                        <a:t>Big Data Visualizer provide value-add analysis to organizations using visualization software to guide analysis, draw implications from analysis, and synthesize the information into clear communications. They understand how data flows within various systems to provide input on requirements for databases to ensure data is organized properly for reporting and analytics.</a:t>
                      </a:r>
                      <a:endParaRPr lang="en-US" sz="1200" b="0" dirty="0">
                        <a:solidFill>
                          <a:schemeClr val="tx1"/>
                        </a:solidFill>
                      </a:endParaRPr>
                    </a:p>
                  </a:txBody>
                  <a:tcPr>
                    <a:solidFill>
                      <a:schemeClr val="bg1">
                        <a:lumMod val="95000"/>
                      </a:schemeClr>
                    </a:solidFill>
                  </a:tcPr>
                </a:tc>
              </a:tr>
              <a:tr h="370840">
                <a:tc>
                  <a:txBody>
                    <a:bodyPr/>
                    <a:lstStyle/>
                    <a:p>
                      <a:pPr marL="0" indent="0">
                        <a:buFont typeface="Arial" panose="020B0604020202020204" pitchFamily="34" charset="0"/>
                        <a:buNone/>
                      </a:pPr>
                      <a:r>
                        <a:rPr lang="en-US" sz="1200" b="1" i="0" kern="1200" dirty="0" smtClean="0">
                          <a:solidFill>
                            <a:schemeClr val="bg1"/>
                          </a:solidFill>
                          <a:effectLst/>
                          <a:latin typeface="+mn-lt"/>
                          <a:ea typeface="+mn-ea"/>
                          <a:cs typeface="+mn-cs"/>
                        </a:rPr>
                        <a:t>Big Data Solutions Architect</a:t>
                      </a:r>
                    </a:p>
                  </a:txBody>
                  <a:tcPr>
                    <a:solidFill>
                      <a:schemeClr val="accent2"/>
                    </a:solidFill>
                  </a:tcPr>
                </a:tc>
                <a:tc>
                  <a:txBody>
                    <a:bodyPr/>
                    <a:lstStyle/>
                    <a:p>
                      <a:pPr marL="0" indent="0" algn="l">
                        <a:buFont typeface="Arial" panose="020B0604020202020204" pitchFamily="34" charset="0"/>
                        <a:buNone/>
                      </a:pPr>
                      <a:r>
                        <a:rPr lang="en-US" sz="1200" b="0" kern="1200" dirty="0" smtClean="0">
                          <a:solidFill>
                            <a:schemeClr val="tx1"/>
                          </a:solidFill>
                          <a:effectLst/>
                          <a:latin typeface="+mn-lt"/>
                          <a:ea typeface="+mn-ea"/>
                          <a:cs typeface="+mn-cs"/>
                        </a:rPr>
                        <a:t>A Big Data Solutions Architect guides the full life cycle of a Hadoop</a:t>
                      </a:r>
                      <a:r>
                        <a:rPr lang="en-US" sz="1200" b="0" kern="1200" baseline="30000" dirty="0" smtClean="0">
                          <a:solidFill>
                            <a:schemeClr val="tx1"/>
                          </a:solidFill>
                          <a:effectLst/>
                          <a:latin typeface="+mn-lt"/>
                          <a:ea typeface="+mn-ea"/>
                          <a:cs typeface="+mn-cs"/>
                        </a:rPr>
                        <a:t>®</a:t>
                      </a:r>
                      <a:r>
                        <a:rPr lang="en-US" sz="1200" b="0" kern="1200" dirty="0" smtClean="0">
                          <a:solidFill>
                            <a:schemeClr val="tx1"/>
                          </a:solidFill>
                          <a:effectLst/>
                          <a:latin typeface="+mn-lt"/>
                          <a:ea typeface="+mn-ea"/>
                          <a:cs typeface="+mn-cs"/>
                        </a:rPr>
                        <a:t> solution, including requirements analysis, platform selection, technical architecture design, application design and development, testing, and deployment. </a:t>
                      </a:r>
                      <a:endParaRPr lang="en-US" sz="1200" b="0" dirty="0">
                        <a:solidFill>
                          <a:schemeClr val="tx1"/>
                        </a:solidFill>
                      </a:endParaRPr>
                    </a:p>
                  </a:txBody>
                  <a:tcPr>
                    <a:solidFill>
                      <a:schemeClr val="bg1">
                        <a:lumMod val="95000"/>
                      </a:schemeClr>
                    </a:solidFill>
                  </a:tcPr>
                </a:tc>
              </a:tr>
              <a:tr h="370840">
                <a:tc>
                  <a:txBody>
                    <a:bodyPr/>
                    <a:lstStyle/>
                    <a:p>
                      <a:pPr marL="0" indent="0">
                        <a:buFont typeface="Arial" panose="020B0604020202020204" pitchFamily="34" charset="0"/>
                        <a:buNone/>
                      </a:pPr>
                      <a:r>
                        <a:rPr lang="en-US" sz="1200" b="1" i="0" kern="1200" dirty="0" smtClean="0">
                          <a:solidFill>
                            <a:schemeClr val="bg1"/>
                          </a:solidFill>
                          <a:effectLst/>
                          <a:latin typeface="+mn-lt"/>
                          <a:ea typeface="+mn-ea"/>
                          <a:cs typeface="+mn-cs"/>
                        </a:rPr>
                        <a:t>Big Data Engineer</a:t>
                      </a:r>
                    </a:p>
                  </a:txBody>
                  <a:tcPr>
                    <a:solidFill>
                      <a:schemeClr val="accent2"/>
                    </a:solidFill>
                  </a:tcPr>
                </a:tc>
                <a:tc>
                  <a:txBody>
                    <a:bodyPr/>
                    <a:lstStyle/>
                    <a:p>
                      <a:pPr marL="0" indent="0" algn="l">
                        <a:buFont typeface="Arial" panose="020B0604020202020204" pitchFamily="34" charset="0"/>
                        <a:buNone/>
                      </a:pPr>
                      <a:r>
                        <a:rPr lang="en-US" sz="1200" b="0" kern="1200" dirty="0" smtClean="0">
                          <a:solidFill>
                            <a:schemeClr val="tx1"/>
                          </a:solidFill>
                          <a:effectLst/>
                          <a:latin typeface="+mn-lt"/>
                          <a:ea typeface="+mn-ea"/>
                          <a:cs typeface="+mn-cs"/>
                        </a:rPr>
                        <a:t>Big Data Engineers design, build, and manage the information (Big Data) infrastructure. They develop the architecture to analyze and process data, and they ensure optimum performance of those systems.</a:t>
                      </a:r>
                      <a:endParaRPr lang="en-US" sz="1200" b="0" dirty="0">
                        <a:solidFill>
                          <a:schemeClr val="tx1"/>
                        </a:solidFill>
                      </a:endParaRPr>
                    </a:p>
                  </a:txBody>
                  <a:tcPr>
                    <a:solidFill>
                      <a:schemeClr val="bg1">
                        <a:lumMod val="95000"/>
                      </a:schemeClr>
                    </a:solidFill>
                  </a:tcPr>
                </a:tc>
              </a:tr>
            </a:tbl>
          </a:graphicData>
        </a:graphic>
      </p:graphicFrame>
      <p:sp>
        <p:nvSpPr>
          <p:cNvPr id="5"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59</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42134421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613" y="123700"/>
            <a:ext cx="8688387" cy="1002979"/>
          </a:xfrm>
        </p:spPr>
        <p:txBody>
          <a:bodyPr/>
          <a:lstStyle/>
          <a:p>
            <a:r>
              <a:rPr lang="en-US" dirty="0" smtClean="0"/>
              <a:t>4.3 Big Data Roles (3/3)</a:t>
            </a:r>
            <a:endParaRPr lang="en-US" dirty="0"/>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graphicFrame>
        <p:nvGraphicFramePr>
          <p:cNvPr id="14" name="Table 13"/>
          <p:cNvGraphicFramePr>
            <a:graphicFrameLocks noGrp="1"/>
          </p:cNvGraphicFramePr>
          <p:nvPr>
            <p:extLst>
              <p:ext uri="{D42A27DB-BD31-4B8C-83A1-F6EECF244321}">
                <p14:modId xmlns:p14="http://schemas.microsoft.com/office/powerpoint/2010/main" val="2926414227"/>
              </p:ext>
            </p:extLst>
          </p:nvPr>
        </p:nvGraphicFramePr>
        <p:xfrm>
          <a:off x="455612" y="1371600"/>
          <a:ext cx="8232774" cy="3383280"/>
        </p:xfrm>
        <a:graphic>
          <a:graphicData uri="http://schemas.openxmlformats.org/drawingml/2006/table">
            <a:tbl>
              <a:tblPr firstRow="1" bandRow="1">
                <a:tableStyleId>{21E4AEA4-8DFA-4A89-87EB-49C32662AFE0}</a:tableStyleId>
              </a:tblPr>
              <a:tblGrid>
                <a:gridCol w="1787858"/>
                <a:gridCol w="6444916"/>
              </a:tblGrid>
              <a:tr h="370840">
                <a:tc>
                  <a:txBody>
                    <a:bodyPr/>
                    <a:lstStyle/>
                    <a:p>
                      <a:pPr marL="0" indent="0">
                        <a:buFont typeface="Arial" panose="020B0604020202020204" pitchFamily="34" charset="0"/>
                        <a:buNone/>
                      </a:pPr>
                      <a:r>
                        <a:rPr lang="en-US" sz="1200" b="1" i="0" kern="1200" dirty="0" smtClean="0">
                          <a:solidFill>
                            <a:schemeClr val="bg1"/>
                          </a:solidFill>
                          <a:effectLst/>
                          <a:latin typeface="+mn-lt"/>
                          <a:ea typeface="+mn-ea"/>
                          <a:cs typeface="+mn-cs"/>
                        </a:rPr>
                        <a:t>Big Data Researcher</a:t>
                      </a:r>
                    </a:p>
                  </a:txBody>
                  <a:tcPr>
                    <a:solidFill>
                      <a:schemeClr val="accent2"/>
                    </a:solidFill>
                  </a:tcPr>
                </a:tc>
                <a:tc>
                  <a:txBody>
                    <a:bodyPr/>
                    <a:lstStyle/>
                    <a:p>
                      <a:pPr marL="0" indent="0" algn="l">
                        <a:buFont typeface="Arial" panose="020B0604020202020204" pitchFamily="34" charset="0"/>
                        <a:buNone/>
                      </a:pPr>
                      <a:r>
                        <a:rPr lang="en-US" sz="1200" b="0" kern="1200" dirty="0" smtClean="0">
                          <a:solidFill>
                            <a:schemeClr val="tx1"/>
                          </a:solidFill>
                          <a:effectLst/>
                          <a:latin typeface="+mn-lt"/>
                          <a:ea typeface="+mn-ea"/>
                          <a:cs typeface="+mn-cs"/>
                        </a:rPr>
                        <a:t>Big Data Researchers extract data from a variety of relational databases, and manipulate and explore data using quantitative, statistical, and visualization tools. They also inform the selection of modeling techniques to ensure that predictive models are developed using rigorous statistical processes.</a:t>
                      </a:r>
                      <a:endParaRPr lang="en-US" sz="1200" b="0" dirty="0">
                        <a:solidFill>
                          <a:schemeClr val="tx1"/>
                        </a:solidFill>
                      </a:endParaRPr>
                    </a:p>
                  </a:txBody>
                  <a:tcPr>
                    <a:solidFill>
                      <a:schemeClr val="bg1">
                        <a:lumMod val="95000"/>
                      </a:schemeClr>
                    </a:solidFill>
                  </a:tcPr>
                </a:tc>
              </a:tr>
              <a:tr h="370840">
                <a:tc>
                  <a:txBody>
                    <a:bodyPr/>
                    <a:lstStyle/>
                    <a:p>
                      <a:pPr marL="0" indent="0">
                        <a:buFont typeface="Arial" panose="020B0604020202020204" pitchFamily="34" charset="0"/>
                        <a:buNone/>
                      </a:pPr>
                      <a:r>
                        <a:rPr lang="en-US" sz="1200" b="1" i="0" kern="1200" dirty="0" smtClean="0">
                          <a:solidFill>
                            <a:schemeClr val="bg1"/>
                          </a:solidFill>
                          <a:effectLst/>
                          <a:latin typeface="+mn-lt"/>
                          <a:ea typeface="+mn-ea"/>
                          <a:cs typeface="+mn-cs"/>
                        </a:rPr>
                        <a:t>Data Warehouse Manager</a:t>
                      </a:r>
                    </a:p>
                  </a:txBody>
                  <a:tcPr>
                    <a:solidFill>
                      <a:schemeClr val="accent2"/>
                    </a:solidFill>
                  </a:tcPr>
                </a:tc>
                <a:tc>
                  <a:txBody>
                    <a:bodyPr/>
                    <a:lstStyle/>
                    <a:p>
                      <a:pPr marL="0" indent="0" algn="l">
                        <a:buFont typeface="Arial" panose="020B0604020202020204" pitchFamily="34" charset="0"/>
                        <a:buNone/>
                      </a:pPr>
                      <a:r>
                        <a:rPr lang="en-US" sz="1200" b="0" kern="1200" dirty="0" smtClean="0">
                          <a:solidFill>
                            <a:schemeClr val="tx1"/>
                          </a:solidFill>
                          <a:effectLst/>
                          <a:latin typeface="+mn-lt"/>
                          <a:ea typeface="+mn-ea"/>
                          <a:cs typeface="+mn-cs"/>
                        </a:rPr>
                        <a:t>A Data Warehouse Manager develops and implements information management strategies; coordinates and manages information management solutions; and manages all aspects of the warehouses such as data sourcing, migration, quality, design, and implementation. </a:t>
                      </a:r>
                      <a:endParaRPr lang="en-US" sz="1200" b="0" dirty="0">
                        <a:solidFill>
                          <a:schemeClr val="tx1"/>
                        </a:solidFill>
                      </a:endParaRPr>
                    </a:p>
                  </a:txBody>
                  <a:tcPr>
                    <a:solidFill>
                      <a:schemeClr val="bg1">
                        <a:lumMod val="95000"/>
                      </a:schemeClr>
                    </a:solidFill>
                  </a:tcPr>
                </a:tc>
              </a:tr>
              <a:tr h="370840">
                <a:tc>
                  <a:txBody>
                    <a:bodyPr/>
                    <a:lstStyle/>
                    <a:p>
                      <a:pPr marL="0" indent="0">
                        <a:buFont typeface="Arial" panose="020B0604020202020204" pitchFamily="34" charset="0"/>
                        <a:buNone/>
                      </a:pPr>
                      <a:r>
                        <a:rPr lang="en-US" sz="1200" b="1" i="0" kern="1200" dirty="0" smtClean="0">
                          <a:solidFill>
                            <a:schemeClr val="bg1"/>
                          </a:solidFill>
                          <a:effectLst/>
                          <a:latin typeface="+mn-lt"/>
                          <a:ea typeface="+mn-ea"/>
                          <a:cs typeface="+mn-cs"/>
                        </a:rPr>
                        <a:t>Data Architect</a:t>
                      </a:r>
                    </a:p>
                  </a:txBody>
                  <a:tcPr>
                    <a:solidFill>
                      <a:schemeClr val="accent2"/>
                    </a:solidFill>
                  </a:tcPr>
                </a:tc>
                <a:tc>
                  <a:txBody>
                    <a:bodyPr/>
                    <a:lstStyle/>
                    <a:p>
                      <a:pPr marL="0" indent="0" algn="l">
                        <a:buFont typeface="Arial" panose="020B0604020202020204" pitchFamily="34" charset="0"/>
                        <a:buNone/>
                      </a:pPr>
                      <a:r>
                        <a:rPr lang="en-US" sz="1200" b="0" kern="1200" dirty="0" smtClean="0">
                          <a:solidFill>
                            <a:schemeClr val="tx1"/>
                          </a:solidFill>
                          <a:effectLst/>
                          <a:latin typeface="+mn-lt"/>
                          <a:ea typeface="+mn-ea"/>
                          <a:cs typeface="+mn-cs"/>
                        </a:rPr>
                        <a:t>A Data Architect designs, creates, deploys, and manages an organization's data architecture. They define how the data will be stored, consumed, integrated, and managed by different data entities and IT systems, and any applications that use or process that data.</a:t>
                      </a:r>
                      <a:endParaRPr lang="en-US" sz="1200" b="0" dirty="0">
                        <a:solidFill>
                          <a:schemeClr val="tx1"/>
                        </a:solidFill>
                      </a:endParaRPr>
                    </a:p>
                  </a:txBody>
                  <a:tcPr>
                    <a:solidFill>
                      <a:schemeClr val="bg1">
                        <a:lumMod val="95000"/>
                      </a:schemeClr>
                    </a:solidFill>
                  </a:tcPr>
                </a:tc>
              </a:tr>
              <a:tr h="370840">
                <a:tc>
                  <a:txBody>
                    <a:bodyPr/>
                    <a:lstStyle/>
                    <a:p>
                      <a:pPr marL="0" indent="0">
                        <a:buFont typeface="Arial" panose="020B0604020202020204" pitchFamily="34" charset="0"/>
                        <a:buNone/>
                      </a:pPr>
                      <a:r>
                        <a:rPr lang="en-US" sz="1200" b="1" i="0" kern="1200" dirty="0" smtClean="0">
                          <a:solidFill>
                            <a:schemeClr val="bg1"/>
                          </a:solidFill>
                          <a:effectLst/>
                          <a:latin typeface="+mn-lt"/>
                          <a:ea typeface="+mn-ea"/>
                          <a:cs typeface="+mn-cs"/>
                        </a:rPr>
                        <a:t>Database Manager</a:t>
                      </a:r>
                    </a:p>
                  </a:txBody>
                  <a:tcPr>
                    <a:solidFill>
                      <a:schemeClr val="accent2"/>
                    </a:solidFill>
                  </a:tcPr>
                </a:tc>
                <a:tc>
                  <a:txBody>
                    <a:bodyPr/>
                    <a:lstStyle/>
                    <a:p>
                      <a:pPr marL="0" indent="0" algn="l">
                        <a:buFont typeface="Arial" panose="020B0604020202020204" pitchFamily="34" charset="0"/>
                        <a:buNone/>
                      </a:pPr>
                      <a:r>
                        <a:rPr lang="en-US" sz="1200" b="0" kern="1200" dirty="0" smtClean="0">
                          <a:solidFill>
                            <a:schemeClr val="tx1"/>
                          </a:solidFill>
                          <a:effectLst/>
                          <a:latin typeface="+mn-lt"/>
                          <a:ea typeface="+mn-ea"/>
                          <a:cs typeface="+mn-cs"/>
                        </a:rPr>
                        <a:t>A Database Manager determines how information is managed, organized, stored, and accessed. They improve the effectiveness of the database tools and services, ensure all data complies with legal regulations, </a:t>
                      </a:r>
                      <a:r>
                        <a:rPr lang="en-US" sz="1200" b="0" kern="1200" smtClean="0">
                          <a:solidFill>
                            <a:schemeClr val="tx1"/>
                          </a:solidFill>
                          <a:effectLst/>
                          <a:latin typeface="+mn-lt"/>
                          <a:ea typeface="+mn-ea"/>
                          <a:cs typeface="+mn-cs"/>
                        </a:rPr>
                        <a:t>and make </a:t>
                      </a:r>
                      <a:r>
                        <a:rPr lang="en-US" sz="1200" b="0" kern="1200" dirty="0" smtClean="0">
                          <a:solidFill>
                            <a:schemeClr val="tx1"/>
                          </a:solidFill>
                          <a:effectLst/>
                          <a:latin typeface="+mn-lt"/>
                          <a:ea typeface="+mn-ea"/>
                          <a:cs typeface="+mn-cs"/>
                        </a:rPr>
                        <a:t>sure the information is protected and backed-up.</a:t>
                      </a:r>
                      <a:endParaRPr lang="en-US" sz="1200" b="0" dirty="0">
                        <a:solidFill>
                          <a:schemeClr val="tx1"/>
                        </a:solidFill>
                      </a:endParaRPr>
                    </a:p>
                  </a:txBody>
                  <a:tcPr>
                    <a:solidFill>
                      <a:schemeClr val="bg1">
                        <a:lumMod val="95000"/>
                      </a:schemeClr>
                    </a:solidFill>
                  </a:tcPr>
                </a:tc>
              </a:tr>
              <a:tr h="370840">
                <a:tc>
                  <a:txBody>
                    <a:bodyPr/>
                    <a:lstStyle/>
                    <a:p>
                      <a:pPr marL="0" indent="0">
                        <a:buFont typeface="Arial" panose="020B0604020202020204" pitchFamily="34" charset="0"/>
                        <a:buNone/>
                      </a:pPr>
                      <a:r>
                        <a:rPr lang="en-US" sz="1200" b="1" i="0" kern="1200" dirty="0" smtClean="0">
                          <a:solidFill>
                            <a:schemeClr val="bg1"/>
                          </a:solidFill>
                          <a:effectLst/>
                          <a:latin typeface="+mn-lt"/>
                          <a:ea typeface="+mn-ea"/>
                          <a:cs typeface="+mn-cs"/>
                        </a:rPr>
                        <a:t>Business Intelligence Analyst</a:t>
                      </a:r>
                    </a:p>
                  </a:txBody>
                  <a:tcPr>
                    <a:solidFill>
                      <a:schemeClr val="accent2"/>
                    </a:solidFill>
                  </a:tcPr>
                </a:tc>
                <a:tc>
                  <a:txBody>
                    <a:bodyPr/>
                    <a:lstStyle/>
                    <a:p>
                      <a:pPr marL="0" indent="0" algn="l">
                        <a:buFont typeface="Arial" panose="020B0604020202020204" pitchFamily="34" charset="0"/>
                        <a:buNone/>
                      </a:pPr>
                      <a:r>
                        <a:rPr lang="en-US" sz="1200" b="0" kern="1200" dirty="0" smtClean="0">
                          <a:solidFill>
                            <a:schemeClr val="tx1"/>
                          </a:solidFill>
                          <a:effectLst/>
                          <a:latin typeface="+mn-lt"/>
                          <a:ea typeface="+mn-ea"/>
                          <a:cs typeface="+mn-cs"/>
                        </a:rPr>
                        <a:t>Business Intelligence Analysts gather data by using mining computer data and by looking at competitor data and industry trends to develop a picture of where the company stands in the industry, how they can improve, and where they can reduce costs.</a:t>
                      </a:r>
                      <a:endParaRPr lang="en-US" sz="1200" b="0" dirty="0">
                        <a:solidFill>
                          <a:schemeClr val="tx1"/>
                        </a:solidFill>
                      </a:endParaRPr>
                    </a:p>
                  </a:txBody>
                  <a:tcPr>
                    <a:solidFill>
                      <a:schemeClr val="bg1">
                        <a:lumMod val="95000"/>
                      </a:schemeClr>
                    </a:solidFill>
                  </a:tcPr>
                </a:tc>
              </a:tr>
            </a:tbl>
          </a:graphicData>
        </a:graphic>
      </p:graphicFrame>
      <p:sp>
        <p:nvSpPr>
          <p:cNvPr id="5"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60</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34499593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4.4 From Basic Analytics to Big Data Analytics</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Big Data analytics is an augmentation to an existing analytical infrastructure that allows organizations to scale and drive insights above and beyond current capabilities. </a:t>
            </a:r>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387" y="2238375"/>
            <a:ext cx="8277225" cy="2381250"/>
          </a:xfrm>
          <a:prstGeom prst="rect">
            <a:avLst/>
          </a:prstGeom>
        </p:spPr>
      </p:pic>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61</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85731316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613" y="123700"/>
            <a:ext cx="8688387" cy="1002979"/>
          </a:xfrm>
        </p:spPr>
        <p:txBody>
          <a:bodyPr/>
          <a:lstStyle/>
          <a:p>
            <a:r>
              <a:rPr lang="en-US" dirty="0" smtClean="0"/>
              <a:t>4.5 Big Data Analytics</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Big Data Analytics has certain features that are not part of traditional analytics. </a:t>
            </a:r>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graphicFrame>
        <p:nvGraphicFramePr>
          <p:cNvPr id="14" name="Table 13"/>
          <p:cNvGraphicFramePr>
            <a:graphicFrameLocks noGrp="1"/>
          </p:cNvGraphicFramePr>
          <p:nvPr>
            <p:extLst>
              <p:ext uri="{D42A27DB-BD31-4B8C-83A1-F6EECF244321}">
                <p14:modId xmlns:p14="http://schemas.microsoft.com/office/powerpoint/2010/main" val="2351064381"/>
              </p:ext>
            </p:extLst>
          </p:nvPr>
        </p:nvGraphicFramePr>
        <p:xfrm>
          <a:off x="455612" y="2023112"/>
          <a:ext cx="8232774" cy="1524000"/>
        </p:xfrm>
        <a:graphic>
          <a:graphicData uri="http://schemas.openxmlformats.org/drawingml/2006/table">
            <a:tbl>
              <a:tblPr firstRow="1" bandRow="1">
                <a:tableStyleId>{21E4AEA4-8DFA-4A89-87EB-49C32662AFE0}</a:tableStyleId>
              </a:tblPr>
              <a:tblGrid>
                <a:gridCol w="2744258"/>
                <a:gridCol w="2744258"/>
                <a:gridCol w="2744258"/>
              </a:tblGrid>
              <a:tr h="370840">
                <a:tc>
                  <a:txBody>
                    <a:bodyPr/>
                    <a:lstStyle/>
                    <a:p>
                      <a:pPr algn="ctr"/>
                      <a:r>
                        <a:rPr lang="en-US" sz="1400" dirty="0" smtClean="0"/>
                        <a:t>Distributed Batch Execution Frameworks</a:t>
                      </a:r>
                      <a:endParaRPr lang="en-US" sz="1400" dirty="0"/>
                    </a:p>
                  </a:txBody>
                  <a:tcPr/>
                </a:tc>
                <a:tc>
                  <a:txBody>
                    <a:bodyPr/>
                    <a:lstStyle/>
                    <a:p>
                      <a:pPr algn="ctr"/>
                      <a:r>
                        <a:rPr lang="en-US" sz="1400" dirty="0" smtClean="0"/>
                        <a:t>Real-Time Metrics and</a:t>
                      </a:r>
                      <a:r>
                        <a:rPr lang="en-US" sz="1400" baseline="0" dirty="0" smtClean="0"/>
                        <a:t> Trends</a:t>
                      </a:r>
                      <a:endParaRPr lang="en-US" sz="1400" dirty="0"/>
                    </a:p>
                  </a:txBody>
                  <a:tcPr/>
                </a:tc>
                <a:tc>
                  <a:txBody>
                    <a:bodyPr/>
                    <a:lstStyle/>
                    <a:p>
                      <a:pPr algn="ctr"/>
                      <a:r>
                        <a:rPr lang="en-US" sz="1400" dirty="0" smtClean="0"/>
                        <a:t>Large-Scale Machine Learning</a:t>
                      </a:r>
                      <a:endParaRPr lang="en-US" sz="1400" dirty="0"/>
                    </a:p>
                  </a:txBody>
                  <a:tcPr/>
                </a:tc>
              </a:tr>
              <a:tr h="370840">
                <a:tc>
                  <a:txBody>
                    <a:bodyPr/>
                    <a:lstStyle/>
                    <a:p>
                      <a:pPr marL="228600" lvl="0" indent="-228600">
                        <a:buFont typeface="Arial" panose="020B0604020202020204" pitchFamily="34" charset="0"/>
                        <a:buChar char="•"/>
                      </a:pPr>
                      <a:r>
                        <a:rPr lang="en-US" sz="1200" kern="1200" dirty="0" smtClean="0">
                          <a:solidFill>
                            <a:schemeClr val="dk1"/>
                          </a:solidFill>
                          <a:effectLst/>
                          <a:latin typeface="+mn-lt"/>
                          <a:ea typeface="+mn-ea"/>
                          <a:cs typeface="+mn-cs"/>
                        </a:rPr>
                        <a:t>Rescoring</a:t>
                      </a:r>
                    </a:p>
                    <a:p>
                      <a:pPr marL="228600" lvl="0" indent="-228600">
                        <a:buFont typeface="Arial" panose="020B0604020202020204" pitchFamily="34" charset="0"/>
                        <a:buChar char="•"/>
                      </a:pPr>
                      <a:r>
                        <a:rPr lang="en-US" sz="1200" kern="1200" dirty="0" smtClean="0">
                          <a:solidFill>
                            <a:schemeClr val="dk1"/>
                          </a:solidFill>
                          <a:effectLst/>
                          <a:latin typeface="+mn-lt"/>
                          <a:ea typeface="+mn-ea"/>
                          <a:cs typeface="+mn-cs"/>
                        </a:rPr>
                        <a:t>Large-scale queries</a:t>
                      </a:r>
                    </a:p>
                    <a:p>
                      <a:pPr marL="228600" lvl="0" indent="-228600">
                        <a:buFont typeface="Arial" panose="020B0604020202020204" pitchFamily="34" charset="0"/>
                        <a:buChar char="•"/>
                      </a:pPr>
                      <a:r>
                        <a:rPr lang="en-US" sz="1200" kern="1200" dirty="0" smtClean="0">
                          <a:solidFill>
                            <a:schemeClr val="dk1"/>
                          </a:solidFill>
                          <a:effectLst/>
                          <a:latin typeface="+mn-lt"/>
                          <a:ea typeface="+mn-ea"/>
                          <a:cs typeface="+mn-cs"/>
                        </a:rPr>
                        <a:t>Central data archive</a:t>
                      </a:r>
                    </a:p>
                    <a:p>
                      <a:pPr marL="228600" lvl="0" indent="-228600">
                        <a:buFont typeface="Arial" panose="020B0604020202020204" pitchFamily="34" charset="0"/>
                        <a:buChar char="•"/>
                      </a:pPr>
                      <a:r>
                        <a:rPr lang="en-US" sz="1200" kern="1200" dirty="0" smtClean="0">
                          <a:solidFill>
                            <a:schemeClr val="dk1"/>
                          </a:solidFill>
                          <a:effectLst/>
                          <a:latin typeface="+mn-lt"/>
                          <a:ea typeface="+mn-ea"/>
                          <a:cs typeface="+mn-cs"/>
                        </a:rPr>
                        <a:t>Data agility (structured and unstructured data)</a:t>
                      </a:r>
                      <a:endParaRPr lang="en-US" sz="1200" kern="1200" dirty="0">
                        <a:solidFill>
                          <a:schemeClr val="dk1"/>
                        </a:solidFill>
                        <a:effectLst/>
                        <a:latin typeface="+mn-lt"/>
                        <a:ea typeface="+mn-ea"/>
                        <a:cs typeface="+mn-cs"/>
                      </a:endParaRPr>
                    </a:p>
                  </a:txBody>
                  <a:tcPr>
                    <a:solidFill>
                      <a:schemeClr val="bg1">
                        <a:lumMod val="95000"/>
                      </a:schemeClr>
                    </a:solidFill>
                  </a:tcPr>
                </a:tc>
                <a:tc>
                  <a:txBody>
                    <a:bodyPr/>
                    <a:lstStyle/>
                    <a:p>
                      <a:pPr marL="228600" lvl="0" indent="-228600">
                        <a:buFont typeface="Arial" panose="020B0604020202020204" pitchFamily="34" charset="0"/>
                        <a:buChar char="•"/>
                      </a:pPr>
                      <a:r>
                        <a:rPr lang="en-US" sz="1200" kern="1200" dirty="0" smtClean="0">
                          <a:solidFill>
                            <a:schemeClr val="dk1"/>
                          </a:solidFill>
                          <a:effectLst/>
                          <a:latin typeface="+mn-lt"/>
                          <a:ea typeface="+mn-ea"/>
                          <a:cs typeface="+mn-cs"/>
                        </a:rPr>
                        <a:t>Real-time recommendations</a:t>
                      </a:r>
                    </a:p>
                    <a:p>
                      <a:pPr marL="228600" lvl="0" indent="-228600">
                        <a:buFont typeface="Arial" panose="020B0604020202020204" pitchFamily="34" charset="0"/>
                        <a:buChar char="•"/>
                      </a:pPr>
                      <a:r>
                        <a:rPr lang="en-US" sz="1200" kern="1200" dirty="0" smtClean="0">
                          <a:solidFill>
                            <a:schemeClr val="dk1"/>
                          </a:solidFill>
                          <a:effectLst/>
                          <a:latin typeface="+mn-lt"/>
                          <a:ea typeface="+mn-ea"/>
                          <a:cs typeface="+mn-cs"/>
                        </a:rPr>
                        <a:t>Real-time offers</a:t>
                      </a:r>
                    </a:p>
                    <a:p>
                      <a:pPr marL="228600" lvl="0" indent="-228600">
                        <a:buFont typeface="Arial" panose="020B0604020202020204" pitchFamily="34" charset="0"/>
                        <a:buChar char="•"/>
                      </a:pPr>
                      <a:r>
                        <a:rPr lang="en-US" sz="1200" kern="1200" dirty="0" smtClean="0">
                          <a:solidFill>
                            <a:schemeClr val="dk1"/>
                          </a:solidFill>
                          <a:effectLst/>
                          <a:latin typeface="+mn-lt"/>
                          <a:ea typeface="+mn-ea"/>
                          <a:cs typeface="+mn-cs"/>
                        </a:rPr>
                        <a:t>Real-time optimizations</a:t>
                      </a:r>
                      <a:endParaRPr lang="en-US" sz="1200" kern="1200" dirty="0">
                        <a:solidFill>
                          <a:schemeClr val="dk1"/>
                        </a:solidFill>
                        <a:effectLst/>
                        <a:latin typeface="+mn-lt"/>
                        <a:ea typeface="+mn-ea"/>
                        <a:cs typeface="+mn-cs"/>
                      </a:endParaRPr>
                    </a:p>
                  </a:txBody>
                  <a:tcPr>
                    <a:solidFill>
                      <a:schemeClr val="bg1">
                        <a:lumMod val="95000"/>
                      </a:schemeClr>
                    </a:solidFill>
                  </a:tcPr>
                </a:tc>
                <a:tc>
                  <a:txBody>
                    <a:bodyPr/>
                    <a:lstStyle/>
                    <a:p>
                      <a:pPr marL="228600" lvl="0" indent="-228600">
                        <a:buFont typeface="Arial" panose="020B0604020202020204" pitchFamily="34" charset="0"/>
                        <a:buChar char="•"/>
                      </a:pPr>
                      <a:r>
                        <a:rPr lang="en-US" sz="1200" kern="1200" dirty="0" smtClean="0">
                          <a:solidFill>
                            <a:schemeClr val="dk1"/>
                          </a:solidFill>
                          <a:effectLst/>
                          <a:latin typeface="+mn-lt"/>
                          <a:ea typeface="+mn-ea"/>
                          <a:cs typeface="+mn-cs"/>
                        </a:rPr>
                        <a:t>Explore large datasets</a:t>
                      </a:r>
                    </a:p>
                    <a:p>
                      <a:pPr marL="228600" lvl="0" indent="-228600">
                        <a:buFont typeface="Arial" panose="020B0604020202020204" pitchFamily="34" charset="0"/>
                        <a:buChar char="•"/>
                      </a:pPr>
                      <a:r>
                        <a:rPr lang="en-US" sz="1200" kern="1200" dirty="0" smtClean="0">
                          <a:solidFill>
                            <a:schemeClr val="dk1"/>
                          </a:solidFill>
                          <a:effectLst/>
                          <a:latin typeface="+mn-lt"/>
                          <a:ea typeface="+mn-ea"/>
                          <a:cs typeface="+mn-cs"/>
                        </a:rPr>
                        <a:t>Extraction from millions of features</a:t>
                      </a:r>
                    </a:p>
                    <a:p>
                      <a:pPr marL="228600" indent="-228600">
                        <a:buFont typeface="Arial" panose="020B0604020202020204" pitchFamily="34" charset="0"/>
                        <a:buChar char="•"/>
                      </a:pPr>
                      <a:r>
                        <a:rPr lang="en-US" sz="1200" kern="1200" dirty="0" smtClean="0">
                          <a:solidFill>
                            <a:schemeClr val="dk1"/>
                          </a:solidFill>
                          <a:effectLst/>
                          <a:latin typeface="+mn-lt"/>
                          <a:ea typeface="+mn-ea"/>
                          <a:cs typeface="+mn-cs"/>
                        </a:rPr>
                        <a:t>Large-scale models</a:t>
                      </a:r>
                      <a:endParaRPr lang="en-US" sz="1200" dirty="0"/>
                    </a:p>
                  </a:txBody>
                  <a:tcPr>
                    <a:solidFill>
                      <a:schemeClr val="bg1">
                        <a:lumMod val="95000"/>
                      </a:schemeClr>
                    </a:solidFill>
                  </a:tcPr>
                </a:tc>
              </a:tr>
            </a:tbl>
          </a:graphicData>
        </a:graphic>
      </p:graphicFrame>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dirty="0" smtClean="0">
                <a:solidFill>
                  <a:srgbClr val="666666"/>
                </a:solidFill>
                <a:latin typeface="+mn-lt"/>
                <a:cs typeface="Arial" pitchFamily="34" charset="0"/>
              </a:rPr>
              <a:t>62</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51019663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4.6 Comparing Traditional and Big Data Analytics</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Traditional analytics is the activity of discovering data insights. Big Data analytics</a:t>
            </a:r>
            <a:r>
              <a:rPr lang="en-US" sz="1200" b="1" dirty="0"/>
              <a:t> </a:t>
            </a:r>
            <a:r>
              <a:rPr lang="en-US" sz="1200" dirty="0"/>
              <a:t>is the activity of exploring, discovering, and sharing insights in poly-structured data regardless of size, location, or incoming speed.</a:t>
            </a:r>
          </a:p>
          <a:p>
            <a:pPr marL="0" indent="0">
              <a:buNone/>
            </a:pPr>
            <a:endParaRPr lang="en-US" sz="1200" dirty="0"/>
          </a:p>
          <a:p>
            <a:r>
              <a:rPr lang="en-US" sz="1200" dirty="0"/>
              <a:t>Consult the table below to learn more about the differences between traditional and Big Data analytics.</a:t>
            </a:r>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graphicFrame>
        <p:nvGraphicFramePr>
          <p:cNvPr id="14" name="Table 13"/>
          <p:cNvGraphicFramePr>
            <a:graphicFrameLocks noGrp="1"/>
          </p:cNvGraphicFramePr>
          <p:nvPr>
            <p:extLst>
              <p:ext uri="{D42A27DB-BD31-4B8C-83A1-F6EECF244321}">
                <p14:modId xmlns:p14="http://schemas.microsoft.com/office/powerpoint/2010/main" val="1304470028"/>
              </p:ext>
            </p:extLst>
          </p:nvPr>
        </p:nvGraphicFramePr>
        <p:xfrm>
          <a:off x="455613" y="2207471"/>
          <a:ext cx="8128830" cy="2894584"/>
        </p:xfrm>
        <a:graphic>
          <a:graphicData uri="http://schemas.openxmlformats.org/drawingml/2006/table">
            <a:tbl>
              <a:tblPr firstRow="1" bandRow="1">
                <a:tableStyleId>{21E4AEA4-8DFA-4A89-87EB-49C32662AFE0}</a:tableStyleId>
              </a:tblPr>
              <a:tblGrid>
                <a:gridCol w="4064415"/>
                <a:gridCol w="4064415"/>
              </a:tblGrid>
              <a:tr h="370840">
                <a:tc>
                  <a:txBody>
                    <a:bodyPr/>
                    <a:lstStyle/>
                    <a:p>
                      <a:pPr algn="ctr"/>
                      <a:r>
                        <a:rPr lang="en-US" sz="1600" dirty="0" smtClean="0"/>
                        <a:t>Traditional Analytics</a:t>
                      </a:r>
                      <a:endParaRPr lang="en-US" sz="1600" dirty="0"/>
                    </a:p>
                  </a:txBody>
                  <a:tcPr/>
                </a:tc>
                <a:tc>
                  <a:txBody>
                    <a:bodyPr/>
                    <a:lstStyle/>
                    <a:p>
                      <a:pPr algn="ctr"/>
                      <a:r>
                        <a:rPr lang="en-US" sz="1600" dirty="0" smtClean="0"/>
                        <a:t>Big Data Analytics</a:t>
                      </a:r>
                      <a:endParaRPr lang="en-US" sz="1600" dirty="0"/>
                    </a:p>
                  </a:txBody>
                  <a:tcPr/>
                </a:tc>
              </a:tr>
              <a:tr h="370840">
                <a:tc>
                  <a:txBody>
                    <a:bodyPr/>
                    <a:lstStyle/>
                    <a:p>
                      <a:pPr marL="0" marR="0" algn="ctr">
                        <a:lnSpc>
                          <a:spcPct val="115000"/>
                        </a:lnSpc>
                        <a:spcBef>
                          <a:spcPts val="0"/>
                        </a:spcBef>
                        <a:spcAft>
                          <a:spcPts val="0"/>
                        </a:spcAft>
                      </a:pPr>
                      <a:r>
                        <a:rPr lang="en-US" sz="1200" dirty="0">
                          <a:effectLst/>
                          <a:latin typeface="Arial" panose="020B0604020202020204" pitchFamily="34" charset="0"/>
                          <a:ea typeface="Times New Roman" panose="02020603050405020304" pitchFamily="18" charset="0"/>
                        </a:rPr>
                        <a:t>Structured, Centralized, Controlled</a:t>
                      </a: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c>
                  <a:txBody>
                    <a:bodyPr/>
                    <a:lstStyle/>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Poly-Structured, Distributed, Low Control</a:t>
                      </a:r>
                      <a:endParaRPr lang="en-US" sz="1200">
                        <a:effectLst/>
                        <a:latin typeface="Times New Roman" panose="02020603050405020304" pitchFamily="18" charset="0"/>
                        <a:ea typeface="Times New Roman" panose="02020603050405020304" pitchFamily="18" charset="0"/>
                      </a:endParaRPr>
                    </a:p>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r>
              <a:tr h="370840">
                <a:tc>
                  <a:txBody>
                    <a:bodyPr/>
                    <a:lstStyle/>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Curated, Summarized, Sampled</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c>
                  <a:txBody>
                    <a:bodyPr/>
                    <a:lstStyle/>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No Pre-Defined Relations, Complex, Deep</a:t>
                      </a:r>
                      <a:endParaRPr lang="en-US" sz="1200">
                        <a:effectLst/>
                        <a:latin typeface="Times New Roman" panose="02020603050405020304" pitchFamily="18" charset="0"/>
                        <a:ea typeface="Times New Roman" panose="02020603050405020304" pitchFamily="18" charset="0"/>
                      </a:endParaRPr>
                    </a:p>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r>
              <a:tr h="370840">
                <a:tc>
                  <a:txBody>
                    <a:bodyPr/>
                    <a:lstStyle/>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Contained and Predictable</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c>
                  <a:txBody>
                    <a:bodyPr/>
                    <a:lstStyle/>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Experimental and Exploratory</a:t>
                      </a:r>
                      <a:endParaRPr lang="en-US" sz="1200">
                        <a:effectLst/>
                        <a:latin typeface="Times New Roman" panose="02020603050405020304" pitchFamily="18" charset="0"/>
                        <a:ea typeface="Times New Roman" panose="02020603050405020304" pitchFamily="18" charset="0"/>
                      </a:endParaRPr>
                    </a:p>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r>
              <a:tr h="370840">
                <a:tc>
                  <a:txBody>
                    <a:bodyPr/>
                    <a:lstStyle/>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Hierarchical Organization, Process-Driven</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c>
                  <a:txBody>
                    <a:bodyPr/>
                    <a:lstStyle/>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Flat Hybrid Organization, Self-Serve</a:t>
                      </a:r>
                      <a:endParaRPr lang="en-US" sz="1200">
                        <a:effectLst/>
                        <a:latin typeface="Times New Roman" panose="02020603050405020304" pitchFamily="18" charset="0"/>
                        <a:ea typeface="Times New Roman" panose="02020603050405020304" pitchFamily="18" charset="0"/>
                      </a:endParaRPr>
                    </a:p>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r>
              <a:tr h="370840">
                <a:tc>
                  <a:txBody>
                    <a:bodyPr/>
                    <a:lstStyle/>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Proprietary, Expensive</a:t>
                      </a:r>
                      <a:endParaRPr lang="en-US" sz="1200">
                        <a:effectLst/>
                        <a:latin typeface="Times New Roman" panose="02020603050405020304" pitchFamily="18" charset="0"/>
                        <a:ea typeface="Times New Roman" panose="02020603050405020304" pitchFamily="18" charset="0"/>
                      </a:endParaRPr>
                    </a:p>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c>
                  <a:txBody>
                    <a:bodyPr/>
                    <a:lstStyle/>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Open Sourced, Cost Smart</a:t>
                      </a:r>
                      <a:endParaRPr lang="en-US" sz="1200">
                        <a:effectLst/>
                        <a:latin typeface="Times New Roman" panose="02020603050405020304" pitchFamily="18" charset="0"/>
                        <a:ea typeface="Times New Roman" panose="02020603050405020304" pitchFamily="18" charset="0"/>
                      </a:endParaRPr>
                    </a:p>
                    <a:p>
                      <a:pPr marL="0" marR="0" algn="ctr">
                        <a:lnSpc>
                          <a:spcPct val="115000"/>
                        </a:lnSpc>
                        <a:spcBef>
                          <a:spcPts val="0"/>
                        </a:spcBef>
                        <a:spcAft>
                          <a:spcPts val="0"/>
                        </a:spcAft>
                      </a:pPr>
                      <a:r>
                        <a:rPr lang="en-US" sz="1200">
                          <a:effectLst/>
                          <a:latin typeface="Arial" panose="020B0604020202020204" pitchFamily="34" charset="0"/>
                          <a:ea typeface="Times New Roman" panose="02020603050405020304" pitchFamily="18" charset="0"/>
                        </a:rPr>
                        <a:t> </a:t>
                      </a:r>
                      <a:endParaRPr lang="en-US" sz="120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r>
              <a:tr h="370840">
                <a:tc>
                  <a:txBody>
                    <a:bodyPr/>
                    <a:lstStyle/>
                    <a:p>
                      <a:pPr marL="0" marR="0" algn="ctr">
                        <a:lnSpc>
                          <a:spcPct val="115000"/>
                        </a:lnSpc>
                        <a:spcBef>
                          <a:spcPts val="0"/>
                        </a:spcBef>
                        <a:spcAft>
                          <a:spcPts val="0"/>
                        </a:spcAft>
                      </a:pPr>
                      <a:r>
                        <a:rPr lang="en-US" sz="1200" dirty="0">
                          <a:effectLst/>
                          <a:latin typeface="Arial" panose="020B0604020202020204" pitchFamily="34" charset="0"/>
                          <a:ea typeface="Times New Roman" panose="02020603050405020304" pitchFamily="18" charset="0"/>
                        </a:rPr>
                        <a:t>Data Movement, Batch-Oriented</a:t>
                      </a:r>
                      <a:endParaRPr lang="en-US" sz="1200" dirty="0">
                        <a:effectLst/>
                        <a:latin typeface="Times New Roman" panose="02020603050405020304" pitchFamily="18" charset="0"/>
                        <a:ea typeface="Times New Roman" panose="02020603050405020304" pitchFamily="18" charset="0"/>
                      </a:endParaRPr>
                    </a:p>
                    <a:p>
                      <a:pPr marL="0" marR="0" algn="ctr">
                        <a:lnSpc>
                          <a:spcPct val="115000"/>
                        </a:lnSpc>
                        <a:spcBef>
                          <a:spcPts val="0"/>
                        </a:spcBef>
                        <a:spcAft>
                          <a:spcPts val="0"/>
                        </a:spcAft>
                      </a:pPr>
                      <a:r>
                        <a:rPr lang="en-US" sz="1200" dirty="0">
                          <a:effectLst/>
                          <a:latin typeface="Arial" panose="020B0604020202020204" pitchFamily="34"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c>
                  <a:txBody>
                    <a:bodyPr/>
                    <a:lstStyle/>
                    <a:p>
                      <a:pPr marL="0" marR="0" algn="ctr">
                        <a:lnSpc>
                          <a:spcPct val="115000"/>
                        </a:lnSpc>
                        <a:spcBef>
                          <a:spcPts val="0"/>
                        </a:spcBef>
                        <a:spcAft>
                          <a:spcPts val="0"/>
                        </a:spcAft>
                      </a:pPr>
                      <a:r>
                        <a:rPr lang="en-US" sz="1200" dirty="0">
                          <a:effectLst/>
                          <a:latin typeface="Arial" panose="020B0604020202020204" pitchFamily="34" charset="0"/>
                          <a:ea typeface="Times New Roman" panose="02020603050405020304" pitchFamily="18" charset="0"/>
                        </a:rPr>
                        <a:t>Real-Time, In-Database</a:t>
                      </a:r>
                      <a:endParaRPr lang="en-US" sz="1200" dirty="0">
                        <a:effectLst/>
                        <a:latin typeface="Times New Roman" panose="02020603050405020304" pitchFamily="18" charset="0"/>
                        <a:ea typeface="Times New Roman" panose="02020603050405020304" pitchFamily="18" charset="0"/>
                      </a:endParaRPr>
                    </a:p>
                    <a:p>
                      <a:pPr marL="0" marR="0" algn="ctr">
                        <a:lnSpc>
                          <a:spcPct val="115000"/>
                        </a:lnSpc>
                        <a:spcBef>
                          <a:spcPts val="0"/>
                        </a:spcBef>
                        <a:spcAft>
                          <a:spcPts val="0"/>
                        </a:spcAft>
                      </a:pPr>
                      <a:r>
                        <a:rPr lang="en-US" sz="1200" dirty="0">
                          <a:effectLst/>
                          <a:latin typeface="Arial" panose="020B0604020202020204" pitchFamily="34"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a:txBody>
                  <a:tcPr marL="68580" marR="68580" marT="0" marB="0">
                    <a:solidFill>
                      <a:schemeClr val="bg1">
                        <a:lumMod val="95000"/>
                      </a:schemeClr>
                    </a:solidFill>
                  </a:tcPr>
                </a:tc>
              </a:tr>
            </a:tbl>
          </a:graphicData>
        </a:graphic>
      </p:graphicFrame>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63</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20983498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613" y="123700"/>
            <a:ext cx="8688387" cy="1002979"/>
          </a:xfrm>
        </p:spPr>
        <p:txBody>
          <a:bodyPr/>
          <a:lstStyle/>
          <a:p>
            <a:r>
              <a:rPr lang="en-US" dirty="0" smtClean="0"/>
              <a:t>4.7 Presenting Analytics: Advanced Data Visualization</a:t>
            </a:r>
            <a:endParaRPr lang="en-US" dirty="0"/>
          </a:p>
        </p:txBody>
      </p:sp>
      <p:sp>
        <p:nvSpPr>
          <p:cNvPr id="3" name="Content Placeholder 2"/>
          <p:cNvSpPr>
            <a:spLocks noGrp="1"/>
          </p:cNvSpPr>
          <p:nvPr>
            <p:ph sz="quarter" idx="14"/>
          </p:nvPr>
        </p:nvSpPr>
        <p:spPr>
          <a:xfrm>
            <a:off x="455613" y="1371600"/>
            <a:ext cx="8232775" cy="508574"/>
          </a:xfrm>
        </p:spPr>
        <p:txBody>
          <a:bodyPr/>
          <a:lstStyle/>
          <a:p>
            <a:pPr marL="0" indent="0">
              <a:buNone/>
            </a:pPr>
            <a:r>
              <a:rPr lang="en-US" sz="1200" dirty="0"/>
              <a:t>Advanced data visualization is successful because it capitalizes on our visual advantage to recognize and understand patterns, represents a large amount of data in one place, and gives users access to actionable insights.</a:t>
            </a:r>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sp>
        <p:nvSpPr>
          <p:cNvPr id="7" name="Freeform 6"/>
          <p:cNvSpPr/>
          <p:nvPr/>
        </p:nvSpPr>
        <p:spPr>
          <a:xfrm>
            <a:off x="466732" y="2116712"/>
            <a:ext cx="4162425" cy="2057400"/>
          </a:xfrm>
          <a:custGeom>
            <a:avLst/>
            <a:gdLst>
              <a:gd name="connsiteX0" fmla="*/ 0 w 5662611"/>
              <a:gd name="connsiteY0" fmla="*/ 0 h 1269999"/>
              <a:gd name="connsiteX1" fmla="*/ 5662611 w 5662611"/>
              <a:gd name="connsiteY1" fmla="*/ 0 h 1269999"/>
              <a:gd name="connsiteX2" fmla="*/ 5662611 w 5662611"/>
              <a:gd name="connsiteY2" fmla="*/ 1269999 h 1269999"/>
              <a:gd name="connsiteX3" fmla="*/ 0 w 5662611"/>
              <a:gd name="connsiteY3" fmla="*/ 1269999 h 1269999"/>
              <a:gd name="connsiteX4" fmla="*/ 0 w 5662611"/>
              <a:gd name="connsiteY4" fmla="*/ 0 h 126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62611" h="1269999">
                <a:moveTo>
                  <a:pt x="0" y="0"/>
                </a:moveTo>
                <a:lnTo>
                  <a:pt x="5662611" y="0"/>
                </a:lnTo>
                <a:lnTo>
                  <a:pt x="5662611" y="1269999"/>
                </a:lnTo>
                <a:lnTo>
                  <a:pt x="0" y="1269999"/>
                </a:lnTo>
                <a:lnTo>
                  <a:pt x="0" y="0"/>
                </a:lnTo>
                <a:close/>
              </a:path>
            </a:pathLst>
          </a:custGeom>
          <a:solidFill>
            <a:schemeClr val="bg1"/>
          </a:solidFill>
          <a:ln>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305242" tIns="45720" rIns="45720" bIns="45720" numCol="1" spcCol="1270" anchor="ctr" anchorCtr="0">
            <a:noAutofit/>
          </a:bodyPr>
          <a:lstStyle/>
          <a:p>
            <a:pPr marL="571500" lvl="0" defTabSz="533400">
              <a:lnSpc>
                <a:spcPct val="90000"/>
              </a:lnSpc>
              <a:spcAft>
                <a:spcPct val="35000"/>
              </a:spcAft>
            </a:pPr>
            <a:r>
              <a:rPr lang="en-US" sz="1200" dirty="0">
                <a:solidFill>
                  <a:schemeClr val="tx1"/>
                </a:solidFill>
              </a:rPr>
              <a:t>A heat map uses color to represent a data value. Patterns in concentration can be shown by using the position and color elements. This example shows a household’s energy usage over time. It becomes very easy to interpret the days when the household energy usage would be less or more. </a:t>
            </a:r>
            <a:endParaRPr lang="en-US" sz="1200" kern="1200" dirty="0">
              <a:solidFill>
                <a:schemeClr val="tx1"/>
              </a:solidFill>
            </a:endParaRPr>
          </a:p>
        </p:txBody>
      </p:sp>
      <p:sp>
        <p:nvSpPr>
          <p:cNvPr id="9" name="Freeform 8"/>
          <p:cNvSpPr/>
          <p:nvPr/>
        </p:nvSpPr>
        <p:spPr>
          <a:xfrm>
            <a:off x="466732" y="4299511"/>
            <a:ext cx="4162425" cy="2057400"/>
          </a:xfrm>
          <a:custGeom>
            <a:avLst/>
            <a:gdLst>
              <a:gd name="connsiteX0" fmla="*/ 0 w 5662611"/>
              <a:gd name="connsiteY0" fmla="*/ 0 h 1269999"/>
              <a:gd name="connsiteX1" fmla="*/ 5662611 w 5662611"/>
              <a:gd name="connsiteY1" fmla="*/ 0 h 1269999"/>
              <a:gd name="connsiteX2" fmla="*/ 5662611 w 5662611"/>
              <a:gd name="connsiteY2" fmla="*/ 1269999 h 1269999"/>
              <a:gd name="connsiteX3" fmla="*/ 0 w 5662611"/>
              <a:gd name="connsiteY3" fmla="*/ 1269999 h 1269999"/>
              <a:gd name="connsiteX4" fmla="*/ 0 w 5662611"/>
              <a:gd name="connsiteY4" fmla="*/ 0 h 126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62611" h="1269999">
                <a:moveTo>
                  <a:pt x="0" y="0"/>
                </a:moveTo>
                <a:lnTo>
                  <a:pt x="5662611" y="0"/>
                </a:lnTo>
                <a:lnTo>
                  <a:pt x="5662611" y="1269999"/>
                </a:lnTo>
                <a:lnTo>
                  <a:pt x="0" y="1269999"/>
                </a:lnTo>
                <a:lnTo>
                  <a:pt x="0" y="0"/>
                </a:lnTo>
                <a:close/>
              </a:path>
            </a:pathLst>
          </a:custGeom>
          <a:solidFill>
            <a:schemeClr val="bg1"/>
          </a:solidFill>
          <a:ln>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305242" tIns="45720" rIns="45720" bIns="45720" numCol="1" spcCol="1270" anchor="ctr" anchorCtr="0">
            <a:noAutofit/>
          </a:bodyPr>
          <a:lstStyle/>
          <a:p>
            <a:pPr marL="571500" lvl="0" defTabSz="533400">
              <a:lnSpc>
                <a:spcPct val="90000"/>
              </a:lnSpc>
              <a:spcAft>
                <a:spcPct val="35000"/>
              </a:spcAft>
            </a:pPr>
            <a:r>
              <a:rPr lang="en-US" sz="1200" dirty="0">
                <a:solidFill>
                  <a:schemeClr val="tx1"/>
                </a:solidFill>
              </a:rPr>
              <a:t>Individual members of a dataset are assigned to clusters. The choice of the number of clusters is an important parameter in cluster analysis. This technique allows the analyst to reach a better understanding of how the results of clustering vary with a different number of clusters</a:t>
            </a:r>
            <a:r>
              <a:rPr lang="en-US" sz="1200" dirty="0" smtClean="0">
                <a:solidFill>
                  <a:schemeClr val="tx1"/>
                </a:solidFill>
              </a:rPr>
              <a:t>.</a:t>
            </a:r>
            <a:endParaRPr lang="en-US" sz="1200" dirty="0">
              <a:solidFill>
                <a:schemeClr val="tx1"/>
              </a:solidFill>
            </a:endParaRPr>
          </a:p>
        </p:txBody>
      </p:sp>
      <p:sp>
        <p:nvSpPr>
          <p:cNvPr id="13" name="Freeform 12"/>
          <p:cNvSpPr/>
          <p:nvPr/>
        </p:nvSpPr>
        <p:spPr>
          <a:xfrm>
            <a:off x="4733946" y="2116712"/>
            <a:ext cx="4162425" cy="2057400"/>
          </a:xfrm>
          <a:custGeom>
            <a:avLst/>
            <a:gdLst>
              <a:gd name="connsiteX0" fmla="*/ 0 w 5662611"/>
              <a:gd name="connsiteY0" fmla="*/ 0 h 1269999"/>
              <a:gd name="connsiteX1" fmla="*/ 5662611 w 5662611"/>
              <a:gd name="connsiteY1" fmla="*/ 0 h 1269999"/>
              <a:gd name="connsiteX2" fmla="*/ 5662611 w 5662611"/>
              <a:gd name="connsiteY2" fmla="*/ 1269999 h 1269999"/>
              <a:gd name="connsiteX3" fmla="*/ 0 w 5662611"/>
              <a:gd name="connsiteY3" fmla="*/ 1269999 h 1269999"/>
              <a:gd name="connsiteX4" fmla="*/ 0 w 5662611"/>
              <a:gd name="connsiteY4" fmla="*/ 0 h 126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62611" h="1269999">
                <a:moveTo>
                  <a:pt x="0" y="0"/>
                </a:moveTo>
                <a:lnTo>
                  <a:pt x="5662611" y="0"/>
                </a:lnTo>
                <a:lnTo>
                  <a:pt x="5662611" y="1269999"/>
                </a:lnTo>
                <a:lnTo>
                  <a:pt x="0" y="1269999"/>
                </a:lnTo>
                <a:lnTo>
                  <a:pt x="0" y="0"/>
                </a:lnTo>
                <a:close/>
              </a:path>
            </a:pathLst>
          </a:custGeom>
          <a:solidFill>
            <a:schemeClr val="bg1"/>
          </a:solidFill>
          <a:ln>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305242" tIns="45720" rIns="45720" bIns="45720" numCol="1" spcCol="1270" anchor="ctr" anchorCtr="0">
            <a:noAutofit/>
          </a:bodyPr>
          <a:lstStyle/>
          <a:p>
            <a:pPr marL="571500" lvl="0" defTabSz="533400">
              <a:lnSpc>
                <a:spcPct val="90000"/>
              </a:lnSpc>
              <a:spcAft>
                <a:spcPct val="35000"/>
              </a:spcAft>
            </a:pPr>
            <a:r>
              <a:rPr lang="en-US" sz="1200" dirty="0">
                <a:solidFill>
                  <a:schemeClr val="tx1"/>
                </a:solidFill>
              </a:rPr>
              <a:t>Text can be visualized in the form of a tag cloud or a weighted visual list. The words that appear more frequently will be larger than those which are used less frequently. A reader is quickly able to perceive the most salient concepts represented in large text.</a:t>
            </a:r>
            <a:endParaRPr lang="en-US" sz="1200" kern="1200" dirty="0">
              <a:solidFill>
                <a:schemeClr val="tx1"/>
              </a:solidFill>
            </a:endParaRPr>
          </a:p>
        </p:txBody>
      </p:sp>
      <p:sp>
        <p:nvSpPr>
          <p:cNvPr id="15" name="Freeform 14"/>
          <p:cNvSpPr/>
          <p:nvPr/>
        </p:nvSpPr>
        <p:spPr>
          <a:xfrm>
            <a:off x="4733946" y="4299511"/>
            <a:ext cx="4162425" cy="2057400"/>
          </a:xfrm>
          <a:custGeom>
            <a:avLst/>
            <a:gdLst>
              <a:gd name="connsiteX0" fmla="*/ 0 w 5662611"/>
              <a:gd name="connsiteY0" fmla="*/ 0 h 1269999"/>
              <a:gd name="connsiteX1" fmla="*/ 5662611 w 5662611"/>
              <a:gd name="connsiteY1" fmla="*/ 0 h 1269999"/>
              <a:gd name="connsiteX2" fmla="*/ 5662611 w 5662611"/>
              <a:gd name="connsiteY2" fmla="*/ 1269999 h 1269999"/>
              <a:gd name="connsiteX3" fmla="*/ 0 w 5662611"/>
              <a:gd name="connsiteY3" fmla="*/ 1269999 h 1269999"/>
              <a:gd name="connsiteX4" fmla="*/ 0 w 5662611"/>
              <a:gd name="connsiteY4" fmla="*/ 0 h 126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62611" h="1269999">
                <a:moveTo>
                  <a:pt x="0" y="0"/>
                </a:moveTo>
                <a:lnTo>
                  <a:pt x="5662611" y="0"/>
                </a:lnTo>
                <a:lnTo>
                  <a:pt x="5662611" y="1269999"/>
                </a:lnTo>
                <a:lnTo>
                  <a:pt x="0" y="1269999"/>
                </a:lnTo>
                <a:lnTo>
                  <a:pt x="0" y="0"/>
                </a:lnTo>
                <a:close/>
              </a:path>
            </a:pathLst>
          </a:custGeom>
          <a:solidFill>
            <a:schemeClr val="bg1"/>
          </a:solidFill>
          <a:ln>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305242" tIns="45720" rIns="45720" bIns="45720" numCol="1" spcCol="1270" anchor="ctr" anchorCtr="0">
            <a:noAutofit/>
          </a:bodyPr>
          <a:lstStyle/>
          <a:p>
            <a:pPr marL="571500" lvl="0" defTabSz="533400">
              <a:lnSpc>
                <a:spcPct val="90000"/>
              </a:lnSpc>
              <a:spcAft>
                <a:spcPct val="35000"/>
              </a:spcAft>
            </a:pPr>
            <a:r>
              <a:rPr lang="en-US" sz="1200" dirty="0">
                <a:solidFill>
                  <a:schemeClr val="tx1"/>
                </a:solidFill>
              </a:rPr>
              <a:t>History flow charts the evolution of a document as it is edited by multiple authors. Time appears as the horizontal axis, while contribution to the text is on the vertical axis. Each author has a different color code, and the length of the bar indicates the amount of text by each author. </a:t>
            </a:r>
            <a:endParaRPr lang="en-US" sz="1200" kern="1200" dirty="0">
              <a:solidFill>
                <a:schemeClr val="tx1"/>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451" y="2939759"/>
            <a:ext cx="1666875" cy="966787"/>
          </a:xfrm>
          <a:prstGeom prst="rect">
            <a:avLst/>
          </a:prstGeom>
        </p:spPr>
      </p:pic>
      <p:sp>
        <p:nvSpPr>
          <p:cNvPr id="6" name="TextBox 5"/>
          <p:cNvSpPr txBox="1"/>
          <p:nvPr/>
        </p:nvSpPr>
        <p:spPr>
          <a:xfrm>
            <a:off x="807594" y="2351913"/>
            <a:ext cx="1210588" cy="369332"/>
          </a:xfrm>
          <a:prstGeom prst="rect">
            <a:avLst/>
          </a:prstGeom>
          <a:noFill/>
        </p:spPr>
        <p:txBody>
          <a:bodyPr wrap="none" rtlCol="0">
            <a:spAutoFit/>
          </a:bodyPr>
          <a:lstStyle/>
          <a:p>
            <a:r>
              <a:rPr lang="en-US" b="1" dirty="0" smtClean="0">
                <a:solidFill>
                  <a:schemeClr val="accent6"/>
                </a:solidFill>
              </a:rPr>
              <a:t>Heat Map</a:t>
            </a:r>
            <a:endParaRPr lang="en-US" b="1" dirty="0">
              <a:solidFill>
                <a:schemeClr val="accent6"/>
              </a:solidFill>
            </a:endParaRPr>
          </a:p>
        </p:txBody>
      </p:sp>
      <p:pic>
        <p:nvPicPr>
          <p:cNvPr id="14" name="Picture 13"/>
          <p:cNvPicPr>
            <a:picLocks noChangeAspect="1"/>
          </p:cNvPicPr>
          <p:nvPr/>
        </p:nvPicPr>
        <p:blipFill rotWithShape="1">
          <a:blip r:embed="rId4">
            <a:extLst>
              <a:ext uri="{28A0092B-C50C-407E-A947-70E740481C1C}">
                <a14:useLocalDpi xmlns:a14="http://schemas.microsoft.com/office/drawing/2010/main" val="0"/>
              </a:ext>
            </a:extLst>
          </a:blip>
          <a:srcRect t="7681" b="8853"/>
          <a:stretch/>
        </p:blipFill>
        <p:spPr>
          <a:xfrm>
            <a:off x="4856711" y="2906421"/>
            <a:ext cx="1664208" cy="1000125"/>
          </a:xfrm>
          <a:prstGeom prst="rect">
            <a:avLst/>
          </a:prstGeom>
        </p:spPr>
      </p:pic>
      <p:sp>
        <p:nvSpPr>
          <p:cNvPr id="28" name="TextBox 27"/>
          <p:cNvSpPr txBox="1"/>
          <p:nvPr/>
        </p:nvSpPr>
        <p:spPr>
          <a:xfrm>
            <a:off x="5083521" y="2351913"/>
            <a:ext cx="1296060" cy="369332"/>
          </a:xfrm>
          <a:prstGeom prst="rect">
            <a:avLst/>
          </a:prstGeom>
          <a:noFill/>
        </p:spPr>
        <p:txBody>
          <a:bodyPr wrap="none" rtlCol="0">
            <a:spAutoFit/>
          </a:bodyPr>
          <a:lstStyle/>
          <a:p>
            <a:r>
              <a:rPr lang="en-US" b="1" dirty="0" smtClean="0">
                <a:solidFill>
                  <a:schemeClr val="accent6"/>
                </a:solidFill>
              </a:rPr>
              <a:t>Tag Cloud</a:t>
            </a:r>
            <a:endParaRPr lang="en-US" b="1" dirty="0">
              <a:solidFill>
                <a:schemeClr val="accent6"/>
              </a:solidFill>
            </a:endParaRPr>
          </a:p>
        </p:txBody>
      </p:sp>
      <p:pic>
        <p:nvPicPr>
          <p:cNvPr id="16" name="Picture 15"/>
          <p:cNvPicPr>
            <a:picLocks noChangeAspect="1"/>
          </p:cNvPicPr>
          <p:nvPr/>
        </p:nvPicPr>
        <p:blipFill rotWithShape="1">
          <a:blip r:embed="rId5">
            <a:extLst>
              <a:ext uri="{28A0092B-C50C-407E-A947-70E740481C1C}">
                <a14:useLocalDpi xmlns:a14="http://schemas.microsoft.com/office/drawing/2010/main" val="0"/>
              </a:ext>
            </a:extLst>
          </a:blip>
          <a:srcRect t="17888" b="-1"/>
          <a:stretch/>
        </p:blipFill>
        <p:spPr>
          <a:xfrm>
            <a:off x="615476" y="5122558"/>
            <a:ext cx="1664208" cy="983916"/>
          </a:xfrm>
          <a:prstGeom prst="rect">
            <a:avLst/>
          </a:prstGeom>
        </p:spPr>
      </p:pic>
      <p:sp>
        <p:nvSpPr>
          <p:cNvPr id="29" name="TextBox 28"/>
          <p:cNvSpPr txBox="1"/>
          <p:nvPr/>
        </p:nvSpPr>
        <p:spPr>
          <a:xfrm>
            <a:off x="692311" y="4544927"/>
            <a:ext cx="1544012" cy="369332"/>
          </a:xfrm>
          <a:prstGeom prst="rect">
            <a:avLst/>
          </a:prstGeom>
          <a:noFill/>
        </p:spPr>
        <p:txBody>
          <a:bodyPr wrap="none" rtlCol="0">
            <a:spAutoFit/>
          </a:bodyPr>
          <a:lstStyle/>
          <a:p>
            <a:r>
              <a:rPr lang="en-US" b="1" dirty="0" err="1" smtClean="0">
                <a:solidFill>
                  <a:schemeClr val="accent6"/>
                </a:solidFill>
              </a:rPr>
              <a:t>Clustergram</a:t>
            </a:r>
            <a:endParaRPr lang="en-US" b="1" dirty="0">
              <a:solidFill>
                <a:schemeClr val="accent6"/>
              </a:solidFill>
            </a:endParaRPr>
          </a:p>
        </p:txBody>
      </p:sp>
      <p:pic>
        <p:nvPicPr>
          <p:cNvPr id="18" name="Picture 17"/>
          <p:cNvPicPr>
            <a:picLocks noChangeAspect="1"/>
          </p:cNvPicPr>
          <p:nvPr/>
        </p:nvPicPr>
        <p:blipFill rotWithShape="1">
          <a:blip r:embed="rId6">
            <a:extLst>
              <a:ext uri="{28A0092B-C50C-407E-A947-70E740481C1C}">
                <a14:useLocalDpi xmlns:a14="http://schemas.microsoft.com/office/drawing/2010/main" val="0"/>
              </a:ext>
            </a:extLst>
          </a:blip>
          <a:srcRect t="4769" b="14149"/>
          <a:stretch/>
        </p:blipFill>
        <p:spPr>
          <a:xfrm>
            <a:off x="4856711" y="5122558"/>
            <a:ext cx="1664208" cy="971551"/>
          </a:xfrm>
          <a:prstGeom prst="rect">
            <a:avLst/>
          </a:prstGeom>
        </p:spPr>
      </p:pic>
      <p:sp>
        <p:nvSpPr>
          <p:cNvPr id="30" name="TextBox 29"/>
          <p:cNvSpPr txBox="1"/>
          <p:nvPr/>
        </p:nvSpPr>
        <p:spPr>
          <a:xfrm>
            <a:off x="4873945" y="4544927"/>
            <a:ext cx="1569660" cy="369332"/>
          </a:xfrm>
          <a:prstGeom prst="rect">
            <a:avLst/>
          </a:prstGeom>
          <a:noFill/>
        </p:spPr>
        <p:txBody>
          <a:bodyPr wrap="none" rtlCol="0">
            <a:spAutoFit/>
          </a:bodyPr>
          <a:lstStyle/>
          <a:p>
            <a:r>
              <a:rPr lang="en-US" b="1" dirty="0" smtClean="0">
                <a:solidFill>
                  <a:schemeClr val="accent6"/>
                </a:solidFill>
              </a:rPr>
              <a:t>History Flow</a:t>
            </a:r>
            <a:endParaRPr lang="en-US" b="1" dirty="0">
              <a:solidFill>
                <a:schemeClr val="accent6"/>
              </a:solidFill>
            </a:endParaRPr>
          </a:p>
        </p:txBody>
      </p:sp>
      <p:sp>
        <p:nvSpPr>
          <p:cNvPr id="1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64</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23545185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4.8 Checkpoint</a:t>
            </a:r>
            <a:endParaRPr lang="en-US" dirty="0"/>
          </a:p>
        </p:txBody>
      </p:sp>
      <p:sp>
        <p:nvSpPr>
          <p:cNvPr id="6" name="Content Placeholder 5"/>
          <p:cNvSpPr>
            <a:spLocks noGrp="1"/>
          </p:cNvSpPr>
          <p:nvPr>
            <p:ph sz="quarter" idx="14"/>
          </p:nvPr>
        </p:nvSpPr>
        <p:spPr>
          <a:xfrm>
            <a:off x="455613" y="1371600"/>
            <a:ext cx="8232775" cy="5335150"/>
          </a:xfrm>
        </p:spPr>
        <p:txBody>
          <a:bodyPr/>
          <a:lstStyle/>
          <a:p>
            <a:pPr marL="0" indent="0">
              <a:buNone/>
            </a:pPr>
            <a:r>
              <a:rPr lang="en-US" sz="1200" dirty="0"/>
              <a:t>Which of the following are features of Big Data analytics and were not part of traditional analytics?</a:t>
            </a:r>
          </a:p>
          <a:p>
            <a:pPr marL="0" indent="0">
              <a:buNone/>
            </a:pPr>
            <a:r>
              <a:rPr lang="en-US" sz="1200" b="1" i="1" dirty="0" smtClean="0">
                <a:solidFill>
                  <a:schemeClr val="accent2"/>
                </a:solidFill>
              </a:rPr>
              <a:t>Select </a:t>
            </a:r>
            <a:r>
              <a:rPr lang="en-US" sz="1200" b="1" i="1" dirty="0">
                <a:solidFill>
                  <a:schemeClr val="accent2"/>
                </a:solidFill>
              </a:rPr>
              <a:t>all that apply, and click or tap the Submit button. There will be more than one answer.</a:t>
            </a:r>
            <a:endParaRPr lang="en-US" sz="1200" dirty="0">
              <a:solidFill>
                <a:schemeClr val="accent2"/>
              </a:solidFill>
            </a:endParaRPr>
          </a:p>
          <a:p>
            <a:pPr marL="0" indent="0">
              <a:buNone/>
            </a:pPr>
            <a:endParaRPr lang="en-US" sz="1200" dirty="0"/>
          </a:p>
          <a:p>
            <a:pPr lvl="0">
              <a:buFont typeface="+mj-lt"/>
              <a:buAutoNum type="alphaLcParenR"/>
            </a:pPr>
            <a:r>
              <a:rPr lang="en-US" sz="1200" dirty="0"/>
              <a:t>Distributed batch execution frameworks</a:t>
            </a:r>
          </a:p>
          <a:p>
            <a:pPr lvl="0">
              <a:buFont typeface="+mj-lt"/>
              <a:buAutoNum type="alphaLcParenR"/>
            </a:pPr>
            <a:r>
              <a:rPr lang="en-US" sz="1200" dirty="0"/>
              <a:t>Real-time metrics and trends</a:t>
            </a:r>
          </a:p>
          <a:p>
            <a:pPr lvl="0">
              <a:buFont typeface="+mj-lt"/>
              <a:buAutoNum type="alphaLcParenR"/>
            </a:pPr>
            <a:r>
              <a:rPr lang="en-US" sz="1200" dirty="0"/>
              <a:t>Large-scale machine learning</a:t>
            </a:r>
          </a:p>
          <a:p>
            <a:pPr lvl="0">
              <a:buFont typeface="+mj-lt"/>
              <a:buAutoNum type="alphaLcParenR"/>
            </a:pPr>
            <a:r>
              <a:rPr lang="en-US" sz="1200" dirty="0"/>
              <a:t>OLAP cubes</a:t>
            </a:r>
          </a:p>
          <a:p>
            <a:pPr marL="0" lvl="0" indent="0">
              <a:buNone/>
            </a:pPr>
            <a:endParaRPr lang="en-US" sz="1200" dirty="0">
              <a:solidFill>
                <a:schemeClr val="accent2"/>
              </a:solidFill>
            </a:endParaRPr>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dirty="0" smtClean="0">
                <a:solidFill>
                  <a:srgbClr val="666666"/>
                </a:solidFill>
                <a:latin typeface="+mn-lt"/>
                <a:cs typeface="Arial" pitchFamily="34" charset="0"/>
              </a:rPr>
              <a:t>65</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18911407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4.8 Checkpoint Answer</a:t>
            </a:r>
            <a:endParaRPr lang="en-US" dirty="0"/>
          </a:p>
        </p:txBody>
      </p:sp>
      <p:sp>
        <p:nvSpPr>
          <p:cNvPr id="6" name="Content Placeholder 5"/>
          <p:cNvSpPr>
            <a:spLocks noGrp="1"/>
          </p:cNvSpPr>
          <p:nvPr>
            <p:ph sz="quarter" idx="14"/>
          </p:nvPr>
        </p:nvSpPr>
        <p:spPr>
          <a:xfrm>
            <a:off x="455613" y="1371600"/>
            <a:ext cx="8232775" cy="5335150"/>
          </a:xfrm>
        </p:spPr>
        <p:txBody>
          <a:bodyPr/>
          <a:lstStyle/>
          <a:p>
            <a:pPr marL="0" indent="0">
              <a:buNone/>
            </a:pPr>
            <a:r>
              <a:rPr lang="en-US" sz="1200" dirty="0"/>
              <a:t>Which of the following are features of Big Data analytics and were not part of traditional analytics?</a:t>
            </a:r>
          </a:p>
          <a:p>
            <a:pPr marL="0" indent="0">
              <a:buNone/>
            </a:pPr>
            <a:r>
              <a:rPr lang="en-US" sz="1200" b="1" i="1" dirty="0" smtClean="0">
                <a:solidFill>
                  <a:schemeClr val="accent2"/>
                </a:solidFill>
              </a:rPr>
              <a:t>Select </a:t>
            </a:r>
            <a:r>
              <a:rPr lang="en-US" sz="1200" b="1" i="1" dirty="0">
                <a:solidFill>
                  <a:schemeClr val="accent2"/>
                </a:solidFill>
              </a:rPr>
              <a:t>all that apply, and click or tap the Submit button. There will be more than one answer.</a:t>
            </a:r>
            <a:endParaRPr lang="en-US" sz="1200" dirty="0">
              <a:solidFill>
                <a:schemeClr val="accent2"/>
              </a:solidFill>
            </a:endParaRPr>
          </a:p>
          <a:p>
            <a:pPr marL="0" indent="0">
              <a:buNone/>
            </a:pPr>
            <a:endParaRPr lang="en-US" sz="1200" dirty="0"/>
          </a:p>
          <a:p>
            <a:pPr lvl="0">
              <a:buFont typeface="+mj-lt"/>
              <a:buAutoNum type="alphaLcParenR"/>
            </a:pPr>
            <a:r>
              <a:rPr lang="en-US" sz="1200" b="1" dirty="0"/>
              <a:t>Distributed batch execution frameworks</a:t>
            </a:r>
          </a:p>
          <a:p>
            <a:pPr lvl="0">
              <a:buFont typeface="+mj-lt"/>
              <a:buAutoNum type="alphaLcParenR"/>
            </a:pPr>
            <a:r>
              <a:rPr lang="en-US" sz="1200" b="1" dirty="0"/>
              <a:t>Real-time metrics and trends</a:t>
            </a:r>
          </a:p>
          <a:p>
            <a:pPr lvl="0">
              <a:buFont typeface="+mj-lt"/>
              <a:buAutoNum type="alphaLcParenR"/>
            </a:pPr>
            <a:r>
              <a:rPr lang="en-US" sz="1200" b="1" dirty="0"/>
              <a:t>Large-scale machine learning</a:t>
            </a:r>
          </a:p>
          <a:p>
            <a:pPr lvl="0">
              <a:buFont typeface="+mj-lt"/>
              <a:buAutoNum type="alphaLcParenR"/>
            </a:pPr>
            <a:r>
              <a:rPr lang="en-US" sz="1200" dirty="0"/>
              <a:t>OLAP cubes</a:t>
            </a:r>
          </a:p>
          <a:p>
            <a:pPr marL="0" lvl="0" indent="0">
              <a:buNone/>
            </a:pPr>
            <a:endParaRPr lang="en-US" sz="1200" dirty="0">
              <a:solidFill>
                <a:schemeClr val="accent2"/>
              </a:solidFill>
            </a:endParaRPr>
          </a:p>
          <a:p>
            <a:pPr marL="0" lvl="0" indent="0">
              <a:buNone/>
            </a:pPr>
            <a:endParaRPr lang="en-US" sz="1200" dirty="0">
              <a:solidFill>
                <a:schemeClr val="accent2"/>
              </a:solidFill>
            </a:endParaRPr>
          </a:p>
          <a:p>
            <a:pPr marL="0" lvl="0" indent="0">
              <a:buNone/>
            </a:pPr>
            <a:r>
              <a:rPr lang="en-US" sz="1200" i="1" dirty="0" smtClean="0"/>
              <a:t>The correct answers are A, B, and C.</a:t>
            </a:r>
          </a:p>
          <a:p>
            <a:pPr marL="0" lvl="0" indent="0">
              <a:buNone/>
            </a:pPr>
            <a:endParaRPr lang="en-US" sz="1200" i="1" dirty="0"/>
          </a:p>
          <a:p>
            <a:pPr marL="0" indent="0">
              <a:buNone/>
            </a:pPr>
            <a:r>
              <a:rPr lang="en-US" sz="1200" i="1" dirty="0"/>
              <a:t>Big Data Analytics has certain features that are not part of traditional analytics. These include distributed batch execution frameworks, real-time metrics and trends, and large-scale machine learning.</a:t>
            </a:r>
          </a:p>
          <a:p>
            <a:pPr marL="0" lvl="0" indent="0">
              <a:buNone/>
            </a:pPr>
            <a:endParaRPr lang="en-US" sz="1200" dirty="0">
              <a:solidFill>
                <a:schemeClr val="accent2"/>
              </a:solidFill>
            </a:endParaRPr>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dirty="0" smtClean="0">
                <a:solidFill>
                  <a:srgbClr val="666666"/>
                </a:solidFill>
                <a:latin typeface="+mn-lt"/>
                <a:cs typeface="Arial" pitchFamily="34" charset="0"/>
              </a:rPr>
              <a:t>66</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29144083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4.9 Checkpoint</a:t>
            </a:r>
            <a:endParaRPr lang="en-US" dirty="0"/>
          </a:p>
        </p:txBody>
      </p:sp>
      <p:sp>
        <p:nvSpPr>
          <p:cNvPr id="6" name="Content Placeholder 5"/>
          <p:cNvSpPr>
            <a:spLocks noGrp="1"/>
          </p:cNvSpPr>
          <p:nvPr>
            <p:ph sz="quarter" idx="14"/>
          </p:nvPr>
        </p:nvSpPr>
        <p:spPr>
          <a:xfrm>
            <a:off x="455613" y="1371600"/>
            <a:ext cx="8232775" cy="5335150"/>
          </a:xfrm>
        </p:spPr>
        <p:txBody>
          <a:bodyPr/>
          <a:lstStyle/>
          <a:p>
            <a:pPr marL="0" indent="0">
              <a:buNone/>
            </a:pPr>
            <a:r>
              <a:rPr lang="en-US" sz="1200" b="1" i="1" dirty="0">
                <a:solidFill>
                  <a:schemeClr val="accent2"/>
                </a:solidFill>
              </a:rPr>
              <a:t>True or False: </a:t>
            </a:r>
            <a:r>
              <a:rPr lang="en-US" sz="1200" dirty="0"/>
              <a:t>To capture and communicate insights from Big Data analytics, organizations can use either standard reporting methods or visualization techniques. </a:t>
            </a:r>
          </a:p>
          <a:p>
            <a:pPr marL="0" indent="0">
              <a:buNone/>
            </a:pPr>
            <a:r>
              <a:rPr lang="en-US" sz="1200" b="1" i="1" dirty="0">
                <a:solidFill>
                  <a:schemeClr val="accent2"/>
                </a:solidFill>
              </a:rPr>
              <a:t>Select the correct answer, and click or tap the Submit button. </a:t>
            </a:r>
            <a:endParaRPr lang="en-US" sz="1200" dirty="0">
              <a:solidFill>
                <a:schemeClr val="accent2"/>
              </a:solidFill>
            </a:endParaRPr>
          </a:p>
          <a:p>
            <a:pPr marL="0" indent="0">
              <a:buNone/>
            </a:pPr>
            <a:endParaRPr lang="en-US" sz="1200" dirty="0"/>
          </a:p>
          <a:p>
            <a:pPr lvl="0">
              <a:buFont typeface="+mj-lt"/>
              <a:buAutoNum type="alphaLcParenR"/>
            </a:pPr>
            <a:r>
              <a:rPr lang="en-US" sz="1200" dirty="0" smtClean="0"/>
              <a:t>True</a:t>
            </a:r>
          </a:p>
          <a:p>
            <a:pPr lvl="0">
              <a:buFont typeface="+mj-lt"/>
              <a:buAutoNum type="alphaLcParenR"/>
            </a:pPr>
            <a:r>
              <a:rPr lang="en-US" sz="1200" dirty="0" smtClean="0"/>
              <a:t>False</a:t>
            </a:r>
          </a:p>
          <a:p>
            <a:pPr lvl="0">
              <a:buFont typeface="+mj-lt"/>
              <a:buAutoNum type="alphaLcParenR"/>
            </a:pPr>
            <a:endParaRPr lang="en-US" sz="1200" dirty="0"/>
          </a:p>
          <a:p>
            <a:pPr marL="0" lvl="0" indent="0">
              <a:buNone/>
            </a:pPr>
            <a:endParaRPr lang="en-US" sz="1200" dirty="0"/>
          </a:p>
          <a:p>
            <a:pPr marL="0" lvl="0" indent="0">
              <a:buNone/>
            </a:pPr>
            <a:endParaRPr lang="en-US" sz="1200" dirty="0">
              <a:solidFill>
                <a:schemeClr val="accent2"/>
              </a:solidFill>
            </a:endParaRPr>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67</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14497833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4.9 Checkpoint Answer</a:t>
            </a:r>
            <a:endParaRPr lang="en-US" dirty="0"/>
          </a:p>
        </p:txBody>
      </p:sp>
      <p:sp>
        <p:nvSpPr>
          <p:cNvPr id="6" name="Content Placeholder 5"/>
          <p:cNvSpPr>
            <a:spLocks noGrp="1"/>
          </p:cNvSpPr>
          <p:nvPr>
            <p:ph sz="quarter" idx="14"/>
          </p:nvPr>
        </p:nvSpPr>
        <p:spPr>
          <a:xfrm>
            <a:off x="455613" y="1371600"/>
            <a:ext cx="8232775" cy="5335150"/>
          </a:xfrm>
        </p:spPr>
        <p:txBody>
          <a:bodyPr/>
          <a:lstStyle/>
          <a:p>
            <a:pPr marL="0" indent="0">
              <a:buNone/>
            </a:pPr>
            <a:r>
              <a:rPr lang="en-US" sz="1200" b="1" i="1" dirty="0">
                <a:solidFill>
                  <a:schemeClr val="accent2"/>
                </a:solidFill>
              </a:rPr>
              <a:t>True or False: </a:t>
            </a:r>
            <a:r>
              <a:rPr lang="en-US" sz="1200" dirty="0"/>
              <a:t>To capture and communicate insights from Big Data analytics, organizations can use either standard reporting methods or visualization techniques. </a:t>
            </a:r>
          </a:p>
          <a:p>
            <a:pPr marL="0" indent="0">
              <a:buNone/>
            </a:pPr>
            <a:r>
              <a:rPr lang="en-US" sz="1200" b="1" i="1" dirty="0">
                <a:solidFill>
                  <a:schemeClr val="accent2"/>
                </a:solidFill>
              </a:rPr>
              <a:t>Select the correct answer, and click or tap the Submit button. </a:t>
            </a:r>
            <a:endParaRPr lang="en-US" sz="1200" dirty="0">
              <a:solidFill>
                <a:schemeClr val="accent2"/>
              </a:solidFill>
            </a:endParaRPr>
          </a:p>
          <a:p>
            <a:pPr marL="0" indent="0">
              <a:buNone/>
            </a:pPr>
            <a:endParaRPr lang="en-US" sz="1200" dirty="0"/>
          </a:p>
          <a:p>
            <a:pPr lvl="0">
              <a:buFont typeface="+mj-lt"/>
              <a:buAutoNum type="alphaLcParenR"/>
            </a:pPr>
            <a:r>
              <a:rPr lang="en-US" sz="1200" dirty="0" smtClean="0"/>
              <a:t>True</a:t>
            </a:r>
          </a:p>
          <a:p>
            <a:pPr lvl="0">
              <a:buFont typeface="+mj-lt"/>
              <a:buAutoNum type="alphaLcParenR"/>
            </a:pPr>
            <a:r>
              <a:rPr lang="en-US" sz="1200" b="1" dirty="0" smtClean="0"/>
              <a:t>False</a:t>
            </a:r>
          </a:p>
          <a:p>
            <a:pPr lvl="0">
              <a:buFont typeface="+mj-lt"/>
              <a:buAutoNum type="alphaLcParenR"/>
            </a:pPr>
            <a:endParaRPr lang="en-US" sz="1200" dirty="0"/>
          </a:p>
          <a:p>
            <a:pPr marL="0" lvl="0" indent="0">
              <a:buNone/>
            </a:pPr>
            <a:r>
              <a:rPr lang="en-US" sz="1200" i="1" dirty="0" smtClean="0"/>
              <a:t>The correct answer is False.</a:t>
            </a:r>
          </a:p>
          <a:p>
            <a:pPr marL="0" lvl="0" indent="0">
              <a:buNone/>
            </a:pPr>
            <a:endParaRPr lang="en-US" sz="1200" i="1" dirty="0"/>
          </a:p>
          <a:p>
            <a:pPr marL="0" indent="0">
              <a:buNone/>
            </a:pPr>
            <a:r>
              <a:rPr lang="en-US" sz="1200" i="1" dirty="0"/>
              <a:t>To capture and communicate insights from Big Data analytics, we </a:t>
            </a:r>
            <a:r>
              <a:rPr lang="en-US" sz="1200" b="1" i="1" dirty="0"/>
              <a:t>must </a:t>
            </a:r>
            <a:r>
              <a:rPr lang="en-US" sz="1200" i="1" dirty="0"/>
              <a:t>move from standard reporting to more sophisticated visualization. Visualization is the technique of presenting information through the use of images, diagrams, or animations to communicate, understand, and improve the results of Big Data analysis. </a:t>
            </a:r>
          </a:p>
          <a:p>
            <a:pPr marL="0" lvl="0" indent="0">
              <a:buNone/>
            </a:pPr>
            <a:endParaRPr lang="en-US" sz="1200" dirty="0"/>
          </a:p>
          <a:p>
            <a:pPr marL="0" lvl="0" indent="0">
              <a:buNone/>
            </a:pPr>
            <a:endParaRPr lang="en-US" sz="1200" dirty="0">
              <a:solidFill>
                <a:schemeClr val="accent2"/>
              </a:solidFill>
            </a:endParaRPr>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68</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80551217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2663" y="1381863"/>
            <a:ext cx="3571875" cy="2381250"/>
          </a:xfrm>
          <a:prstGeom prst="rect">
            <a:avLst/>
          </a:prstGeom>
        </p:spPr>
      </p:pic>
      <p:sp>
        <p:nvSpPr>
          <p:cNvPr id="3" name="Title 2"/>
          <p:cNvSpPr>
            <a:spLocks noGrp="1"/>
          </p:cNvSpPr>
          <p:nvPr>
            <p:ph type="title"/>
          </p:nvPr>
        </p:nvSpPr>
        <p:spPr/>
        <p:txBody>
          <a:bodyPr/>
          <a:lstStyle/>
          <a:p>
            <a:r>
              <a:rPr lang="en-US" dirty="0" smtClean="0"/>
              <a:t>4.10 Module Summary</a:t>
            </a:r>
            <a:endParaRPr lang="en-US" dirty="0"/>
          </a:p>
        </p:txBody>
      </p:sp>
      <p:sp>
        <p:nvSpPr>
          <p:cNvPr id="4" name="Content Placeholder 3"/>
          <p:cNvSpPr>
            <a:spLocks noGrp="1"/>
          </p:cNvSpPr>
          <p:nvPr>
            <p:ph sz="quarter" idx="14"/>
          </p:nvPr>
        </p:nvSpPr>
        <p:spPr>
          <a:xfrm>
            <a:off x="455614" y="1371601"/>
            <a:ext cx="4060824" cy="2824033"/>
          </a:xfrm>
        </p:spPr>
        <p:txBody>
          <a:bodyPr/>
          <a:lstStyle/>
          <a:p>
            <a:pPr marL="0" indent="0">
              <a:spcBef>
                <a:spcPts val="600"/>
              </a:spcBef>
              <a:buNone/>
            </a:pPr>
            <a:r>
              <a:rPr lang="en-US" sz="1200" b="1" dirty="0" smtClean="0">
                <a:solidFill>
                  <a:schemeClr val="accent6"/>
                </a:solidFill>
              </a:rPr>
              <a:t>The following key points were covered in this module:</a:t>
            </a:r>
            <a:endParaRPr lang="en-US" sz="1200" dirty="0">
              <a:solidFill>
                <a:schemeClr val="accent6"/>
              </a:solidFill>
            </a:endParaRPr>
          </a:p>
          <a:p>
            <a:pPr lvl="0">
              <a:spcBef>
                <a:spcPts val="600"/>
              </a:spcBef>
            </a:pPr>
            <a:r>
              <a:rPr lang="en-US" sz="1200" dirty="0" smtClean="0"/>
              <a:t>Big </a:t>
            </a:r>
            <a:r>
              <a:rPr lang="en-US" sz="1200" dirty="0"/>
              <a:t>Data Analytics has several features that are not part of traditional analytics </a:t>
            </a:r>
            <a:r>
              <a:rPr lang="en-US" sz="1200" dirty="0" smtClean="0"/>
              <a:t>including distributed </a:t>
            </a:r>
            <a:r>
              <a:rPr lang="en-US" sz="1200" dirty="0"/>
              <a:t>batch execution </a:t>
            </a:r>
            <a:r>
              <a:rPr lang="en-US" sz="1200" dirty="0" smtClean="0"/>
              <a:t>frameworks, real-time </a:t>
            </a:r>
            <a:r>
              <a:rPr lang="en-US" sz="1200" dirty="0"/>
              <a:t>metrics and </a:t>
            </a:r>
            <a:r>
              <a:rPr lang="en-US" sz="1200" dirty="0" smtClean="0"/>
              <a:t>trends, and Large-scale </a:t>
            </a:r>
            <a:r>
              <a:rPr lang="en-US" sz="1200" dirty="0"/>
              <a:t>machine </a:t>
            </a:r>
            <a:r>
              <a:rPr lang="en-US" sz="1200" dirty="0" smtClean="0"/>
              <a:t>learning.</a:t>
            </a:r>
            <a:endParaRPr lang="en-US" sz="1200" dirty="0"/>
          </a:p>
          <a:p>
            <a:pPr marL="228600" lvl="0" indent="-228600">
              <a:spcBef>
                <a:spcPts val="600"/>
              </a:spcBef>
            </a:pPr>
            <a:r>
              <a:rPr lang="en-US" sz="1200" dirty="0"/>
              <a:t>Current Big Data visualization challenges include:</a:t>
            </a:r>
          </a:p>
          <a:p>
            <a:pPr lvl="1" indent="-287338">
              <a:spcBef>
                <a:spcPts val="600"/>
              </a:spcBef>
              <a:buFont typeface="Courier New" panose="02070309020205020404" pitchFamily="49" charset="0"/>
              <a:buChar char="o"/>
            </a:pPr>
            <a:r>
              <a:rPr lang="en-US" sz="1200" dirty="0"/>
              <a:t>Meeting the need for speed</a:t>
            </a:r>
          </a:p>
          <a:p>
            <a:pPr lvl="1" indent="-287338">
              <a:spcBef>
                <a:spcPts val="600"/>
              </a:spcBef>
              <a:buFont typeface="Courier New" panose="02070309020205020404" pitchFamily="49" charset="0"/>
              <a:buChar char="o"/>
            </a:pPr>
            <a:r>
              <a:rPr lang="en-US" sz="1200" dirty="0"/>
              <a:t>Understanding and knowing how to interpret data</a:t>
            </a:r>
          </a:p>
          <a:p>
            <a:pPr lvl="1" indent="-287338">
              <a:spcBef>
                <a:spcPts val="600"/>
              </a:spcBef>
              <a:buFont typeface="Courier New" panose="02070309020205020404" pitchFamily="49" charset="0"/>
              <a:buChar char="o"/>
            </a:pPr>
            <a:r>
              <a:rPr lang="en-US" sz="1200" dirty="0"/>
              <a:t>Determining data quality and reliability </a:t>
            </a:r>
          </a:p>
          <a:p>
            <a:pPr lvl="1" indent="-287338">
              <a:spcBef>
                <a:spcPts val="600"/>
              </a:spcBef>
              <a:buFont typeface="Courier New" panose="02070309020205020404" pitchFamily="49" charset="0"/>
              <a:buChar char="o"/>
            </a:pPr>
            <a:r>
              <a:rPr lang="en-US" sz="1200" dirty="0"/>
              <a:t>Displaying meaningful results</a:t>
            </a:r>
          </a:p>
          <a:p>
            <a:pPr lvl="1" indent="-287338">
              <a:spcBef>
                <a:spcPts val="600"/>
              </a:spcBef>
              <a:buFont typeface="Courier New" panose="02070309020205020404" pitchFamily="49" charset="0"/>
              <a:buChar char="o"/>
            </a:pPr>
            <a:r>
              <a:rPr lang="en-US" sz="1200" dirty="0"/>
              <a:t>Determining the best design for the data</a:t>
            </a:r>
          </a:p>
          <a:p>
            <a:pPr lvl="1">
              <a:buFont typeface="Courier New" panose="02070309020205020404" pitchFamily="49" charset="0"/>
              <a:buChar char="o"/>
            </a:pPr>
            <a:endParaRPr lang="en-US" sz="1200" dirty="0"/>
          </a:p>
          <a:p>
            <a:pPr lvl="0">
              <a:spcBef>
                <a:spcPts val="600"/>
              </a:spcBef>
              <a:buSzPct val="100000"/>
            </a:pPr>
            <a:endParaRPr lang="en-US" sz="1200" dirty="0"/>
          </a:p>
        </p:txBody>
      </p:sp>
      <p:sp>
        <p:nvSpPr>
          <p:cNvPr id="2" name="Footer Placeholder 1"/>
          <p:cNvSpPr>
            <a:spLocks noGrp="1"/>
          </p:cNvSpPr>
          <p:nvPr>
            <p:ph type="ftr" sz="quarter" idx="15"/>
          </p:nvPr>
        </p:nvSpPr>
        <p:spPr/>
        <p:txBody>
          <a:bodyPr/>
          <a:lstStyle/>
          <a:p>
            <a:r>
              <a:rPr lang="en-US" smtClean="0"/>
              <a:t>Copyright © 2015 Accenture  All rights reserved.</a:t>
            </a:r>
            <a:endParaRPr lang="en-AU" dirty="0"/>
          </a:p>
        </p:txBody>
      </p:sp>
      <p:sp>
        <p:nvSpPr>
          <p:cNvPr id="8" name="Rectangle 7"/>
          <p:cNvSpPr/>
          <p:nvPr/>
        </p:nvSpPr>
        <p:spPr>
          <a:xfrm>
            <a:off x="381793" y="4034305"/>
            <a:ext cx="8502746" cy="2323713"/>
          </a:xfrm>
          <a:prstGeom prst="rect">
            <a:avLst/>
          </a:prstGeom>
        </p:spPr>
        <p:txBody>
          <a:bodyPr wrap="square">
            <a:spAutoFit/>
          </a:bodyPr>
          <a:lstStyle/>
          <a:p>
            <a:pPr marL="228600" lvl="0" indent="-228600">
              <a:spcBef>
                <a:spcPts val="600"/>
              </a:spcBef>
              <a:buFont typeface="Arial" panose="020B0604020202020204" pitchFamily="34" charset="0"/>
              <a:buChar char="•"/>
            </a:pPr>
            <a:r>
              <a:rPr lang="en-US" sz="1200" dirty="0"/>
              <a:t>Traditional analytics is the activity of discovering data insights, while Big Data analytics</a:t>
            </a:r>
            <a:r>
              <a:rPr lang="en-US" sz="1200" b="1" dirty="0"/>
              <a:t> </a:t>
            </a:r>
            <a:r>
              <a:rPr lang="en-US" sz="1200" dirty="0"/>
              <a:t>is the activity of exploring, discovering, and sharing insights in poly-structured data regardless of size, location, or incoming speed.</a:t>
            </a:r>
          </a:p>
          <a:p>
            <a:pPr marL="228600" lvl="0" indent="-228600">
              <a:spcBef>
                <a:spcPts val="600"/>
              </a:spcBef>
              <a:buFont typeface="Arial" panose="020B0604020202020204" pitchFamily="34" charset="0"/>
              <a:buChar char="•"/>
            </a:pPr>
            <a:r>
              <a:rPr lang="en-US" sz="1200" dirty="0"/>
              <a:t>Big Data analytics requires a move to more sophisticated visualization using images, diagrams, or animations to communicate, understand, and improve the results of Big Data </a:t>
            </a:r>
            <a:r>
              <a:rPr lang="en-US" sz="1200" dirty="0" smtClean="0"/>
              <a:t>analysis.</a:t>
            </a:r>
          </a:p>
          <a:p>
            <a:pPr marL="228600" lvl="0" indent="-228600">
              <a:spcBef>
                <a:spcPts val="600"/>
              </a:spcBef>
              <a:buFont typeface="Arial" panose="020B0604020202020204" pitchFamily="34" charset="0"/>
              <a:buChar char="•"/>
            </a:pPr>
            <a:r>
              <a:rPr lang="en-US" sz="1200" dirty="0" smtClean="0"/>
              <a:t>Considerations </a:t>
            </a:r>
            <a:r>
              <a:rPr lang="en-US" sz="1200" dirty="0"/>
              <a:t>for Big Data management include master and meta data management, data quality, data structure, data security, data architecture, and data </a:t>
            </a:r>
            <a:r>
              <a:rPr lang="en-US" sz="1200" dirty="0" smtClean="0"/>
              <a:t>governance.</a:t>
            </a:r>
          </a:p>
          <a:p>
            <a:pPr marL="228600" lvl="0" indent="-228600">
              <a:spcBef>
                <a:spcPts val="600"/>
              </a:spcBef>
              <a:buFont typeface="Arial" panose="020B0604020202020204" pitchFamily="34" charset="0"/>
              <a:buChar char="•"/>
            </a:pPr>
            <a:r>
              <a:rPr lang="en-US" sz="1200" dirty="0" smtClean="0"/>
              <a:t>There </a:t>
            </a:r>
            <a:r>
              <a:rPr lang="en-US" sz="1200" dirty="0"/>
              <a:t>are a number of various roles that work with Big Data, each with its own set of </a:t>
            </a:r>
            <a:r>
              <a:rPr lang="en-US" sz="1200" dirty="0" smtClean="0"/>
              <a:t>responsibilities.</a:t>
            </a:r>
          </a:p>
          <a:p>
            <a:pPr marL="228600" lvl="0" indent="-228600">
              <a:spcBef>
                <a:spcPts val="600"/>
              </a:spcBef>
              <a:buFont typeface="Arial" panose="020B0604020202020204" pitchFamily="34" charset="0"/>
              <a:buChar char="•"/>
            </a:pPr>
            <a:r>
              <a:rPr lang="en-US" sz="1200" dirty="0" smtClean="0"/>
              <a:t>Big </a:t>
            </a:r>
            <a:r>
              <a:rPr lang="en-US" sz="1200" dirty="0"/>
              <a:t>Data analytics is an augmentation to an existing analytical infrastructure that allows organizations to scale and drive insights above and beyond current capabilities. </a:t>
            </a:r>
            <a:endParaRPr lang="en-US" sz="1200" dirty="0" smtClean="0"/>
          </a:p>
          <a:p>
            <a:pPr marL="228600" lvl="0" indent="-228600">
              <a:spcBef>
                <a:spcPts val="600"/>
              </a:spcBef>
              <a:buFont typeface="Arial" panose="020B0604020202020204" pitchFamily="34" charset="0"/>
              <a:buChar char="•"/>
            </a:pPr>
            <a:r>
              <a:rPr lang="en-US" sz="1200" dirty="0"/>
              <a:t>A</a:t>
            </a:r>
            <a:r>
              <a:rPr lang="en-US" sz="1200" dirty="0" smtClean="0"/>
              <a:t>dvanced </a:t>
            </a:r>
            <a:r>
              <a:rPr lang="en-US" sz="1200" dirty="0"/>
              <a:t>visualization </a:t>
            </a:r>
            <a:r>
              <a:rPr lang="en-US" sz="1200" dirty="0" smtClean="0"/>
              <a:t>includes </a:t>
            </a:r>
            <a:r>
              <a:rPr lang="en-US" sz="1200" dirty="0"/>
              <a:t>the use of heat maps, tag clouds, </a:t>
            </a:r>
            <a:r>
              <a:rPr lang="en-US" sz="1200" dirty="0" err="1"/>
              <a:t>clustergrams</a:t>
            </a:r>
            <a:r>
              <a:rPr lang="en-US" sz="1200" dirty="0"/>
              <a:t>, and history </a:t>
            </a:r>
            <a:r>
              <a:rPr lang="en-US" sz="1200" dirty="0" smtClean="0"/>
              <a:t>flows.</a:t>
            </a:r>
            <a:endParaRPr lang="en-US" sz="1200" dirty="0"/>
          </a:p>
        </p:txBody>
      </p:sp>
      <p:sp>
        <p:nvSpPr>
          <p:cNvPr id="9"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69</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47242098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Module 5: Accenture’s Approach to Big Data</a:t>
            </a:r>
            <a:endParaRPr lang="en-US" dirty="0"/>
          </a:p>
        </p:txBody>
      </p:sp>
    </p:spTree>
    <p:extLst>
      <p:ext uri="{BB962C8B-B14F-4D97-AF65-F5344CB8AC3E}">
        <p14:creationId xmlns:p14="http://schemas.microsoft.com/office/powerpoint/2010/main" val="300403780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2664" y="1371600"/>
            <a:ext cx="3571875" cy="2381250"/>
          </a:xfrm>
          <a:prstGeom prst="rect">
            <a:avLst/>
          </a:prstGeom>
        </p:spPr>
      </p:pic>
      <p:sp>
        <p:nvSpPr>
          <p:cNvPr id="3" name="Title 2"/>
          <p:cNvSpPr>
            <a:spLocks noGrp="1"/>
          </p:cNvSpPr>
          <p:nvPr>
            <p:ph type="title"/>
          </p:nvPr>
        </p:nvSpPr>
        <p:spPr/>
        <p:txBody>
          <a:bodyPr/>
          <a:lstStyle/>
          <a:p>
            <a:r>
              <a:rPr lang="en-US" dirty="0"/>
              <a:t>5</a:t>
            </a:r>
            <a:r>
              <a:rPr lang="en-US" dirty="0" smtClean="0"/>
              <a:t>.1 Module Introduction</a:t>
            </a:r>
            <a:endParaRPr lang="en-US" dirty="0"/>
          </a:p>
        </p:txBody>
      </p:sp>
      <p:sp>
        <p:nvSpPr>
          <p:cNvPr id="4" name="Content Placeholder 3"/>
          <p:cNvSpPr>
            <a:spLocks noGrp="1"/>
          </p:cNvSpPr>
          <p:nvPr>
            <p:ph sz="quarter" idx="14"/>
          </p:nvPr>
        </p:nvSpPr>
        <p:spPr>
          <a:xfrm>
            <a:off x="455613" y="1371600"/>
            <a:ext cx="4392833" cy="3487003"/>
          </a:xfrm>
        </p:spPr>
        <p:txBody>
          <a:bodyPr/>
          <a:lstStyle/>
          <a:p>
            <a:pPr marL="0" lvl="0" indent="0">
              <a:buNone/>
            </a:pPr>
            <a:r>
              <a:rPr lang="en-US" sz="1200" dirty="0"/>
              <a:t>Accenture is prepared to meet the needs of our clients to harness Big Data to achieve insights and competitive advantage. </a:t>
            </a:r>
            <a:endParaRPr lang="en-US" sz="1200" dirty="0" smtClean="0"/>
          </a:p>
          <a:p>
            <a:pPr marL="0" lvl="0" indent="0">
              <a:buNone/>
            </a:pPr>
            <a:r>
              <a:rPr lang="en-US" sz="1200" b="1" dirty="0" smtClean="0">
                <a:solidFill>
                  <a:schemeClr val="accent6"/>
                </a:solidFill>
              </a:rPr>
              <a:t>Our </a:t>
            </a:r>
            <a:r>
              <a:rPr lang="en-US" sz="1200" b="1" dirty="0">
                <a:solidFill>
                  <a:schemeClr val="accent6"/>
                </a:solidFill>
              </a:rPr>
              <a:t>objectives are </a:t>
            </a:r>
            <a:r>
              <a:rPr lang="en-US" sz="1200" b="1" dirty="0" smtClean="0">
                <a:solidFill>
                  <a:schemeClr val="accent6"/>
                </a:solidFill>
              </a:rPr>
              <a:t>to:</a:t>
            </a:r>
          </a:p>
          <a:p>
            <a:pPr lvl="0">
              <a:spcBef>
                <a:spcPts val="600"/>
              </a:spcBef>
              <a:buSzPct val="100000"/>
            </a:pPr>
            <a:r>
              <a:rPr lang="en-US" sz="1200" dirty="0" smtClean="0"/>
              <a:t>Enable </a:t>
            </a:r>
            <a:r>
              <a:rPr lang="en-US" sz="1200" dirty="0"/>
              <a:t>our clients to become data-driven with a future state, high-performing, hybrid technology platform that collects and combines structured and unstructured data for integrated, efficient, and cost-effective processing.	</a:t>
            </a:r>
          </a:p>
          <a:p>
            <a:pPr lvl="0">
              <a:spcBef>
                <a:spcPts val="600"/>
              </a:spcBef>
              <a:buSzPct val="100000"/>
            </a:pPr>
            <a:r>
              <a:rPr lang="en-US" sz="1200" dirty="0"/>
              <a:t>Leverage visualization tools, and develop techniques and best practices to enable rapid and differentiated data discovery and insights.</a:t>
            </a:r>
          </a:p>
          <a:p>
            <a:pPr lvl="0">
              <a:spcBef>
                <a:spcPts val="600"/>
              </a:spcBef>
              <a:buSzPct val="100000"/>
            </a:pPr>
            <a:r>
              <a:rPr lang="en-US" sz="1200" dirty="0"/>
              <a:t>Develop new approaches, tools, and capabilities to enable insight to outcomes in a Big Data environment.</a:t>
            </a:r>
          </a:p>
          <a:p>
            <a:pPr lvl="0">
              <a:spcBef>
                <a:spcPts val="600"/>
              </a:spcBef>
              <a:buSzPct val="100000"/>
            </a:pPr>
            <a:r>
              <a:rPr lang="en-US" sz="1200" dirty="0"/>
              <a:t>Enable clients to monitor machine-based sensor and device usage data to drive performance enhancements across the enterprise.</a:t>
            </a:r>
          </a:p>
          <a:p>
            <a:pPr marL="0" indent="0">
              <a:buNone/>
            </a:pPr>
            <a:r>
              <a:rPr lang="en-US" sz="1200" dirty="0"/>
              <a:t> </a:t>
            </a:r>
            <a:br>
              <a:rPr lang="en-US" sz="1200" dirty="0"/>
            </a:br>
            <a:endParaRPr lang="en-US" sz="1200" dirty="0"/>
          </a:p>
        </p:txBody>
      </p:sp>
      <p:sp>
        <p:nvSpPr>
          <p:cNvPr id="2" name="Footer Placeholder 1"/>
          <p:cNvSpPr>
            <a:spLocks noGrp="1"/>
          </p:cNvSpPr>
          <p:nvPr>
            <p:ph type="ftr" sz="quarter" idx="15"/>
          </p:nvPr>
        </p:nvSpPr>
        <p:spPr/>
        <p:txBody>
          <a:bodyPr/>
          <a:lstStyle/>
          <a:p>
            <a:r>
              <a:rPr lang="en-US" smtClean="0"/>
              <a:t>Copyright © 2015 Accenture  All rights reserved.</a:t>
            </a:r>
            <a:endParaRPr lang="en-AU" dirty="0"/>
          </a:p>
        </p:txBody>
      </p:sp>
      <p:sp>
        <p:nvSpPr>
          <p:cNvPr id="5" name="Rectangle 4"/>
          <p:cNvSpPr/>
          <p:nvPr/>
        </p:nvSpPr>
        <p:spPr>
          <a:xfrm>
            <a:off x="382769" y="4815849"/>
            <a:ext cx="8428925" cy="1431161"/>
          </a:xfrm>
          <a:prstGeom prst="rect">
            <a:avLst/>
          </a:prstGeom>
        </p:spPr>
        <p:txBody>
          <a:bodyPr wrap="square">
            <a:spAutoFit/>
          </a:bodyPr>
          <a:lstStyle/>
          <a:p>
            <a:r>
              <a:rPr lang="en-US" sz="1200" b="1" dirty="0" smtClean="0">
                <a:solidFill>
                  <a:srgbClr val="557799"/>
                </a:solidFill>
                <a:latin typeface="Arial" panose="020B0604020202020204" pitchFamily="34" charset="0"/>
              </a:rPr>
              <a:t>By </a:t>
            </a:r>
            <a:r>
              <a:rPr lang="en-US" sz="1200" b="1" dirty="0">
                <a:solidFill>
                  <a:srgbClr val="557799"/>
                </a:solidFill>
                <a:latin typeface="Arial" panose="020B0604020202020204" pitchFamily="34" charset="0"/>
              </a:rPr>
              <a:t>the end of this module, </a:t>
            </a:r>
            <a:r>
              <a:rPr lang="en-US" sz="1200" b="1" dirty="0" smtClean="0">
                <a:solidFill>
                  <a:srgbClr val="557799"/>
                </a:solidFill>
                <a:latin typeface="Arial" panose="020B0604020202020204" pitchFamily="34" charset="0"/>
              </a:rPr>
              <a:t>participants will be able to:</a:t>
            </a:r>
          </a:p>
          <a:p>
            <a:pPr marL="228600" lvl="0" indent="-228600">
              <a:spcBef>
                <a:spcPts val="600"/>
              </a:spcBef>
              <a:buFont typeface="Arial" panose="020B0604020202020204" pitchFamily="34" charset="0"/>
              <a:buChar char="•"/>
            </a:pPr>
            <a:r>
              <a:rPr lang="en-US" sz="1200" dirty="0"/>
              <a:t>Discuss Accenture’s approach to Big Data</a:t>
            </a:r>
          </a:p>
          <a:p>
            <a:pPr marL="228600" lvl="0" indent="-228600">
              <a:spcBef>
                <a:spcPts val="600"/>
              </a:spcBef>
              <a:buFont typeface="Arial" panose="020B0604020202020204" pitchFamily="34" charset="0"/>
              <a:buChar char="•"/>
            </a:pPr>
            <a:r>
              <a:rPr lang="en-US" sz="1200" dirty="0"/>
              <a:t>Describe the capabilities that exist within the Big Data practice</a:t>
            </a:r>
          </a:p>
          <a:p>
            <a:pPr marL="228600" lvl="0" indent="-228600">
              <a:spcBef>
                <a:spcPts val="600"/>
              </a:spcBef>
              <a:buFont typeface="Arial" panose="020B0604020202020204" pitchFamily="34" charset="0"/>
              <a:buChar char="•"/>
            </a:pPr>
            <a:r>
              <a:rPr lang="en-US" sz="1200" dirty="0"/>
              <a:t>Identify where to go for more information about how to get started with Big Data</a:t>
            </a:r>
          </a:p>
          <a:p>
            <a:r>
              <a:rPr lang="en-US" sz="1200" dirty="0"/>
              <a:t> </a:t>
            </a:r>
          </a:p>
          <a:p>
            <a:endParaRPr lang="en-US" sz="1200" dirty="0"/>
          </a:p>
        </p:txBody>
      </p:sp>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71</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78761352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5.2 Accenture’s Impetus for Big Data</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There are three guiding forces behind Accenture’s Big Data endeavors: designing future state data platforms, enabling deeper analytics and insights, and delivering on insight to outcomes. </a:t>
            </a:r>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387" y="2238375"/>
            <a:ext cx="8277225" cy="2381250"/>
          </a:xfrm>
          <a:prstGeom prst="rect">
            <a:avLst/>
          </a:prstGeom>
        </p:spPr>
      </p:pic>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72</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100199705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5.3 Big Data Analytics Practice</a:t>
            </a:r>
            <a:endParaRPr lang="en-US" dirty="0"/>
          </a:p>
        </p:txBody>
      </p:sp>
      <p:sp>
        <p:nvSpPr>
          <p:cNvPr id="4" name="Content Placeholder 3"/>
          <p:cNvSpPr>
            <a:spLocks noGrp="1"/>
          </p:cNvSpPr>
          <p:nvPr>
            <p:ph sz="quarter" idx="14"/>
          </p:nvPr>
        </p:nvSpPr>
        <p:spPr>
          <a:xfrm>
            <a:off x="455614" y="1371600"/>
            <a:ext cx="3859212" cy="3487003"/>
          </a:xfrm>
        </p:spPr>
        <p:txBody>
          <a:bodyPr/>
          <a:lstStyle/>
          <a:p>
            <a:pPr marL="0" indent="0">
              <a:buNone/>
            </a:pPr>
            <a:r>
              <a:rPr lang="en-US" sz="1200" dirty="0" smtClean="0"/>
              <a:t>At Accenture </a:t>
            </a:r>
            <a:r>
              <a:rPr lang="en-US" sz="1200" dirty="0"/>
              <a:t>Big Data is part of the larger Data Supply Chain community. The Big Data 100 is a group of Big Data experts specialized in providing </a:t>
            </a:r>
            <a:r>
              <a:rPr lang="en-US" sz="1200" b="1" dirty="0"/>
              <a:t>deep architecture, design, and data science expertise </a:t>
            </a:r>
            <a:r>
              <a:rPr lang="en-US" sz="1200" dirty="0"/>
              <a:t>across the entire Accenture ecosystem. </a:t>
            </a:r>
          </a:p>
          <a:p>
            <a:pPr marL="0" indent="0">
              <a:buNone/>
            </a:pPr>
            <a:r>
              <a:rPr lang="en-US" sz="1200" dirty="0" smtClean="0"/>
              <a:t>Accenture </a:t>
            </a:r>
            <a:r>
              <a:rPr lang="en-US" sz="1200" dirty="0"/>
              <a:t>invests in Big Data technologies and approaches designed specifically to drive value for its clients. Accenture’s goals include bridging R&amp;D labs and delivery and aligning Big Data investment to </a:t>
            </a:r>
            <a:r>
              <a:rPr lang="en-US" sz="1200" b="1" dirty="0"/>
              <a:t>enable transformational and predictable outcomes</a:t>
            </a:r>
            <a:r>
              <a:rPr lang="en-US" sz="1200" dirty="0"/>
              <a:t>.</a:t>
            </a:r>
          </a:p>
          <a:p>
            <a:pPr marL="0" indent="0">
              <a:buNone/>
            </a:pPr>
            <a:r>
              <a:rPr lang="en-US" sz="1200" dirty="0" smtClean="0"/>
              <a:t>Accenture </a:t>
            </a:r>
            <a:r>
              <a:rPr lang="en-US" sz="1200" dirty="0"/>
              <a:t>enables the integration of open source Big Data technologies with </a:t>
            </a:r>
            <a:r>
              <a:rPr lang="en-US" sz="1200" b="1" dirty="0"/>
              <a:t>traditional vendor Big Data technologies </a:t>
            </a:r>
            <a:r>
              <a:rPr lang="en-US" sz="1200" dirty="0"/>
              <a:t>to enable high-performing enterprise hybrid solution architectures. Accenture has a strong focus on </a:t>
            </a:r>
            <a:r>
              <a:rPr lang="en-US" sz="1200" b="1" dirty="0"/>
              <a:t>open source technologies </a:t>
            </a:r>
            <a:r>
              <a:rPr lang="en-US" sz="1200" dirty="0"/>
              <a:t>such as Hadoop</a:t>
            </a:r>
            <a:r>
              <a:rPr lang="en-US" sz="1200" baseline="30000" dirty="0"/>
              <a:t>®</a:t>
            </a:r>
            <a:r>
              <a:rPr lang="en-US" sz="1200" dirty="0"/>
              <a:t>, which is a large-scale data processing platform. </a:t>
            </a:r>
          </a:p>
        </p:txBody>
      </p:sp>
      <p:sp>
        <p:nvSpPr>
          <p:cNvPr id="2" name="Footer Placeholder 1"/>
          <p:cNvSpPr>
            <a:spLocks noGrp="1"/>
          </p:cNvSpPr>
          <p:nvPr>
            <p:ph type="ftr" sz="quarter" idx="15"/>
          </p:nvPr>
        </p:nvSpPr>
        <p:spPr/>
        <p:txBody>
          <a:bodyPr/>
          <a:lstStyle/>
          <a:p>
            <a:r>
              <a:rPr lang="en-US" smtClean="0"/>
              <a:t>Copyright © 2015 Accenture  All rights reserved.</a:t>
            </a:r>
            <a:endParaRPr lang="en-AU"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5152" y="1371600"/>
            <a:ext cx="4239490" cy="2815938"/>
          </a:xfrm>
          <a:prstGeom prst="rect">
            <a:avLst/>
          </a:prstGeom>
        </p:spPr>
      </p:pic>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73</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52271268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5.4 Big Data Analytics Capabilities</a:t>
            </a:r>
            <a:endParaRPr lang="en-US" dirty="0"/>
          </a:p>
        </p:txBody>
      </p:sp>
      <p:sp>
        <p:nvSpPr>
          <p:cNvPr id="4" name="Content Placeholder 3"/>
          <p:cNvSpPr>
            <a:spLocks noGrp="1"/>
          </p:cNvSpPr>
          <p:nvPr>
            <p:ph sz="quarter" idx="14"/>
          </p:nvPr>
        </p:nvSpPr>
        <p:spPr>
          <a:xfrm>
            <a:off x="455613" y="1371601"/>
            <a:ext cx="4392833" cy="2381250"/>
          </a:xfrm>
        </p:spPr>
        <p:txBody>
          <a:bodyPr/>
          <a:lstStyle/>
          <a:p>
            <a:pPr marL="0" indent="0">
              <a:buNone/>
            </a:pPr>
            <a:r>
              <a:rPr lang="en-US" sz="1200" b="1" dirty="0">
                <a:solidFill>
                  <a:schemeClr val="accent6"/>
                </a:solidFill>
              </a:rPr>
              <a:t>The following capabilities are required to practice Big Data analytics:</a:t>
            </a:r>
            <a:endParaRPr lang="en-US" sz="1200" dirty="0">
              <a:solidFill>
                <a:schemeClr val="accent6"/>
              </a:solidFill>
            </a:endParaRPr>
          </a:p>
          <a:p>
            <a:pPr lvl="0">
              <a:spcBef>
                <a:spcPts val="600"/>
              </a:spcBef>
              <a:buSzPct val="100000"/>
            </a:pPr>
            <a:r>
              <a:rPr lang="en-US" sz="1200" dirty="0"/>
              <a:t>Hadoop</a:t>
            </a:r>
            <a:r>
              <a:rPr lang="en-US" sz="1200" baseline="30000" dirty="0"/>
              <a:t>® </a:t>
            </a:r>
            <a:r>
              <a:rPr lang="en-US" sz="1200" dirty="0"/>
              <a:t>platform architecture</a:t>
            </a:r>
          </a:p>
          <a:p>
            <a:pPr lvl="0">
              <a:spcBef>
                <a:spcPts val="600"/>
              </a:spcBef>
              <a:buSzPct val="100000"/>
            </a:pPr>
            <a:r>
              <a:rPr lang="en-US" sz="1200" dirty="0"/>
              <a:t>Hadoop</a:t>
            </a:r>
            <a:r>
              <a:rPr lang="en-US" sz="1200" baseline="30000" dirty="0"/>
              <a:t>® </a:t>
            </a:r>
            <a:r>
              <a:rPr lang="en-US" sz="1200" dirty="0" smtClean="0"/>
              <a:t>application </a:t>
            </a:r>
            <a:r>
              <a:rPr lang="en-US" sz="1200" dirty="0"/>
              <a:t>design and development</a:t>
            </a:r>
          </a:p>
          <a:p>
            <a:pPr lvl="0">
              <a:spcBef>
                <a:spcPts val="600"/>
              </a:spcBef>
              <a:buSzPct val="100000"/>
            </a:pPr>
            <a:r>
              <a:rPr lang="en-US" sz="1200" dirty="0"/>
              <a:t>Hybrid distributed data platform design and development</a:t>
            </a:r>
          </a:p>
          <a:p>
            <a:pPr lvl="0">
              <a:spcBef>
                <a:spcPts val="600"/>
              </a:spcBef>
              <a:buSzPct val="100000"/>
            </a:pPr>
            <a:r>
              <a:rPr lang="en-US" sz="1200" dirty="0"/>
              <a:t>Analytical design and development at scale</a:t>
            </a:r>
          </a:p>
          <a:p>
            <a:pPr lvl="0">
              <a:spcBef>
                <a:spcPts val="600"/>
              </a:spcBef>
              <a:buSzPct val="100000"/>
            </a:pPr>
            <a:r>
              <a:rPr lang="en-US" sz="1200" dirty="0"/>
              <a:t>Hadoop</a:t>
            </a:r>
            <a:r>
              <a:rPr lang="en-US" sz="1200" baseline="30000" dirty="0"/>
              <a:t>® </a:t>
            </a:r>
            <a:r>
              <a:rPr lang="en-US" sz="1200" dirty="0" smtClean="0"/>
              <a:t>platform </a:t>
            </a:r>
            <a:r>
              <a:rPr lang="en-US" sz="1200" dirty="0"/>
              <a:t>integration</a:t>
            </a:r>
          </a:p>
          <a:p>
            <a:pPr lvl="0">
              <a:spcBef>
                <a:spcPts val="600"/>
              </a:spcBef>
              <a:buSzPct val="100000"/>
            </a:pPr>
            <a:r>
              <a:rPr lang="en-US" sz="1200" dirty="0"/>
              <a:t>Cluster sizing, testing, and development operations</a:t>
            </a:r>
          </a:p>
          <a:p>
            <a:pPr lvl="0">
              <a:spcBef>
                <a:spcPts val="600"/>
              </a:spcBef>
              <a:buSzPct val="100000"/>
            </a:pPr>
            <a:r>
              <a:rPr lang="en-US" sz="1200" dirty="0"/>
              <a:t>Data Science point of view, proof of concept, and </a:t>
            </a:r>
            <a:r>
              <a:rPr lang="en-US" sz="1200" dirty="0" smtClean="0"/>
              <a:t>pilots</a:t>
            </a:r>
            <a:endParaRPr lang="en-US" sz="1200" dirty="0"/>
          </a:p>
        </p:txBody>
      </p:sp>
      <p:sp>
        <p:nvSpPr>
          <p:cNvPr id="2" name="Footer Placeholder 1"/>
          <p:cNvSpPr>
            <a:spLocks noGrp="1"/>
          </p:cNvSpPr>
          <p:nvPr>
            <p:ph type="ftr" sz="quarter" idx="15"/>
          </p:nvPr>
        </p:nvSpPr>
        <p:spPr/>
        <p:txBody>
          <a:bodyPr/>
          <a:lstStyle/>
          <a:p>
            <a:r>
              <a:rPr lang="en-US" smtClean="0"/>
              <a:t>Copyright © 2015 Accenture  All rights reserved.</a:t>
            </a:r>
            <a:endParaRPr lang="en-AU"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2664" y="1371600"/>
            <a:ext cx="3571875" cy="2381250"/>
          </a:xfrm>
          <a:prstGeom prst="rect">
            <a:avLst/>
          </a:prstGeom>
        </p:spPr>
      </p:pic>
      <p:sp>
        <p:nvSpPr>
          <p:cNvPr id="7" name="Rectangle 6"/>
          <p:cNvSpPr/>
          <p:nvPr/>
        </p:nvSpPr>
        <p:spPr>
          <a:xfrm>
            <a:off x="455613" y="4050266"/>
            <a:ext cx="8428926" cy="646331"/>
          </a:xfrm>
          <a:prstGeom prst="rect">
            <a:avLst/>
          </a:prstGeom>
        </p:spPr>
        <p:txBody>
          <a:bodyPr wrap="square">
            <a:spAutoFit/>
          </a:bodyPr>
          <a:lstStyle/>
          <a:p>
            <a:pPr marL="0" marR="0">
              <a:spcBef>
                <a:spcPts val="0"/>
              </a:spcBef>
              <a:spcAft>
                <a:spcPts val="0"/>
              </a:spcAft>
            </a:pPr>
            <a:r>
              <a:rPr lang="en-US" sz="1200" dirty="0">
                <a:latin typeface="Arial" panose="020B0604020202020204" pitchFamily="34" charset="0"/>
                <a:ea typeface="Times New Roman" panose="02020603050405020304" pitchFamily="18" charset="0"/>
              </a:rPr>
              <a:t>The Big Data Academy provides a wide range of courses to help build your skills. It offers four tracks depending on your needs and areas of interest: business, technical, analytics, and visualization. Learn more about the Big Data Academy curriculum </a:t>
            </a:r>
            <a:r>
              <a:rPr lang="en-US" sz="1200" u="sng" dirty="0">
                <a:solidFill>
                  <a:srgbClr val="000080"/>
                </a:solidFill>
                <a:latin typeface="Arial" panose="020B0604020202020204" pitchFamily="34" charset="0"/>
                <a:ea typeface="Times New Roman" panose="02020603050405020304" pitchFamily="18" charset="0"/>
                <a:hlinkClick r:id="rId4"/>
              </a:rPr>
              <a:t>here</a:t>
            </a:r>
            <a:r>
              <a:rPr lang="en-US" sz="1200" dirty="0">
                <a:latin typeface="Arial" panose="020B0604020202020204" pitchFamily="34" charset="0"/>
                <a:ea typeface="Times New Roman" panose="02020603050405020304" pitchFamily="18" charset="0"/>
              </a:rPr>
              <a:t>.   </a:t>
            </a:r>
            <a:endParaRPr lang="en-US" sz="1200" dirty="0">
              <a:effectLst/>
              <a:latin typeface="Times New Roman" panose="02020603050405020304" pitchFamily="18" charset="0"/>
              <a:ea typeface="Times New Roman" panose="02020603050405020304" pitchFamily="18" charset="0"/>
            </a:endParaRPr>
          </a:p>
        </p:txBody>
      </p:sp>
      <p:sp>
        <p:nvSpPr>
          <p:cNvPr id="8"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74</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214624014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5.5 Getting Started with Big Data</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GB" sz="1200" dirty="0"/>
              <a:t>Accenture’s Big Data Discovery service helps organizations identify Big Data opportunities and use cases that are aligned with business stakeholder needs. It helps organizations define a delivery road map and an actionable plan with clear business value delivery goals by phase. Through Discovery, the team defines a conceptual technical and solution architecture design and helps to understand the total cost of ownership (TCO) of the chosen technologies.</a:t>
            </a:r>
            <a:endParaRPr lang="en-US" sz="1200" dirty="0"/>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387" y="2714625"/>
            <a:ext cx="8277225" cy="1428750"/>
          </a:xfrm>
          <a:prstGeom prst="rect">
            <a:avLst/>
          </a:prstGeom>
        </p:spPr>
      </p:pic>
      <p:sp>
        <p:nvSpPr>
          <p:cNvPr id="7"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75</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71302877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2663" y="1381863"/>
            <a:ext cx="3571875" cy="2381250"/>
          </a:xfrm>
          <a:prstGeom prst="rect">
            <a:avLst/>
          </a:prstGeom>
        </p:spPr>
      </p:pic>
      <p:sp>
        <p:nvSpPr>
          <p:cNvPr id="3" name="Title 2"/>
          <p:cNvSpPr>
            <a:spLocks noGrp="1"/>
          </p:cNvSpPr>
          <p:nvPr>
            <p:ph type="title"/>
          </p:nvPr>
        </p:nvSpPr>
        <p:spPr/>
        <p:txBody>
          <a:bodyPr/>
          <a:lstStyle/>
          <a:p>
            <a:r>
              <a:rPr lang="en-US" dirty="0" smtClean="0"/>
              <a:t>5.6 Module Summary</a:t>
            </a:r>
            <a:endParaRPr lang="en-US" dirty="0"/>
          </a:p>
        </p:txBody>
      </p:sp>
      <p:sp>
        <p:nvSpPr>
          <p:cNvPr id="4" name="Content Placeholder 3"/>
          <p:cNvSpPr>
            <a:spLocks noGrp="1"/>
          </p:cNvSpPr>
          <p:nvPr>
            <p:ph sz="quarter" idx="14"/>
          </p:nvPr>
        </p:nvSpPr>
        <p:spPr>
          <a:xfrm>
            <a:off x="455614" y="1371601"/>
            <a:ext cx="4060824" cy="4837813"/>
          </a:xfrm>
        </p:spPr>
        <p:txBody>
          <a:bodyPr/>
          <a:lstStyle/>
          <a:p>
            <a:pPr marL="0" indent="0">
              <a:buNone/>
            </a:pPr>
            <a:r>
              <a:rPr lang="en-US" sz="1200" b="1" dirty="0" smtClean="0">
                <a:solidFill>
                  <a:schemeClr val="accent6"/>
                </a:solidFill>
              </a:rPr>
              <a:t>The following key points were covered in this module:</a:t>
            </a:r>
            <a:endParaRPr lang="en-US" sz="1200" dirty="0">
              <a:solidFill>
                <a:schemeClr val="accent6"/>
              </a:solidFill>
            </a:endParaRPr>
          </a:p>
          <a:p>
            <a:pPr lvl="0">
              <a:spcBef>
                <a:spcPts val="600"/>
              </a:spcBef>
              <a:buSzPct val="100000"/>
            </a:pPr>
            <a:r>
              <a:rPr lang="en-US" sz="1200" dirty="0"/>
              <a:t>There are three guiding forces behind Accenture’s Big Data endeavors: designing future state data platforms, enabling deeper analytics and insights, and delivering on insight to outcomes. </a:t>
            </a:r>
          </a:p>
          <a:p>
            <a:pPr lvl="0">
              <a:spcBef>
                <a:spcPts val="600"/>
              </a:spcBef>
              <a:buSzPct val="100000"/>
            </a:pPr>
            <a:r>
              <a:rPr lang="en-US" sz="1200" dirty="0"/>
              <a:t>At Accenture, Big Data is part of the larger Data Supply Chain community, the Big Data 100, which is a group of experts specialized in providing </a:t>
            </a:r>
            <a:r>
              <a:rPr lang="en-US" sz="1200" b="1" dirty="0"/>
              <a:t>deep architecture, design, and data science expertise </a:t>
            </a:r>
            <a:r>
              <a:rPr lang="en-US" sz="1200" dirty="0"/>
              <a:t>across the entire Accenture ecosystem.</a:t>
            </a:r>
          </a:p>
          <a:p>
            <a:pPr lvl="0">
              <a:spcBef>
                <a:spcPts val="600"/>
              </a:spcBef>
              <a:buSzPct val="100000"/>
            </a:pPr>
            <a:r>
              <a:rPr lang="en-US" sz="1200" dirty="0"/>
              <a:t>Practicing Big Data requires a number of capabilities including application design and development and platform architecture and integration.</a:t>
            </a:r>
          </a:p>
          <a:p>
            <a:pPr lvl="0">
              <a:spcBef>
                <a:spcPts val="600"/>
              </a:spcBef>
              <a:buSzPct val="100000"/>
            </a:pPr>
            <a:r>
              <a:rPr lang="en-GB" sz="1200" dirty="0"/>
              <a:t>Accenture’s Big Data Discovery service helps organizations identify Big Data opportunities and use cases, define a delivery road map and an actionable plan, define a conceptual technical and solution architecture design, and understand the total cost of ownership of the chosen technologies.</a:t>
            </a:r>
            <a:endParaRPr lang="en-US" sz="1200" dirty="0"/>
          </a:p>
          <a:p>
            <a:pPr lvl="1">
              <a:buFont typeface="Courier New" panose="02070309020205020404" pitchFamily="49" charset="0"/>
              <a:buChar char="o"/>
            </a:pPr>
            <a:endParaRPr lang="en-US" sz="1200" dirty="0"/>
          </a:p>
          <a:p>
            <a:pPr lvl="0">
              <a:spcBef>
                <a:spcPts val="600"/>
              </a:spcBef>
              <a:buSzPct val="100000"/>
            </a:pPr>
            <a:endParaRPr lang="en-US" sz="1200" dirty="0"/>
          </a:p>
        </p:txBody>
      </p:sp>
      <p:sp>
        <p:nvSpPr>
          <p:cNvPr id="2" name="Footer Placeholder 1"/>
          <p:cNvSpPr>
            <a:spLocks noGrp="1"/>
          </p:cNvSpPr>
          <p:nvPr>
            <p:ph type="ftr" sz="quarter" idx="15"/>
          </p:nvPr>
        </p:nvSpPr>
        <p:spPr/>
        <p:txBody>
          <a:bodyPr/>
          <a:lstStyle/>
          <a:p>
            <a:r>
              <a:rPr lang="en-US" smtClean="0"/>
              <a:t>Copyright © 2015 Accenture  All rights reserved.</a:t>
            </a:r>
            <a:endParaRPr lang="en-AU" dirty="0"/>
          </a:p>
        </p:txBody>
      </p:sp>
      <p:sp>
        <p:nvSpPr>
          <p:cNvPr id="8"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76</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267082900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Module 6: Course Conclusion</a:t>
            </a:r>
            <a:endParaRPr lang="en-US" dirty="0"/>
          </a:p>
        </p:txBody>
      </p:sp>
    </p:spTree>
    <p:extLst>
      <p:ext uri="{BB962C8B-B14F-4D97-AF65-F5344CB8AC3E}">
        <p14:creationId xmlns:p14="http://schemas.microsoft.com/office/powerpoint/2010/main" val="5462182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6.1 Course Summary</a:t>
            </a:r>
            <a:endParaRPr lang="en-US" dirty="0"/>
          </a:p>
        </p:txBody>
      </p:sp>
      <p:sp>
        <p:nvSpPr>
          <p:cNvPr id="4" name="Content Placeholder 3"/>
          <p:cNvSpPr>
            <a:spLocks noGrp="1"/>
          </p:cNvSpPr>
          <p:nvPr>
            <p:ph sz="quarter" idx="14"/>
          </p:nvPr>
        </p:nvSpPr>
        <p:spPr>
          <a:xfrm>
            <a:off x="455614" y="1371601"/>
            <a:ext cx="5594312" cy="3997841"/>
          </a:xfrm>
        </p:spPr>
        <p:txBody>
          <a:bodyPr/>
          <a:lstStyle/>
          <a:p>
            <a:pPr marL="0" indent="0">
              <a:buNone/>
            </a:pPr>
            <a:r>
              <a:rPr lang="en-US" sz="1200" dirty="0"/>
              <a:t>You have reached the end of the </a:t>
            </a:r>
            <a:r>
              <a:rPr lang="en-US" sz="1200" b="1" dirty="0"/>
              <a:t>Introduction to Big Data </a:t>
            </a:r>
            <a:r>
              <a:rPr lang="en-US" sz="1200" dirty="0"/>
              <a:t>course</a:t>
            </a:r>
            <a:r>
              <a:rPr lang="en-US" sz="1200" dirty="0" smtClean="0"/>
              <a:t>.</a:t>
            </a:r>
            <a:endParaRPr lang="en-US" sz="1200" b="1" dirty="0" smtClean="0">
              <a:solidFill>
                <a:schemeClr val="accent6"/>
              </a:solidFill>
            </a:endParaRPr>
          </a:p>
          <a:p>
            <a:pPr marL="0" indent="0">
              <a:buNone/>
            </a:pPr>
            <a:r>
              <a:rPr lang="en-US" sz="1200" b="1" dirty="0" smtClean="0">
                <a:solidFill>
                  <a:schemeClr val="accent6"/>
                </a:solidFill>
              </a:rPr>
              <a:t>In this course, you have learned:</a:t>
            </a:r>
            <a:endParaRPr lang="en-US" sz="1200" dirty="0">
              <a:solidFill>
                <a:schemeClr val="accent6"/>
              </a:solidFill>
            </a:endParaRPr>
          </a:p>
          <a:p>
            <a:pPr lvl="0">
              <a:spcBef>
                <a:spcPts val="600"/>
              </a:spcBef>
              <a:buSzPct val="100000"/>
            </a:pPr>
            <a:r>
              <a:rPr lang="en-US" sz="1200" dirty="0"/>
              <a:t>There has been a shift in the size, type, and form of data and in the way that data is analyzed. </a:t>
            </a:r>
          </a:p>
          <a:p>
            <a:pPr lvl="0">
              <a:spcBef>
                <a:spcPts val="600"/>
              </a:spcBef>
              <a:buSzPct val="100000"/>
            </a:pPr>
            <a:r>
              <a:rPr lang="en-US" sz="1200" dirty="0"/>
              <a:t>Organizations using traditional processing techniques are struggling to benefit from the onslaught of Big Data.</a:t>
            </a:r>
          </a:p>
          <a:p>
            <a:pPr lvl="0">
              <a:spcBef>
                <a:spcPts val="600"/>
              </a:spcBef>
              <a:buSzPct val="100000"/>
            </a:pPr>
            <a:r>
              <a:rPr lang="en-US" sz="1200" dirty="0"/>
              <a:t>Data policies, skills, tools and technologies, data management, and organizational change are potential barriers to Big Data adoption.</a:t>
            </a:r>
          </a:p>
          <a:p>
            <a:pPr lvl="0">
              <a:spcBef>
                <a:spcPts val="600"/>
              </a:spcBef>
              <a:buSzPct val="100000"/>
            </a:pPr>
            <a:r>
              <a:rPr lang="en-US" sz="1200" dirty="0"/>
              <a:t>Big Data can provide significant potential value including enhanced productivity and efficiency, data-driven insights, better return on investment (ROI), innovative new business services, capital cost reduction, operational efficiency, and mission enhancements</a:t>
            </a:r>
            <a:r>
              <a:rPr lang="en-US" sz="1200" dirty="0" smtClean="0"/>
              <a:t>.</a:t>
            </a:r>
          </a:p>
          <a:p>
            <a:pPr>
              <a:spcBef>
                <a:spcPts val="600"/>
              </a:spcBef>
              <a:buSzPct val="100000"/>
            </a:pPr>
            <a:r>
              <a:rPr lang="en-US" sz="1200" dirty="0"/>
              <a:t>Big Data impacts core business processes in every industry: resources, public sector, financial services, health, retail, and communications</a:t>
            </a:r>
            <a:r>
              <a:rPr lang="en-US" sz="1200" dirty="0" smtClean="0"/>
              <a:t>.</a:t>
            </a:r>
          </a:p>
          <a:p>
            <a:pPr lvl="0">
              <a:spcBef>
                <a:spcPts val="600"/>
              </a:spcBef>
              <a:buSzPct val="100000"/>
            </a:pPr>
            <a:r>
              <a:rPr lang="en-US" sz="1200" dirty="0">
                <a:latin typeface="Arial" panose="020B0604020202020204" pitchFamily="34" charset="0"/>
                <a:ea typeface="Calibri" panose="020F0502020204030204" pitchFamily="34" charset="0"/>
              </a:rPr>
              <a:t>Traditional relational-based databases (</a:t>
            </a:r>
            <a:r>
              <a:rPr lang="en-US" sz="1200" dirty="0" smtClean="0">
                <a:latin typeface="Arial" panose="020B0604020202020204" pitchFamily="34" charset="0"/>
                <a:ea typeface="Calibri" panose="020F0502020204030204" pitchFamily="34" charset="0"/>
              </a:rPr>
              <a:t>RDBMS</a:t>
            </a:r>
            <a:r>
              <a:rPr lang="en-US" sz="1200" dirty="0">
                <a:latin typeface="Arial" panose="020B0604020202020204" pitchFamily="34" charset="0"/>
                <a:ea typeface="Calibri" panose="020F0502020204030204" pitchFamily="34" charset="0"/>
              </a:rPr>
              <a:t>) cannot handle Big Data, which requires a more flexible non-relational structure. </a:t>
            </a:r>
            <a:endParaRPr lang="en-US" sz="1200" dirty="0"/>
          </a:p>
          <a:p>
            <a:pPr marL="0" lvl="0" indent="0">
              <a:spcBef>
                <a:spcPts val="600"/>
              </a:spcBef>
              <a:buSzPct val="100000"/>
              <a:buNone/>
            </a:pPr>
            <a:endParaRPr lang="en-US" sz="1200" dirty="0"/>
          </a:p>
          <a:p>
            <a:pPr lvl="1">
              <a:buFont typeface="Courier New" panose="02070309020205020404" pitchFamily="49" charset="0"/>
              <a:buChar char="o"/>
            </a:pPr>
            <a:endParaRPr lang="en-US" sz="1200" dirty="0"/>
          </a:p>
          <a:p>
            <a:pPr lvl="0">
              <a:spcBef>
                <a:spcPts val="600"/>
              </a:spcBef>
              <a:buSzPct val="100000"/>
            </a:pPr>
            <a:endParaRPr lang="en-US" sz="1200" dirty="0"/>
          </a:p>
        </p:txBody>
      </p:sp>
      <p:sp>
        <p:nvSpPr>
          <p:cNvPr id="2" name="Footer Placeholder 1"/>
          <p:cNvSpPr>
            <a:spLocks noGrp="1"/>
          </p:cNvSpPr>
          <p:nvPr>
            <p:ph type="ftr" sz="quarter" idx="15"/>
          </p:nvPr>
        </p:nvSpPr>
        <p:spPr/>
        <p:txBody>
          <a:bodyPr/>
          <a:lstStyle/>
          <a:p>
            <a:r>
              <a:rPr lang="en-US" smtClean="0"/>
              <a:t>Copyright © 2015 Accenture  All rights reserved.</a:t>
            </a:r>
            <a:endParaRPr lang="en-AU"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0528" y="1371600"/>
            <a:ext cx="2381250" cy="3571875"/>
          </a:xfrm>
          <a:prstGeom prst="rect">
            <a:avLst/>
          </a:prstGeom>
        </p:spPr>
      </p:pic>
      <p:sp>
        <p:nvSpPr>
          <p:cNvPr id="7" name="Rectangle 6"/>
          <p:cNvSpPr/>
          <p:nvPr/>
        </p:nvSpPr>
        <p:spPr>
          <a:xfrm>
            <a:off x="370548" y="5028137"/>
            <a:ext cx="8436165" cy="1092607"/>
          </a:xfrm>
          <a:prstGeom prst="rect">
            <a:avLst/>
          </a:prstGeom>
        </p:spPr>
        <p:txBody>
          <a:bodyPr wrap="square">
            <a:spAutoFit/>
          </a:bodyPr>
          <a:lstStyle/>
          <a:p>
            <a:pPr marL="228600" marR="0" lvl="0" indent="-228600">
              <a:spcBef>
                <a:spcPts val="600"/>
              </a:spcBef>
              <a:spcAft>
                <a:spcPts val="0"/>
              </a:spcAft>
              <a:buFont typeface="Arial" panose="020B0604020202020204" pitchFamily="34" charset="0"/>
              <a:buChar char="•"/>
            </a:pPr>
            <a:r>
              <a:rPr lang="en-US" sz="1200" dirty="0" smtClean="0">
                <a:solidFill>
                  <a:srgbClr val="000000"/>
                </a:solidFill>
                <a:latin typeface="Arial" panose="020B0604020202020204" pitchFamily="34" charset="0"/>
                <a:ea typeface="Calibri" panose="020F0502020204030204" pitchFamily="34" charset="0"/>
              </a:rPr>
              <a:t>Big </a:t>
            </a:r>
            <a:r>
              <a:rPr lang="en-US" sz="1200" dirty="0">
                <a:solidFill>
                  <a:srgbClr val="000000"/>
                </a:solidFill>
                <a:latin typeface="Arial" panose="020B0604020202020204" pitchFamily="34" charset="0"/>
                <a:ea typeface="Calibri" panose="020F0502020204030204" pitchFamily="34" charset="0"/>
              </a:rPr>
              <a:t>Data analytics requires a move to more sophisticated visualization using images, diagrams, or animations to communicate, understand, and improve the results of Big Data analysis.</a:t>
            </a:r>
            <a:endParaRPr lang="en-US" sz="1200" dirty="0">
              <a:latin typeface="Times New Roman" panose="02020603050405020304" pitchFamily="18" charset="0"/>
              <a:ea typeface="Times New Roman" panose="02020603050405020304" pitchFamily="18" charset="0"/>
            </a:endParaRPr>
          </a:p>
          <a:p>
            <a:pPr marL="228600" marR="0" lvl="0" indent="-228600">
              <a:spcBef>
                <a:spcPts val="600"/>
              </a:spcBef>
              <a:spcAft>
                <a:spcPts val="0"/>
              </a:spcAft>
              <a:buFont typeface="Arial" panose="020B0604020202020204" pitchFamily="34" charset="0"/>
              <a:buChar char="•"/>
            </a:pPr>
            <a:r>
              <a:rPr lang="en-GB" sz="1200" dirty="0">
                <a:latin typeface="Arial" panose="020B0604020202020204" pitchFamily="34" charset="0"/>
                <a:ea typeface="Calibri" panose="020F0502020204030204" pitchFamily="34" charset="0"/>
              </a:rPr>
              <a:t>Accenture’s Big Data Discovery service helps organizations identify Big Data opportunities and use cases, define a delivery road map and an actionable plan, define a conceptual technical and solution architecture design, and understand the total cost of ownership of the chosen technologies.</a:t>
            </a:r>
            <a:endParaRPr lang="en-US" sz="1200" dirty="0">
              <a:effectLst/>
              <a:latin typeface="Times New Roman" panose="02020603050405020304" pitchFamily="18" charset="0"/>
              <a:ea typeface="Times New Roman" panose="02020603050405020304" pitchFamily="18" charset="0"/>
            </a:endParaRPr>
          </a:p>
        </p:txBody>
      </p:sp>
      <p:sp>
        <p:nvSpPr>
          <p:cNvPr id="8"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78</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8393486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6.2 Resources</a:t>
            </a:r>
            <a:endParaRPr lang="en-US" dirty="0"/>
          </a:p>
        </p:txBody>
      </p:sp>
      <p:sp>
        <p:nvSpPr>
          <p:cNvPr id="4" name="Content Placeholder 3"/>
          <p:cNvSpPr>
            <a:spLocks noGrp="1"/>
          </p:cNvSpPr>
          <p:nvPr>
            <p:ph sz="quarter" idx="14"/>
          </p:nvPr>
        </p:nvSpPr>
        <p:spPr>
          <a:xfrm>
            <a:off x="455613" y="1371600"/>
            <a:ext cx="8232775" cy="5335150"/>
          </a:xfrm>
        </p:spPr>
        <p:txBody>
          <a:bodyPr/>
          <a:lstStyle/>
          <a:p>
            <a:pPr marL="0" indent="0">
              <a:buNone/>
            </a:pPr>
            <a:r>
              <a:rPr lang="en-US" sz="1200" b="1" dirty="0" smtClean="0">
                <a:solidFill>
                  <a:schemeClr val="accent6"/>
                </a:solidFill>
              </a:rPr>
              <a:t>Big Data Application Examples</a:t>
            </a:r>
          </a:p>
          <a:p>
            <a:pPr>
              <a:spcBef>
                <a:spcPts val="600"/>
              </a:spcBef>
            </a:pPr>
            <a:r>
              <a:rPr lang="en-US" sz="1200" i="1" u="sng" dirty="0" smtClean="0">
                <a:hlinkClick r:id="rId3"/>
              </a:rPr>
              <a:t>With Satellite Images, Wall Street Analysts Spy on Wal-Mart</a:t>
            </a:r>
            <a:endParaRPr lang="en-US" sz="1200" i="1" dirty="0"/>
          </a:p>
          <a:p>
            <a:pPr>
              <a:spcBef>
                <a:spcPts val="600"/>
              </a:spcBef>
            </a:pPr>
            <a:r>
              <a:rPr lang="en-US" sz="1200" i="1" u="sng" dirty="0" smtClean="0">
                <a:hlinkClick r:id="rId4"/>
              </a:rPr>
              <a:t>IBM-IT Systems, Consulting and Services for the Airport Industry</a:t>
            </a:r>
            <a:endParaRPr lang="en-US" sz="1200" i="1" dirty="0"/>
          </a:p>
          <a:p>
            <a:pPr>
              <a:spcBef>
                <a:spcPts val="600"/>
              </a:spcBef>
            </a:pPr>
            <a:r>
              <a:rPr lang="en-US" sz="1200" i="1" u="sng" dirty="0" smtClean="0">
                <a:hlinkClick r:id="rId5"/>
              </a:rPr>
              <a:t>Twitter Chatter can Predict Stock Prices, Study Finds</a:t>
            </a:r>
            <a:endParaRPr lang="en-US" sz="1200" i="1" dirty="0"/>
          </a:p>
          <a:p>
            <a:pPr>
              <a:spcBef>
                <a:spcPts val="600"/>
              </a:spcBef>
            </a:pPr>
            <a:r>
              <a:rPr lang="en-US" sz="1200" u="sng" dirty="0" smtClean="0">
                <a:hlinkClick r:id="rId6"/>
              </a:rPr>
              <a:t>Injury Surveillance System: The Case of Newspapers Clippings</a:t>
            </a:r>
            <a:endParaRPr lang="en-US" sz="1200" dirty="0"/>
          </a:p>
          <a:p>
            <a:pPr>
              <a:spcBef>
                <a:spcPts val="600"/>
              </a:spcBef>
            </a:pPr>
            <a:endParaRPr lang="en-US" sz="1200" dirty="0"/>
          </a:p>
          <a:p>
            <a:pPr marL="0" indent="0">
              <a:spcBef>
                <a:spcPts val="600"/>
              </a:spcBef>
              <a:buNone/>
            </a:pPr>
            <a:r>
              <a:rPr lang="en-US" sz="1200" b="1" dirty="0" smtClean="0">
                <a:solidFill>
                  <a:schemeClr val="accent6"/>
                </a:solidFill>
              </a:rPr>
              <a:t>Additional Reading:</a:t>
            </a:r>
          </a:p>
          <a:p>
            <a:r>
              <a:rPr lang="en-US" sz="1200" i="1" dirty="0" smtClean="0"/>
              <a:t>Why Big Data Needs Visualization </a:t>
            </a:r>
            <a:r>
              <a:rPr lang="en-US" sz="1200" i="1" dirty="0"/>
              <a:t>to Succeed</a:t>
            </a:r>
            <a:r>
              <a:rPr lang="en-US" sz="1200" dirty="0"/>
              <a:t>: </a:t>
            </a:r>
            <a:r>
              <a:rPr lang="en-US" sz="1200" u="sng" dirty="0">
                <a:hlinkClick r:id="rId7"/>
              </a:rPr>
              <a:t>https://www.accenture.com/cn-en/insight-why-big-data-needs-visualization-succeed-summary</a:t>
            </a:r>
            <a:r>
              <a:rPr lang="en-US" sz="1200" dirty="0"/>
              <a:t> </a:t>
            </a:r>
          </a:p>
          <a:p>
            <a:r>
              <a:rPr lang="en-US" sz="1200" i="1" dirty="0" smtClean="0"/>
              <a:t>Masters of the Digital Universe: </a:t>
            </a:r>
            <a:r>
              <a:rPr lang="en-US" sz="1200" u="sng" dirty="0">
                <a:hlinkClick r:id="rId8"/>
              </a:rPr>
              <a:t>https://www.accenture.com/cn-en/insight-outlook-masters-of-the-digital-universe-information-technology</a:t>
            </a:r>
            <a:r>
              <a:rPr lang="en-US" sz="1200" dirty="0"/>
              <a:t> </a:t>
            </a:r>
          </a:p>
          <a:p>
            <a:r>
              <a:rPr lang="en-US" sz="1200" i="1" dirty="0" smtClean="0"/>
              <a:t>Client Case Study: Big Data Management for Large Entertainment Company: </a:t>
            </a:r>
            <a:r>
              <a:rPr lang="en-US" sz="1200" u="sng" dirty="0">
                <a:hlinkClick r:id="rId9"/>
              </a:rPr>
              <a:t>https://www.accenture.com/cn-en/success-large-entertainment-company-application-outsourcing</a:t>
            </a:r>
            <a:endParaRPr lang="en-US" sz="1200" dirty="0"/>
          </a:p>
          <a:p>
            <a:r>
              <a:rPr lang="en-US" sz="1200" i="1" dirty="0" smtClean="0"/>
              <a:t>Federal Analytics and Big Data</a:t>
            </a:r>
            <a:r>
              <a:rPr lang="en-US" sz="1200" dirty="0" smtClean="0"/>
              <a:t>: </a:t>
            </a:r>
            <a:r>
              <a:rPr lang="en-US" sz="1200" u="sng" dirty="0">
                <a:hlinkClick r:id="rId10"/>
              </a:rPr>
              <a:t>https://www.accenture.com/cn-en/service-federal-analytics-big-data</a:t>
            </a:r>
            <a:endParaRPr lang="en-US" sz="1200" dirty="0"/>
          </a:p>
        </p:txBody>
      </p:sp>
      <p:sp>
        <p:nvSpPr>
          <p:cNvPr id="2" name="Footer Placeholder 1"/>
          <p:cNvSpPr>
            <a:spLocks noGrp="1"/>
          </p:cNvSpPr>
          <p:nvPr>
            <p:ph type="ftr" sz="quarter" idx="15"/>
          </p:nvPr>
        </p:nvSpPr>
        <p:spPr/>
        <p:txBody>
          <a:bodyPr/>
          <a:lstStyle/>
          <a:p>
            <a:r>
              <a:rPr lang="en-US" smtClean="0"/>
              <a:t>Copyright © 2015 Accenture  All rights reserved.</a:t>
            </a:r>
            <a:endParaRPr lang="en-AU" dirty="0"/>
          </a:p>
        </p:txBody>
      </p:sp>
      <p:sp>
        <p:nvSpPr>
          <p:cNvPr id="5"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79</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287615837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Appendix</a:t>
            </a:r>
            <a:endParaRPr lang="en-US" dirty="0"/>
          </a:p>
        </p:txBody>
      </p:sp>
    </p:spTree>
    <p:extLst>
      <p:ext uri="{BB962C8B-B14F-4D97-AF65-F5344CB8AC3E}">
        <p14:creationId xmlns:p14="http://schemas.microsoft.com/office/powerpoint/2010/main" val="385685684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Big Data Value-Add Example: NetApp</a:t>
            </a:r>
            <a:r>
              <a:rPr lang="en-US" sz="2800" baseline="30000" dirty="0" smtClean="0"/>
              <a:t>®</a:t>
            </a:r>
            <a:endParaRPr lang="en-US" baseline="30000"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Access to current status and data is crucial to sustaining high quality support for mission critical IT Infrastructure. NetApp</a:t>
            </a:r>
            <a:r>
              <a:rPr lang="en-US" sz="1200" baseline="30000" dirty="0"/>
              <a:t>®</a:t>
            </a:r>
            <a:r>
              <a:rPr lang="en-US" sz="1200" dirty="0"/>
              <a:t> used Big Data to build their auto support system (known as ASUP) that enables proactive issue identification and alerting on their </a:t>
            </a:r>
            <a:r>
              <a:rPr lang="en-US" sz="1200" dirty="0" smtClean="0"/>
              <a:t>devices. All </a:t>
            </a:r>
            <a:r>
              <a:rPr lang="en-US" sz="1200" dirty="0"/>
              <a:t>registered </a:t>
            </a:r>
            <a:r>
              <a:rPr lang="en-US" sz="1200" dirty="0" smtClean="0"/>
              <a:t>NetApp</a:t>
            </a:r>
            <a:r>
              <a:rPr lang="en-US" sz="1200" baseline="30000" dirty="0" smtClean="0"/>
              <a:t>®</a:t>
            </a:r>
            <a:r>
              <a:rPr lang="en-US" sz="1200" dirty="0" smtClean="0"/>
              <a:t> </a:t>
            </a:r>
            <a:r>
              <a:rPr lang="en-US" sz="1200" dirty="0"/>
              <a:t>devices at client locations </a:t>
            </a:r>
            <a:r>
              <a:rPr lang="en-US" altLang="en-US" sz="1200" dirty="0"/>
              <a:t>“</a:t>
            </a:r>
            <a:r>
              <a:rPr lang="en-US" sz="1200" dirty="0"/>
              <a:t>phone home</a:t>
            </a:r>
            <a:r>
              <a:rPr lang="en-US" altLang="en-US" sz="1200" dirty="0"/>
              <a:t>”</a:t>
            </a:r>
            <a:r>
              <a:rPr lang="en-US" sz="1200" b="1" dirty="0"/>
              <a:t> </a:t>
            </a:r>
            <a:r>
              <a:rPr lang="en-US" sz="1200" dirty="0"/>
              <a:t>to the ASUP DB. This ensures that current and complete data is available when addressing support issues</a:t>
            </a:r>
            <a:r>
              <a:rPr lang="en-US" sz="1200" i="1" dirty="0"/>
              <a:t>. </a:t>
            </a:r>
          </a:p>
          <a:p>
            <a:pPr marL="0" indent="0">
              <a:buNone/>
            </a:pPr>
            <a:endParaRPr lang="en-US" dirty="0"/>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387" y="2238375"/>
            <a:ext cx="8277225" cy="2381250"/>
          </a:xfrm>
          <a:prstGeom prst="rect">
            <a:avLst/>
          </a:prstGeom>
        </p:spPr>
      </p:pic>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81</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27428311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Big Data Value-Add Example: Service Quality</a:t>
            </a:r>
            <a:endParaRPr lang="en-US" baseline="30000"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a:t>Quality of Service is a key business demand for digital TV providers and presents a number of technical challenges. Tracking infrastructure and client hardware components can generate a range of unstructured data at huge scope and scale. One solution is </a:t>
            </a:r>
            <a:r>
              <a:rPr lang="en-US" sz="1200" dirty="0" smtClean="0"/>
              <a:t>the visualization </a:t>
            </a:r>
            <a:r>
              <a:rPr lang="en-US" sz="1200" dirty="0"/>
              <a:t>of diverse data into aggregate </a:t>
            </a:r>
            <a:r>
              <a:rPr lang="en-US" sz="1200" dirty="0" smtClean="0"/>
              <a:t>views, which </a:t>
            </a:r>
            <a:r>
              <a:rPr lang="en-US" sz="1200" dirty="0"/>
              <a:t>reveal patterns that enable timely issue resolution</a:t>
            </a:r>
            <a:r>
              <a:rPr lang="en-US" sz="1200" i="1" dirty="0"/>
              <a:t>.</a:t>
            </a:r>
            <a:endParaRPr lang="en-US" dirty="0"/>
          </a:p>
        </p:txBody>
      </p:sp>
      <p:sp>
        <p:nvSpPr>
          <p:cNvPr id="4" name="Footer Placeholder 3"/>
          <p:cNvSpPr>
            <a:spLocks noGrp="1"/>
          </p:cNvSpPr>
          <p:nvPr>
            <p:ph type="ftr" sz="quarter" idx="15"/>
          </p:nvPr>
        </p:nvSpPr>
        <p:spPr/>
        <p:txBody>
          <a:bodyPr/>
          <a:lstStyle/>
          <a:p>
            <a:r>
              <a:rPr lang="en-US" smtClean="0"/>
              <a:t>Copyright © 2015 Accenture  All rights reserved.</a:t>
            </a:r>
            <a:endParaRPr lang="en-AU"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387" y="2238375"/>
            <a:ext cx="8277225" cy="2381250"/>
          </a:xfrm>
          <a:prstGeom prst="rect">
            <a:avLst/>
          </a:prstGeom>
        </p:spPr>
      </p:pic>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82</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4213574274"/>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lvl="0"/>
            <a:r>
              <a:rPr lang="en-US" dirty="0" smtClean="0"/>
              <a:t>Boosting Revenue with Data-Driven Recommendations</a:t>
            </a:r>
            <a:endParaRPr lang="en-US" b="0" dirty="0"/>
          </a:p>
        </p:txBody>
      </p:sp>
      <p:graphicFrame>
        <p:nvGraphicFramePr>
          <p:cNvPr id="7" name="Table 6"/>
          <p:cNvGraphicFramePr>
            <a:graphicFrameLocks noGrp="1"/>
          </p:cNvGraphicFramePr>
          <p:nvPr>
            <p:extLst/>
          </p:nvPr>
        </p:nvGraphicFramePr>
        <p:xfrm>
          <a:off x="457200" y="1371600"/>
          <a:ext cx="8232776" cy="5101389"/>
        </p:xfrm>
        <a:graphic>
          <a:graphicData uri="http://schemas.openxmlformats.org/drawingml/2006/table">
            <a:tbl>
              <a:tblPr firstRow="1" bandRow="1">
                <a:tableStyleId>{21E4AEA4-8DFA-4A89-87EB-49C32662AFE0}</a:tableStyleId>
              </a:tblPr>
              <a:tblGrid>
                <a:gridCol w="1925639"/>
                <a:gridCol w="2102379"/>
                <a:gridCol w="2102379"/>
                <a:gridCol w="2102379"/>
              </a:tblGrid>
              <a:tr h="1058779">
                <a:tc>
                  <a:txBody>
                    <a:bodyPr/>
                    <a:lstStyle/>
                    <a:p>
                      <a:pPr algn="l"/>
                      <a:r>
                        <a:rPr lang="en-US" b="1" dirty="0" smtClean="0">
                          <a:solidFill>
                            <a:schemeClr val="bg1"/>
                          </a:solidFill>
                        </a:rPr>
                        <a:t>Business Need</a:t>
                      </a:r>
                      <a:endParaRPr lang="en-US" b="1" dirty="0">
                        <a:solidFill>
                          <a:schemeClr val="bg1"/>
                        </a:solidFill>
                      </a:endParaRPr>
                    </a:p>
                  </a:txBody>
                  <a:tcPr>
                    <a:lnB w="6350" cap="flat" cmpd="sng" algn="ctr">
                      <a:solidFill>
                        <a:schemeClr val="bg1"/>
                      </a:solidFill>
                      <a:prstDash val="solid"/>
                      <a:round/>
                      <a:headEnd type="none" w="med" len="med"/>
                      <a:tailEnd type="none" w="med" len="med"/>
                    </a:lnB>
                    <a:solidFill>
                      <a:schemeClr val="accent2"/>
                    </a:solidFill>
                  </a:tcPr>
                </a:tc>
                <a:tc gridSpan="3">
                  <a:txBody>
                    <a:bodyPr/>
                    <a:lstStyle/>
                    <a:p>
                      <a:r>
                        <a:rPr lang="en-US" sz="1200" b="0" i="0" kern="1200" dirty="0" smtClean="0">
                          <a:solidFill>
                            <a:schemeClr val="dk1"/>
                          </a:solidFill>
                          <a:effectLst/>
                          <a:latin typeface="+mn-lt"/>
                          <a:ea typeface="+mn-ea"/>
                          <a:cs typeface="+mn-cs"/>
                        </a:rPr>
                        <a:t>A global ecommerce company wanted to extend their data science capabilities by computing recommendations at scale on their website. With all recommendation engines, time is top priority.</a:t>
                      </a:r>
                      <a:r>
                        <a:rPr lang="en-US" sz="1200" b="0" i="0" kern="1200" baseline="0" dirty="0" smtClean="0">
                          <a:solidFill>
                            <a:schemeClr val="dk1"/>
                          </a:solidFill>
                          <a:effectLst/>
                          <a:latin typeface="+mn-lt"/>
                          <a:ea typeface="+mn-ea"/>
                          <a:cs typeface="+mn-cs"/>
                        </a:rPr>
                        <a:t> </a:t>
                      </a:r>
                      <a:r>
                        <a:rPr lang="en-US" sz="1200" b="0" i="0" kern="1200" dirty="0" smtClean="0">
                          <a:solidFill>
                            <a:schemeClr val="dk1"/>
                          </a:solidFill>
                          <a:effectLst/>
                          <a:latin typeface="+mn-lt"/>
                          <a:ea typeface="+mn-ea"/>
                          <a:cs typeface="+mn-cs"/>
                        </a:rPr>
                        <a:t>The faster you can compute, the more relevant the results are.</a:t>
                      </a:r>
                      <a:r>
                        <a:rPr lang="en-US" sz="1200" b="0" i="0" kern="1200" baseline="0" dirty="0" smtClean="0">
                          <a:solidFill>
                            <a:schemeClr val="dk1"/>
                          </a:solidFill>
                          <a:effectLst/>
                          <a:latin typeface="+mn-lt"/>
                          <a:ea typeface="+mn-ea"/>
                          <a:cs typeface="+mn-cs"/>
                        </a:rPr>
                        <a:t> </a:t>
                      </a:r>
                      <a:r>
                        <a:rPr lang="en-US" sz="1200" b="0" i="0" kern="1200" dirty="0" smtClean="0">
                          <a:solidFill>
                            <a:schemeClr val="dk1"/>
                          </a:solidFill>
                          <a:effectLst/>
                          <a:latin typeface="+mn-lt"/>
                          <a:ea typeface="+mn-ea"/>
                          <a:cs typeface="+mn-cs"/>
                        </a:rPr>
                        <a:t>The client was looking to pinpoint two key strategies for building a world-class recommendation engine:</a:t>
                      </a:r>
                      <a:r>
                        <a:rPr lang="en-US" sz="1200" b="0" i="0" kern="1200" baseline="0" dirty="0" smtClean="0">
                          <a:solidFill>
                            <a:schemeClr val="dk1"/>
                          </a:solidFill>
                          <a:effectLst/>
                          <a:latin typeface="+mn-lt"/>
                          <a:ea typeface="+mn-ea"/>
                          <a:cs typeface="+mn-cs"/>
                        </a:rPr>
                        <a:t> p</a:t>
                      </a:r>
                      <a:r>
                        <a:rPr lang="en-US" sz="1200" b="0" i="0" kern="1200" dirty="0" smtClean="0">
                          <a:solidFill>
                            <a:schemeClr val="dk1"/>
                          </a:solidFill>
                          <a:effectLst/>
                          <a:latin typeface="+mn-lt"/>
                          <a:ea typeface="+mn-ea"/>
                          <a:cs typeface="+mn-cs"/>
                        </a:rPr>
                        <a:t>rediction performance and</a:t>
                      </a:r>
                      <a:r>
                        <a:rPr lang="en-US" sz="1200" b="0" i="0" kern="1200" baseline="0" dirty="0" smtClean="0">
                          <a:solidFill>
                            <a:schemeClr val="dk1"/>
                          </a:solidFill>
                          <a:effectLst/>
                          <a:latin typeface="+mn-lt"/>
                          <a:ea typeface="+mn-ea"/>
                          <a:cs typeface="+mn-cs"/>
                        </a:rPr>
                        <a:t> speed.</a:t>
                      </a:r>
                      <a:endParaRPr lang="en-US" sz="1200" b="0" i="0" kern="1200" dirty="0" smtClean="0">
                        <a:solidFill>
                          <a:schemeClr val="dk1"/>
                        </a:solidFill>
                        <a:effectLst/>
                        <a:latin typeface="+mn-lt"/>
                        <a:ea typeface="+mn-ea"/>
                        <a:cs typeface="+mn-cs"/>
                      </a:endParaRPr>
                    </a:p>
                  </a:txBody>
                  <a:tcPr>
                    <a:lnB w="6350" cap="flat" cmpd="sng" algn="ctr">
                      <a:solidFill>
                        <a:schemeClr val="bg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r>
              <a:tr h="950494">
                <a:tc>
                  <a:txBody>
                    <a:bodyPr/>
                    <a:lstStyle/>
                    <a:p>
                      <a:pPr algn="l"/>
                      <a:r>
                        <a:rPr lang="en-US" b="1" dirty="0" smtClean="0">
                          <a:solidFill>
                            <a:schemeClr val="bg1"/>
                          </a:solidFill>
                        </a:rPr>
                        <a:t>Current Challenges</a:t>
                      </a:r>
                      <a:endParaRPr lang="en-US" b="1" dirty="0">
                        <a:solidFill>
                          <a:schemeClr val="bg1"/>
                        </a:solidFill>
                      </a:endParaRPr>
                    </a:p>
                  </a:txBody>
                  <a:tcPr>
                    <a:lnT w="6350" cap="flat" cmpd="sng" algn="ctr">
                      <a:solidFill>
                        <a:schemeClr val="bg1"/>
                      </a:solidFill>
                      <a:prstDash val="solid"/>
                      <a:round/>
                      <a:headEnd type="none" w="med" len="med"/>
                      <a:tailEnd type="none" w="med" len="med"/>
                    </a:lnT>
                    <a:solidFill>
                      <a:schemeClr val="accent2"/>
                    </a:solidFill>
                  </a:tcPr>
                </a:tc>
                <a:tc gridSpan="3">
                  <a:txBody>
                    <a:bodyPr/>
                    <a:lstStyle/>
                    <a:p>
                      <a:pPr marL="228600" indent="-228600">
                        <a:buFont typeface="Arial" panose="020B0604020202020204" pitchFamily="34" charset="0"/>
                        <a:buChar char="•"/>
                      </a:pPr>
                      <a:r>
                        <a:rPr lang="en-US" sz="1200" dirty="0" smtClean="0">
                          <a:solidFill>
                            <a:schemeClr val="tx1"/>
                          </a:solidFill>
                        </a:rPr>
                        <a:t>Improve effectiveness of recommendation engine by 10%</a:t>
                      </a:r>
                    </a:p>
                    <a:p>
                      <a:pPr marL="228600" indent="-228600">
                        <a:buFont typeface="Arial" panose="020B0604020202020204" pitchFamily="34" charset="0"/>
                        <a:buChar char="•"/>
                      </a:pPr>
                      <a:r>
                        <a:rPr lang="en-US" sz="1200" dirty="0" smtClean="0">
                          <a:solidFill>
                            <a:schemeClr val="tx1"/>
                          </a:solidFill>
                        </a:rPr>
                        <a:t>Resolve difficulty computing recommendations at the user-level due to the large volume of data</a:t>
                      </a:r>
                    </a:p>
                    <a:p>
                      <a:pPr marL="228600" indent="-228600">
                        <a:buFont typeface="Arial" panose="020B0604020202020204" pitchFamily="34" charset="0"/>
                        <a:buChar char="•"/>
                      </a:pPr>
                      <a:r>
                        <a:rPr lang="en-US" sz="1200" dirty="0" smtClean="0">
                          <a:solidFill>
                            <a:schemeClr val="tx1"/>
                          </a:solidFill>
                        </a:rPr>
                        <a:t>Increase workable sample size to scale up dataset</a:t>
                      </a:r>
                    </a:p>
                  </a:txBody>
                  <a:tcPr>
                    <a:lnT w="6350" cap="flat" cmpd="sng" algn="ctr">
                      <a:solidFill>
                        <a:schemeClr val="bg1"/>
                      </a:solidFill>
                      <a:prstDash val="solid"/>
                      <a:round/>
                      <a:headEnd type="none" w="med" len="med"/>
                      <a:tailEnd type="none" w="med" len="med"/>
                    </a:lnT>
                    <a:solidFill>
                      <a:schemeClr val="bg1">
                        <a:lumMod val="95000"/>
                      </a:schemeClr>
                    </a:solidFill>
                  </a:tcPr>
                </a:tc>
                <a:tc hMerge="1">
                  <a:txBody>
                    <a:bodyPr/>
                    <a:lstStyle/>
                    <a:p>
                      <a:endParaRPr lang="en-US"/>
                    </a:p>
                  </a:txBody>
                  <a:tcPr/>
                </a:tc>
                <a:tc hMerge="1">
                  <a:txBody>
                    <a:bodyPr/>
                    <a:lstStyle/>
                    <a:p>
                      <a:endParaRPr lang="en-US"/>
                    </a:p>
                  </a:txBody>
                  <a:tcPr/>
                </a:tc>
              </a:tr>
              <a:tr h="806116">
                <a:tc>
                  <a:txBody>
                    <a:bodyPr/>
                    <a:lstStyle/>
                    <a:p>
                      <a:pPr algn="l"/>
                      <a:r>
                        <a:rPr lang="en-US" b="1" dirty="0" smtClean="0">
                          <a:solidFill>
                            <a:schemeClr val="bg1"/>
                          </a:solidFill>
                        </a:rPr>
                        <a:t>Technologies</a:t>
                      </a:r>
                      <a:r>
                        <a:rPr lang="en-US" b="1" baseline="0" dirty="0" smtClean="0">
                          <a:solidFill>
                            <a:schemeClr val="bg1"/>
                          </a:solidFill>
                        </a:rPr>
                        <a:t> Used</a:t>
                      </a:r>
                      <a:endParaRPr lang="en-US" b="1" dirty="0">
                        <a:solidFill>
                          <a:schemeClr val="bg1"/>
                        </a:solidFill>
                      </a:endParaRPr>
                    </a:p>
                  </a:txBody>
                  <a:tcPr>
                    <a:solidFill>
                      <a:schemeClr val="accent2"/>
                    </a:solidFill>
                  </a:tcPr>
                </a:tc>
                <a:tc>
                  <a:txBody>
                    <a:bodyPr/>
                    <a:lstStyle/>
                    <a:p>
                      <a:pPr marL="228600" indent="-228600">
                        <a:buFont typeface="Arial" panose="020B0604020202020204" pitchFamily="34" charset="0"/>
                        <a:buChar char="•"/>
                      </a:pPr>
                      <a:r>
                        <a:rPr lang="en-US" sz="1200" dirty="0" smtClean="0">
                          <a:solidFill>
                            <a:schemeClr val="tx1"/>
                          </a:solidFill>
                        </a:rPr>
                        <a:t>Hadoop</a:t>
                      </a:r>
                      <a:r>
                        <a:rPr lang="en-US" sz="1200" baseline="30000" dirty="0" smtClean="0">
                          <a:solidFill>
                            <a:schemeClr val="tx1"/>
                          </a:solidFill>
                        </a:rPr>
                        <a:t>®</a:t>
                      </a:r>
                      <a:r>
                        <a:rPr lang="en-US" sz="1200" dirty="0" smtClean="0">
                          <a:solidFill>
                            <a:schemeClr val="tx1"/>
                          </a:solidFill>
                        </a:rPr>
                        <a:t>, HDFS</a:t>
                      </a:r>
                    </a:p>
                    <a:p>
                      <a:pPr marL="228600" indent="-228600">
                        <a:buFont typeface="Arial" panose="020B0604020202020204" pitchFamily="34" charset="0"/>
                        <a:buChar char="•"/>
                      </a:pPr>
                      <a:r>
                        <a:rPr lang="en-US" sz="1200" dirty="0" smtClean="0">
                          <a:solidFill>
                            <a:schemeClr val="tx1"/>
                          </a:solidFill>
                        </a:rPr>
                        <a:t>MapReduce</a:t>
                      </a:r>
                    </a:p>
                    <a:p>
                      <a:pPr marL="228600" indent="-228600">
                        <a:buFont typeface="Arial" panose="020B0604020202020204" pitchFamily="34" charset="0"/>
                        <a:buChar char="•"/>
                      </a:pPr>
                      <a:r>
                        <a:rPr lang="en-US" sz="1200" dirty="0" smtClean="0">
                          <a:solidFill>
                            <a:schemeClr val="tx1"/>
                          </a:solidFill>
                        </a:rPr>
                        <a:t>Hive™, Hbase™, Pig </a:t>
                      </a:r>
                    </a:p>
                  </a:txBody>
                  <a:tcPr>
                    <a:solidFill>
                      <a:schemeClr val="bg1">
                        <a:lumMod val="95000"/>
                      </a:schemeClr>
                    </a:solidFill>
                  </a:tcPr>
                </a:tc>
                <a:tc>
                  <a:txBody>
                    <a:bodyPr/>
                    <a:lstStyle/>
                    <a:p>
                      <a:pPr marL="228600" indent="-228600">
                        <a:buFont typeface="Arial" panose="020B0604020202020204" pitchFamily="34" charset="0"/>
                        <a:buChar char="•"/>
                      </a:pPr>
                      <a:r>
                        <a:rPr lang="en-US" sz="1200" dirty="0" smtClean="0">
                          <a:solidFill>
                            <a:schemeClr val="tx1"/>
                          </a:solidFill>
                        </a:rPr>
                        <a:t>DataStax</a:t>
                      </a:r>
                      <a:r>
                        <a:rPr lang="en-US" sz="1200" baseline="30000" dirty="0" smtClean="0">
                          <a:solidFill>
                            <a:schemeClr val="tx1"/>
                          </a:solidFill>
                        </a:rPr>
                        <a:t>®</a:t>
                      </a:r>
                      <a:r>
                        <a:rPr lang="en-US" sz="1200" dirty="0" smtClean="0">
                          <a:solidFill>
                            <a:schemeClr val="tx1"/>
                          </a:solidFill>
                        </a:rPr>
                        <a:t> Cassandra</a:t>
                      </a:r>
                    </a:p>
                    <a:p>
                      <a:pPr marL="228600" indent="-228600">
                        <a:buFont typeface="Arial" panose="020B0604020202020204" pitchFamily="34" charset="0"/>
                        <a:buChar char="•"/>
                      </a:pPr>
                      <a:r>
                        <a:rPr lang="en-US" sz="1200" dirty="0" smtClean="0">
                          <a:solidFill>
                            <a:schemeClr val="tx1"/>
                          </a:solidFill>
                        </a:rPr>
                        <a:t>DataStax</a:t>
                      </a:r>
                      <a:r>
                        <a:rPr lang="en-US" sz="1200" baseline="30000" dirty="0" smtClean="0">
                          <a:solidFill>
                            <a:schemeClr val="tx1"/>
                          </a:solidFill>
                        </a:rPr>
                        <a:t>®</a:t>
                      </a:r>
                      <a:r>
                        <a:rPr lang="en-US" sz="1200" dirty="0" smtClean="0">
                          <a:solidFill>
                            <a:schemeClr val="tx1"/>
                          </a:solidFill>
                        </a:rPr>
                        <a:t> Enterprise</a:t>
                      </a:r>
                    </a:p>
                    <a:p>
                      <a:pPr marL="228600" indent="-228600">
                        <a:buFont typeface="Arial" panose="020B0604020202020204" pitchFamily="34" charset="0"/>
                        <a:buChar char="•"/>
                      </a:pPr>
                      <a:r>
                        <a:rPr lang="en-US" sz="1200" dirty="0" smtClean="0">
                          <a:solidFill>
                            <a:schemeClr val="tx1"/>
                          </a:solidFill>
                        </a:rPr>
                        <a:t>Postgres RDBMS</a:t>
                      </a:r>
                    </a:p>
                  </a:txBody>
                  <a:tcPr>
                    <a:solidFill>
                      <a:schemeClr val="bg1">
                        <a:lumMod val="95000"/>
                      </a:schemeClr>
                    </a:solidFill>
                  </a:tcPr>
                </a:tc>
                <a:tc>
                  <a:txBody>
                    <a:bodyPr/>
                    <a:lstStyle/>
                    <a:p>
                      <a:pPr marL="228600" indent="-228600">
                        <a:buFont typeface="Arial" panose="020B0604020202020204" pitchFamily="34" charset="0"/>
                        <a:buChar char="•"/>
                      </a:pPr>
                      <a:r>
                        <a:rPr lang="en-US" sz="1200" dirty="0" smtClean="0">
                          <a:solidFill>
                            <a:schemeClr val="tx1"/>
                          </a:solidFill>
                        </a:rPr>
                        <a:t>ETL Integration</a:t>
                      </a:r>
                    </a:p>
                    <a:p>
                      <a:pPr marL="228600" indent="-228600">
                        <a:buFont typeface="Arial" panose="020B0604020202020204" pitchFamily="34" charset="0"/>
                        <a:buChar char="•"/>
                      </a:pPr>
                      <a:r>
                        <a:rPr lang="en-US" sz="1200" dirty="0" smtClean="0">
                          <a:solidFill>
                            <a:schemeClr val="tx1"/>
                          </a:solidFill>
                        </a:rPr>
                        <a:t>Mahout™</a:t>
                      </a:r>
                    </a:p>
                    <a:p>
                      <a:pPr marL="228600" indent="-228600">
                        <a:buFont typeface="Arial" panose="020B0604020202020204" pitchFamily="34" charset="0"/>
                        <a:buChar char="•"/>
                      </a:pPr>
                      <a:r>
                        <a:rPr lang="en-US" sz="1200" dirty="0" smtClean="0">
                          <a:solidFill>
                            <a:schemeClr val="tx1"/>
                          </a:solidFill>
                        </a:rPr>
                        <a:t>Azkaban</a:t>
                      </a:r>
                      <a:r>
                        <a:rPr lang="en-US" sz="1200" baseline="30000" dirty="0" smtClean="0">
                          <a:solidFill>
                            <a:schemeClr val="tx1"/>
                          </a:solidFill>
                        </a:rPr>
                        <a:t>®</a:t>
                      </a:r>
                      <a:endParaRPr lang="en-US" sz="1200" dirty="0" smtClean="0">
                        <a:solidFill>
                          <a:schemeClr val="tx1"/>
                        </a:solidFill>
                      </a:endParaRPr>
                    </a:p>
                  </a:txBody>
                  <a:tcPr>
                    <a:solidFill>
                      <a:schemeClr val="bg1">
                        <a:lumMod val="95000"/>
                      </a:schemeClr>
                    </a:solidFill>
                  </a:tcPr>
                </a:tc>
              </a:tr>
              <a:tr h="834019">
                <a:tc>
                  <a:txBody>
                    <a:bodyPr/>
                    <a:lstStyle/>
                    <a:p>
                      <a:pPr algn="l"/>
                      <a:r>
                        <a:rPr lang="en-US" b="1" dirty="0" smtClean="0">
                          <a:solidFill>
                            <a:schemeClr val="bg1"/>
                          </a:solidFill>
                        </a:rPr>
                        <a:t>Solution Highlights</a:t>
                      </a:r>
                      <a:endParaRPr lang="en-US" b="1" dirty="0">
                        <a:solidFill>
                          <a:schemeClr val="bg1"/>
                        </a:solidFill>
                      </a:endParaRPr>
                    </a:p>
                  </a:txBody>
                  <a:tcPr>
                    <a:solidFill>
                      <a:schemeClr val="accent2"/>
                    </a:solidFill>
                  </a:tcPr>
                </a:tc>
                <a:tc gridSpan="3">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dirty="0" smtClean="0">
                          <a:solidFill>
                            <a:schemeClr val="tx1"/>
                          </a:solidFill>
                        </a:rPr>
                        <a:t>The retailer</a:t>
                      </a:r>
                      <a:r>
                        <a:rPr lang="en-US" sz="1200" b="0" baseline="0" dirty="0" smtClean="0">
                          <a:solidFill>
                            <a:schemeClr val="tx1"/>
                          </a:solidFill>
                        </a:rPr>
                        <a:t> </a:t>
                      </a:r>
                      <a:r>
                        <a:rPr lang="en-US" sz="1200" b="0" dirty="0" smtClean="0">
                          <a:solidFill>
                            <a:schemeClr val="tx1"/>
                          </a:solidFill>
                        </a:rPr>
                        <a:t>was able to use a recommended engine architecture to increase their revenue over 10%, which equated to roughly 300 million dollars. The client was also able to keep a historical track record of over 100GB per day in real-time. This data was then used for reporting metrics on their clickstream data.  </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dirty="0" smtClean="0">
                        <a:solidFill>
                          <a:schemeClr val="tx1"/>
                        </a:solidFill>
                      </a:endParaRPr>
                    </a:p>
                    <a:p>
                      <a:pPr marL="0" indent="0">
                        <a:buFont typeface="Arial" panose="020B0604020202020204" pitchFamily="34" charset="0"/>
                        <a:buNone/>
                      </a:pPr>
                      <a:r>
                        <a:rPr lang="en-US" sz="1200" dirty="0" smtClean="0"/>
                        <a:t>Solution highlights</a:t>
                      </a:r>
                      <a:r>
                        <a:rPr lang="en-US" sz="1200" baseline="0" dirty="0" smtClean="0"/>
                        <a:t> included:</a:t>
                      </a:r>
                      <a:endParaRPr lang="en-US" sz="1200" dirty="0" smtClean="0"/>
                    </a:p>
                    <a:p>
                      <a:pPr marL="228600" indent="-228600">
                        <a:buFont typeface="Arial" panose="020B0604020202020204" pitchFamily="34" charset="0"/>
                        <a:buChar char="•"/>
                      </a:pPr>
                      <a:r>
                        <a:rPr lang="en-US" sz="1200" dirty="0" smtClean="0"/>
                        <a:t>Recommendation as a service layer</a:t>
                      </a:r>
                    </a:p>
                    <a:p>
                      <a:pPr marL="228600" indent="-228600">
                        <a:buFont typeface="Arial" panose="020B0604020202020204" pitchFamily="34" charset="0"/>
                        <a:buChar char="•"/>
                      </a:pPr>
                      <a:r>
                        <a:rPr lang="en-US" sz="1200" dirty="0" smtClean="0"/>
                        <a:t>Recommendations to all departments</a:t>
                      </a:r>
                    </a:p>
                    <a:p>
                      <a:pPr marL="228600" indent="-228600">
                        <a:buFont typeface="Arial" panose="020B0604020202020204" pitchFamily="34" charset="0"/>
                        <a:buChar char="•"/>
                      </a:pPr>
                      <a:r>
                        <a:rPr lang="en-US" sz="1200" dirty="0" smtClean="0"/>
                        <a:t>Real-time log processing</a:t>
                      </a:r>
                    </a:p>
                    <a:p>
                      <a:pPr marL="228600" indent="-228600">
                        <a:buFont typeface="Arial" panose="020B0604020202020204" pitchFamily="34" charset="0"/>
                        <a:buChar char="•"/>
                      </a:pPr>
                      <a:r>
                        <a:rPr lang="en-US" sz="1200" dirty="0" smtClean="0"/>
                        <a:t>Real-time recommendations</a:t>
                      </a:r>
                    </a:p>
                    <a:p>
                      <a:pPr marL="228600" indent="-228600">
                        <a:buFont typeface="Arial" panose="020B0604020202020204" pitchFamily="34" charset="0"/>
                        <a:buChar char="•"/>
                      </a:pPr>
                      <a:r>
                        <a:rPr lang="en-US" sz="1200" dirty="0" smtClean="0"/>
                        <a:t>Large-scale machine learning</a:t>
                      </a:r>
                    </a:p>
                    <a:p>
                      <a:pPr marL="228600" indent="-228600">
                        <a:buFont typeface="Arial" panose="020B0604020202020204" pitchFamily="34" charset="0"/>
                        <a:buChar char="•"/>
                      </a:pPr>
                      <a:r>
                        <a:rPr lang="en-US" sz="1200" dirty="0" smtClean="0"/>
                        <a:t>Data and processing on S3</a:t>
                      </a:r>
                      <a:r>
                        <a:rPr lang="en-US" sz="1200" baseline="30000" dirty="0" smtClean="0">
                          <a:solidFill>
                            <a:schemeClr val="tx1"/>
                          </a:solidFill>
                        </a:rPr>
                        <a:t>®</a:t>
                      </a:r>
                      <a:r>
                        <a:rPr lang="en-US" sz="1200" dirty="0" smtClean="0"/>
                        <a:t> and EMR in AWS</a:t>
                      </a:r>
                      <a:r>
                        <a:rPr lang="en-US" sz="1200" baseline="30000" dirty="0" smtClean="0">
                          <a:solidFill>
                            <a:schemeClr val="tx1"/>
                          </a:solidFill>
                        </a:rPr>
                        <a:t>®</a:t>
                      </a:r>
                      <a:endParaRPr lang="en-US" sz="1200" dirty="0" smtClean="0"/>
                    </a:p>
                  </a:txBody>
                  <a:tcPr>
                    <a:solidFill>
                      <a:schemeClr val="bg1">
                        <a:lumMod val="95000"/>
                      </a:schemeClr>
                    </a:solidFill>
                  </a:tcPr>
                </a:tc>
                <a:tc hMerge="1">
                  <a:txBody>
                    <a:bodyPr/>
                    <a:lstStyle/>
                    <a:p>
                      <a:endParaRPr lang="en-US"/>
                    </a:p>
                  </a:txBody>
                  <a:tcPr/>
                </a:tc>
                <a:tc hMerge="1">
                  <a:txBody>
                    <a:bodyPr/>
                    <a:lstStyle/>
                    <a:p>
                      <a:endParaRPr lang="en-US"/>
                    </a:p>
                  </a:txBody>
                  <a:tcPr/>
                </a:tc>
              </a:tr>
            </a:tbl>
          </a:graphicData>
        </a:graphic>
      </p:graphicFrame>
      <p:sp>
        <p:nvSpPr>
          <p:cNvPr id="6" name="Footer Placeholder 3"/>
          <p:cNvSpPr>
            <a:spLocks noGrp="1"/>
          </p:cNvSpPr>
          <p:nvPr>
            <p:ph type="ftr" sz="quarter" idx="15"/>
          </p:nvPr>
        </p:nvSpPr>
        <p:spPr>
          <a:xfrm>
            <a:off x="455613" y="6575425"/>
            <a:ext cx="4060825" cy="128588"/>
          </a:xfrm>
        </p:spPr>
        <p:txBody>
          <a:bodyPr/>
          <a:lstStyle/>
          <a:p>
            <a:r>
              <a:rPr lang="en-US" dirty="0" smtClean="0"/>
              <a:t>Copyright © 2015 Accenture  All rights reserved.</a:t>
            </a:r>
            <a:endParaRPr lang="en-AU" dirty="0"/>
          </a:p>
        </p:txBody>
      </p:sp>
      <p:sp>
        <p:nvSpPr>
          <p:cNvPr id="8"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83</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44625227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lvl="0"/>
            <a:r>
              <a:rPr lang="en-US" dirty="0" smtClean="0"/>
              <a:t>Real-Time Customer Analysis</a:t>
            </a:r>
            <a:endParaRPr lang="en-US" b="0" dirty="0"/>
          </a:p>
        </p:txBody>
      </p:sp>
      <p:graphicFrame>
        <p:nvGraphicFramePr>
          <p:cNvPr id="7" name="Table 6"/>
          <p:cNvGraphicFramePr>
            <a:graphicFrameLocks noGrp="1"/>
          </p:cNvGraphicFramePr>
          <p:nvPr>
            <p:extLst/>
          </p:nvPr>
        </p:nvGraphicFramePr>
        <p:xfrm>
          <a:off x="457200" y="1371600"/>
          <a:ext cx="8232776" cy="5328285"/>
        </p:xfrm>
        <a:graphic>
          <a:graphicData uri="http://schemas.openxmlformats.org/drawingml/2006/table">
            <a:tbl>
              <a:tblPr firstRow="1" bandRow="1">
                <a:tableStyleId>{21E4AEA4-8DFA-4A89-87EB-49C32662AFE0}</a:tableStyleId>
              </a:tblPr>
              <a:tblGrid>
                <a:gridCol w="1925639"/>
                <a:gridCol w="2102379"/>
                <a:gridCol w="2102379"/>
                <a:gridCol w="2102379"/>
              </a:tblGrid>
              <a:tr h="847725">
                <a:tc>
                  <a:txBody>
                    <a:bodyPr/>
                    <a:lstStyle/>
                    <a:p>
                      <a:pPr algn="l"/>
                      <a:r>
                        <a:rPr lang="en-US" b="1" dirty="0" smtClean="0">
                          <a:solidFill>
                            <a:schemeClr val="bg1"/>
                          </a:solidFill>
                        </a:rPr>
                        <a:t>Business Need</a:t>
                      </a:r>
                      <a:endParaRPr lang="en-US" b="1" dirty="0">
                        <a:solidFill>
                          <a:schemeClr val="bg1"/>
                        </a:solidFill>
                      </a:endParaRPr>
                    </a:p>
                  </a:txBody>
                  <a:tcPr>
                    <a:lnB w="6350" cap="flat" cmpd="sng" algn="ctr">
                      <a:solidFill>
                        <a:schemeClr val="bg1"/>
                      </a:solidFill>
                      <a:prstDash val="solid"/>
                      <a:round/>
                      <a:headEnd type="none" w="med" len="med"/>
                      <a:tailEnd type="none" w="med" len="med"/>
                    </a:lnB>
                    <a:solidFill>
                      <a:schemeClr val="accent2"/>
                    </a:solidFill>
                  </a:tcPr>
                </a:tc>
                <a:tc gridSpan="3">
                  <a:txBody>
                    <a:bodyPr/>
                    <a:lstStyle/>
                    <a:p>
                      <a:r>
                        <a:rPr lang="en-US" sz="1200" b="0" i="0" kern="1200" dirty="0" smtClean="0">
                          <a:solidFill>
                            <a:schemeClr val="dk1"/>
                          </a:solidFill>
                          <a:effectLst/>
                          <a:latin typeface="+mn-lt"/>
                          <a:ea typeface="+mn-ea"/>
                          <a:cs typeface="+mn-cs"/>
                        </a:rPr>
                        <a:t>A large U.S.</a:t>
                      </a:r>
                      <a:r>
                        <a:rPr lang="en-US" sz="1200" b="0" i="0" kern="1200" baseline="0" dirty="0" smtClean="0">
                          <a:solidFill>
                            <a:schemeClr val="dk1"/>
                          </a:solidFill>
                          <a:effectLst/>
                          <a:latin typeface="+mn-lt"/>
                          <a:ea typeface="+mn-ea"/>
                          <a:cs typeface="+mn-cs"/>
                        </a:rPr>
                        <a:t> b</a:t>
                      </a:r>
                      <a:r>
                        <a:rPr lang="en-US" sz="1200" b="0" i="0" kern="1200" dirty="0" smtClean="0">
                          <a:solidFill>
                            <a:schemeClr val="dk1"/>
                          </a:solidFill>
                          <a:effectLst/>
                          <a:latin typeface="+mn-lt"/>
                          <a:ea typeface="+mn-ea"/>
                          <a:cs typeface="+mn-cs"/>
                        </a:rPr>
                        <a:t>ank had multiple online banking applications across three</a:t>
                      </a:r>
                      <a:r>
                        <a:rPr lang="en-US" sz="1200" b="0" i="0" kern="1200" baseline="0" dirty="0" smtClean="0">
                          <a:solidFill>
                            <a:schemeClr val="dk1"/>
                          </a:solidFill>
                          <a:effectLst/>
                          <a:latin typeface="+mn-lt"/>
                          <a:ea typeface="+mn-ea"/>
                          <a:cs typeface="+mn-cs"/>
                        </a:rPr>
                        <a:t> global</a:t>
                      </a:r>
                      <a:r>
                        <a:rPr lang="en-US" sz="1200" b="0" i="0" kern="1200" dirty="0" smtClean="0">
                          <a:solidFill>
                            <a:schemeClr val="dk1"/>
                          </a:solidFill>
                          <a:effectLst/>
                          <a:latin typeface="+mn-lt"/>
                          <a:ea typeface="+mn-ea"/>
                          <a:cs typeface="+mn-cs"/>
                        </a:rPr>
                        <a:t> data centers.</a:t>
                      </a:r>
                      <a:r>
                        <a:rPr lang="en-US" sz="1200" b="0" i="0" kern="1200" baseline="0" dirty="0" smtClean="0">
                          <a:solidFill>
                            <a:schemeClr val="dk1"/>
                          </a:solidFill>
                          <a:effectLst/>
                          <a:latin typeface="+mn-lt"/>
                          <a:ea typeface="+mn-ea"/>
                          <a:cs typeface="+mn-cs"/>
                        </a:rPr>
                        <a:t> </a:t>
                      </a:r>
                      <a:r>
                        <a:rPr lang="en-US" sz="1200" b="0" i="0" kern="1200" dirty="0" smtClean="0">
                          <a:solidFill>
                            <a:schemeClr val="dk1"/>
                          </a:solidFill>
                          <a:effectLst/>
                          <a:latin typeface="+mn-lt"/>
                          <a:ea typeface="+mn-ea"/>
                          <a:cs typeface="+mn-cs"/>
                        </a:rPr>
                        <a:t>Each user action in the online application system was tracked, generating approximately 200</a:t>
                      </a:r>
                      <a:r>
                        <a:rPr lang="en-US" sz="1200" b="0" i="0" kern="1200" baseline="0" dirty="0" smtClean="0">
                          <a:solidFill>
                            <a:schemeClr val="dk1"/>
                          </a:solidFill>
                          <a:effectLst/>
                          <a:latin typeface="+mn-lt"/>
                          <a:ea typeface="+mn-ea"/>
                          <a:cs typeface="+mn-cs"/>
                        </a:rPr>
                        <a:t> million </a:t>
                      </a:r>
                      <a:r>
                        <a:rPr lang="en-US" sz="1200" b="0" i="0" kern="1200" dirty="0" smtClean="0">
                          <a:solidFill>
                            <a:schemeClr val="dk1"/>
                          </a:solidFill>
                          <a:effectLst/>
                          <a:latin typeface="+mn-lt"/>
                          <a:ea typeface="+mn-ea"/>
                          <a:cs typeface="+mn-cs"/>
                        </a:rPr>
                        <a:t>messages per day,</a:t>
                      </a:r>
                      <a:r>
                        <a:rPr lang="en-US" sz="1200" b="0" i="0" kern="1200" baseline="0" dirty="0" smtClean="0">
                          <a:solidFill>
                            <a:schemeClr val="dk1"/>
                          </a:solidFill>
                          <a:effectLst/>
                          <a:latin typeface="+mn-lt"/>
                          <a:ea typeface="+mn-ea"/>
                          <a:cs typeface="+mn-cs"/>
                        </a:rPr>
                        <a:t> which </a:t>
                      </a:r>
                      <a:r>
                        <a:rPr lang="en-US" sz="1200" b="0" i="0" kern="1200" dirty="0" smtClean="0">
                          <a:solidFill>
                            <a:schemeClr val="dk1"/>
                          </a:solidFill>
                          <a:effectLst/>
                          <a:latin typeface="+mn-lt"/>
                          <a:ea typeface="+mn-ea"/>
                          <a:cs typeface="+mn-cs"/>
                        </a:rPr>
                        <a:t>were required to be logged and replicated globally to allow for further customer and application analysis. </a:t>
                      </a:r>
                    </a:p>
                  </a:txBody>
                  <a:tcPr>
                    <a:lnB w="6350" cap="flat" cmpd="sng" algn="ctr">
                      <a:solidFill>
                        <a:schemeClr val="bg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a:p>
                  </a:txBody>
                  <a:tcPr/>
                </a:tc>
              </a:tr>
              <a:tr h="950494">
                <a:tc>
                  <a:txBody>
                    <a:bodyPr/>
                    <a:lstStyle/>
                    <a:p>
                      <a:pPr algn="l"/>
                      <a:r>
                        <a:rPr lang="en-US" b="1" dirty="0" smtClean="0">
                          <a:solidFill>
                            <a:schemeClr val="bg1"/>
                          </a:solidFill>
                        </a:rPr>
                        <a:t>Current Challenges</a:t>
                      </a:r>
                      <a:endParaRPr lang="en-US" b="1" dirty="0">
                        <a:solidFill>
                          <a:schemeClr val="bg1"/>
                        </a:solidFill>
                      </a:endParaRPr>
                    </a:p>
                  </a:txBody>
                  <a:tcPr>
                    <a:lnT w="6350" cap="flat" cmpd="sng" algn="ctr">
                      <a:solidFill>
                        <a:schemeClr val="bg1"/>
                      </a:solidFill>
                      <a:prstDash val="solid"/>
                      <a:round/>
                      <a:headEnd type="none" w="med" len="med"/>
                      <a:tailEnd type="none" w="med" len="med"/>
                    </a:lnT>
                    <a:solidFill>
                      <a:schemeClr val="accent2"/>
                    </a:solidFill>
                  </a:tcPr>
                </a:tc>
                <a:tc gridSpan="3">
                  <a:txBody>
                    <a:bodyPr/>
                    <a:lstStyle/>
                    <a:p>
                      <a:pPr marL="0" indent="0">
                        <a:buFont typeface="Arial" panose="020B0604020202020204" pitchFamily="34" charset="0"/>
                        <a:buNone/>
                      </a:pPr>
                      <a:r>
                        <a:rPr lang="en-US" sz="1200" dirty="0" smtClean="0">
                          <a:solidFill>
                            <a:schemeClr val="tx1"/>
                          </a:solidFill>
                        </a:rPr>
                        <a:t>The current infrastructure could not keep up with the pace of processing this data at four hour intervals per the original design.</a:t>
                      </a:r>
                      <a:r>
                        <a:rPr lang="en-US" sz="1200" baseline="0" dirty="0" smtClean="0">
                          <a:solidFill>
                            <a:schemeClr val="tx1"/>
                          </a:solidFill>
                        </a:rPr>
                        <a:t> </a:t>
                      </a:r>
                      <a:r>
                        <a:rPr lang="en-US" sz="1200" dirty="0" smtClean="0">
                          <a:solidFill>
                            <a:schemeClr val="tx1"/>
                          </a:solidFill>
                        </a:rPr>
                        <a:t>The existing RDBMS, Informix</a:t>
                      </a:r>
                      <a:r>
                        <a:rPr lang="en-US" sz="1200" baseline="30000" dirty="0" smtClean="0">
                          <a:solidFill>
                            <a:schemeClr val="tx1"/>
                          </a:solidFill>
                        </a:rPr>
                        <a:t>®</a:t>
                      </a:r>
                      <a:r>
                        <a:rPr lang="en-US" sz="1200" dirty="0" smtClean="0">
                          <a:solidFill>
                            <a:schemeClr val="tx1"/>
                          </a:solidFill>
                        </a:rPr>
                        <a:t>, was also unable to provide a sustainable geo-redundant capability,</a:t>
                      </a:r>
                      <a:r>
                        <a:rPr lang="en-US" sz="1200" baseline="0" dirty="0" smtClean="0">
                          <a:solidFill>
                            <a:schemeClr val="tx1"/>
                          </a:solidFill>
                        </a:rPr>
                        <a:t> l</a:t>
                      </a:r>
                      <a:r>
                        <a:rPr lang="en-US" sz="1200" dirty="0" smtClean="0">
                          <a:solidFill>
                            <a:schemeClr val="tx1"/>
                          </a:solidFill>
                        </a:rPr>
                        <a:t>eaving the bank vulnerable during planned down times at different data centers. There was a need for active geographic redundancy to attain necessary resiliency and more immediate access to data regardless of original location.</a:t>
                      </a:r>
                    </a:p>
                    <a:p>
                      <a:pPr marL="0" indent="0">
                        <a:buFont typeface="Arial" panose="020B0604020202020204" pitchFamily="34" charset="0"/>
                        <a:buNone/>
                      </a:pPr>
                      <a:endParaRPr lang="en-US" sz="1200" dirty="0" smtClean="0">
                        <a:solidFill>
                          <a:schemeClr val="tx1"/>
                        </a:solidFill>
                      </a:endParaRPr>
                    </a:p>
                    <a:p>
                      <a:pPr marL="0" indent="0">
                        <a:buFont typeface="Arial" panose="020B0604020202020204" pitchFamily="34" charset="0"/>
                        <a:buNone/>
                      </a:pPr>
                      <a:r>
                        <a:rPr lang="en-US" sz="1200" dirty="0" smtClean="0">
                          <a:solidFill>
                            <a:schemeClr val="tx1"/>
                          </a:solidFill>
                        </a:rPr>
                        <a:t>The bank wanted the ability to perform near real-time analysis of incoming data</a:t>
                      </a:r>
                      <a:r>
                        <a:rPr lang="en-US" sz="1200" baseline="0" dirty="0" smtClean="0">
                          <a:solidFill>
                            <a:schemeClr val="tx1"/>
                          </a:solidFill>
                        </a:rPr>
                        <a:t> and </a:t>
                      </a:r>
                      <a:r>
                        <a:rPr lang="en-US" sz="1200" dirty="0" smtClean="0">
                          <a:solidFill>
                            <a:schemeClr val="tx1"/>
                          </a:solidFill>
                        </a:rPr>
                        <a:t>required a capability to achieve continuous high data ingestion speed of 5,000 messages per second or higher. </a:t>
                      </a:r>
                    </a:p>
                  </a:txBody>
                  <a:tcPr>
                    <a:lnT w="6350" cap="flat" cmpd="sng" algn="ctr">
                      <a:solidFill>
                        <a:schemeClr val="bg1"/>
                      </a:solidFill>
                      <a:prstDash val="solid"/>
                      <a:round/>
                      <a:headEnd type="none" w="med" len="med"/>
                      <a:tailEnd type="none" w="med" len="med"/>
                    </a:lnT>
                    <a:solidFill>
                      <a:schemeClr val="bg1">
                        <a:lumMod val="95000"/>
                      </a:schemeClr>
                    </a:solidFill>
                  </a:tcPr>
                </a:tc>
                <a:tc hMerge="1">
                  <a:txBody>
                    <a:bodyPr/>
                    <a:lstStyle/>
                    <a:p>
                      <a:endParaRPr lang="en-US"/>
                    </a:p>
                  </a:txBody>
                  <a:tcPr/>
                </a:tc>
                <a:tc hMerge="1">
                  <a:txBody>
                    <a:bodyPr/>
                    <a:lstStyle/>
                    <a:p>
                      <a:endParaRPr lang="en-US"/>
                    </a:p>
                  </a:txBody>
                  <a:tcPr/>
                </a:tc>
              </a:tr>
              <a:tr h="632460">
                <a:tc>
                  <a:txBody>
                    <a:bodyPr/>
                    <a:lstStyle/>
                    <a:p>
                      <a:pPr algn="l"/>
                      <a:r>
                        <a:rPr lang="en-US" b="1" dirty="0" smtClean="0">
                          <a:solidFill>
                            <a:schemeClr val="bg1"/>
                          </a:solidFill>
                        </a:rPr>
                        <a:t>Technologies</a:t>
                      </a:r>
                      <a:r>
                        <a:rPr lang="en-US" b="1" baseline="0" dirty="0" smtClean="0">
                          <a:solidFill>
                            <a:schemeClr val="bg1"/>
                          </a:solidFill>
                        </a:rPr>
                        <a:t> Used</a:t>
                      </a:r>
                      <a:endParaRPr lang="en-US" b="1" dirty="0">
                        <a:solidFill>
                          <a:schemeClr val="bg1"/>
                        </a:solidFill>
                      </a:endParaRPr>
                    </a:p>
                  </a:txBody>
                  <a:tcPr>
                    <a:solidFill>
                      <a:schemeClr val="accent2"/>
                    </a:solidFill>
                  </a:tcPr>
                </a:tc>
                <a:tc>
                  <a:txBody>
                    <a:bodyPr/>
                    <a:lstStyle/>
                    <a:p>
                      <a:pPr marL="171450" indent="-171450">
                        <a:buFont typeface="Arial" panose="020B0604020202020204" pitchFamily="34" charset="0"/>
                        <a:buChar char="•"/>
                      </a:pPr>
                      <a:r>
                        <a:rPr lang="en-US" sz="1200" dirty="0" smtClean="0"/>
                        <a:t>Hadoop</a:t>
                      </a:r>
                      <a:r>
                        <a:rPr lang="en-US" sz="1200" baseline="30000" dirty="0" smtClean="0">
                          <a:solidFill>
                            <a:schemeClr val="tx1"/>
                          </a:solidFill>
                        </a:rPr>
                        <a:t>®</a:t>
                      </a:r>
                      <a:r>
                        <a:rPr lang="en-US" sz="1200" dirty="0" smtClean="0"/>
                        <a:t>, HDFS, Hive</a:t>
                      </a:r>
                      <a:r>
                        <a:rPr lang="en-US" sz="1200" dirty="0" smtClean="0">
                          <a:solidFill>
                            <a:schemeClr val="tx1"/>
                          </a:solidFill>
                        </a:rPr>
                        <a:t>™</a:t>
                      </a:r>
                      <a:endParaRPr lang="en-US" sz="1200" dirty="0" smtClean="0"/>
                    </a:p>
                    <a:p>
                      <a:pPr marL="171450" indent="-171450">
                        <a:buFont typeface="Arial" panose="020B0604020202020204" pitchFamily="34" charset="0"/>
                        <a:buChar char="•"/>
                      </a:pPr>
                      <a:r>
                        <a:rPr lang="en-US" sz="1200" dirty="0" smtClean="0"/>
                        <a:t>MapReduce</a:t>
                      </a:r>
                    </a:p>
                  </a:txBody>
                  <a:tcPr>
                    <a:solidFill>
                      <a:schemeClr val="bg1">
                        <a:lumMod val="95000"/>
                      </a:schemeClr>
                    </a:solidFill>
                  </a:tcPr>
                </a:tc>
                <a:tc>
                  <a:txBody>
                    <a:bodyPr/>
                    <a:lstStyle/>
                    <a:p>
                      <a:pPr marL="171450" indent="-171450">
                        <a:buFont typeface="Arial" panose="020B0604020202020204" pitchFamily="34" charset="0"/>
                        <a:buChar char="•"/>
                      </a:pPr>
                      <a:r>
                        <a:rPr lang="en-US" sz="1200" dirty="0" smtClean="0"/>
                        <a:t>Thrift</a:t>
                      </a:r>
                      <a:r>
                        <a:rPr lang="en-US" sz="1200" dirty="0" smtClean="0">
                          <a:solidFill>
                            <a:schemeClr val="tx1"/>
                          </a:solidFill>
                        </a:rPr>
                        <a:t>™</a:t>
                      </a:r>
                      <a:endParaRPr lang="en-US" sz="1200" dirty="0" smtClean="0"/>
                    </a:p>
                    <a:p>
                      <a:pPr marL="171450" indent="-171450">
                        <a:buFont typeface="Arial" panose="020B0604020202020204" pitchFamily="34" charset="0"/>
                        <a:buChar char="•"/>
                      </a:pPr>
                      <a:r>
                        <a:rPr lang="en-US" sz="1200" dirty="0" smtClean="0"/>
                        <a:t>Cassandra</a:t>
                      </a:r>
                    </a:p>
                  </a:txBody>
                  <a:tcPr>
                    <a:solidFill>
                      <a:schemeClr val="bg1">
                        <a:lumMod val="95000"/>
                      </a:schemeClr>
                    </a:solidFill>
                  </a:tcPr>
                </a:tc>
                <a:tc>
                  <a:txBody>
                    <a:bodyPr/>
                    <a:lstStyle/>
                    <a:p>
                      <a:pPr marL="228600" indent="-228600">
                        <a:buFont typeface="Arial" panose="020B0604020202020204" pitchFamily="34" charset="0"/>
                        <a:buChar char="•"/>
                      </a:pPr>
                      <a:r>
                        <a:rPr lang="en-US" sz="1200" dirty="0" smtClean="0">
                          <a:solidFill>
                            <a:schemeClr val="tx1"/>
                          </a:solidFill>
                        </a:rPr>
                        <a:t>MQ Series for storing messages</a:t>
                      </a:r>
                    </a:p>
                    <a:p>
                      <a:pPr marL="228600" indent="-228600">
                        <a:buFont typeface="Arial" panose="020B0604020202020204" pitchFamily="34" charset="0"/>
                        <a:buChar char="•"/>
                      </a:pPr>
                      <a:r>
                        <a:rPr lang="en-US" sz="1200" dirty="0" smtClean="0">
                          <a:solidFill>
                            <a:schemeClr val="tx1"/>
                          </a:solidFill>
                        </a:rPr>
                        <a:t>WebSphere</a:t>
                      </a:r>
                      <a:r>
                        <a:rPr lang="en-US" sz="1200" baseline="30000" dirty="0" smtClean="0">
                          <a:solidFill>
                            <a:schemeClr val="tx1"/>
                          </a:solidFill>
                        </a:rPr>
                        <a:t>®</a:t>
                      </a:r>
                      <a:r>
                        <a:rPr lang="en-US" sz="1200" dirty="0" smtClean="0">
                          <a:solidFill>
                            <a:schemeClr val="tx1"/>
                          </a:solidFill>
                        </a:rPr>
                        <a:t> MDB</a:t>
                      </a:r>
                    </a:p>
                  </a:txBody>
                  <a:tcPr>
                    <a:solidFill>
                      <a:schemeClr val="bg1">
                        <a:lumMod val="95000"/>
                      </a:schemeClr>
                    </a:solidFill>
                  </a:tcPr>
                </a:tc>
              </a:tr>
              <a:tr h="834019">
                <a:tc>
                  <a:txBody>
                    <a:bodyPr/>
                    <a:lstStyle/>
                    <a:p>
                      <a:pPr algn="l"/>
                      <a:r>
                        <a:rPr lang="en-US" b="1" dirty="0" smtClean="0">
                          <a:solidFill>
                            <a:schemeClr val="bg1"/>
                          </a:solidFill>
                        </a:rPr>
                        <a:t>Solution Highlights</a:t>
                      </a:r>
                      <a:endParaRPr lang="en-US" b="1" dirty="0">
                        <a:solidFill>
                          <a:schemeClr val="bg1"/>
                        </a:solidFill>
                      </a:endParaRPr>
                    </a:p>
                  </a:txBody>
                  <a:tcPr>
                    <a:solidFill>
                      <a:schemeClr val="accent2"/>
                    </a:solidFill>
                  </a:tcPr>
                </a:tc>
                <a:tc gridSpan="3">
                  <a:txBody>
                    <a:bodyPr/>
                    <a:lstStyle/>
                    <a:p>
                      <a:pPr marL="0" indent="0">
                        <a:buFont typeface="Arial" panose="020B0604020202020204" pitchFamily="34" charset="0"/>
                        <a:buNone/>
                      </a:pPr>
                      <a:r>
                        <a:rPr lang="en-US" sz="1200" dirty="0" smtClean="0"/>
                        <a:t>A</a:t>
                      </a:r>
                      <a:r>
                        <a:rPr lang="en-US" sz="1200" baseline="0" dirty="0" smtClean="0"/>
                        <a:t> </a:t>
                      </a:r>
                      <a:r>
                        <a:rPr lang="en-US" sz="1200" dirty="0" smtClean="0"/>
                        <a:t>solution leveraging a non-relational data store (Cassandra) to increase performance and meet business objectives was proposed</a:t>
                      </a:r>
                      <a:r>
                        <a:rPr lang="en-US" sz="1200" baseline="0" dirty="0" smtClean="0"/>
                        <a:t> to address the client’s business needs.</a:t>
                      </a:r>
                    </a:p>
                    <a:p>
                      <a:pPr marL="0" indent="0">
                        <a:buFont typeface="Arial" panose="020B0604020202020204" pitchFamily="34" charset="0"/>
                        <a:buNone/>
                      </a:pPr>
                      <a:endParaRPr lang="en-US" sz="1200" baseline="0" dirty="0" smtClean="0"/>
                    </a:p>
                    <a:p>
                      <a:pPr marL="0" indent="0">
                        <a:buFont typeface="Arial" panose="020B0604020202020204" pitchFamily="34" charset="0"/>
                        <a:buNone/>
                      </a:pPr>
                      <a:r>
                        <a:rPr lang="en-US" sz="1200" baseline="0" dirty="0" smtClean="0"/>
                        <a:t>Solution highlights included:</a:t>
                      </a:r>
                      <a:endParaRPr lang="en-US" sz="1200" dirty="0" smtClean="0"/>
                    </a:p>
                    <a:p>
                      <a:pPr marL="171450" indent="-171450">
                        <a:buFont typeface="Arial" panose="020B0604020202020204" pitchFamily="34" charset="0"/>
                        <a:buChar char="•"/>
                      </a:pPr>
                      <a:r>
                        <a:rPr lang="en-US" sz="1200" dirty="0" smtClean="0"/>
                        <a:t>A Cassandra data model to support high speed writes and reads</a:t>
                      </a:r>
                    </a:p>
                    <a:p>
                      <a:pPr marL="171450" indent="-171450">
                        <a:buFont typeface="Arial" panose="020B0604020202020204" pitchFamily="34" charset="0"/>
                        <a:buChar char="•"/>
                      </a:pPr>
                      <a:r>
                        <a:rPr lang="en-US" sz="1200" dirty="0" smtClean="0"/>
                        <a:t>A high volume ingestion and extraction process using Hector and Thrift</a:t>
                      </a:r>
                      <a:r>
                        <a:rPr lang="en-US" sz="1200" dirty="0" smtClean="0">
                          <a:solidFill>
                            <a:schemeClr val="tx1"/>
                          </a:solidFill>
                        </a:rPr>
                        <a:t>™</a:t>
                      </a:r>
                      <a:r>
                        <a:rPr lang="en-US" sz="1200" dirty="0" smtClean="0"/>
                        <a:t> interfaces</a:t>
                      </a:r>
                    </a:p>
                    <a:p>
                      <a:pPr marL="171450" indent="-171450">
                        <a:buFont typeface="Arial" panose="020B0604020202020204" pitchFamily="34" charset="0"/>
                        <a:buChar char="•"/>
                      </a:pPr>
                      <a:r>
                        <a:rPr lang="en-US" sz="1200" dirty="0" smtClean="0"/>
                        <a:t>A Cassandra cluster designed and configured across two</a:t>
                      </a:r>
                      <a:r>
                        <a:rPr lang="en-US" sz="1200" baseline="0" dirty="0" smtClean="0"/>
                        <a:t> </a:t>
                      </a:r>
                      <a:r>
                        <a:rPr lang="en-US" sz="1200" dirty="0" smtClean="0"/>
                        <a:t>geographically distant physical data centers</a:t>
                      </a:r>
                    </a:p>
                    <a:p>
                      <a:pPr marL="171450" indent="-171450">
                        <a:buFont typeface="Arial" panose="020B0604020202020204" pitchFamily="34" charset="0"/>
                        <a:buChar char="•"/>
                      </a:pPr>
                      <a:r>
                        <a:rPr lang="en-US" sz="1200" dirty="0" smtClean="0"/>
                        <a:t>6TB of data storage across an 18 node cluster</a:t>
                      </a:r>
                    </a:p>
                    <a:p>
                      <a:pPr marL="171450" indent="-171450">
                        <a:buFont typeface="Arial" panose="020B0604020202020204" pitchFamily="34" charset="0"/>
                        <a:buChar char="•"/>
                      </a:pPr>
                      <a:r>
                        <a:rPr lang="en-US" sz="1200" dirty="0" smtClean="0"/>
                        <a:t>PHP clients for near real-time querying of operational data</a:t>
                      </a:r>
                    </a:p>
                  </a:txBody>
                  <a:tcPr>
                    <a:solidFill>
                      <a:schemeClr val="bg1">
                        <a:lumMod val="95000"/>
                      </a:schemeClr>
                    </a:solidFill>
                  </a:tcPr>
                </a:tc>
                <a:tc hMerge="1">
                  <a:txBody>
                    <a:bodyPr/>
                    <a:lstStyle/>
                    <a:p>
                      <a:endParaRPr lang="en-US"/>
                    </a:p>
                  </a:txBody>
                  <a:tcPr/>
                </a:tc>
                <a:tc hMerge="1">
                  <a:txBody>
                    <a:bodyPr/>
                    <a:lstStyle/>
                    <a:p>
                      <a:endParaRPr lang="en-US"/>
                    </a:p>
                  </a:txBody>
                  <a:tcPr/>
                </a:tc>
              </a:tr>
            </a:tbl>
          </a:graphicData>
        </a:graphic>
      </p:graphicFrame>
    </p:spTree>
    <p:extLst>
      <p:ext uri="{BB962C8B-B14F-4D97-AF65-F5344CB8AC3E}">
        <p14:creationId xmlns:p14="http://schemas.microsoft.com/office/powerpoint/2010/main" val="363469700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8827" y="1367790"/>
            <a:ext cx="3571875" cy="2381250"/>
          </a:xfrm>
          <a:prstGeom prst="rect">
            <a:avLst/>
          </a:prstGeom>
        </p:spPr>
      </p:pic>
      <p:sp>
        <p:nvSpPr>
          <p:cNvPr id="3" name="Title 2"/>
          <p:cNvSpPr>
            <a:spLocks noGrp="1"/>
          </p:cNvSpPr>
          <p:nvPr>
            <p:ph type="title"/>
          </p:nvPr>
        </p:nvSpPr>
        <p:spPr/>
        <p:txBody>
          <a:bodyPr/>
          <a:lstStyle/>
          <a:p>
            <a:r>
              <a:rPr lang="en-US" dirty="0" smtClean="0"/>
              <a:t>Value Levers: Financial Services Industry</a:t>
            </a:r>
            <a:endParaRPr lang="en-US" dirty="0"/>
          </a:p>
        </p:txBody>
      </p:sp>
      <p:sp>
        <p:nvSpPr>
          <p:cNvPr id="4" name="Content Placeholder 3"/>
          <p:cNvSpPr>
            <a:spLocks noGrp="1"/>
          </p:cNvSpPr>
          <p:nvPr>
            <p:ph sz="quarter" idx="14"/>
          </p:nvPr>
        </p:nvSpPr>
        <p:spPr>
          <a:xfrm>
            <a:off x="455614" y="1371600"/>
            <a:ext cx="4060824" cy="2767263"/>
          </a:xfrm>
        </p:spPr>
        <p:txBody>
          <a:bodyPr/>
          <a:lstStyle/>
          <a:p>
            <a:pPr marL="0" indent="0">
              <a:buNone/>
            </a:pPr>
            <a:r>
              <a:rPr lang="en-US" sz="1200" dirty="0" smtClean="0"/>
              <a:t>The financial services industry has been experiencing weak </a:t>
            </a:r>
            <a:r>
              <a:rPr lang="en-US" sz="1200" dirty="0"/>
              <a:t>economic growth and regulatory </a:t>
            </a:r>
            <a:r>
              <a:rPr lang="en-US" sz="1200" dirty="0" smtClean="0"/>
              <a:t>uncertainty. They are also facing declining loyalty, competitive threats, and huge </a:t>
            </a:r>
            <a:r>
              <a:rPr lang="en-US" sz="1200" dirty="0"/>
              <a:t>pressures on profitability and </a:t>
            </a:r>
            <a:r>
              <a:rPr lang="en-US" sz="1200" dirty="0" smtClean="0"/>
              <a:t>growth.</a:t>
            </a:r>
          </a:p>
          <a:p>
            <a:pPr marL="0" indent="0">
              <a:buNone/>
            </a:pPr>
            <a:r>
              <a:rPr lang="en-US" sz="1200" dirty="0" smtClean="0"/>
              <a:t>Financial services companies use Big Data for </a:t>
            </a:r>
            <a:r>
              <a:rPr lang="en-US" sz="1200" dirty="0" smtClean="0">
                <a:solidFill>
                  <a:schemeClr val="dk1"/>
                </a:solidFill>
              </a:rPr>
              <a:t>risk modeling, customer </a:t>
            </a:r>
            <a:r>
              <a:rPr lang="en-US" sz="1200" dirty="0">
                <a:solidFill>
                  <a:schemeClr val="dk1"/>
                </a:solidFill>
              </a:rPr>
              <a:t>churn </a:t>
            </a:r>
            <a:r>
              <a:rPr lang="en-US" sz="1200" dirty="0" smtClean="0">
                <a:solidFill>
                  <a:schemeClr val="dk1"/>
                </a:solidFill>
              </a:rPr>
              <a:t>analysis, recommendation engines, and threat </a:t>
            </a:r>
            <a:r>
              <a:rPr lang="en-US" sz="1200" dirty="0">
                <a:solidFill>
                  <a:schemeClr val="dk1"/>
                </a:solidFill>
              </a:rPr>
              <a:t>analysis (fraud detection</a:t>
            </a:r>
            <a:r>
              <a:rPr lang="en-US" sz="1200" dirty="0" smtClean="0">
                <a:solidFill>
                  <a:schemeClr val="dk1"/>
                </a:solidFill>
              </a:rPr>
              <a:t>). </a:t>
            </a:r>
          </a:p>
          <a:p>
            <a:pPr marL="0" indent="0">
              <a:buNone/>
            </a:pPr>
            <a:r>
              <a:rPr lang="en-US" sz="1200" b="1" dirty="0" smtClean="0">
                <a:solidFill>
                  <a:schemeClr val="accent6"/>
                </a:solidFill>
              </a:rPr>
              <a:t>Emerging </a:t>
            </a:r>
            <a:r>
              <a:rPr lang="en-US" sz="1200" b="1" dirty="0">
                <a:solidFill>
                  <a:schemeClr val="accent6"/>
                </a:solidFill>
              </a:rPr>
              <a:t>trends with Big Data in the financial services industry include</a:t>
            </a:r>
            <a:r>
              <a:rPr lang="en-US" sz="1200" b="1" dirty="0" smtClean="0">
                <a:solidFill>
                  <a:schemeClr val="accent6"/>
                </a:solidFill>
              </a:rPr>
              <a:t>:</a:t>
            </a:r>
            <a:endParaRPr lang="en-US" sz="1200" dirty="0" smtClean="0">
              <a:solidFill>
                <a:schemeClr val="dk1"/>
              </a:solidFill>
            </a:endParaRPr>
          </a:p>
          <a:p>
            <a:pPr marL="0" indent="0">
              <a:buNone/>
            </a:pPr>
            <a:endParaRPr lang="en-US" sz="1200" dirty="0"/>
          </a:p>
          <a:p>
            <a:pPr marL="0" indent="0">
              <a:spcBef>
                <a:spcPts val="600"/>
              </a:spcBef>
              <a:buSzPct val="100000"/>
              <a:buNone/>
            </a:pPr>
            <a:endParaRPr lang="en-US" sz="1200" dirty="0"/>
          </a:p>
        </p:txBody>
      </p:sp>
      <p:sp>
        <p:nvSpPr>
          <p:cNvPr id="2" name="Footer Placeholder 1"/>
          <p:cNvSpPr>
            <a:spLocks noGrp="1"/>
          </p:cNvSpPr>
          <p:nvPr>
            <p:ph type="ftr" sz="quarter" idx="15"/>
          </p:nvPr>
        </p:nvSpPr>
        <p:spPr/>
        <p:txBody>
          <a:bodyPr/>
          <a:lstStyle/>
          <a:p>
            <a:r>
              <a:rPr lang="en-US" smtClean="0"/>
              <a:t>Copyright © 2015 Accenture  All rights reserved.</a:t>
            </a:r>
            <a:endParaRPr lang="en-AU" dirty="0"/>
          </a:p>
        </p:txBody>
      </p:sp>
      <p:sp>
        <p:nvSpPr>
          <p:cNvPr id="5" name="Rectangle 4"/>
          <p:cNvSpPr/>
          <p:nvPr/>
        </p:nvSpPr>
        <p:spPr>
          <a:xfrm>
            <a:off x="371475" y="3468187"/>
            <a:ext cx="6915150" cy="2369880"/>
          </a:xfrm>
          <a:prstGeom prst="rect">
            <a:avLst/>
          </a:prstGeom>
        </p:spPr>
        <p:txBody>
          <a:bodyPr wrap="square">
            <a:spAutoFit/>
          </a:bodyPr>
          <a:lstStyle/>
          <a:p>
            <a:pPr marL="228600" indent="-228600">
              <a:spcBef>
                <a:spcPts val="600"/>
              </a:spcBef>
              <a:buSzPct val="100000"/>
              <a:buFont typeface="Arial" panose="020B0604020202020204" pitchFamily="34" charset="0"/>
              <a:buChar char="•"/>
            </a:pPr>
            <a:r>
              <a:rPr lang="en-US" sz="1200" dirty="0"/>
              <a:t>Marketing partnerships to develop enhanced customer profiles</a:t>
            </a:r>
          </a:p>
          <a:p>
            <a:pPr marL="228600" indent="-228600">
              <a:spcBef>
                <a:spcPts val="600"/>
              </a:spcBef>
              <a:buSzPct val="100000"/>
              <a:buFont typeface="Arial" panose="020B0604020202020204" pitchFamily="34" charset="0"/>
              <a:buChar char="•"/>
            </a:pPr>
            <a:r>
              <a:rPr lang="en-US" sz="1200" dirty="0"/>
              <a:t>Targeted offers to </a:t>
            </a:r>
            <a:r>
              <a:rPr lang="en-US" sz="1200" dirty="0" smtClean="0"/>
              <a:t>cross-sell </a:t>
            </a:r>
            <a:r>
              <a:rPr lang="en-US" sz="1200" dirty="0"/>
              <a:t>and up-sell</a:t>
            </a:r>
          </a:p>
          <a:p>
            <a:pPr marL="228600" indent="-228600">
              <a:spcBef>
                <a:spcPts val="600"/>
              </a:spcBef>
              <a:buSzPct val="100000"/>
              <a:buFont typeface="Arial" panose="020B0604020202020204" pitchFamily="34" charset="0"/>
              <a:buChar char="•"/>
            </a:pPr>
            <a:r>
              <a:rPr lang="en-US" sz="1200" dirty="0"/>
              <a:t>Performance marketing </a:t>
            </a:r>
            <a:r>
              <a:rPr lang="en-US" sz="1200" dirty="0" smtClean="0"/>
              <a:t>to </a:t>
            </a:r>
            <a:r>
              <a:rPr lang="en-US" sz="1200" dirty="0"/>
              <a:t>improve promotion effectiveness </a:t>
            </a:r>
          </a:p>
          <a:p>
            <a:pPr marL="228600" indent="-228600">
              <a:spcBef>
                <a:spcPts val="600"/>
              </a:spcBef>
              <a:buSzPct val="100000"/>
              <a:buFont typeface="Arial" panose="020B0604020202020204" pitchFamily="34" charset="0"/>
              <a:buChar char="•"/>
            </a:pPr>
            <a:r>
              <a:rPr lang="en-US" sz="1200" dirty="0" smtClean="0"/>
              <a:t>Improving </a:t>
            </a:r>
            <a:r>
              <a:rPr lang="en-US" sz="1200" dirty="0"/>
              <a:t>360 degree </a:t>
            </a:r>
            <a:r>
              <a:rPr lang="en-US" sz="1200" dirty="0" smtClean="0"/>
              <a:t>customer view by leveraging multiple sources of unstructured data</a:t>
            </a:r>
            <a:endParaRPr lang="en-US" sz="1200" dirty="0"/>
          </a:p>
          <a:p>
            <a:pPr marL="228600" indent="-228600">
              <a:spcBef>
                <a:spcPts val="600"/>
              </a:spcBef>
              <a:buSzPct val="100000"/>
              <a:buFont typeface="Arial" panose="020B0604020202020204" pitchFamily="34" charset="0"/>
              <a:buChar char="•"/>
            </a:pPr>
            <a:r>
              <a:rPr lang="en-US" sz="1200" dirty="0"/>
              <a:t>Customer retention</a:t>
            </a:r>
          </a:p>
          <a:p>
            <a:pPr marL="228600" indent="-228600">
              <a:spcBef>
                <a:spcPts val="600"/>
              </a:spcBef>
              <a:buSzPct val="100000"/>
              <a:buFont typeface="Arial" panose="020B0604020202020204" pitchFamily="34" charset="0"/>
              <a:buChar char="•"/>
            </a:pPr>
            <a:r>
              <a:rPr lang="en-US" sz="1200" dirty="0"/>
              <a:t>Manage credit risks</a:t>
            </a:r>
          </a:p>
          <a:p>
            <a:pPr marL="228600" indent="-228600">
              <a:spcBef>
                <a:spcPts val="600"/>
              </a:spcBef>
              <a:buSzPct val="100000"/>
              <a:buFont typeface="Arial" panose="020B0604020202020204" pitchFamily="34" charset="0"/>
              <a:buChar char="•"/>
            </a:pPr>
            <a:r>
              <a:rPr lang="en-US" sz="1200" dirty="0"/>
              <a:t>Fraud detection and analysis </a:t>
            </a:r>
          </a:p>
          <a:p>
            <a:pPr marL="228600" indent="-228600">
              <a:spcBef>
                <a:spcPts val="600"/>
              </a:spcBef>
              <a:buSzPct val="100000"/>
              <a:buFont typeface="Arial" panose="020B0604020202020204" pitchFamily="34" charset="0"/>
              <a:buChar char="•"/>
            </a:pPr>
            <a:r>
              <a:rPr lang="en-US" sz="1200" dirty="0"/>
              <a:t>Sales force productivity and effectiveness</a:t>
            </a:r>
          </a:p>
          <a:p>
            <a:pPr marL="228600" indent="-228600">
              <a:spcBef>
                <a:spcPts val="600"/>
              </a:spcBef>
              <a:buSzPct val="100000"/>
              <a:buFont typeface="Arial" panose="020B0604020202020204" pitchFamily="34" charset="0"/>
              <a:buChar char="•"/>
            </a:pPr>
            <a:r>
              <a:rPr lang="en-US" sz="1200" dirty="0"/>
              <a:t>Trade portfolio performance and optimization</a:t>
            </a:r>
          </a:p>
        </p:txBody>
      </p:sp>
      <p:sp>
        <p:nvSpPr>
          <p:cNvPr id="8"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85</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289031265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Value Levers: Retail and Consumer Goods Industry</a:t>
            </a:r>
            <a:endParaRPr lang="en-US" dirty="0"/>
          </a:p>
        </p:txBody>
      </p:sp>
      <p:sp>
        <p:nvSpPr>
          <p:cNvPr id="4" name="Content Placeholder 3"/>
          <p:cNvSpPr>
            <a:spLocks noGrp="1"/>
          </p:cNvSpPr>
          <p:nvPr>
            <p:ph sz="quarter" idx="14"/>
          </p:nvPr>
        </p:nvSpPr>
        <p:spPr>
          <a:xfrm>
            <a:off x="455614" y="1371600"/>
            <a:ext cx="5138362" cy="4733365"/>
          </a:xfrm>
        </p:spPr>
        <p:txBody>
          <a:bodyPr/>
          <a:lstStyle/>
          <a:p>
            <a:pPr marL="0" indent="0">
              <a:buNone/>
            </a:pPr>
            <a:r>
              <a:rPr lang="en-US" sz="1200" dirty="0" smtClean="0"/>
              <a:t>Consumer </a:t>
            </a:r>
            <a:r>
              <a:rPr lang="en-US" sz="1200" dirty="0"/>
              <a:t>spending </a:t>
            </a:r>
            <a:r>
              <a:rPr lang="en-US" sz="1200" dirty="0" smtClean="0"/>
              <a:t>has been under pressure in the retail </a:t>
            </a:r>
            <a:r>
              <a:rPr lang="en-US" sz="1200" dirty="0"/>
              <a:t>and consumer goods </a:t>
            </a:r>
            <a:r>
              <a:rPr lang="en-US" sz="1200" dirty="0" smtClean="0"/>
              <a:t>industry. Customers are increasingly spending online and through mobile channels, creating tight margins and intense industry competition.</a:t>
            </a:r>
            <a:endParaRPr lang="en-US" sz="1200" dirty="0"/>
          </a:p>
          <a:p>
            <a:pPr marL="0" indent="0">
              <a:buNone/>
            </a:pPr>
            <a:r>
              <a:rPr lang="en-US" sz="1200" dirty="0" smtClean="0"/>
              <a:t>Retail and consumer goods companies use Big Data for </a:t>
            </a:r>
            <a:r>
              <a:rPr lang="en-US" sz="1200" dirty="0">
                <a:solidFill>
                  <a:schemeClr val="dk1"/>
                </a:solidFill>
              </a:rPr>
              <a:t>m</a:t>
            </a:r>
            <a:r>
              <a:rPr lang="en-US" sz="1200" dirty="0" smtClean="0">
                <a:solidFill>
                  <a:schemeClr val="dk1"/>
                </a:solidFill>
              </a:rPr>
              <a:t>arketing campaign analysis, sentiment analysis, point of sale, and trade surveillance. As such, Big Data is expected to </a:t>
            </a:r>
            <a:r>
              <a:rPr lang="en-US" sz="1200" dirty="0">
                <a:solidFill>
                  <a:schemeClr val="dk1"/>
                </a:solidFill>
              </a:rPr>
              <a:t>increase </a:t>
            </a:r>
            <a:r>
              <a:rPr lang="en-US" sz="1200" dirty="0" smtClean="0">
                <a:solidFill>
                  <a:schemeClr val="dk1"/>
                </a:solidFill>
              </a:rPr>
              <a:t>productivity by </a:t>
            </a:r>
            <a:r>
              <a:rPr lang="en-US" sz="1200" dirty="0">
                <a:solidFill>
                  <a:schemeClr val="dk1"/>
                </a:solidFill>
              </a:rPr>
              <a:t>0.5% a </a:t>
            </a:r>
            <a:r>
              <a:rPr lang="en-US" sz="1200" dirty="0" smtClean="0">
                <a:solidFill>
                  <a:schemeClr val="dk1"/>
                </a:solidFill>
              </a:rPr>
              <a:t>year and increase </a:t>
            </a:r>
            <a:r>
              <a:rPr lang="en-US" sz="1200" dirty="0">
                <a:solidFill>
                  <a:schemeClr val="dk1"/>
                </a:solidFill>
              </a:rPr>
              <a:t>operating margins by 60</a:t>
            </a:r>
            <a:r>
              <a:rPr lang="en-US" sz="1200" dirty="0" smtClean="0">
                <a:solidFill>
                  <a:schemeClr val="dk1"/>
                </a:solidFill>
              </a:rPr>
              <a:t>%.</a:t>
            </a:r>
            <a:endParaRPr lang="en-US" sz="1200" dirty="0">
              <a:solidFill>
                <a:schemeClr val="dk1"/>
              </a:solidFill>
            </a:endParaRPr>
          </a:p>
          <a:p>
            <a:pPr marL="0" indent="0">
              <a:buNone/>
            </a:pPr>
            <a:r>
              <a:rPr lang="en-US" sz="1200" b="1" dirty="0" smtClean="0">
                <a:solidFill>
                  <a:schemeClr val="accent6"/>
                </a:solidFill>
              </a:rPr>
              <a:t>Emerging </a:t>
            </a:r>
            <a:r>
              <a:rPr lang="en-US" sz="1200" b="1" dirty="0">
                <a:solidFill>
                  <a:schemeClr val="accent6"/>
                </a:solidFill>
              </a:rPr>
              <a:t>trends with Big Data in the </a:t>
            </a:r>
            <a:r>
              <a:rPr lang="en-US" sz="1200" b="1" dirty="0" smtClean="0">
                <a:solidFill>
                  <a:schemeClr val="accent6"/>
                </a:solidFill>
              </a:rPr>
              <a:t>retail and consumer goods industry </a:t>
            </a:r>
            <a:r>
              <a:rPr lang="en-US" sz="1200" b="1" dirty="0">
                <a:solidFill>
                  <a:schemeClr val="accent6"/>
                </a:solidFill>
              </a:rPr>
              <a:t>include</a:t>
            </a:r>
            <a:r>
              <a:rPr lang="en-US" sz="1200" b="1" dirty="0" smtClean="0">
                <a:solidFill>
                  <a:schemeClr val="accent6"/>
                </a:solidFill>
              </a:rPr>
              <a:t>:</a:t>
            </a:r>
          </a:p>
          <a:p>
            <a:pPr marL="228600" indent="-228600">
              <a:spcBef>
                <a:spcPts val="600"/>
              </a:spcBef>
              <a:buSzPct val="100000"/>
            </a:pPr>
            <a:r>
              <a:rPr lang="en-US" sz="1200" dirty="0"/>
              <a:t>Large-scale clickstream analytics</a:t>
            </a:r>
          </a:p>
          <a:p>
            <a:pPr marL="228600" indent="-228600">
              <a:spcBef>
                <a:spcPts val="600"/>
              </a:spcBef>
              <a:buSzPct val="100000"/>
            </a:pPr>
            <a:r>
              <a:rPr lang="en-US" sz="1200" dirty="0"/>
              <a:t>Event, location, and behavior-based targeting combining social media data</a:t>
            </a:r>
          </a:p>
          <a:p>
            <a:pPr marL="228600" indent="-228600">
              <a:spcBef>
                <a:spcPts val="600"/>
              </a:spcBef>
              <a:buSzPct val="100000"/>
            </a:pPr>
            <a:r>
              <a:rPr lang="en-US" sz="1200" dirty="0"/>
              <a:t>Sentiment analysis</a:t>
            </a:r>
          </a:p>
          <a:p>
            <a:pPr marL="228600" indent="-228600">
              <a:spcBef>
                <a:spcPts val="600"/>
              </a:spcBef>
              <a:buSzPct val="100000"/>
            </a:pPr>
            <a:r>
              <a:rPr lang="en-US" sz="1200" dirty="0"/>
              <a:t>Cross-selling, market basket analysis, and ad targeting</a:t>
            </a:r>
          </a:p>
          <a:p>
            <a:pPr marL="228600" indent="-228600">
              <a:spcBef>
                <a:spcPts val="600"/>
              </a:spcBef>
              <a:buSzPct val="100000"/>
            </a:pPr>
            <a:r>
              <a:rPr lang="en-US" sz="1200" dirty="0"/>
              <a:t>Deep consumer segmentations</a:t>
            </a:r>
          </a:p>
          <a:p>
            <a:pPr marL="228600" indent="-228600">
              <a:spcBef>
                <a:spcPts val="600"/>
              </a:spcBef>
              <a:buSzPct val="100000"/>
            </a:pPr>
            <a:r>
              <a:rPr lang="en-US" sz="1200" dirty="0"/>
              <a:t>Merchandizing and optimization</a:t>
            </a:r>
          </a:p>
          <a:p>
            <a:pPr marL="228600" indent="-228600">
              <a:spcBef>
                <a:spcPts val="600"/>
              </a:spcBef>
              <a:buSzPct val="100000"/>
            </a:pPr>
            <a:r>
              <a:rPr lang="en-US" sz="1200" dirty="0"/>
              <a:t>Supply chain management and analytics</a:t>
            </a:r>
          </a:p>
          <a:p>
            <a:pPr marL="228600" indent="-228600">
              <a:spcBef>
                <a:spcPts val="600"/>
              </a:spcBef>
              <a:buSzPct val="100000"/>
            </a:pPr>
            <a:r>
              <a:rPr lang="en-US" sz="1200" dirty="0"/>
              <a:t>New services such as price comparisons or virtual markets</a:t>
            </a:r>
          </a:p>
          <a:p>
            <a:pPr marL="228600" indent="-228600">
              <a:spcBef>
                <a:spcPts val="600"/>
              </a:spcBef>
              <a:buSzPct val="100000"/>
            </a:pPr>
            <a:r>
              <a:rPr lang="en-US" sz="1200" dirty="0"/>
              <a:t>Operational transparency</a:t>
            </a:r>
          </a:p>
          <a:p>
            <a:pPr marL="0" indent="0">
              <a:buNone/>
            </a:pPr>
            <a:endParaRPr lang="en-US" sz="1200" b="1" dirty="0">
              <a:solidFill>
                <a:schemeClr val="accent6"/>
              </a:solidFill>
            </a:endParaRPr>
          </a:p>
          <a:p>
            <a:pPr marL="0" indent="0">
              <a:buNone/>
            </a:pPr>
            <a:endParaRPr lang="en-US" sz="1200" dirty="0" smtClean="0">
              <a:solidFill>
                <a:schemeClr val="dk1"/>
              </a:solidFill>
            </a:endParaRPr>
          </a:p>
          <a:p>
            <a:pPr marL="0" indent="0">
              <a:buNone/>
            </a:pPr>
            <a:endParaRPr lang="en-US" sz="1200" dirty="0"/>
          </a:p>
          <a:p>
            <a:pPr marL="0" indent="0">
              <a:spcBef>
                <a:spcPts val="600"/>
              </a:spcBef>
              <a:buSzPct val="100000"/>
              <a:buNone/>
            </a:pPr>
            <a:endParaRPr lang="en-US" sz="1200" dirty="0"/>
          </a:p>
        </p:txBody>
      </p:sp>
      <p:sp>
        <p:nvSpPr>
          <p:cNvPr id="2" name="Footer Placeholder 1"/>
          <p:cNvSpPr>
            <a:spLocks noGrp="1"/>
          </p:cNvSpPr>
          <p:nvPr>
            <p:ph type="ftr" sz="quarter" idx="15"/>
          </p:nvPr>
        </p:nvSpPr>
        <p:spPr/>
        <p:txBody>
          <a:bodyPr/>
          <a:lstStyle/>
          <a:p>
            <a:r>
              <a:rPr lang="en-US" smtClean="0"/>
              <a:t>Copyright © 2015 Accenture  All rights reserved.</a:t>
            </a:r>
            <a:endParaRPr lang="en-AU"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6106" y="1454230"/>
            <a:ext cx="2381250" cy="3571875"/>
          </a:xfrm>
          <a:prstGeom prst="rect">
            <a:avLst/>
          </a:prstGeom>
        </p:spPr>
      </p:pic>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86</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9674860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Value Levers: Communications, Media, and Technology (CMT) Industry</a:t>
            </a:r>
            <a:endParaRPr lang="en-US" dirty="0"/>
          </a:p>
        </p:txBody>
      </p:sp>
      <p:sp>
        <p:nvSpPr>
          <p:cNvPr id="4" name="Content Placeholder 3"/>
          <p:cNvSpPr>
            <a:spLocks noGrp="1"/>
          </p:cNvSpPr>
          <p:nvPr>
            <p:ph sz="quarter" idx="14"/>
          </p:nvPr>
        </p:nvSpPr>
        <p:spPr>
          <a:xfrm>
            <a:off x="455614" y="1371600"/>
            <a:ext cx="5205598" cy="4319516"/>
          </a:xfrm>
        </p:spPr>
        <p:txBody>
          <a:bodyPr/>
          <a:lstStyle/>
          <a:p>
            <a:pPr marL="0" indent="0">
              <a:buNone/>
            </a:pPr>
            <a:r>
              <a:rPr lang="en-US" sz="1200" dirty="0"/>
              <a:t>Traditional </a:t>
            </a:r>
            <a:r>
              <a:rPr lang="en-US" sz="1200" dirty="0" smtClean="0"/>
              <a:t>CMT business has become commoditized, </a:t>
            </a:r>
            <a:r>
              <a:rPr lang="en-US" sz="1200" dirty="0"/>
              <a:t>digital devices and content-rich digital </a:t>
            </a:r>
            <a:r>
              <a:rPr lang="en-US" sz="1200" dirty="0" smtClean="0"/>
              <a:t>services are ubiquitous, and customer loyalty is diminishing. Therefore, it is critical that CMT companies </a:t>
            </a:r>
            <a:r>
              <a:rPr lang="en-US" sz="1200" dirty="0"/>
              <a:t>find new sources of revenue</a:t>
            </a:r>
          </a:p>
          <a:p>
            <a:pPr marL="0" indent="0">
              <a:buNone/>
            </a:pPr>
            <a:r>
              <a:rPr lang="en-US" sz="1200" dirty="0" smtClean="0"/>
              <a:t>CMT companies use Big Data for </a:t>
            </a:r>
            <a:r>
              <a:rPr lang="en-US" sz="1200" dirty="0" smtClean="0">
                <a:solidFill>
                  <a:schemeClr val="dk1"/>
                </a:solidFill>
              </a:rPr>
              <a:t>ad targeting, network data analysis, search quality, and data sandboxes.</a:t>
            </a:r>
            <a:endParaRPr lang="en-US" sz="1200" dirty="0">
              <a:solidFill>
                <a:schemeClr val="dk1"/>
              </a:solidFill>
            </a:endParaRPr>
          </a:p>
          <a:p>
            <a:pPr marL="0" indent="0">
              <a:buNone/>
            </a:pPr>
            <a:r>
              <a:rPr lang="en-US" sz="1200" b="1" dirty="0" smtClean="0">
                <a:solidFill>
                  <a:schemeClr val="accent6"/>
                </a:solidFill>
              </a:rPr>
              <a:t>Emerging </a:t>
            </a:r>
            <a:r>
              <a:rPr lang="en-US" sz="1200" b="1" dirty="0">
                <a:solidFill>
                  <a:schemeClr val="accent6"/>
                </a:solidFill>
              </a:rPr>
              <a:t>trends with Big Data in the </a:t>
            </a:r>
            <a:r>
              <a:rPr lang="en-US" sz="1200" b="1" dirty="0" smtClean="0">
                <a:solidFill>
                  <a:schemeClr val="accent6"/>
                </a:solidFill>
              </a:rPr>
              <a:t>communications, media, and technology industry </a:t>
            </a:r>
            <a:r>
              <a:rPr lang="en-US" sz="1200" b="1" dirty="0">
                <a:solidFill>
                  <a:schemeClr val="accent6"/>
                </a:solidFill>
              </a:rPr>
              <a:t>include</a:t>
            </a:r>
            <a:r>
              <a:rPr lang="en-US" sz="1200" b="1" dirty="0" smtClean="0">
                <a:solidFill>
                  <a:schemeClr val="accent6"/>
                </a:solidFill>
              </a:rPr>
              <a:t>:</a:t>
            </a:r>
            <a:endParaRPr lang="en-US" sz="1200" dirty="0" smtClean="0">
              <a:solidFill>
                <a:schemeClr val="dk1"/>
              </a:solidFill>
            </a:endParaRPr>
          </a:p>
          <a:p>
            <a:pPr marL="231775" indent="-231775">
              <a:spcBef>
                <a:spcPts val="600"/>
              </a:spcBef>
              <a:buSzPct val="100000"/>
            </a:pPr>
            <a:r>
              <a:rPr lang="en-US" sz="1200" dirty="0"/>
              <a:t>Improve customer experience and retention</a:t>
            </a:r>
          </a:p>
          <a:p>
            <a:pPr marL="231775" indent="-231775">
              <a:spcBef>
                <a:spcPts val="600"/>
              </a:spcBef>
              <a:buSzPct val="100000"/>
            </a:pPr>
            <a:r>
              <a:rPr lang="en-US" sz="1200" dirty="0"/>
              <a:t>Tailor real-time recommendations during customer interactions</a:t>
            </a:r>
          </a:p>
          <a:p>
            <a:pPr marL="231775" indent="-231775">
              <a:spcBef>
                <a:spcPts val="600"/>
              </a:spcBef>
              <a:buSzPct val="100000"/>
            </a:pPr>
            <a:r>
              <a:rPr lang="en-US" sz="1200" dirty="0"/>
              <a:t>Monetize data through value added services</a:t>
            </a:r>
          </a:p>
          <a:p>
            <a:pPr marL="231775" indent="-231775">
              <a:spcBef>
                <a:spcPts val="600"/>
              </a:spcBef>
              <a:buSzPct val="100000"/>
            </a:pPr>
            <a:r>
              <a:rPr lang="en-US" sz="1200" dirty="0"/>
              <a:t>Enhance operational efficiencies by detecting real-time infrastructure bottlenecks </a:t>
            </a:r>
          </a:p>
          <a:p>
            <a:pPr marL="231775" indent="-231775">
              <a:spcBef>
                <a:spcPts val="600"/>
              </a:spcBef>
              <a:buSzPct val="100000"/>
            </a:pPr>
            <a:r>
              <a:rPr lang="en-US" sz="1200" dirty="0"/>
              <a:t>Network and security analytics, intrusion detection with a 360 degree view</a:t>
            </a:r>
          </a:p>
          <a:p>
            <a:pPr marL="0" indent="0">
              <a:buNone/>
            </a:pPr>
            <a:endParaRPr lang="en-US" sz="1200" dirty="0"/>
          </a:p>
        </p:txBody>
      </p:sp>
      <p:sp>
        <p:nvSpPr>
          <p:cNvPr id="2" name="Footer Placeholder 1"/>
          <p:cNvSpPr>
            <a:spLocks noGrp="1"/>
          </p:cNvSpPr>
          <p:nvPr>
            <p:ph type="ftr" sz="quarter" idx="15"/>
          </p:nvPr>
        </p:nvSpPr>
        <p:spPr/>
        <p:txBody>
          <a:bodyPr/>
          <a:lstStyle/>
          <a:p>
            <a:r>
              <a:rPr lang="en-US" smtClean="0"/>
              <a:t>Copyright © 2015 Accenture  All rights reserved.</a:t>
            </a:r>
            <a:endParaRPr lang="en-AU"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4615" y="1371600"/>
            <a:ext cx="2381250" cy="3571875"/>
          </a:xfrm>
          <a:prstGeom prst="rect">
            <a:avLst/>
          </a:prstGeom>
        </p:spPr>
      </p:pic>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87</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97977140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Big Data Analytics Examples</a:t>
            </a:r>
            <a:endParaRPr lang="en-US" dirty="0"/>
          </a:p>
        </p:txBody>
      </p:sp>
      <p:sp>
        <p:nvSpPr>
          <p:cNvPr id="3" name="Content Placeholder 2"/>
          <p:cNvSpPr>
            <a:spLocks noGrp="1"/>
          </p:cNvSpPr>
          <p:nvPr>
            <p:ph sz="quarter" idx="14"/>
          </p:nvPr>
        </p:nvSpPr>
        <p:spPr>
          <a:xfrm>
            <a:off x="455613" y="1371600"/>
            <a:ext cx="8232775" cy="5335150"/>
          </a:xfrm>
        </p:spPr>
        <p:txBody>
          <a:bodyPr/>
          <a:lstStyle/>
          <a:p>
            <a:pPr marL="0" indent="0">
              <a:buNone/>
            </a:pPr>
            <a:r>
              <a:rPr lang="en-US" sz="1200" dirty="0" smtClean="0"/>
              <a:t>Consult the examples below </a:t>
            </a:r>
            <a:r>
              <a:rPr lang="en-US" sz="1200" kern="0" dirty="0" smtClean="0">
                <a:solidFill>
                  <a:schemeClr val="tx1">
                    <a:lumMod val="95000"/>
                    <a:lumOff val="5000"/>
                  </a:schemeClr>
                </a:solidFill>
                <a:latin typeface="Arial" pitchFamily="34" charset="0"/>
              </a:rPr>
              <a:t>to see analytics </a:t>
            </a:r>
            <a:r>
              <a:rPr lang="en-US" sz="1200" kern="0" dirty="0">
                <a:solidFill>
                  <a:schemeClr val="tx1">
                    <a:lumMod val="95000"/>
                    <a:lumOff val="5000"/>
                  </a:schemeClr>
                </a:solidFill>
                <a:latin typeface="Arial" pitchFamily="34" charset="0"/>
              </a:rPr>
              <a:t>from Big Data </a:t>
            </a:r>
            <a:r>
              <a:rPr lang="en-US" sz="1200" kern="0" dirty="0" smtClean="0">
                <a:solidFill>
                  <a:schemeClr val="tx1">
                    <a:lumMod val="95000"/>
                    <a:lumOff val="5000"/>
                  </a:schemeClr>
                </a:solidFill>
                <a:latin typeface="Arial" pitchFamily="34" charset="0"/>
              </a:rPr>
              <a:t>in action by </a:t>
            </a:r>
            <a:r>
              <a:rPr lang="en-US" sz="1200" kern="0" dirty="0">
                <a:solidFill>
                  <a:schemeClr val="tx1">
                    <a:lumMod val="95000"/>
                    <a:lumOff val="5000"/>
                  </a:schemeClr>
                </a:solidFill>
                <a:latin typeface="Arial" pitchFamily="34" charset="0"/>
              </a:rPr>
              <a:t>means of some common open source </a:t>
            </a:r>
            <a:r>
              <a:rPr lang="en-US" sz="1200" kern="0" dirty="0" smtClean="0">
                <a:solidFill>
                  <a:schemeClr val="tx1">
                    <a:lumMod val="95000"/>
                    <a:lumOff val="5000"/>
                  </a:schemeClr>
                </a:solidFill>
                <a:latin typeface="Arial" pitchFamily="34" charset="0"/>
              </a:rPr>
              <a:t>software.</a:t>
            </a:r>
            <a:endParaRPr lang="en-US" sz="1200" dirty="0">
              <a:solidFill>
                <a:schemeClr val="tx1">
                  <a:lumMod val="95000"/>
                  <a:lumOff val="5000"/>
                </a:schemeClr>
              </a:solidFill>
            </a:endParaRPr>
          </a:p>
          <a:p>
            <a:pPr marL="0" indent="0">
              <a:buNone/>
            </a:pPr>
            <a:endParaRPr lang="en-US" sz="1200" dirty="0"/>
          </a:p>
        </p:txBody>
      </p:sp>
      <p:sp>
        <p:nvSpPr>
          <p:cNvPr id="4" name="Footer Placeholder 3"/>
          <p:cNvSpPr>
            <a:spLocks noGrp="1"/>
          </p:cNvSpPr>
          <p:nvPr>
            <p:ph type="ftr" sz="quarter" idx="15"/>
          </p:nvPr>
        </p:nvSpPr>
        <p:spPr/>
        <p:txBody>
          <a:bodyPr/>
          <a:lstStyle/>
          <a:p>
            <a:r>
              <a:rPr lang="en-US" dirty="0" smtClean="0"/>
              <a:t>Copyright © 2015 Accenture  All rights reserved.</a:t>
            </a:r>
            <a:endParaRPr lang="en-AU"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50" y="1977277"/>
            <a:ext cx="8572500" cy="3333750"/>
          </a:xfrm>
          <a:prstGeom prst="rect">
            <a:avLst/>
          </a:prstGeom>
        </p:spPr>
      </p:pic>
      <p:sp>
        <p:nvSpPr>
          <p:cNvPr id="6" name="Inhaltsplatzhalter 13"/>
          <p:cNvSpPr txBox="1">
            <a:spLocks/>
          </p:cNvSpPr>
          <p:nvPr/>
        </p:nvSpPr>
        <p:spPr>
          <a:xfrm>
            <a:off x="8284935" y="6569075"/>
            <a:ext cx="396739" cy="227013"/>
          </a:xfrm>
          <a:prstGeom prst="rect">
            <a:avLst/>
          </a:prstGeom>
        </p:spPr>
        <p:txBody>
          <a:bodyPr lIns="0" tIns="36000"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smtClean="0">
                <a:ln>
                  <a:noFill/>
                </a:ln>
                <a:solidFill>
                  <a:srgbClr val="666666"/>
                </a:solidFill>
                <a:effectLst/>
                <a:uLnTx/>
                <a:uFillTx/>
                <a:latin typeface="+mn-lt"/>
                <a:ea typeface="+mn-ea"/>
                <a:cs typeface="Arial" pitchFamily="34" charset="0"/>
              </a:rPr>
              <a:t>88</a:t>
            </a:r>
            <a:endParaRPr kumimoji="0" lang="de-DE" sz="800" b="0" i="0" u="none" strike="noStrike" kern="1200" cap="none" spc="0" normalizeH="0" baseline="0" noProof="0" dirty="0">
              <a:ln>
                <a:noFill/>
              </a:ln>
              <a:solidFill>
                <a:srgbClr val="666666"/>
              </a:solidFill>
              <a:effectLst/>
              <a:uLnTx/>
              <a:uFillTx/>
              <a:latin typeface="+mn-lt"/>
              <a:ea typeface="+mn-ea"/>
              <a:cs typeface="Arial" pitchFamily="34" charset="0"/>
            </a:endParaRPr>
          </a:p>
        </p:txBody>
      </p:sp>
    </p:spTree>
    <p:extLst>
      <p:ext uri="{BB962C8B-B14F-4D97-AF65-F5344CB8AC3E}">
        <p14:creationId xmlns:p14="http://schemas.microsoft.com/office/powerpoint/2010/main" val="335137472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da7249ff9137735267271cf6681d731abd3c386"/>
  <p:tag name="ISPRING_RESOURCE_PATHS_HASH_PRESENTER" val="82532151e9c97188e16f22f45bdf5aa2725d34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k3SHjmdDEUSIAWbJc4qGB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IpBWvd8nkUWd83gmjpc2M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k3SHjmdDEUSIAWbJc4qGB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IpBWvd8nkUWd83gmjpc2M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k3SHjmdDEUSIAWbJc4qGB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IpBWvd8nkUWd83gmjpc2M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k3SHjmdDEUSIAWbJc4qGB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IpBWvd8nkUWd83gmjpc2M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k3SHjmdDEUSIAWbJc4qGB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IpBWvd8nkUWd83gmjpc2M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k3SHjmdDEUSIAWbJc4qGB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IpBWvd8nkUWd83gmjpc2M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k3SHjmdDEUSIAWbJc4qGB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IpBWvd8nkUWd83gmjpc2M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k3SHjmdDEUSIAWbJc4qGB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IpBWvd8nkUWd83gmjpc2M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k3SHjmdDEUSIAWbJc4qGB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IpBWvd8nkUWd83gmjpc2M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k3SHjmdDEUSIAWbJc4qGB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IpBWvd8nkUWd83gmjpc2M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k3SHjmdDEUSIAWbJc4qGB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IpBWvd8nkUWd83gmjpc2MA"/>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k3SHjmdDEUSIAWbJc4qGB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IpBWvd8nkUWd83gmjpc2M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k3SHjmdDEUSIAWbJc4qGBQ"/>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IpBWvd8nkUWd83gmjpc2M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k3SHjmdDEUSIAWbJc4qGB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IpBWvd8nkUWd83gmjpc2M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ccenture_Color_Top">
  <a:themeElements>
    <a:clrScheme name="Custom 13">
      <a:dk1>
        <a:srgbClr val="000000"/>
      </a:dk1>
      <a:lt1>
        <a:srgbClr val="FFFFFF"/>
      </a:lt1>
      <a:dk2>
        <a:srgbClr val="666666"/>
      </a:dk2>
      <a:lt2>
        <a:srgbClr val="778888"/>
      </a:lt2>
      <a:accent1>
        <a:srgbClr val="00AA99"/>
      </a:accent1>
      <a:accent2>
        <a:srgbClr val="003344"/>
      </a:accent2>
      <a:accent3>
        <a:srgbClr val="FF9900"/>
      </a:accent3>
      <a:accent4>
        <a:srgbClr val="88DD00"/>
      </a:accent4>
      <a:accent5>
        <a:srgbClr val="FF0000"/>
      </a:accent5>
      <a:accent6>
        <a:srgbClr val="557799"/>
      </a:accent6>
      <a:hlink>
        <a:srgbClr val="557799"/>
      </a:hlink>
      <a:folHlink>
        <a:srgbClr val="00AA9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dirty="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ubmittedBy xmlns="http://schemas.microsoft.com/sharepoint/v3">DIR\m.suarez.altuna</SubmittedBy>
    <ArchiveDate xmlns="http://schemas.microsoft.com/sharepoint/v3">2015-02-01T06:00:00+00:00</ArchiveDate>
    <OpportunityCharacteristics xmlns="http://schemas.microsoft.com/sharepoint/v3" xsi:nil="true"/>
    <Abstract xmlns="http://schemas.microsoft.com/sharepoint/v3">&lt;p&gt;The term Big Data and associated technologies are causing huge disruptions in the enterprise. There are many different views and interpretations in the marketplace from vendors and analysts which are contradicting and often confusing. This course introduces a clear and unbiased perspective of Big Data and associated technologies providing an overview of Big Data concepts and how Big Data can add value to a client’s business or technology infrastructure using real-life examples. This course is designed to provide a pragmatic introduction to foundational Big Data concepts so that a person at any role and level in Accenture can participate in meaningful starter conversations with our clients or client account teams. A course to introduce Accenture personnel of all technical levels to the wide variety of alternative database technologies including columnar databases (e.g. Cassandra), distributed storage and processing systems (e.g. Hadoop &amp;amp; MapReduce), in-memory storage systems (e.g. Memcache), and graph databases (e.g. Neo4J) through a brief overview of the technologies themselves, a high level survey of sample use cases for which the technologies are best used, and how they complement the traditional relational data bases technologies (e.g. MSSQL, Oracle, Netezza). Course Link: https://mylearning.accenture.com/accenture/lang-en/management/LMS_ActDetails.asp?UserMode=0&amp;amp;ActivityId=1240001&lt;/p&gt;</Abstract>
    <PertinentToOrgUnit xmlns="http://schemas.microsoft.com/sharepoint/v3">;#13836;~Accenture Digital;#13837;~    Accenture Analytics;#11116;~Accenture Technology - Accenture Technology Services</PertinentToOrgUnit>
    <VisibleToAsset xmlns="http://schemas.microsoft.com/sharepoint/v3" xsi:nil="true"/>
    <Contacts xmlns="http://schemas.microsoft.com/sharepoint/v3">dir\vincent.u.dellanno,dir\stacy.w.hurt,dir\atish.ray</Contacts>
    <ConditionsforUse xmlns="http://schemas.microsoft.com/sharepoint/v3">Accenture Internal Use Only</ConditionsforUse>
    <DetailsPageURL xmlns="http://schemas.microsoft.com/sharepoint/v3">https://kx.accenture.com/repositories/ContributionForm.aspx?path=C25/33/17&amp;mode=Read</DetailsPageURL>
    <StorageType xmlns="http://schemas.microsoft.com/sharepoint/v3">File</StorageType>
    <OfficialAsset xmlns="http://schemas.microsoft.com/sharepoint/v3">No</OfficialAsset>
    <BusinessFunctionKeywords xmlns="http://schemas.microsoft.com/sharepoint/v3">;#10058;~Analytics</BusinessFunctionKeywords>
    <RelatedContent xmlns="http://schemas.microsoft.com/sharepoint/v3" xsi:nil="true"/>
    <Client xmlns="http://schemas.microsoft.com/sharepoint/v3" xsi:nil="true"/>
    <DeliveryCenter xmlns="http://schemas.microsoft.com/sharepoint/v3" xsi:nil="true"/>
    <ContentCurrentDate xmlns="http://schemas.microsoft.com/sharepoint/v3">2016-01-08T06:00:00+00:00</ContentCurrentDate>
    <ContribKeywords xmlns="http://schemas.microsoft.com/sharepoint/v3">;#10359;~Analytics;#12948;~     Big Data;#13120;~    CMT Analytics;#13080;~Big Data</ContribKeywords>
    <VendorProductKeywords xmlns="http://schemas.microsoft.com/sharepoint/v3">;#0;~None</VendorProductKeywords>
    <Offerings xmlns="http://schemas.microsoft.com/sharepoint/v3">;#14290;~Accenture Digital;#14386;~OF-002102 - Data Management - Enterprise;#10330;~Accenture Analytics</Offerings>
    <KXThumbnailURL xmlns="http://schemas.microsoft.com/sharepoint/v3">https://documentpreviews.accenture.com/_vti_bin/Longitude5/DocumentViewerService.svc/getResource/?resourceKey=https%3A%2F%2Fkx.accenture.com%2FRepositories%2FC25%2F33%2F17%2FIntroduction%20to%20Big%20Data_Companion_FINAL.pptx@_pc!res_~1@_pc!res_~False@_pc!res_~http@_pc!res_~0@_pc!res_~120@_pc!res_~120</KXThumbnailURL>
    <EngagementLink xmlns="http://schemas.microsoft.com/sharepoint/v3" xsi:nil="true"/>
    <flagVVID xmlns="http://schemas.microsoft.com/sharepoint/v3" xsi:nil="true"/>
    <KXGeography xmlns="http://schemas.microsoft.com/sharepoint/v3">;#9494;~Global</KXGeography>
    <SourceType xmlns="http://schemas.microsoft.com/sharepoint/v3">ContributionForm</SourceType>
    <ApprovedForUseBy xmlns="http://schemas.microsoft.com/sharepoint/v3">;#12927;~Analytics</ApprovedForUseBy>
    <DetailsPageURL2 xmlns="http://schemas.microsoft.com/sharepoint/v3">https://kx.accenture.com/repositories/DownloadForm.aspx?path=C25/33/17/Introduction%20to%20Big%20Data_Companion_FINAL.pptx</DetailsPageURL2>
    <PertinentToCountry xmlns="http://schemas.microsoft.com/sharepoint/v3" xsi:nil="true"/>
    <RevisionBy xmlns="http://schemas.microsoft.com/sharepoint/v3">kx.massupdate&lt;br&gt;kx.massupdate&lt;br&gt;dir\divya.thaker&lt;br&gt;dir\divya.thaker&lt;br&gt;dir\divya.thaker&lt;br&gt;dir\divya.thaker&lt;br&gt;kx.massupdate&lt;br&gt;kx.massupdate&lt;br&gt;kx.massupdate&lt;br&gt;dir\m.suarez.altuna</RevisionBy>
    <DateCreated xmlns="http://schemas.microsoft.com/sharepoint/v3">2013-02-01T17:18:41+00:00</DateCreated>
    <TechnologyKeywords xmlns="http://schemas.microsoft.com/sharepoint/v3">;#13067;~Big Data</TechnologyKeywords>
    <HasAttachment xmlns="http://schemas.microsoft.com/sharepoint/v3">No</HasAttachment>
    <ItemType xmlns="http://schemas.microsoft.com/sharepoint/v3">;#13989;~Accenture Internal Material</ItemType>
    <ArchiveStatus xmlns="http://schemas.microsoft.com/sharepoint/v3">Active</ArchiveStatus>
    <IndustryKeywords xmlns="http://schemas.microsoft.com/sharepoint/v3">;#13489;~Cross Industry</IndustryKeywords>
    <RevisionTime xmlns="http://schemas.microsoft.com/sharepoint/v3">6/2/2016 2:36:49 AM&lt;br&gt;4/1/2016 12:51:19 AM&lt;br&gt;1/8/2016 4:06:30 AM&lt;br&gt;1/8/2016 1:05:57 AM&lt;br&gt;12/13/2015 11:44:24 PM&lt;br&gt;12/13/2015 11:36:42 PM&lt;br&gt;10/20/2015 6:41:56 PM&lt;br&gt;10/5/2015 3:37:35 AM&lt;br&gt;9/25/2015 6:41:11 AM&lt;br&gt;7/7/2014 1:50:52 PM</RevisionTime>
    <RestrictedClient xmlns="http://schemas.microsoft.com/sharepoint/v3" xsi:nil="true"/>
    <ArchivalDate xmlns="http://schemas.microsoft.com/sharepoint/v3" xsi:nil="true"/>
    <ConditionsforUseComments xmlns="http://schemas.microsoft.com/sharepoint/v3" xsi:nil="true"/>
    <ContribLanguage xmlns="http://schemas.microsoft.com/sharepoint/v3">;#4628;~English</ContribLanguage>
  </documentManagement>
</p:properties>
</file>

<file path=customXml/item2.xml><?xml version="1.0" encoding="utf-8"?>
<ct:contentTypeSchema xmlns:ct="http://schemas.microsoft.com/office/2006/metadata/contentType" xmlns:ma="http://schemas.microsoft.com/office/2006/metadata/properties/metaAttributes" ct:_="" ma:_="" ma:contentTypeName="General Contribution" ma:contentTypeID="0x012000FD200C85A7BB46D2B974A85017C5AC2B0100BBCA62729C96CA428942DEC804BC4019" ma:contentTypeVersion="0" ma:contentTypeDescription="General Contribution" ma:contentTypeScope="" ma:versionID="82f5488beb7db88aa198375d9f195b2c">
  <xsd:schema xmlns:xsd="http://www.w3.org/2001/XMLSchema" xmlns:p="http://schemas.microsoft.com/office/2006/metadata/properties" xmlns:ns1="http://schemas.microsoft.com/sharepoint/v3" targetNamespace="http://schemas.microsoft.com/office/2006/metadata/properties" ma:root="true" ma:fieldsID="f50509dba4f89757c95366ffcf560e37" ns1:_="">
    <xsd:import namespace="http://schemas.microsoft.com/sharepoint/v3"/>
    <xsd:element name="properties">
      <xsd:complexType>
        <xsd:sequence>
          <xsd:element name="documentManagement">
            <xsd:complexType>
              <xsd:all>
                <xsd:element ref="ns1:Abstract" minOccurs="0"/>
                <xsd:element ref="ns1:ItemType" minOccurs="0"/>
                <xsd:element ref="ns1:ContentCurrentDate" minOccurs="0"/>
                <xsd:element ref="ns1:Contacts" minOccurs="0"/>
                <xsd:element ref="ns1:ArchiveDate" minOccurs="0"/>
                <xsd:element ref="ns1:ArchivalDate" minOccurs="0"/>
                <xsd:element ref="ns1:ApprovedForUseBy" minOccurs="0"/>
                <xsd:element ref="ns1:ArchiveStatus" minOccurs="0"/>
                <xsd:element ref="ns1:BusinessFunctionKeywords" minOccurs="0"/>
                <xsd:element ref="ns1:Client" minOccurs="0"/>
                <xsd:element ref="ns1:EngagementLink" minOccurs="0"/>
                <xsd:element ref="ns1:ConditionsforUse" minOccurs="0"/>
                <xsd:element ref="ns1:ConditionsforUseComments" minOccurs="0"/>
                <xsd:element ref="ns1:DeliveryCenter" minOccurs="0"/>
                <xsd:element ref="ns1:DetailsPageURL" minOccurs="0"/>
                <xsd:element ref="ns1:DetailsPageURL2" minOccurs="0"/>
                <xsd:element ref="ns1:IndustryKeywords" minOccurs="0"/>
                <xsd:element ref="ns1:ContribKeywords" minOccurs="0"/>
                <xsd:element ref="ns1:ContribLanguage" minOccurs="0"/>
                <xsd:element ref="ns1:TechnologyKeywords" minOccurs="0"/>
                <xsd:element ref="ns1:StorageType" minOccurs="0"/>
                <xsd:element ref="ns1:VendorProductKeywords" minOccurs="0"/>
                <xsd:element ref="ns1:Offerings" minOccurs="0"/>
                <xsd:element ref="ns1:PertinentToOrgUnit" minOccurs="0"/>
                <xsd:element ref="ns1:PertinentToCountry" minOccurs="0"/>
                <xsd:element ref="ns1:RevisionTime" minOccurs="0"/>
                <xsd:element ref="ns1:RevisionBy" minOccurs="0"/>
                <xsd:element ref="ns1:flagVVID" minOccurs="0"/>
                <xsd:element ref="ns1:DateCreated" minOccurs="0"/>
                <xsd:element ref="ns1:SubmittedBy" minOccurs="0"/>
                <xsd:element ref="ns1:KXGeography" minOccurs="0"/>
                <xsd:element ref="ns1:HasAttachment" minOccurs="0"/>
                <xsd:element ref="ns1:VisibleToAsset" minOccurs="0"/>
                <xsd:element ref="ns1:OfficialAsset" minOccurs="0"/>
                <xsd:element ref="ns1:RestrictedClient" minOccurs="0"/>
                <xsd:element ref="ns1:RelatedContent" minOccurs="0"/>
                <xsd:element ref="ns1:OpportunityCharacteristics" minOccurs="0"/>
                <xsd:element ref="ns1:SourceType" minOccurs="0"/>
                <xsd:element ref="ns1:KXThumbnailURL" minOccurs="0"/>
              </xsd:all>
            </xsd:complexType>
          </xsd:element>
        </xsd:sequence>
      </xsd:complexType>
    </xsd:element>
  </xsd:schema>
  <xsd:schema xmlns:xsd="http://www.w3.org/2001/XMLSchema" xmlns:dms="http://schemas.microsoft.com/office/2006/documentManagement/types" targetNamespace="http://schemas.microsoft.com/sharepoint/v3" elementFormDefault="qualified">
    <xsd:import namespace="http://schemas.microsoft.com/office/2006/documentManagement/types"/>
    <xsd:element name="Abstract" ma:index="3" nillable="true" ma:displayName="Description" ma:internalName="Abstract">
      <xsd:simpleType>
        <xsd:restriction base="dms:Note">
          <xsd:maxLength value="6"/>
        </xsd:restriction>
      </xsd:simpleType>
    </xsd:element>
    <xsd:element name="ItemType" ma:index="4" nillable="true" ma:displayName="Item Type" ma:internalName="ItemType">
      <xsd:simpleType>
        <xsd:restriction base="dms:Note"/>
      </xsd:simpleType>
    </xsd:element>
    <xsd:element name="ContentCurrentDate" ma:index="5" nillable="true" ma:displayName="Content Current Date" ma:default="[today]" ma:format="DateOnly" ma:internalName="ContentCurrentDate">
      <xsd:simpleType>
        <xsd:restriction base="dms:DateTime"/>
      </xsd:simpleType>
    </xsd:element>
    <xsd:element name="Contacts" ma:index="6" nillable="true" ma:displayName="Contacts" ma:internalName="Contacts">
      <xsd:simpleType>
        <xsd:restriction base="dms:Note"/>
      </xsd:simpleType>
    </xsd:element>
    <xsd:element name="ArchiveDate" ma:index="7" nillable="true" ma:displayName="Expiration Date" ma:format="DateOnly" ma:internalName="ArchiveDate">
      <xsd:simpleType>
        <xsd:restriction base="dms:DateTime"/>
      </xsd:simpleType>
    </xsd:element>
    <xsd:element name="ArchivalDate" ma:index="8" nillable="true" ma:displayName="Archival Date" ma:description="Check if contribution has expired." ma:format="DateOnly" ma:internalName="ArchivalDate">
      <xsd:simpleType>
        <xsd:restriction base="dms:DateTime"/>
      </xsd:simpleType>
    </xsd:element>
    <xsd:element name="ApprovedForUseBy" ma:index="9" nillable="true" ma:displayName="Reviewing Groups" ma:internalName="ApprovedForUseBy">
      <xsd:simpleType>
        <xsd:restriction base="dms:Note"/>
      </xsd:simpleType>
    </xsd:element>
    <xsd:element name="ArchiveStatus" ma:index="10" nillable="true" ma:displayName="Status" ma:internalName="ArchiveStatus">
      <xsd:simpleType>
        <xsd:restriction base="dms:Text"/>
      </xsd:simpleType>
    </xsd:element>
    <xsd:element name="BusinessFunctionKeywords" ma:index="11" nillable="true" ma:displayName="Business Processes &amp; Services" ma:internalName="BusinessFunctionKeywords">
      <xsd:simpleType>
        <xsd:restriction base="dms:Note"/>
      </xsd:simpleType>
    </xsd:element>
    <xsd:element name="Client" ma:index="12" nillable="true" ma:displayName="Client" ma:internalName="Client">
      <xsd:simpleType>
        <xsd:restriction base="dms:Note"/>
      </xsd:simpleType>
    </xsd:element>
    <xsd:element name="EngagementLink" ma:index="13" nillable="true" ma:displayName="Engagement Link" ma:internalName="EngagementLink">
      <xsd:simpleType>
        <xsd:restriction base="dms:Note"/>
      </xsd:simpleType>
    </xsd:element>
    <xsd:element name="ConditionsforUse" ma:index="14" nillable="true" ma:displayName="Usage Restriction" ma:internalName="ConditionsforUse">
      <xsd:simpleType>
        <xsd:restriction base="dms:Text"/>
      </xsd:simpleType>
    </xsd:element>
    <xsd:element name="ConditionsforUseComments" ma:index="15" nillable="true" ma:displayName="Usage Restriction Comments" ma:internalName="ConditionsforUseComments">
      <xsd:simpleType>
        <xsd:restriction base="dms:Note"/>
      </xsd:simpleType>
    </xsd:element>
    <xsd:element name="DeliveryCenter" ma:index="16" nillable="true" ma:displayName="Delivery Center" ma:internalName="DeliveryCenter">
      <xsd:simpleType>
        <xsd:restriction base="dms:Note"/>
      </xsd:simpleType>
    </xsd:element>
    <xsd:element name="DetailsPageURL" ma:index="17" nillable="true" ma:displayName="Details Page URL" ma:internalName="DetailsPageURL">
      <xsd:simpleType>
        <xsd:restriction base="dms:Note"/>
      </xsd:simpleType>
    </xsd:element>
    <xsd:element name="DetailsPageURL2" ma:index="18" nillable="true" ma:displayName="Details Page URL2" ma:internalName="DetailsPageURL2">
      <xsd:simpleType>
        <xsd:restriction base="dms:Text"/>
      </xsd:simpleType>
    </xsd:element>
    <xsd:element name="IndustryKeywords" ma:index="19" nillable="true" ma:displayName="Business &amp; Industries" ma:internalName="IndustryKeywords">
      <xsd:simpleType>
        <xsd:restriction base="dms:Note"/>
      </xsd:simpleType>
    </xsd:element>
    <xsd:element name="ContribKeywords" ma:index="20" nillable="true" ma:displayName="Content Manager Keywords" ma:internalName="ContribKeywords">
      <xsd:simpleType>
        <xsd:restriction base="dms:Note"/>
      </xsd:simpleType>
    </xsd:element>
    <xsd:element name="ContribLanguage" ma:index="21" nillable="true" ma:displayName="Language" ma:internalName="ContribLanguage">
      <xsd:simpleType>
        <xsd:restriction base="dms:Note"/>
      </xsd:simpleType>
    </xsd:element>
    <xsd:element name="TechnologyKeywords" ma:index="22" nillable="true" ma:displayName="Technologies" ma:internalName="TechnologyKeywords">
      <xsd:simpleType>
        <xsd:restriction base="dms:Note"/>
      </xsd:simpleType>
    </xsd:element>
    <xsd:element name="StorageType" ma:index="23" nillable="true" ma:displayName="Storage Type" ma:internalName="StorageType">
      <xsd:simpleType>
        <xsd:restriction base="dms:Text"/>
      </xsd:simpleType>
    </xsd:element>
    <xsd:element name="VendorProductKeywords" ma:index="24" nillable="true" ma:displayName="Vendors" ma:internalName="VendorProductKeywords">
      <xsd:simpleType>
        <xsd:restriction base="dms:Note"/>
      </xsd:simpleType>
    </xsd:element>
    <xsd:element name="Offerings" ma:index="25" nillable="true" ma:displayName="Offerings" ma:internalName="Offerings">
      <xsd:simpleType>
        <xsd:restriction base="dms:Note"/>
      </xsd:simpleType>
    </xsd:element>
    <xsd:element name="PertinentToOrgUnit" ma:index="26" nillable="true" ma:displayName="Accenture Organizations" ma:internalName="PertinentToOrgUnit">
      <xsd:simpleType>
        <xsd:restriction base="dms:Note"/>
      </xsd:simpleType>
    </xsd:element>
    <xsd:element name="PertinentToCountry" ma:index="27" nillable="true" ma:displayName="Countries" ma:internalName="PertinentToCountry">
      <xsd:simpleType>
        <xsd:restriction base="dms:Note"/>
      </xsd:simpleType>
    </xsd:element>
    <xsd:element name="RevisionTime" ma:index="28" nillable="true" ma:displayName="Revision Time" ma:internalName="RevisionTime">
      <xsd:simpleType>
        <xsd:restriction base="dms:Note"/>
      </xsd:simpleType>
    </xsd:element>
    <xsd:element name="RevisionBy" ma:index="29" nillable="true" ma:displayName="Revision By" ma:internalName="RevisionBy">
      <xsd:simpleType>
        <xsd:restriction base="dms:Note"/>
      </xsd:simpleType>
    </xsd:element>
    <xsd:element name="flagVVID" ma:index="30" nillable="true" ma:displayName="flagVVID" ma:internalName="flagVVID">
      <xsd:simpleType>
        <xsd:restriction base="dms:Text"/>
      </xsd:simpleType>
    </xsd:element>
    <xsd:element name="DateCreated" ma:index="31" nillable="true" ma:displayName="Date Created" ma:internalName="DateCreated">
      <xsd:simpleType>
        <xsd:restriction base="dms:DateTime"/>
      </xsd:simpleType>
    </xsd:element>
    <xsd:element name="SubmittedBy" ma:index="32" nillable="true" ma:displayName="Submitted By" ma:internalName="SubmittedBy">
      <xsd:simpleType>
        <xsd:restriction base="dms:Text"/>
      </xsd:simpleType>
    </xsd:element>
    <xsd:element name="KXGeography" ma:index="33" nillable="true" ma:displayName="KXGeography" ma:internalName="KXGeography">
      <xsd:simpleType>
        <xsd:restriction base="dms:Note"/>
      </xsd:simpleType>
    </xsd:element>
    <xsd:element name="HasAttachment" ma:index="34" nillable="true" ma:displayName="Has Attachment" ma:description="Check if contribution has attachment." ma:internalName="HasAttachment">
      <xsd:simpleType>
        <xsd:restriction base="dms:Text"/>
      </xsd:simpleType>
    </xsd:element>
    <xsd:element name="VisibleToAsset" ma:index="35" nillable="true" ma:displayName="Visible To Asset" ma:internalName="VisibleToAsset">
      <xsd:simpleType>
        <xsd:restriction base="dms:Text"/>
      </xsd:simpleType>
    </xsd:element>
    <xsd:element name="OfficialAsset" ma:index="36" nillable="true" ma:displayName="Official Asset" ma:internalName="OfficialAsset">
      <xsd:simpleType>
        <xsd:restriction base="dms:Text"/>
      </xsd:simpleType>
    </xsd:element>
    <xsd:element name="RestrictedClient" ma:index="37" nillable="true" ma:displayName="Confidential Client" ma:internalName="RestrictedClient">
      <xsd:simpleType>
        <xsd:restriction base="dms:Text"/>
      </xsd:simpleType>
    </xsd:element>
    <xsd:element name="RelatedContent" ma:index="38" nillable="true" ma:displayName="Related Content" ma:internalName="RelatedContent">
      <xsd:simpleType>
        <xsd:restriction base="dms:Note"/>
      </xsd:simpleType>
    </xsd:element>
    <xsd:element name="OpportunityCharacteristics" ma:index="39" nillable="true" ma:displayName="Opportunity Characteristics" ma:internalName="OpportunityCharacteristics">
      <xsd:simpleType>
        <xsd:restriction base="dms:Note"/>
      </xsd:simpleType>
    </xsd:element>
    <xsd:element name="SourceType" ma:index="40" nillable="true" ma:displayName="SourceType" ma:internalName="SourceType">
      <xsd:simpleType>
        <xsd:restriction base="dms:Text"/>
      </xsd:simpleType>
    </xsd:element>
    <xsd:element name="KXThumbnailURL" ma:index="41" nillable="true" ma:displayName="KX Thumbnail URL" ma:internalName="KXThumbnailURL">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2"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mso-contentType ?>
<FormTemplates xmlns="http://schemas.microsoft.com/sharepoint/v3/contenttype/forms">
  <Display>ListForm</Display>
  <Edit>ListForm</Edit>
  <New>ListForm</New>
</FormTemplates>
</file>

<file path=customXml/itemProps1.xml><?xml version="1.0" encoding="utf-8"?>
<ds:datastoreItem xmlns:ds="http://schemas.openxmlformats.org/officeDocument/2006/customXml" ds:itemID="{E81AFD61-66C8-4999-B6E0-140F5961C966}"/>
</file>

<file path=customXml/itemProps2.xml><?xml version="1.0" encoding="utf-8"?>
<ds:datastoreItem xmlns:ds="http://schemas.openxmlformats.org/officeDocument/2006/customXml" ds:itemID="{E58FD3AD-4738-4C58-B370-FD75B4BA08A6}"/>
</file>

<file path=customXml/itemProps3.xml><?xml version="1.0" encoding="utf-8"?>
<ds:datastoreItem xmlns:ds="http://schemas.openxmlformats.org/officeDocument/2006/customXml" ds:itemID="{294A03B6-7287-4332-B2C2-11E10E4AD78A}"/>
</file>

<file path=docProps/app.xml><?xml version="1.0" encoding="utf-8"?>
<Properties xmlns="http://schemas.openxmlformats.org/officeDocument/2006/extended-properties" xmlns:vt="http://schemas.openxmlformats.org/officeDocument/2006/docPropsVTypes">
  <Template>Accenture_Color_Top.potx</Template>
  <TotalTime>0</TotalTime>
  <Words>10699</Words>
  <Application>Microsoft Office PowerPoint</Application>
  <PresentationFormat>On-screen Show (4:3)</PresentationFormat>
  <Paragraphs>1005</Paragraphs>
  <Slides>88</Slides>
  <Notes>88</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88</vt:i4>
      </vt:variant>
    </vt:vector>
  </HeadingPairs>
  <TitlesOfParts>
    <vt:vector size="94" baseType="lpstr">
      <vt:lpstr>Calibri</vt:lpstr>
      <vt:lpstr>Arial</vt:lpstr>
      <vt:lpstr>Times New Roman</vt:lpstr>
      <vt:lpstr>Courier New</vt:lpstr>
      <vt:lpstr>Accenture_Color_Top</vt:lpstr>
      <vt:lpstr>think-cell Slide</vt:lpstr>
      <vt:lpstr>PowerPoint Presentation</vt:lpstr>
      <vt:lpstr>Module 1: Course Introduction</vt:lpstr>
      <vt:lpstr>1.1 Course Welcome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1.2 Course Overview</vt:lpstr>
      <vt:lpstr>Module 2: Understanding Big Data and its Applications</vt:lpstr>
      <vt:lpstr>2.1 Module Introduction</vt:lpstr>
      <vt:lpstr>2.2 The Changing World of Data</vt:lpstr>
      <vt:lpstr>2.3 Big Data Characteristics (1/2)</vt:lpstr>
      <vt:lpstr>2.3 Big Data Characteristics (2/2)</vt:lpstr>
      <vt:lpstr>2.4 Sources of Big Data</vt:lpstr>
      <vt:lpstr>2.5 Big Data Examples by Data Type</vt:lpstr>
      <vt:lpstr>2.6 From Data to Insights</vt:lpstr>
      <vt:lpstr>2.7 Challenges Adopting Big Data</vt:lpstr>
      <vt:lpstr>2.8 Big Data Barriers (1/3)</vt:lpstr>
      <vt:lpstr>2.8 Big Data Barriers (2/3)</vt:lpstr>
      <vt:lpstr>2.8 Big Data Barriers (3/3)</vt:lpstr>
      <vt:lpstr>2.9 Potential Value of Big Data</vt:lpstr>
      <vt:lpstr>2.10 Checkpoint</vt:lpstr>
      <vt:lpstr>2.10 Checkpoint Answer</vt:lpstr>
      <vt:lpstr>2.11 Big Data Use Cases</vt:lpstr>
      <vt:lpstr>2.12 Industry Trends</vt:lpstr>
      <vt:lpstr>2.13 Big Data Implementation Examples</vt:lpstr>
      <vt:lpstr>2.14 Checkpoint</vt:lpstr>
      <vt:lpstr>2.14 Checkpoint Answer</vt:lpstr>
      <vt:lpstr>2.15 Module Summary</vt:lpstr>
      <vt:lpstr>Module 3: Big Data Technologies</vt:lpstr>
      <vt:lpstr>3.1 Module Introduction</vt:lpstr>
      <vt:lpstr>3.2 Processing Big Data</vt:lpstr>
      <vt:lpstr>3.3 Storing Big Data</vt:lpstr>
      <vt:lpstr>3.4 Apache® Spark™</vt:lpstr>
      <vt:lpstr>3.5 Comparing Spark™ and MapReduce</vt:lpstr>
      <vt:lpstr>3.6 Low-Latency Non-Relational Databases </vt:lpstr>
      <vt:lpstr>3.7 Non-Relational Databases</vt:lpstr>
      <vt:lpstr>3.8 Streams and Complex Event Processing </vt:lpstr>
      <vt:lpstr>3.9 Processing Streaming Data</vt:lpstr>
      <vt:lpstr>3.10 Checkpoint</vt:lpstr>
      <vt:lpstr>3.10 Checkpoint Answer</vt:lpstr>
      <vt:lpstr>3.11 Specialty Data Processing</vt:lpstr>
      <vt:lpstr>3.12 Specialty Data Processing Example</vt:lpstr>
      <vt:lpstr>3.13 In-Memory Processing</vt:lpstr>
      <vt:lpstr>3.14 Analytics Database and Appliances</vt:lpstr>
      <vt:lpstr>3.15 Presentation and Reporting</vt:lpstr>
      <vt:lpstr>3.16 Big Data Visualization Challenges</vt:lpstr>
      <vt:lpstr>3.17 Checkpoint</vt:lpstr>
      <vt:lpstr>3.17 Checkpoint Answer</vt:lpstr>
      <vt:lpstr>3.18 Module Summary</vt:lpstr>
      <vt:lpstr>Module 4: Working with Big Data</vt:lpstr>
      <vt:lpstr>4.1 Module Introduction</vt:lpstr>
      <vt:lpstr>4.2 Data Management Considerations for Big Data (1/2)</vt:lpstr>
      <vt:lpstr>4.2 Data Management Considerations for Big Data (2/2)</vt:lpstr>
      <vt:lpstr>4.3 Big Data Roles (1/3)</vt:lpstr>
      <vt:lpstr>4.3 Big Data Roles (2/3)</vt:lpstr>
      <vt:lpstr>4.3 Big Data Roles (3/3)</vt:lpstr>
      <vt:lpstr>4.4 From Basic Analytics to Big Data Analytics</vt:lpstr>
      <vt:lpstr>4.5 Big Data Analytics</vt:lpstr>
      <vt:lpstr>4.6 Comparing Traditional and Big Data Analytics</vt:lpstr>
      <vt:lpstr>4.7 Presenting Analytics: Advanced Data Visualization</vt:lpstr>
      <vt:lpstr>4.8 Checkpoint</vt:lpstr>
      <vt:lpstr>4.8 Checkpoint Answer</vt:lpstr>
      <vt:lpstr>4.9 Checkpoint</vt:lpstr>
      <vt:lpstr>4.9 Checkpoint Answer</vt:lpstr>
      <vt:lpstr>4.10 Module Summary</vt:lpstr>
      <vt:lpstr>Module 5: Accenture’s Approach to Big Data</vt:lpstr>
      <vt:lpstr>5.1 Module Introduction</vt:lpstr>
      <vt:lpstr>5.2 Accenture’s Impetus for Big Data</vt:lpstr>
      <vt:lpstr>5.3 Big Data Analytics Practice</vt:lpstr>
      <vt:lpstr>5.4 Big Data Analytics Capabilities</vt:lpstr>
      <vt:lpstr>5.5 Getting Started with Big Data</vt:lpstr>
      <vt:lpstr>5.6 Module Summary</vt:lpstr>
      <vt:lpstr>Module 6: Course Conclusion</vt:lpstr>
      <vt:lpstr>6.1 Course Summary</vt:lpstr>
      <vt:lpstr>6.2 Resources</vt:lpstr>
      <vt:lpstr>Appendix</vt:lpstr>
      <vt:lpstr>Big Data Value-Add Example: NetApp®</vt:lpstr>
      <vt:lpstr>Big Data Value-Add Example: Service Quality</vt:lpstr>
      <vt:lpstr>Boosting Revenue with Data-Driven Recommendations</vt:lpstr>
      <vt:lpstr>Real-Time Customer Analysis</vt:lpstr>
      <vt:lpstr>Value Levers: Financial Services Industry</vt:lpstr>
      <vt:lpstr>Value Levers: Retail and Consumer Goods Industry</vt:lpstr>
      <vt:lpstr>Value Levers: Communications, Media, and Technology (CMT) Industry</vt:lpstr>
      <vt:lpstr>Big Data Analytics Examples</vt:lpstr>
    </vt:vector>
  </TitlesOfParts>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Big Data </dc:title>
  <dc:creator/>
  <cp:lastModifiedBy/>
  <cp:revision>1</cp:revision>
  <dcterms:created xsi:type="dcterms:W3CDTF">2014-05-09T19:10:18Z</dcterms:created>
  <dcterms:modified xsi:type="dcterms:W3CDTF">2016-01-07T13:08:27Z</dcterms:modified>
  <cp:contentType>General Contribution</cp:contentTyp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0x012000FD200C85A7BB46D2B974A85017C5AC2B0100BBCA62729C96CA428942DEC804BC4019</vt:lpwstr>
  </property>
</Properties>
</file>